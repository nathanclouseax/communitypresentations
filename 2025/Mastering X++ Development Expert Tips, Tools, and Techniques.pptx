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353" r:id="rId5"/>
    <p:sldMasterId id="2147484350" r:id="rId6"/>
  </p:sldMasterIdLst>
  <p:notesMasterIdLst>
    <p:notesMasterId r:id="rId78"/>
  </p:notesMasterIdLst>
  <p:handoutMasterIdLst>
    <p:handoutMasterId r:id="rId79"/>
  </p:handoutMasterIdLst>
  <p:sldIdLst>
    <p:sldId id="1403" r:id="rId7"/>
    <p:sldId id="1396" r:id="rId8"/>
    <p:sldId id="1459" r:id="rId9"/>
    <p:sldId id="1463" r:id="rId10"/>
    <p:sldId id="1464" r:id="rId11"/>
    <p:sldId id="1465" r:id="rId12"/>
    <p:sldId id="1466" r:id="rId13"/>
    <p:sldId id="1545" r:id="rId14"/>
    <p:sldId id="1560" r:id="rId15"/>
    <p:sldId id="1467" r:id="rId16"/>
    <p:sldId id="1468" r:id="rId17"/>
    <p:sldId id="1469" r:id="rId18"/>
    <p:sldId id="1473" r:id="rId19"/>
    <p:sldId id="1474" r:id="rId20"/>
    <p:sldId id="1475" r:id="rId21"/>
    <p:sldId id="1476" r:id="rId22"/>
    <p:sldId id="1477" r:id="rId23"/>
    <p:sldId id="1478" r:id="rId24"/>
    <p:sldId id="1479" r:id="rId25"/>
    <p:sldId id="1480" r:id="rId26"/>
    <p:sldId id="1558" r:id="rId27"/>
    <p:sldId id="1559" r:id="rId28"/>
    <p:sldId id="1481" r:id="rId29"/>
    <p:sldId id="1482" r:id="rId30"/>
    <p:sldId id="1483" r:id="rId31"/>
    <p:sldId id="1484" r:id="rId32"/>
    <p:sldId id="1488" r:id="rId33"/>
    <p:sldId id="1489" r:id="rId34"/>
    <p:sldId id="1490" r:id="rId35"/>
    <p:sldId id="1549" r:id="rId36"/>
    <p:sldId id="1551" r:id="rId37"/>
    <p:sldId id="1554" r:id="rId38"/>
    <p:sldId id="1552" r:id="rId39"/>
    <p:sldId id="1555" r:id="rId40"/>
    <p:sldId id="1556" r:id="rId41"/>
    <p:sldId id="1557" r:id="rId42"/>
    <p:sldId id="1491" r:id="rId43"/>
    <p:sldId id="1508" r:id="rId44"/>
    <p:sldId id="1509" r:id="rId45"/>
    <p:sldId id="1510" r:id="rId46"/>
    <p:sldId id="1511" r:id="rId47"/>
    <p:sldId id="1512" r:id="rId48"/>
    <p:sldId id="1550" r:id="rId49"/>
    <p:sldId id="1518" r:id="rId50"/>
    <p:sldId id="1519" r:id="rId51"/>
    <p:sldId id="1520" r:id="rId52"/>
    <p:sldId id="1546" r:id="rId53"/>
    <p:sldId id="1521" r:id="rId54"/>
    <p:sldId id="1522" r:id="rId55"/>
    <p:sldId id="1523" r:id="rId56"/>
    <p:sldId id="1524" r:id="rId57"/>
    <p:sldId id="1525" r:id="rId58"/>
    <p:sldId id="1526" r:id="rId59"/>
    <p:sldId id="1527" r:id="rId60"/>
    <p:sldId id="1528" r:id="rId61"/>
    <p:sldId id="1529" r:id="rId62"/>
    <p:sldId id="1530" r:id="rId63"/>
    <p:sldId id="1531" r:id="rId64"/>
    <p:sldId id="1533" r:id="rId65"/>
    <p:sldId id="1535" r:id="rId66"/>
    <p:sldId id="1536" r:id="rId67"/>
    <p:sldId id="1537" r:id="rId68"/>
    <p:sldId id="1538" r:id="rId69"/>
    <p:sldId id="1539" r:id="rId70"/>
    <p:sldId id="1547" r:id="rId71"/>
    <p:sldId id="1548" r:id="rId72"/>
    <p:sldId id="1540" r:id="rId73"/>
    <p:sldId id="1541" r:id="rId74"/>
    <p:sldId id="1542" r:id="rId75"/>
    <p:sldId id="1543" r:id="rId76"/>
    <p:sldId id="1402" r:id="rId77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BF68131C-8EB2-4A6D-ABFA-02E5AB776A1B}">
          <p14:sldIdLst>
            <p14:sldId id="1403"/>
          </p14:sldIdLst>
        </p14:section>
        <p14:section name="Presentation template" id="{C7FA9FF9-CCBF-4AFF-8011-39A1B6C3CC0F}">
          <p14:sldIdLst>
            <p14:sldId id="1396"/>
            <p14:sldId id="1459"/>
            <p14:sldId id="1463"/>
            <p14:sldId id="1464"/>
            <p14:sldId id="1465"/>
            <p14:sldId id="1466"/>
            <p14:sldId id="1545"/>
            <p14:sldId id="1560"/>
            <p14:sldId id="1467"/>
            <p14:sldId id="1468"/>
            <p14:sldId id="1469"/>
            <p14:sldId id="1473"/>
            <p14:sldId id="1474"/>
            <p14:sldId id="1475"/>
            <p14:sldId id="1476"/>
            <p14:sldId id="1477"/>
            <p14:sldId id="1478"/>
            <p14:sldId id="1479"/>
            <p14:sldId id="1480"/>
            <p14:sldId id="1558"/>
            <p14:sldId id="1559"/>
            <p14:sldId id="1481"/>
            <p14:sldId id="1482"/>
            <p14:sldId id="1483"/>
            <p14:sldId id="1484"/>
            <p14:sldId id="1488"/>
            <p14:sldId id="1489"/>
            <p14:sldId id="1490"/>
            <p14:sldId id="1549"/>
            <p14:sldId id="1551"/>
            <p14:sldId id="1554"/>
            <p14:sldId id="1552"/>
            <p14:sldId id="1555"/>
            <p14:sldId id="1556"/>
            <p14:sldId id="1557"/>
            <p14:sldId id="1491"/>
            <p14:sldId id="1508"/>
            <p14:sldId id="1509"/>
            <p14:sldId id="1510"/>
            <p14:sldId id="1511"/>
            <p14:sldId id="1512"/>
            <p14:sldId id="1550"/>
            <p14:sldId id="1518"/>
            <p14:sldId id="1519"/>
            <p14:sldId id="1520"/>
            <p14:sldId id="1546"/>
            <p14:sldId id="1521"/>
            <p14:sldId id="1522"/>
            <p14:sldId id="1523"/>
            <p14:sldId id="1524"/>
            <p14:sldId id="1525"/>
            <p14:sldId id="1526"/>
            <p14:sldId id="1527"/>
            <p14:sldId id="1528"/>
            <p14:sldId id="1529"/>
            <p14:sldId id="1530"/>
            <p14:sldId id="1531"/>
            <p14:sldId id="1533"/>
            <p14:sldId id="1535"/>
            <p14:sldId id="1536"/>
            <p14:sldId id="1537"/>
            <p14:sldId id="1538"/>
            <p14:sldId id="1539"/>
            <p14:sldId id="1547"/>
            <p14:sldId id="1548"/>
            <p14:sldId id="1540"/>
            <p14:sldId id="1541"/>
            <p14:sldId id="1542"/>
            <p14:sldId id="1543"/>
            <p14:sldId id="140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Auri Mathisen" initials="AM" lastIdx="1" clrIdx="7">
    <p:extLst>
      <p:ext uri="{19B8F6BF-5375-455C-9EA6-DF929625EA0E}">
        <p15:presenceInfo xmlns:p15="http://schemas.microsoft.com/office/powerpoint/2012/main" userId="S-1-5-21-383413107-1061881802-891584314-12534" providerId="AD"/>
      </p:ext>
    </p:extLst>
  </p:cmAuthor>
  <p:cmAuthor id="1" name="Mary Feil-Jacobs" initials="MFJ" lastIdx="43" clrIdx="1"/>
  <p:cmAuthor id="8" name="Judi Lee" initials="JL" lastIdx="3" clrIdx="8">
    <p:extLst>
      <p:ext uri="{19B8F6BF-5375-455C-9EA6-DF929625EA0E}">
        <p15:presenceInfo xmlns:p15="http://schemas.microsoft.com/office/powerpoint/2012/main" userId="S-1-5-21-383413107-1061881802-891584314-9954" providerId="AD"/>
      </p:ext>
    </p:extLst>
  </p:cmAuthor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9" name="David Griffith" initials="DG" lastIdx="3" clrIdx="9">
    <p:extLst>
      <p:ext uri="{19B8F6BF-5375-455C-9EA6-DF929625EA0E}">
        <p15:presenceInfo xmlns:p15="http://schemas.microsoft.com/office/powerpoint/2012/main" userId="S-1-5-21-383413107-1061881802-891584314-4667" providerId="AD"/>
      </p:ext>
    </p:extLst>
  </p:cmAuthor>
  <p:cmAuthor id="3" name="Mary Feil-Jacobs" initials="MF" lastIdx="22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10" name="Mark Rhodes" initials="MR" lastIdx="1" clrIdx="10">
    <p:extLst>
      <p:ext uri="{19B8F6BF-5375-455C-9EA6-DF929625EA0E}">
        <p15:presenceInfo xmlns:p15="http://schemas.microsoft.com/office/powerpoint/2012/main" userId="Mark Rhodes" providerId="None"/>
      </p:ext>
    </p:extLst>
  </p:cmAuthor>
  <p:cmAuthor id="4" name="Mitchell Derrey" initials="MD" lastIdx="6" clrIdx="4">
    <p:extLst>
      <p:ext uri="{19B8F6BF-5375-455C-9EA6-DF929625EA0E}">
        <p15:presenceInfo xmlns:p15="http://schemas.microsoft.com/office/powerpoint/2012/main" userId="S-1-5-21-383413107-1061881802-891584314-4851" providerId="AD"/>
      </p:ext>
    </p:extLst>
  </p:cmAuthor>
  <p:cmAuthor id="5" name="Christen Anderson" initials="CA" lastIdx="19" clrIdx="5">
    <p:extLst>
      <p:ext uri="{19B8F6BF-5375-455C-9EA6-DF929625EA0E}">
        <p15:presenceInfo xmlns:p15="http://schemas.microsoft.com/office/powerpoint/2012/main" userId="Christen Anderson" providerId="None"/>
      </p:ext>
    </p:extLst>
  </p:cmAuthor>
  <p:cmAuthor id="6" name="Delaney Freer" initials="DF" lastIdx="16" clrIdx="6">
    <p:extLst>
      <p:ext uri="{19B8F6BF-5375-455C-9EA6-DF929625EA0E}">
        <p15:presenceInfo xmlns:p15="http://schemas.microsoft.com/office/powerpoint/2012/main" userId="4a46fd6c6e3be6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120"/>
    <a:srgbClr val="1B449A"/>
    <a:srgbClr val="1E275C"/>
    <a:srgbClr val="000000"/>
    <a:srgbClr val="1B4499"/>
    <a:srgbClr val="001E60"/>
    <a:srgbClr val="E6E6E6"/>
    <a:srgbClr val="0095C8"/>
    <a:srgbClr val="E1B81C"/>
    <a:srgbClr val="E40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187D86-657E-4968-B0B7-C76AB9BD67AE}" v="51" dt="2025-10-05T21:06:41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1"/>
    <p:restoredTop sz="94681"/>
  </p:normalViewPr>
  <p:slideViewPr>
    <p:cSldViewPr snapToGrid="0">
      <p:cViewPr varScale="1">
        <p:scale>
          <a:sx n="119" d="100"/>
          <a:sy n="119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tableStyles" Target="tableStyles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commentAuthors" Target="commentAuthors.xml"/><Relationship Id="rId85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61" Type="http://schemas.openxmlformats.org/officeDocument/2006/relationships/slide" Target="slides/slide55.xml"/><Relationship Id="rId8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dynamics365musings.com/insert_recordset-in-d365" TargetMode="External"/><Relationship Id="rId2" Type="http://schemas.openxmlformats.org/officeDocument/2006/relationships/hyperlink" Target="https://dynamics365musings.com/update-data-in-d365" TargetMode="External"/><Relationship Id="rId1" Type="http://schemas.openxmlformats.org/officeDocument/2006/relationships/hyperlink" Target="https://dynamics365musings.com/insert-data-in-d365" TargetMode="External"/><Relationship Id="rId5" Type="http://schemas.openxmlformats.org/officeDocument/2006/relationships/hyperlink" Target="https://dynamics365musings.com/d365-ttsbegin-and-ttscommit" TargetMode="External"/><Relationship Id="rId4" Type="http://schemas.openxmlformats.org/officeDocument/2006/relationships/hyperlink" Target="https://dynamics365musings.com/insertdatabase-in-d365" TargetMode="Externa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hyperlink" Target="https://sangeethwiki.blogspot.com/2017/09/extensible-controls-in-dynamics-365-for.html" TargetMode="External"/><Relationship Id="rId1" Type="http://schemas.openxmlformats.org/officeDocument/2006/relationships/hyperlink" Target="https://www.youtube.com/watch?v=QrIjTN6Vey4&amp;t=149s" TargetMode="Externa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7" Type="http://schemas.openxmlformats.org/officeDocument/2006/relationships/image" Target="../media/image51.svg"/><Relationship Id="rId2" Type="http://schemas.openxmlformats.org/officeDocument/2006/relationships/image" Target="../media/image46.png"/><Relationship Id="rId1" Type="http://schemas.openxmlformats.org/officeDocument/2006/relationships/hyperlink" Target="https://learn.microsoft.com/en-us/dynamics365/fin-ops-core/fin-ops/get-started/grid-capabilities" TargetMode="Externa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6.svg"/><Relationship Id="rId7" Type="http://schemas.openxmlformats.org/officeDocument/2006/relationships/image" Target="../media/image78.svg"/><Relationship Id="rId2" Type="http://schemas.openxmlformats.org/officeDocument/2006/relationships/image" Target="../media/image75.png"/><Relationship Id="rId1" Type="http://schemas.openxmlformats.org/officeDocument/2006/relationships/hyperlink" Target="https://github.com/TrudAX/TRUDUtilsD365" TargetMode="External"/><Relationship Id="rId6" Type="http://schemas.openxmlformats.org/officeDocument/2006/relationships/image" Target="../media/image77.png"/><Relationship Id="rId11" Type="http://schemas.openxmlformats.org/officeDocument/2006/relationships/image" Target="../media/image82.svg"/><Relationship Id="rId5" Type="http://schemas.openxmlformats.org/officeDocument/2006/relationships/image" Target="../media/image47.svg"/><Relationship Id="rId10" Type="http://schemas.openxmlformats.org/officeDocument/2006/relationships/image" Target="../media/image81.png"/><Relationship Id="rId4" Type="http://schemas.openxmlformats.org/officeDocument/2006/relationships/image" Target="../media/image46.png"/><Relationship Id="rId9" Type="http://schemas.openxmlformats.org/officeDocument/2006/relationships/image" Target="../media/image8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dynamics365musings.com/insert_recordset-in-d365" TargetMode="External"/><Relationship Id="rId2" Type="http://schemas.openxmlformats.org/officeDocument/2006/relationships/hyperlink" Target="https://dynamics365musings.com/update-data-in-d365" TargetMode="External"/><Relationship Id="rId1" Type="http://schemas.openxmlformats.org/officeDocument/2006/relationships/hyperlink" Target="https://dynamics365musings.com/insert-data-in-d365" TargetMode="External"/><Relationship Id="rId5" Type="http://schemas.openxmlformats.org/officeDocument/2006/relationships/hyperlink" Target="https://dynamics365musings.com/d365-ttsbegin-and-ttscommit" TargetMode="External"/><Relationship Id="rId4" Type="http://schemas.openxmlformats.org/officeDocument/2006/relationships/hyperlink" Target="https://dynamics365musings.com/insertdatabase-in-d365" TargetMode="External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hyperlink" Target="https://sangeethwiki.blogspot.com/2017/09/extensible-controls-in-dynamics-365-for.html" TargetMode="External"/><Relationship Id="rId1" Type="http://schemas.openxmlformats.org/officeDocument/2006/relationships/hyperlink" Target="https://www.youtube.com/watch?v=QrIjTN6Vey4&amp;t=149s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ynamics365/fin-ops-core/fin-ops/get-started/grid-capabilities" TargetMode="External"/><Relationship Id="rId7" Type="http://schemas.openxmlformats.org/officeDocument/2006/relationships/image" Target="../media/image51.sv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46.png"/><Relationship Id="rId7" Type="http://schemas.openxmlformats.org/officeDocument/2006/relationships/image" Target="../media/image78.svg"/><Relationship Id="rId2" Type="http://schemas.openxmlformats.org/officeDocument/2006/relationships/image" Target="../media/image76.svg"/><Relationship Id="rId1" Type="http://schemas.openxmlformats.org/officeDocument/2006/relationships/image" Target="../media/image75.png"/><Relationship Id="rId6" Type="http://schemas.openxmlformats.org/officeDocument/2006/relationships/image" Target="../media/image77.png"/><Relationship Id="rId11" Type="http://schemas.openxmlformats.org/officeDocument/2006/relationships/image" Target="../media/image82.svg"/><Relationship Id="rId5" Type="http://schemas.openxmlformats.org/officeDocument/2006/relationships/hyperlink" Target="https://github.com/TrudAX/TRUDUtilsD365" TargetMode="External"/><Relationship Id="rId10" Type="http://schemas.openxmlformats.org/officeDocument/2006/relationships/image" Target="../media/image81.png"/><Relationship Id="rId4" Type="http://schemas.openxmlformats.org/officeDocument/2006/relationships/image" Target="../media/image47.svg"/><Relationship Id="rId9" Type="http://schemas.openxmlformats.org/officeDocument/2006/relationships/image" Target="../media/image8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E3A0C3-D404-418F-8961-C3CF83F1919D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2224BB4-E8A7-4CDD-8F2A-8D01ADE7A072}">
      <dgm:prSet/>
      <dgm:spPr/>
      <dgm:t>
        <a:bodyPr/>
        <a:lstStyle/>
        <a:p>
          <a:r>
            <a:rPr lang="en-US"/>
            <a:t>Update_recordset rather than while select w/ update</a:t>
          </a:r>
        </a:p>
      </dgm:t>
    </dgm:pt>
    <dgm:pt modelId="{BC92D1A1-C03A-404A-8913-BAC651094664}" type="parTrans" cxnId="{94EDBD63-19A9-44FD-9B2E-B9229EB23282}">
      <dgm:prSet/>
      <dgm:spPr/>
      <dgm:t>
        <a:bodyPr/>
        <a:lstStyle/>
        <a:p>
          <a:endParaRPr lang="en-US"/>
        </a:p>
      </dgm:t>
    </dgm:pt>
    <dgm:pt modelId="{47950F4A-CC7E-4746-B980-A26746B2A6D9}" type="sibTrans" cxnId="{94EDBD63-19A9-44FD-9B2E-B9229EB23282}">
      <dgm:prSet/>
      <dgm:spPr/>
      <dgm:t>
        <a:bodyPr/>
        <a:lstStyle/>
        <a:p>
          <a:endParaRPr lang="en-US"/>
        </a:p>
      </dgm:t>
    </dgm:pt>
    <dgm:pt modelId="{89659396-D543-46D7-8735-D032229CC06D}">
      <dgm:prSet/>
      <dgm:spPr/>
      <dgm:t>
        <a:bodyPr/>
        <a:lstStyle/>
        <a:p>
          <a:r>
            <a:rPr lang="en-US"/>
            <a:t>RecordInsertList rather looped inserts</a:t>
          </a:r>
        </a:p>
      </dgm:t>
    </dgm:pt>
    <dgm:pt modelId="{C71ED64B-B328-4631-940E-AFE2C26C1693}" type="parTrans" cxnId="{A38F3692-779A-486A-8BC4-C26C6DFF848A}">
      <dgm:prSet/>
      <dgm:spPr/>
      <dgm:t>
        <a:bodyPr/>
        <a:lstStyle/>
        <a:p>
          <a:endParaRPr lang="en-US"/>
        </a:p>
      </dgm:t>
    </dgm:pt>
    <dgm:pt modelId="{858D2FAC-931C-4A69-AFA3-F912A60C87D8}" type="sibTrans" cxnId="{A38F3692-779A-486A-8BC4-C26C6DFF848A}">
      <dgm:prSet/>
      <dgm:spPr/>
      <dgm:t>
        <a:bodyPr/>
        <a:lstStyle/>
        <a:p>
          <a:endParaRPr lang="en-US"/>
        </a:p>
      </dgm:t>
    </dgm:pt>
    <dgm:pt modelId="{23DD7F48-E92A-45B0-90B9-BF3F89AAB063}">
      <dgm:prSet/>
      <dgm:spPr/>
      <dgm:t>
        <a:bodyPr/>
        <a:lstStyle/>
        <a:p>
          <a:r>
            <a:rPr lang="en-US"/>
            <a:t>RecordInsertList rather than insert_recordset</a:t>
          </a:r>
        </a:p>
      </dgm:t>
    </dgm:pt>
    <dgm:pt modelId="{12BAA477-241D-4656-89AF-262363DA99BA}" type="parTrans" cxnId="{A8A5C0F2-7345-493B-AD2D-B5A9DA744582}">
      <dgm:prSet/>
      <dgm:spPr/>
      <dgm:t>
        <a:bodyPr/>
        <a:lstStyle/>
        <a:p>
          <a:endParaRPr lang="en-US"/>
        </a:p>
      </dgm:t>
    </dgm:pt>
    <dgm:pt modelId="{05499E08-40BE-4FEE-B3B9-B55864FF7796}" type="sibTrans" cxnId="{A8A5C0F2-7345-493B-AD2D-B5A9DA744582}">
      <dgm:prSet/>
      <dgm:spPr/>
      <dgm:t>
        <a:bodyPr/>
        <a:lstStyle/>
        <a:p>
          <a:endParaRPr lang="en-US"/>
        </a:p>
      </dgm:t>
    </dgm:pt>
    <dgm:pt modelId="{6DE6E9BC-C251-4479-8F9C-861F122F8C29}">
      <dgm:prSet/>
      <dgm:spPr/>
      <dgm:t>
        <a:bodyPr/>
        <a:lstStyle/>
        <a:p>
          <a:r>
            <a:rPr lang="en-US"/>
            <a:t>Delete_from rather than while select update</a:t>
          </a:r>
        </a:p>
      </dgm:t>
    </dgm:pt>
    <dgm:pt modelId="{E859492C-143A-4D92-8967-CDCE08112C0F}" type="parTrans" cxnId="{FC9F2A88-80E8-4293-9A87-B57433D4EC00}">
      <dgm:prSet/>
      <dgm:spPr/>
      <dgm:t>
        <a:bodyPr/>
        <a:lstStyle/>
        <a:p>
          <a:endParaRPr lang="en-US"/>
        </a:p>
      </dgm:t>
    </dgm:pt>
    <dgm:pt modelId="{7D6D4E7E-B559-492D-8F7A-C7C2C17219CC}" type="sibTrans" cxnId="{FC9F2A88-80E8-4293-9A87-B57433D4EC00}">
      <dgm:prSet/>
      <dgm:spPr/>
      <dgm:t>
        <a:bodyPr/>
        <a:lstStyle/>
        <a:p>
          <a:endParaRPr lang="en-US"/>
        </a:p>
      </dgm:t>
    </dgm:pt>
    <dgm:pt modelId="{7C305E0C-6773-4FDC-9E9F-52E5E645B90E}">
      <dgm:prSet/>
      <dgm:spPr/>
      <dgm:t>
        <a:bodyPr/>
        <a:lstStyle/>
        <a:p>
          <a:r>
            <a:rPr lang="en-US"/>
            <a:t>Use new(ish) SysDA APIs</a:t>
          </a:r>
        </a:p>
      </dgm:t>
    </dgm:pt>
    <dgm:pt modelId="{9B2F73C8-7BB7-473B-AE9C-1AF62B84C9BC}" type="parTrans" cxnId="{FC6C808F-A278-4842-A752-54EAF7479B34}">
      <dgm:prSet/>
      <dgm:spPr/>
      <dgm:t>
        <a:bodyPr/>
        <a:lstStyle/>
        <a:p>
          <a:endParaRPr lang="en-US"/>
        </a:p>
      </dgm:t>
    </dgm:pt>
    <dgm:pt modelId="{522E7801-356C-4891-ACB8-DB3D4F2F53EE}" type="sibTrans" cxnId="{FC6C808F-A278-4842-A752-54EAF7479B34}">
      <dgm:prSet/>
      <dgm:spPr/>
      <dgm:t>
        <a:bodyPr/>
        <a:lstStyle/>
        <a:p>
          <a:endParaRPr lang="en-US"/>
        </a:p>
      </dgm:t>
    </dgm:pt>
    <dgm:pt modelId="{ECCDA971-16ED-47F5-B3C7-ED70EB66D868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How To Insert Data In D365</a:t>
          </a:r>
          <a:endParaRPr lang="en-US"/>
        </a:p>
      </dgm:t>
    </dgm:pt>
    <dgm:pt modelId="{AD8A393C-C2A7-4DAD-9A35-B7DFFB86D359}" type="parTrans" cxnId="{FFD148F1-6B96-43AE-B10A-23E7B034E213}">
      <dgm:prSet/>
      <dgm:spPr/>
      <dgm:t>
        <a:bodyPr/>
        <a:lstStyle/>
        <a:p>
          <a:endParaRPr lang="en-US"/>
        </a:p>
      </dgm:t>
    </dgm:pt>
    <dgm:pt modelId="{E764A6F8-D1C8-40DA-9648-EAD8A310A776}" type="sibTrans" cxnId="{FFD148F1-6B96-43AE-B10A-23E7B034E213}">
      <dgm:prSet/>
      <dgm:spPr/>
      <dgm:t>
        <a:bodyPr/>
        <a:lstStyle/>
        <a:p>
          <a:endParaRPr lang="en-US"/>
        </a:p>
      </dgm:t>
    </dgm:pt>
    <dgm:pt modelId="{F658B7BA-D88F-467D-B246-F46491A9E95B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How To Update Data In D365</a:t>
          </a:r>
          <a:endParaRPr lang="en-US"/>
        </a:p>
      </dgm:t>
    </dgm:pt>
    <dgm:pt modelId="{F8E5BDA0-08E3-46BE-AFDA-15002813158E}" type="parTrans" cxnId="{C04196FF-88A6-4480-9F34-A2E64E587C4F}">
      <dgm:prSet/>
      <dgm:spPr/>
      <dgm:t>
        <a:bodyPr/>
        <a:lstStyle/>
        <a:p>
          <a:endParaRPr lang="en-US"/>
        </a:p>
      </dgm:t>
    </dgm:pt>
    <dgm:pt modelId="{E4165324-BC97-4D0C-9A92-595404DDECEE}" type="sibTrans" cxnId="{C04196FF-88A6-4480-9F34-A2E64E587C4F}">
      <dgm:prSet/>
      <dgm:spPr/>
      <dgm:t>
        <a:bodyPr/>
        <a:lstStyle/>
        <a:p>
          <a:endParaRPr lang="en-US"/>
        </a:p>
      </dgm:t>
    </dgm:pt>
    <dgm:pt modelId="{3DA15733-DBE7-47DB-9048-3875A1486CA6}">
      <dgm:prSet/>
      <dgm:spPr/>
      <dgm:t>
        <a:bodyPr/>
        <a:lstStyle/>
        <a:p>
          <a:r>
            <a:rPr lang="en-US">
              <a:hlinkClick xmlns:r="http://schemas.openxmlformats.org/officeDocument/2006/relationships" r:id="rId3"/>
            </a:rPr>
            <a:t>How To Use Insert_recordset in D365</a:t>
          </a:r>
          <a:endParaRPr lang="en-US"/>
        </a:p>
      </dgm:t>
    </dgm:pt>
    <dgm:pt modelId="{4143FE94-6075-47AB-95D0-FBE81D9B7774}" type="parTrans" cxnId="{91C35013-6232-45DA-9DC1-05A0E984534D}">
      <dgm:prSet/>
      <dgm:spPr/>
      <dgm:t>
        <a:bodyPr/>
        <a:lstStyle/>
        <a:p>
          <a:endParaRPr lang="en-US"/>
        </a:p>
      </dgm:t>
    </dgm:pt>
    <dgm:pt modelId="{B0314F73-0D20-437B-9529-7499B9A70036}" type="sibTrans" cxnId="{91C35013-6232-45DA-9DC1-05A0E984534D}">
      <dgm:prSet/>
      <dgm:spPr/>
      <dgm:t>
        <a:bodyPr/>
        <a:lstStyle/>
        <a:p>
          <a:endParaRPr lang="en-US"/>
        </a:p>
      </dgm:t>
    </dgm:pt>
    <dgm:pt modelId="{527196DA-598C-48BF-833E-872CB1E98AF2}">
      <dgm:prSet/>
      <dgm:spPr/>
      <dgm:t>
        <a:bodyPr/>
        <a:lstStyle/>
        <a:p>
          <a:r>
            <a:rPr lang="en-US">
              <a:hlinkClick xmlns:r="http://schemas.openxmlformats.org/officeDocument/2006/relationships" r:id="rId4"/>
            </a:rPr>
            <a:t>How To Use InsertDatabase in D365</a:t>
          </a:r>
          <a:endParaRPr lang="en-US"/>
        </a:p>
      </dgm:t>
    </dgm:pt>
    <dgm:pt modelId="{28A5F857-0361-4589-BFB3-AD7A82B1E9A2}" type="parTrans" cxnId="{EE113ACE-EA73-40D7-BD4F-1D7F9C28400E}">
      <dgm:prSet/>
      <dgm:spPr/>
      <dgm:t>
        <a:bodyPr/>
        <a:lstStyle/>
        <a:p>
          <a:endParaRPr lang="en-US"/>
        </a:p>
      </dgm:t>
    </dgm:pt>
    <dgm:pt modelId="{A7AB1334-4E19-4272-A6E9-AE3E5722F940}" type="sibTrans" cxnId="{EE113ACE-EA73-40D7-BD4F-1D7F9C28400E}">
      <dgm:prSet/>
      <dgm:spPr/>
      <dgm:t>
        <a:bodyPr/>
        <a:lstStyle/>
        <a:p>
          <a:endParaRPr lang="en-US"/>
        </a:p>
      </dgm:t>
    </dgm:pt>
    <dgm:pt modelId="{DF2DBDF4-1701-43DB-87F7-61100CAD7E6F}">
      <dgm:prSet/>
      <dgm:spPr/>
      <dgm:t>
        <a:bodyPr/>
        <a:lstStyle/>
        <a:p>
          <a:r>
            <a:rPr lang="en-US">
              <a:hlinkClick xmlns:r="http://schemas.openxmlformats.org/officeDocument/2006/relationships" r:id="rId5"/>
            </a:rPr>
            <a:t>D365 TTSBegin and TTSCommit</a:t>
          </a:r>
          <a:endParaRPr lang="en-US"/>
        </a:p>
      </dgm:t>
    </dgm:pt>
    <dgm:pt modelId="{B5114CAD-5539-4A3B-8D5F-875AB386EE03}" type="parTrans" cxnId="{BBE537BD-AED1-41B5-8DBA-AAA696CFB83F}">
      <dgm:prSet/>
      <dgm:spPr/>
      <dgm:t>
        <a:bodyPr/>
        <a:lstStyle/>
        <a:p>
          <a:endParaRPr lang="en-US"/>
        </a:p>
      </dgm:t>
    </dgm:pt>
    <dgm:pt modelId="{734D5AEF-FE78-4E58-B9AC-4665401BEFDE}" type="sibTrans" cxnId="{BBE537BD-AED1-41B5-8DBA-AAA696CFB83F}">
      <dgm:prSet/>
      <dgm:spPr/>
      <dgm:t>
        <a:bodyPr/>
        <a:lstStyle/>
        <a:p>
          <a:endParaRPr lang="en-US"/>
        </a:p>
      </dgm:t>
    </dgm:pt>
    <dgm:pt modelId="{C02CB8DF-DD43-48FA-8A23-41C836A74692}" type="pres">
      <dgm:prSet presAssocID="{91E3A0C3-D404-418F-8961-C3CF83F1919D}" presName="linear" presStyleCnt="0">
        <dgm:presLayoutVars>
          <dgm:animLvl val="lvl"/>
          <dgm:resizeHandles val="exact"/>
        </dgm:presLayoutVars>
      </dgm:prSet>
      <dgm:spPr/>
    </dgm:pt>
    <dgm:pt modelId="{1CD49B89-A110-4B09-ACAD-89D95ED39517}" type="pres">
      <dgm:prSet presAssocID="{62224BB4-E8A7-4CDD-8F2A-8D01ADE7A072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DE2105E2-CE36-4670-AEC5-F42CB4BDA234}" type="pres">
      <dgm:prSet presAssocID="{47950F4A-CC7E-4746-B980-A26746B2A6D9}" presName="spacer" presStyleCnt="0"/>
      <dgm:spPr/>
    </dgm:pt>
    <dgm:pt modelId="{468DB5B5-DCFF-4E32-95A9-4690C4FF69DD}" type="pres">
      <dgm:prSet presAssocID="{89659396-D543-46D7-8735-D032229CC06D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41AC046B-AF4C-4FBC-A635-C852BD2889C4}" type="pres">
      <dgm:prSet presAssocID="{858D2FAC-931C-4A69-AFA3-F912A60C87D8}" presName="spacer" presStyleCnt="0"/>
      <dgm:spPr/>
    </dgm:pt>
    <dgm:pt modelId="{FC10F564-1093-4013-885D-41163CB54E3D}" type="pres">
      <dgm:prSet presAssocID="{23DD7F48-E92A-45B0-90B9-BF3F89AAB063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604FB2D8-3675-4250-A7EA-399BA3DF1264}" type="pres">
      <dgm:prSet presAssocID="{05499E08-40BE-4FEE-B3B9-B55864FF7796}" presName="spacer" presStyleCnt="0"/>
      <dgm:spPr/>
    </dgm:pt>
    <dgm:pt modelId="{B1611D0D-9F5B-4673-8698-AEFD84B01F49}" type="pres">
      <dgm:prSet presAssocID="{6DE6E9BC-C251-4479-8F9C-861F122F8C29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F05452DD-2E1C-4F4D-A86B-DD151EA96826}" type="pres">
      <dgm:prSet presAssocID="{7D6D4E7E-B559-492D-8F7A-C7C2C17219CC}" presName="spacer" presStyleCnt="0"/>
      <dgm:spPr/>
    </dgm:pt>
    <dgm:pt modelId="{6C77B603-7B82-4B22-905B-0E0459D9BCE0}" type="pres">
      <dgm:prSet presAssocID="{7C305E0C-6773-4FDC-9E9F-52E5E645B90E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997F6A0B-5FB1-46E5-B17C-B8D3300157D1}" type="pres">
      <dgm:prSet presAssocID="{522E7801-356C-4891-ACB8-DB3D4F2F53EE}" presName="spacer" presStyleCnt="0"/>
      <dgm:spPr/>
    </dgm:pt>
    <dgm:pt modelId="{8D1F4F69-D4CE-4401-8135-10B5E51FAA1C}" type="pres">
      <dgm:prSet presAssocID="{ECCDA971-16ED-47F5-B3C7-ED70EB66D868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A768D800-F429-4DD1-99A0-40D49D5F6F4A}" type="pres">
      <dgm:prSet presAssocID="{E764A6F8-D1C8-40DA-9648-EAD8A310A776}" presName="spacer" presStyleCnt="0"/>
      <dgm:spPr/>
    </dgm:pt>
    <dgm:pt modelId="{7704E2C5-01DF-4CF5-917E-FD8AF26C8FF0}" type="pres">
      <dgm:prSet presAssocID="{F658B7BA-D88F-467D-B246-F46491A9E95B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DD630FFB-33F9-44D6-99D5-47DC9C7D93DC}" type="pres">
      <dgm:prSet presAssocID="{E4165324-BC97-4D0C-9A92-595404DDECEE}" presName="spacer" presStyleCnt="0"/>
      <dgm:spPr/>
    </dgm:pt>
    <dgm:pt modelId="{E3F23F37-3133-4AB8-8145-7CDB1CD3EA12}" type="pres">
      <dgm:prSet presAssocID="{3DA15733-DBE7-47DB-9048-3875A1486CA6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3FEC0DA0-3BAC-4F0B-826F-CE0266C27ECB}" type="pres">
      <dgm:prSet presAssocID="{B0314F73-0D20-437B-9529-7499B9A70036}" presName="spacer" presStyleCnt="0"/>
      <dgm:spPr/>
    </dgm:pt>
    <dgm:pt modelId="{DA150A0D-985A-48B6-9861-F204130A1346}" type="pres">
      <dgm:prSet presAssocID="{527196DA-598C-48BF-833E-872CB1E98AF2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CA9ED75F-C32A-4907-8B1E-9BA97CE471C3}" type="pres">
      <dgm:prSet presAssocID="{A7AB1334-4E19-4272-A6E9-AE3E5722F940}" presName="spacer" presStyleCnt="0"/>
      <dgm:spPr/>
    </dgm:pt>
    <dgm:pt modelId="{A61834B4-F358-4C29-AA1A-8B424952EFB2}" type="pres">
      <dgm:prSet presAssocID="{DF2DBDF4-1701-43DB-87F7-61100CAD7E6F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91C35013-6232-45DA-9DC1-05A0E984534D}" srcId="{91E3A0C3-D404-418F-8961-C3CF83F1919D}" destId="{3DA15733-DBE7-47DB-9048-3875A1486CA6}" srcOrd="7" destOrd="0" parTransId="{4143FE94-6075-47AB-95D0-FBE81D9B7774}" sibTransId="{B0314F73-0D20-437B-9529-7499B9A70036}"/>
    <dgm:cxn modelId="{62284917-37E3-4AB2-AADF-C22C364E717B}" type="presOf" srcId="{91E3A0C3-D404-418F-8961-C3CF83F1919D}" destId="{C02CB8DF-DD43-48FA-8A23-41C836A74692}" srcOrd="0" destOrd="0" presId="urn:microsoft.com/office/officeart/2005/8/layout/vList2"/>
    <dgm:cxn modelId="{9047A818-FE19-4618-A7A6-4DCD4BCAFC1E}" type="presOf" srcId="{62224BB4-E8A7-4CDD-8F2A-8D01ADE7A072}" destId="{1CD49B89-A110-4B09-ACAD-89D95ED39517}" srcOrd="0" destOrd="0" presId="urn:microsoft.com/office/officeart/2005/8/layout/vList2"/>
    <dgm:cxn modelId="{93D6911E-DB52-4E42-9E09-D841130E7C41}" type="presOf" srcId="{DF2DBDF4-1701-43DB-87F7-61100CAD7E6F}" destId="{A61834B4-F358-4C29-AA1A-8B424952EFB2}" srcOrd="0" destOrd="0" presId="urn:microsoft.com/office/officeart/2005/8/layout/vList2"/>
    <dgm:cxn modelId="{21E9522F-0C7C-4C5A-BE2D-CF58A35906C5}" type="presOf" srcId="{3DA15733-DBE7-47DB-9048-3875A1486CA6}" destId="{E3F23F37-3133-4AB8-8145-7CDB1CD3EA12}" srcOrd="0" destOrd="0" presId="urn:microsoft.com/office/officeart/2005/8/layout/vList2"/>
    <dgm:cxn modelId="{5CE3D030-D431-4D7D-BEF8-94191EDEA127}" type="presOf" srcId="{23DD7F48-E92A-45B0-90B9-BF3F89AAB063}" destId="{FC10F564-1093-4013-885D-41163CB54E3D}" srcOrd="0" destOrd="0" presId="urn:microsoft.com/office/officeart/2005/8/layout/vList2"/>
    <dgm:cxn modelId="{86DBCF31-AA64-40CE-BF31-61DAA7ECF842}" type="presOf" srcId="{ECCDA971-16ED-47F5-B3C7-ED70EB66D868}" destId="{8D1F4F69-D4CE-4401-8135-10B5E51FAA1C}" srcOrd="0" destOrd="0" presId="urn:microsoft.com/office/officeart/2005/8/layout/vList2"/>
    <dgm:cxn modelId="{1FA94B62-517B-434B-8AD4-7BE8B9ACBA3F}" type="presOf" srcId="{6DE6E9BC-C251-4479-8F9C-861F122F8C29}" destId="{B1611D0D-9F5B-4673-8698-AEFD84B01F49}" srcOrd="0" destOrd="0" presId="urn:microsoft.com/office/officeart/2005/8/layout/vList2"/>
    <dgm:cxn modelId="{94EDBD63-19A9-44FD-9B2E-B9229EB23282}" srcId="{91E3A0C3-D404-418F-8961-C3CF83F1919D}" destId="{62224BB4-E8A7-4CDD-8F2A-8D01ADE7A072}" srcOrd="0" destOrd="0" parTransId="{BC92D1A1-C03A-404A-8913-BAC651094664}" sibTransId="{47950F4A-CC7E-4746-B980-A26746B2A6D9}"/>
    <dgm:cxn modelId="{C2CF4359-29BF-4C32-874F-D9D71CCF9911}" type="presOf" srcId="{7C305E0C-6773-4FDC-9E9F-52E5E645B90E}" destId="{6C77B603-7B82-4B22-905B-0E0459D9BCE0}" srcOrd="0" destOrd="0" presId="urn:microsoft.com/office/officeart/2005/8/layout/vList2"/>
    <dgm:cxn modelId="{AF1C797B-60F8-4343-967D-AB989D2A82A0}" type="presOf" srcId="{F658B7BA-D88F-467D-B246-F46491A9E95B}" destId="{7704E2C5-01DF-4CF5-917E-FD8AF26C8FF0}" srcOrd="0" destOrd="0" presId="urn:microsoft.com/office/officeart/2005/8/layout/vList2"/>
    <dgm:cxn modelId="{FC9F2A88-80E8-4293-9A87-B57433D4EC00}" srcId="{91E3A0C3-D404-418F-8961-C3CF83F1919D}" destId="{6DE6E9BC-C251-4479-8F9C-861F122F8C29}" srcOrd="3" destOrd="0" parTransId="{E859492C-143A-4D92-8967-CDCE08112C0F}" sibTransId="{7D6D4E7E-B559-492D-8F7A-C7C2C17219CC}"/>
    <dgm:cxn modelId="{FC6C808F-A278-4842-A752-54EAF7479B34}" srcId="{91E3A0C3-D404-418F-8961-C3CF83F1919D}" destId="{7C305E0C-6773-4FDC-9E9F-52E5E645B90E}" srcOrd="4" destOrd="0" parTransId="{9B2F73C8-7BB7-473B-AE9C-1AF62B84C9BC}" sibTransId="{522E7801-356C-4891-ACB8-DB3D4F2F53EE}"/>
    <dgm:cxn modelId="{A38F3692-779A-486A-8BC4-C26C6DFF848A}" srcId="{91E3A0C3-D404-418F-8961-C3CF83F1919D}" destId="{89659396-D543-46D7-8735-D032229CC06D}" srcOrd="1" destOrd="0" parTransId="{C71ED64B-B328-4631-940E-AFE2C26C1693}" sibTransId="{858D2FAC-931C-4A69-AFA3-F912A60C87D8}"/>
    <dgm:cxn modelId="{3786B4AB-8AA7-4687-BDE5-FA4838290009}" type="presOf" srcId="{527196DA-598C-48BF-833E-872CB1E98AF2}" destId="{DA150A0D-985A-48B6-9861-F204130A1346}" srcOrd="0" destOrd="0" presId="urn:microsoft.com/office/officeart/2005/8/layout/vList2"/>
    <dgm:cxn modelId="{BBE537BD-AED1-41B5-8DBA-AAA696CFB83F}" srcId="{91E3A0C3-D404-418F-8961-C3CF83F1919D}" destId="{DF2DBDF4-1701-43DB-87F7-61100CAD7E6F}" srcOrd="9" destOrd="0" parTransId="{B5114CAD-5539-4A3B-8D5F-875AB386EE03}" sibTransId="{734D5AEF-FE78-4E58-B9AC-4665401BEFDE}"/>
    <dgm:cxn modelId="{EE113ACE-EA73-40D7-BD4F-1D7F9C28400E}" srcId="{91E3A0C3-D404-418F-8961-C3CF83F1919D}" destId="{527196DA-598C-48BF-833E-872CB1E98AF2}" srcOrd="8" destOrd="0" parTransId="{28A5F857-0361-4589-BFB3-AD7A82B1E9A2}" sibTransId="{A7AB1334-4E19-4272-A6E9-AE3E5722F940}"/>
    <dgm:cxn modelId="{5BA1B1D8-2015-4864-A95D-444C3C954AD6}" type="presOf" srcId="{89659396-D543-46D7-8735-D032229CC06D}" destId="{468DB5B5-DCFF-4E32-95A9-4690C4FF69DD}" srcOrd="0" destOrd="0" presId="urn:microsoft.com/office/officeart/2005/8/layout/vList2"/>
    <dgm:cxn modelId="{FFD148F1-6B96-43AE-B10A-23E7B034E213}" srcId="{91E3A0C3-D404-418F-8961-C3CF83F1919D}" destId="{ECCDA971-16ED-47F5-B3C7-ED70EB66D868}" srcOrd="5" destOrd="0" parTransId="{AD8A393C-C2A7-4DAD-9A35-B7DFFB86D359}" sibTransId="{E764A6F8-D1C8-40DA-9648-EAD8A310A776}"/>
    <dgm:cxn modelId="{A8A5C0F2-7345-493B-AD2D-B5A9DA744582}" srcId="{91E3A0C3-D404-418F-8961-C3CF83F1919D}" destId="{23DD7F48-E92A-45B0-90B9-BF3F89AAB063}" srcOrd="2" destOrd="0" parTransId="{12BAA477-241D-4656-89AF-262363DA99BA}" sibTransId="{05499E08-40BE-4FEE-B3B9-B55864FF7796}"/>
    <dgm:cxn modelId="{C04196FF-88A6-4480-9F34-A2E64E587C4F}" srcId="{91E3A0C3-D404-418F-8961-C3CF83F1919D}" destId="{F658B7BA-D88F-467D-B246-F46491A9E95B}" srcOrd="6" destOrd="0" parTransId="{F8E5BDA0-08E3-46BE-AFDA-15002813158E}" sibTransId="{E4165324-BC97-4D0C-9A92-595404DDECEE}"/>
    <dgm:cxn modelId="{1CF1439B-9F27-4AC1-A1CE-230D1C83BB92}" type="presParOf" srcId="{C02CB8DF-DD43-48FA-8A23-41C836A74692}" destId="{1CD49B89-A110-4B09-ACAD-89D95ED39517}" srcOrd="0" destOrd="0" presId="urn:microsoft.com/office/officeart/2005/8/layout/vList2"/>
    <dgm:cxn modelId="{69AD42B0-FFFE-41EE-B919-543DB49FBFDE}" type="presParOf" srcId="{C02CB8DF-DD43-48FA-8A23-41C836A74692}" destId="{DE2105E2-CE36-4670-AEC5-F42CB4BDA234}" srcOrd="1" destOrd="0" presId="urn:microsoft.com/office/officeart/2005/8/layout/vList2"/>
    <dgm:cxn modelId="{25FC5302-117C-4731-B633-1D5B3DA2DEBD}" type="presParOf" srcId="{C02CB8DF-DD43-48FA-8A23-41C836A74692}" destId="{468DB5B5-DCFF-4E32-95A9-4690C4FF69DD}" srcOrd="2" destOrd="0" presId="urn:microsoft.com/office/officeart/2005/8/layout/vList2"/>
    <dgm:cxn modelId="{12615CE5-1782-4A66-9ED1-08E193ED60A0}" type="presParOf" srcId="{C02CB8DF-DD43-48FA-8A23-41C836A74692}" destId="{41AC046B-AF4C-4FBC-A635-C852BD2889C4}" srcOrd="3" destOrd="0" presId="urn:microsoft.com/office/officeart/2005/8/layout/vList2"/>
    <dgm:cxn modelId="{26557317-5E0F-4A1D-850A-468EF1577435}" type="presParOf" srcId="{C02CB8DF-DD43-48FA-8A23-41C836A74692}" destId="{FC10F564-1093-4013-885D-41163CB54E3D}" srcOrd="4" destOrd="0" presId="urn:microsoft.com/office/officeart/2005/8/layout/vList2"/>
    <dgm:cxn modelId="{3D38CA46-CA82-4F00-86B2-EC35B03F5B62}" type="presParOf" srcId="{C02CB8DF-DD43-48FA-8A23-41C836A74692}" destId="{604FB2D8-3675-4250-A7EA-399BA3DF1264}" srcOrd="5" destOrd="0" presId="urn:microsoft.com/office/officeart/2005/8/layout/vList2"/>
    <dgm:cxn modelId="{E8EBFADF-78E6-4A47-A4AA-BE8E8B9260D1}" type="presParOf" srcId="{C02CB8DF-DD43-48FA-8A23-41C836A74692}" destId="{B1611D0D-9F5B-4673-8698-AEFD84B01F49}" srcOrd="6" destOrd="0" presId="urn:microsoft.com/office/officeart/2005/8/layout/vList2"/>
    <dgm:cxn modelId="{8F27154A-570A-48D7-8168-630698475EF1}" type="presParOf" srcId="{C02CB8DF-DD43-48FA-8A23-41C836A74692}" destId="{F05452DD-2E1C-4F4D-A86B-DD151EA96826}" srcOrd="7" destOrd="0" presId="urn:microsoft.com/office/officeart/2005/8/layout/vList2"/>
    <dgm:cxn modelId="{A1276E9F-1053-4637-B1A0-6DE2793B8850}" type="presParOf" srcId="{C02CB8DF-DD43-48FA-8A23-41C836A74692}" destId="{6C77B603-7B82-4B22-905B-0E0459D9BCE0}" srcOrd="8" destOrd="0" presId="urn:microsoft.com/office/officeart/2005/8/layout/vList2"/>
    <dgm:cxn modelId="{E4B69A19-2505-4AB3-904B-1F6A4914D82A}" type="presParOf" srcId="{C02CB8DF-DD43-48FA-8A23-41C836A74692}" destId="{997F6A0B-5FB1-46E5-B17C-B8D3300157D1}" srcOrd="9" destOrd="0" presId="urn:microsoft.com/office/officeart/2005/8/layout/vList2"/>
    <dgm:cxn modelId="{49E63D1C-3FB3-413B-A803-A4E34056AA78}" type="presParOf" srcId="{C02CB8DF-DD43-48FA-8A23-41C836A74692}" destId="{8D1F4F69-D4CE-4401-8135-10B5E51FAA1C}" srcOrd="10" destOrd="0" presId="urn:microsoft.com/office/officeart/2005/8/layout/vList2"/>
    <dgm:cxn modelId="{85B09329-B6E2-4827-8F41-EF13EA0BF7D0}" type="presParOf" srcId="{C02CB8DF-DD43-48FA-8A23-41C836A74692}" destId="{A768D800-F429-4DD1-99A0-40D49D5F6F4A}" srcOrd="11" destOrd="0" presId="urn:microsoft.com/office/officeart/2005/8/layout/vList2"/>
    <dgm:cxn modelId="{61356B11-D958-4DC7-8D47-2DEF78E6E7DA}" type="presParOf" srcId="{C02CB8DF-DD43-48FA-8A23-41C836A74692}" destId="{7704E2C5-01DF-4CF5-917E-FD8AF26C8FF0}" srcOrd="12" destOrd="0" presId="urn:microsoft.com/office/officeart/2005/8/layout/vList2"/>
    <dgm:cxn modelId="{6E896B3B-E084-437C-BD86-4C85397E70B4}" type="presParOf" srcId="{C02CB8DF-DD43-48FA-8A23-41C836A74692}" destId="{DD630FFB-33F9-44D6-99D5-47DC9C7D93DC}" srcOrd="13" destOrd="0" presId="urn:microsoft.com/office/officeart/2005/8/layout/vList2"/>
    <dgm:cxn modelId="{8804F138-D676-457D-802E-5A0B89419E2A}" type="presParOf" srcId="{C02CB8DF-DD43-48FA-8A23-41C836A74692}" destId="{E3F23F37-3133-4AB8-8145-7CDB1CD3EA12}" srcOrd="14" destOrd="0" presId="urn:microsoft.com/office/officeart/2005/8/layout/vList2"/>
    <dgm:cxn modelId="{2FADFA60-88A2-43EA-83A2-63A07823A2EE}" type="presParOf" srcId="{C02CB8DF-DD43-48FA-8A23-41C836A74692}" destId="{3FEC0DA0-3BAC-4F0B-826F-CE0266C27ECB}" srcOrd="15" destOrd="0" presId="urn:microsoft.com/office/officeart/2005/8/layout/vList2"/>
    <dgm:cxn modelId="{499B9E20-1E99-4687-B6AB-7D056F186688}" type="presParOf" srcId="{C02CB8DF-DD43-48FA-8A23-41C836A74692}" destId="{DA150A0D-985A-48B6-9861-F204130A1346}" srcOrd="16" destOrd="0" presId="urn:microsoft.com/office/officeart/2005/8/layout/vList2"/>
    <dgm:cxn modelId="{472EFB20-AF39-4A3C-A554-84AC23AEC071}" type="presParOf" srcId="{C02CB8DF-DD43-48FA-8A23-41C836A74692}" destId="{CA9ED75F-C32A-4907-8B1E-9BA97CE471C3}" srcOrd="17" destOrd="0" presId="urn:microsoft.com/office/officeart/2005/8/layout/vList2"/>
    <dgm:cxn modelId="{2CF94627-176C-46EE-A4DD-714BDB55104D}" type="presParOf" srcId="{C02CB8DF-DD43-48FA-8A23-41C836A74692}" destId="{A61834B4-F358-4C29-AA1A-8B424952EFB2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0F545A-CF78-4FC0-B166-AC96AA0AEAE3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99B0FF2-622B-4F4F-8704-EFA8A74083A6}">
      <dgm:prSet/>
      <dgm:spPr/>
      <dgm:t>
        <a:bodyPr/>
        <a:lstStyle/>
        <a:p>
          <a:r>
            <a:rPr lang="en-US"/>
            <a:t>Hit F9 in design view to go to the main thing for the item selected</a:t>
          </a:r>
        </a:p>
      </dgm:t>
    </dgm:pt>
    <dgm:pt modelId="{8C03238D-508C-420D-A3AF-CDABCA6A8FAD}" type="parTrans" cxnId="{41089B1B-92BE-4758-9F17-E42B825221F3}">
      <dgm:prSet/>
      <dgm:spPr/>
      <dgm:t>
        <a:bodyPr/>
        <a:lstStyle/>
        <a:p>
          <a:endParaRPr lang="en-US"/>
        </a:p>
      </dgm:t>
    </dgm:pt>
    <dgm:pt modelId="{25B01DDE-DC4E-4E8D-8CE9-436B969B14D7}" type="sibTrans" cxnId="{41089B1B-92BE-4758-9F17-E42B825221F3}">
      <dgm:prSet/>
      <dgm:spPr/>
      <dgm:t>
        <a:bodyPr/>
        <a:lstStyle/>
        <a:p>
          <a:endParaRPr lang="en-US"/>
        </a:p>
      </dgm:t>
    </dgm:pt>
    <dgm:pt modelId="{DC1E8399-6E8B-4C24-B0F2-01826CF062D1}">
      <dgm:prSet/>
      <dgm:spPr/>
      <dgm:t>
        <a:bodyPr/>
        <a:lstStyle/>
        <a:p>
          <a:r>
            <a:rPr lang="en-US"/>
            <a:t>F9 on a table extension will take you to the base table</a:t>
          </a:r>
        </a:p>
      </dgm:t>
    </dgm:pt>
    <dgm:pt modelId="{0E31DC12-06B5-47B8-B7F6-8E8DD45DACAF}" type="parTrans" cxnId="{8AA75CA5-46FE-4F0F-AF80-C1B554F37984}">
      <dgm:prSet/>
      <dgm:spPr/>
      <dgm:t>
        <a:bodyPr/>
        <a:lstStyle/>
        <a:p>
          <a:endParaRPr lang="en-US"/>
        </a:p>
      </dgm:t>
    </dgm:pt>
    <dgm:pt modelId="{562E8AD8-D595-4910-AF33-B777172B7A3F}" type="sibTrans" cxnId="{8AA75CA5-46FE-4F0F-AF80-C1B554F37984}">
      <dgm:prSet/>
      <dgm:spPr/>
      <dgm:t>
        <a:bodyPr/>
        <a:lstStyle/>
        <a:p>
          <a:endParaRPr lang="en-US"/>
        </a:p>
      </dgm:t>
    </dgm:pt>
    <dgm:pt modelId="{CEF27D20-7EDB-4CDA-8848-5A4EFE8356E8}">
      <dgm:prSet/>
      <dgm:spPr/>
      <dgm:t>
        <a:bodyPr/>
        <a:lstStyle/>
        <a:p>
          <a:r>
            <a:rPr lang="en-US"/>
            <a:t>F9 on a field will take you to the EDT</a:t>
          </a:r>
        </a:p>
      </dgm:t>
    </dgm:pt>
    <dgm:pt modelId="{4F3687A4-A9B0-4830-97F5-05BB330868DC}" type="parTrans" cxnId="{E9AAC2D2-5999-445B-AD58-6FD05E256BFB}">
      <dgm:prSet/>
      <dgm:spPr/>
      <dgm:t>
        <a:bodyPr/>
        <a:lstStyle/>
        <a:p>
          <a:endParaRPr lang="en-US"/>
        </a:p>
      </dgm:t>
    </dgm:pt>
    <dgm:pt modelId="{2DE70019-B543-48F5-8C4A-806EF8E5FB1B}" type="sibTrans" cxnId="{E9AAC2D2-5999-445B-AD58-6FD05E256BFB}">
      <dgm:prSet/>
      <dgm:spPr/>
      <dgm:t>
        <a:bodyPr/>
        <a:lstStyle/>
        <a:p>
          <a:endParaRPr lang="en-US"/>
        </a:p>
      </dgm:t>
    </dgm:pt>
    <dgm:pt modelId="{3BD6C11B-5FCF-4196-99BA-D83F8C55B422}">
      <dgm:prSet/>
      <dgm:spPr/>
      <dgm:t>
        <a:bodyPr/>
        <a:lstStyle/>
        <a:p>
          <a:r>
            <a:rPr lang="en-US"/>
            <a:t>F9 on a field with a relationship will take you to the related table</a:t>
          </a:r>
        </a:p>
      </dgm:t>
    </dgm:pt>
    <dgm:pt modelId="{58456B1A-CF7F-4028-8F11-C9DBB9435E04}" type="parTrans" cxnId="{2726E340-18E3-48DE-A30D-439240168F38}">
      <dgm:prSet/>
      <dgm:spPr/>
      <dgm:t>
        <a:bodyPr/>
        <a:lstStyle/>
        <a:p>
          <a:endParaRPr lang="en-US"/>
        </a:p>
      </dgm:t>
    </dgm:pt>
    <dgm:pt modelId="{8769AE2E-8B8B-4D5B-A6E2-C3879A66ED81}" type="sibTrans" cxnId="{2726E340-18E3-48DE-A30D-439240168F38}">
      <dgm:prSet/>
      <dgm:spPr/>
      <dgm:t>
        <a:bodyPr/>
        <a:lstStyle/>
        <a:p>
          <a:endParaRPr lang="en-US"/>
        </a:p>
      </dgm:t>
    </dgm:pt>
    <dgm:pt modelId="{4E7E4315-73C9-48B7-B560-88D509E37813}">
      <dgm:prSet/>
      <dgm:spPr/>
      <dgm:t>
        <a:bodyPr/>
        <a:lstStyle/>
        <a:p>
          <a:r>
            <a:rPr lang="en-US"/>
            <a:t>F9 on a field in a data entity will open the table/entity for that field</a:t>
          </a:r>
        </a:p>
      </dgm:t>
    </dgm:pt>
    <dgm:pt modelId="{8437B1EE-49B5-4D9A-A6CC-A97EA7AB2D2F}" type="parTrans" cxnId="{A61C7C98-5074-43B1-8330-C5C7D36986C5}">
      <dgm:prSet/>
      <dgm:spPr/>
      <dgm:t>
        <a:bodyPr/>
        <a:lstStyle/>
        <a:p>
          <a:endParaRPr lang="en-US"/>
        </a:p>
      </dgm:t>
    </dgm:pt>
    <dgm:pt modelId="{CAEBAF51-E91C-47B4-8578-DACF249C0D0C}" type="sibTrans" cxnId="{A61C7C98-5074-43B1-8330-C5C7D36986C5}">
      <dgm:prSet/>
      <dgm:spPr/>
      <dgm:t>
        <a:bodyPr/>
        <a:lstStyle/>
        <a:p>
          <a:endParaRPr lang="en-US"/>
        </a:p>
      </dgm:t>
    </dgm:pt>
    <dgm:pt modelId="{10BC5DEE-433E-4F92-97C7-6D67D49B2653}">
      <dgm:prSet/>
      <dgm:spPr/>
      <dgm:t>
        <a:bodyPr/>
        <a:lstStyle/>
        <a:p>
          <a:r>
            <a:rPr lang="en-US"/>
            <a:t>F9 on COC Extension Class will take you to the main class</a:t>
          </a:r>
        </a:p>
      </dgm:t>
    </dgm:pt>
    <dgm:pt modelId="{DA0DEBB3-3175-44B1-A7A1-575D7C5F7073}" type="parTrans" cxnId="{B1C6883B-915B-423E-8878-D9D2CA13C54A}">
      <dgm:prSet/>
      <dgm:spPr/>
      <dgm:t>
        <a:bodyPr/>
        <a:lstStyle/>
        <a:p>
          <a:endParaRPr lang="en-US"/>
        </a:p>
      </dgm:t>
    </dgm:pt>
    <dgm:pt modelId="{8C35B46A-870B-4FF5-AC6A-F1747D274498}" type="sibTrans" cxnId="{B1C6883B-915B-423E-8878-D9D2CA13C54A}">
      <dgm:prSet/>
      <dgm:spPr/>
      <dgm:t>
        <a:bodyPr/>
        <a:lstStyle/>
        <a:p>
          <a:endParaRPr lang="en-US"/>
        </a:p>
      </dgm:t>
    </dgm:pt>
    <dgm:pt modelId="{CCF42B09-122D-4E80-A40F-2810FDFCAA3F}" type="pres">
      <dgm:prSet presAssocID="{370F545A-CF78-4FC0-B166-AC96AA0AEAE3}" presName="diagram" presStyleCnt="0">
        <dgm:presLayoutVars>
          <dgm:dir/>
          <dgm:resizeHandles val="exact"/>
        </dgm:presLayoutVars>
      </dgm:prSet>
      <dgm:spPr/>
    </dgm:pt>
    <dgm:pt modelId="{9446599E-6209-49A7-8C6B-BD90D95492FF}" type="pres">
      <dgm:prSet presAssocID="{A99B0FF2-622B-4F4F-8704-EFA8A74083A6}" presName="node" presStyleLbl="node1" presStyleIdx="0" presStyleCnt="6">
        <dgm:presLayoutVars>
          <dgm:bulletEnabled val="1"/>
        </dgm:presLayoutVars>
      </dgm:prSet>
      <dgm:spPr/>
    </dgm:pt>
    <dgm:pt modelId="{55BEE21C-DE92-4024-B07A-17C81F361E8F}" type="pres">
      <dgm:prSet presAssocID="{25B01DDE-DC4E-4E8D-8CE9-436B969B14D7}" presName="sibTrans" presStyleCnt="0"/>
      <dgm:spPr/>
    </dgm:pt>
    <dgm:pt modelId="{56689C00-9472-4B43-9279-03B213CB3264}" type="pres">
      <dgm:prSet presAssocID="{DC1E8399-6E8B-4C24-B0F2-01826CF062D1}" presName="node" presStyleLbl="node1" presStyleIdx="1" presStyleCnt="6">
        <dgm:presLayoutVars>
          <dgm:bulletEnabled val="1"/>
        </dgm:presLayoutVars>
      </dgm:prSet>
      <dgm:spPr/>
    </dgm:pt>
    <dgm:pt modelId="{3CBC9102-159D-4F08-AF14-5B4DEEABDEAF}" type="pres">
      <dgm:prSet presAssocID="{562E8AD8-D595-4910-AF33-B777172B7A3F}" presName="sibTrans" presStyleCnt="0"/>
      <dgm:spPr/>
    </dgm:pt>
    <dgm:pt modelId="{61F448E3-306D-4229-A84E-1B69BA09FC36}" type="pres">
      <dgm:prSet presAssocID="{CEF27D20-7EDB-4CDA-8848-5A4EFE8356E8}" presName="node" presStyleLbl="node1" presStyleIdx="2" presStyleCnt="6">
        <dgm:presLayoutVars>
          <dgm:bulletEnabled val="1"/>
        </dgm:presLayoutVars>
      </dgm:prSet>
      <dgm:spPr/>
    </dgm:pt>
    <dgm:pt modelId="{19947F04-71B1-47E3-95FB-063FD7F989BD}" type="pres">
      <dgm:prSet presAssocID="{2DE70019-B543-48F5-8C4A-806EF8E5FB1B}" presName="sibTrans" presStyleCnt="0"/>
      <dgm:spPr/>
    </dgm:pt>
    <dgm:pt modelId="{792D74C9-D6E4-4226-9A12-5909A6785B9D}" type="pres">
      <dgm:prSet presAssocID="{3BD6C11B-5FCF-4196-99BA-D83F8C55B422}" presName="node" presStyleLbl="node1" presStyleIdx="3" presStyleCnt="6">
        <dgm:presLayoutVars>
          <dgm:bulletEnabled val="1"/>
        </dgm:presLayoutVars>
      </dgm:prSet>
      <dgm:spPr/>
    </dgm:pt>
    <dgm:pt modelId="{F6818CE9-50B3-496C-AE12-B85E527B54A3}" type="pres">
      <dgm:prSet presAssocID="{8769AE2E-8B8B-4D5B-A6E2-C3879A66ED81}" presName="sibTrans" presStyleCnt="0"/>
      <dgm:spPr/>
    </dgm:pt>
    <dgm:pt modelId="{AAD9D89B-83EF-4B3C-A643-15099B14FC76}" type="pres">
      <dgm:prSet presAssocID="{4E7E4315-73C9-48B7-B560-88D509E37813}" presName="node" presStyleLbl="node1" presStyleIdx="4" presStyleCnt="6">
        <dgm:presLayoutVars>
          <dgm:bulletEnabled val="1"/>
        </dgm:presLayoutVars>
      </dgm:prSet>
      <dgm:spPr/>
    </dgm:pt>
    <dgm:pt modelId="{4BC56885-EE32-47B6-8DCF-32A07E426954}" type="pres">
      <dgm:prSet presAssocID="{CAEBAF51-E91C-47B4-8578-DACF249C0D0C}" presName="sibTrans" presStyleCnt="0"/>
      <dgm:spPr/>
    </dgm:pt>
    <dgm:pt modelId="{F3819CA8-1124-450B-983F-5CEEBCE5129B}" type="pres">
      <dgm:prSet presAssocID="{10BC5DEE-433E-4F92-97C7-6D67D49B2653}" presName="node" presStyleLbl="node1" presStyleIdx="5" presStyleCnt="6">
        <dgm:presLayoutVars>
          <dgm:bulletEnabled val="1"/>
        </dgm:presLayoutVars>
      </dgm:prSet>
      <dgm:spPr/>
    </dgm:pt>
  </dgm:ptLst>
  <dgm:cxnLst>
    <dgm:cxn modelId="{41089B1B-92BE-4758-9F17-E42B825221F3}" srcId="{370F545A-CF78-4FC0-B166-AC96AA0AEAE3}" destId="{A99B0FF2-622B-4F4F-8704-EFA8A74083A6}" srcOrd="0" destOrd="0" parTransId="{8C03238D-508C-420D-A3AF-CDABCA6A8FAD}" sibTransId="{25B01DDE-DC4E-4E8D-8CE9-436B969B14D7}"/>
    <dgm:cxn modelId="{B1C6883B-915B-423E-8878-D9D2CA13C54A}" srcId="{370F545A-CF78-4FC0-B166-AC96AA0AEAE3}" destId="{10BC5DEE-433E-4F92-97C7-6D67D49B2653}" srcOrd="5" destOrd="0" parTransId="{DA0DEBB3-3175-44B1-A7A1-575D7C5F7073}" sibTransId="{8C35B46A-870B-4FF5-AC6A-F1747D274498}"/>
    <dgm:cxn modelId="{2726E340-18E3-48DE-A30D-439240168F38}" srcId="{370F545A-CF78-4FC0-B166-AC96AA0AEAE3}" destId="{3BD6C11B-5FCF-4196-99BA-D83F8C55B422}" srcOrd="3" destOrd="0" parTransId="{58456B1A-CF7F-4028-8F11-C9DBB9435E04}" sibTransId="{8769AE2E-8B8B-4D5B-A6E2-C3879A66ED81}"/>
    <dgm:cxn modelId="{0E5B634A-E3A2-4439-B49E-535999DA9612}" type="presOf" srcId="{10BC5DEE-433E-4F92-97C7-6D67D49B2653}" destId="{F3819CA8-1124-450B-983F-5CEEBCE5129B}" srcOrd="0" destOrd="0" presId="urn:microsoft.com/office/officeart/2005/8/layout/default"/>
    <dgm:cxn modelId="{62DC8C50-2DFA-4735-BAC9-92CF6E482142}" type="presOf" srcId="{4E7E4315-73C9-48B7-B560-88D509E37813}" destId="{AAD9D89B-83EF-4B3C-A643-15099B14FC76}" srcOrd="0" destOrd="0" presId="urn:microsoft.com/office/officeart/2005/8/layout/default"/>
    <dgm:cxn modelId="{57F18C89-230B-4053-A52B-C17FB1A2BB2F}" type="presOf" srcId="{3BD6C11B-5FCF-4196-99BA-D83F8C55B422}" destId="{792D74C9-D6E4-4226-9A12-5909A6785B9D}" srcOrd="0" destOrd="0" presId="urn:microsoft.com/office/officeart/2005/8/layout/default"/>
    <dgm:cxn modelId="{AE5B9D8A-F643-42E9-B70D-F1A692BB4B40}" type="presOf" srcId="{A99B0FF2-622B-4F4F-8704-EFA8A74083A6}" destId="{9446599E-6209-49A7-8C6B-BD90D95492FF}" srcOrd="0" destOrd="0" presId="urn:microsoft.com/office/officeart/2005/8/layout/default"/>
    <dgm:cxn modelId="{A61C7C98-5074-43B1-8330-C5C7D36986C5}" srcId="{370F545A-CF78-4FC0-B166-AC96AA0AEAE3}" destId="{4E7E4315-73C9-48B7-B560-88D509E37813}" srcOrd="4" destOrd="0" parTransId="{8437B1EE-49B5-4D9A-A6CC-A97EA7AB2D2F}" sibTransId="{CAEBAF51-E91C-47B4-8578-DACF249C0D0C}"/>
    <dgm:cxn modelId="{8AA75CA5-46FE-4F0F-AF80-C1B554F37984}" srcId="{370F545A-CF78-4FC0-B166-AC96AA0AEAE3}" destId="{DC1E8399-6E8B-4C24-B0F2-01826CF062D1}" srcOrd="1" destOrd="0" parTransId="{0E31DC12-06B5-47B8-B7F6-8E8DD45DACAF}" sibTransId="{562E8AD8-D595-4910-AF33-B777172B7A3F}"/>
    <dgm:cxn modelId="{B62482B9-06D6-40D9-8851-A486FD0AF1F6}" type="presOf" srcId="{370F545A-CF78-4FC0-B166-AC96AA0AEAE3}" destId="{CCF42B09-122D-4E80-A40F-2810FDFCAA3F}" srcOrd="0" destOrd="0" presId="urn:microsoft.com/office/officeart/2005/8/layout/default"/>
    <dgm:cxn modelId="{E9AAC2D2-5999-445B-AD58-6FD05E256BFB}" srcId="{370F545A-CF78-4FC0-B166-AC96AA0AEAE3}" destId="{CEF27D20-7EDB-4CDA-8848-5A4EFE8356E8}" srcOrd="2" destOrd="0" parTransId="{4F3687A4-A9B0-4830-97F5-05BB330868DC}" sibTransId="{2DE70019-B543-48F5-8C4A-806EF8E5FB1B}"/>
    <dgm:cxn modelId="{BF8B46E6-7273-4EB0-BCAD-23EAC31BA5B2}" type="presOf" srcId="{CEF27D20-7EDB-4CDA-8848-5A4EFE8356E8}" destId="{61F448E3-306D-4229-A84E-1B69BA09FC36}" srcOrd="0" destOrd="0" presId="urn:microsoft.com/office/officeart/2005/8/layout/default"/>
    <dgm:cxn modelId="{FC048EFD-7934-4F54-8F38-9484B44D97DA}" type="presOf" srcId="{DC1E8399-6E8B-4C24-B0F2-01826CF062D1}" destId="{56689C00-9472-4B43-9279-03B213CB3264}" srcOrd="0" destOrd="0" presId="urn:microsoft.com/office/officeart/2005/8/layout/default"/>
    <dgm:cxn modelId="{8E800DD9-E395-4993-BD7F-433FEE8C76FB}" type="presParOf" srcId="{CCF42B09-122D-4E80-A40F-2810FDFCAA3F}" destId="{9446599E-6209-49A7-8C6B-BD90D95492FF}" srcOrd="0" destOrd="0" presId="urn:microsoft.com/office/officeart/2005/8/layout/default"/>
    <dgm:cxn modelId="{786B0C22-01FE-4F05-8CA1-F6BB69E4FDA5}" type="presParOf" srcId="{CCF42B09-122D-4E80-A40F-2810FDFCAA3F}" destId="{55BEE21C-DE92-4024-B07A-17C81F361E8F}" srcOrd="1" destOrd="0" presId="urn:microsoft.com/office/officeart/2005/8/layout/default"/>
    <dgm:cxn modelId="{D2CB4D0D-FB6C-4D6A-BFEE-6B4712A6FF7F}" type="presParOf" srcId="{CCF42B09-122D-4E80-A40F-2810FDFCAA3F}" destId="{56689C00-9472-4B43-9279-03B213CB3264}" srcOrd="2" destOrd="0" presId="urn:microsoft.com/office/officeart/2005/8/layout/default"/>
    <dgm:cxn modelId="{5E399F78-AF76-46B9-B8C2-271F9DC302C8}" type="presParOf" srcId="{CCF42B09-122D-4E80-A40F-2810FDFCAA3F}" destId="{3CBC9102-159D-4F08-AF14-5B4DEEABDEAF}" srcOrd="3" destOrd="0" presId="urn:microsoft.com/office/officeart/2005/8/layout/default"/>
    <dgm:cxn modelId="{CDDD7B13-41B3-4499-AEFE-2945F15CDFD4}" type="presParOf" srcId="{CCF42B09-122D-4E80-A40F-2810FDFCAA3F}" destId="{61F448E3-306D-4229-A84E-1B69BA09FC36}" srcOrd="4" destOrd="0" presId="urn:microsoft.com/office/officeart/2005/8/layout/default"/>
    <dgm:cxn modelId="{17DA64E8-1508-4B76-9C3B-82059BEF529B}" type="presParOf" srcId="{CCF42B09-122D-4E80-A40F-2810FDFCAA3F}" destId="{19947F04-71B1-47E3-95FB-063FD7F989BD}" srcOrd="5" destOrd="0" presId="urn:microsoft.com/office/officeart/2005/8/layout/default"/>
    <dgm:cxn modelId="{66FD7137-079B-4E31-B89A-7EF63023992C}" type="presParOf" srcId="{CCF42B09-122D-4E80-A40F-2810FDFCAA3F}" destId="{792D74C9-D6E4-4226-9A12-5909A6785B9D}" srcOrd="6" destOrd="0" presId="urn:microsoft.com/office/officeart/2005/8/layout/default"/>
    <dgm:cxn modelId="{116397B1-91D8-4F9B-9FE1-1BCA77063F3B}" type="presParOf" srcId="{CCF42B09-122D-4E80-A40F-2810FDFCAA3F}" destId="{F6818CE9-50B3-496C-AE12-B85E527B54A3}" srcOrd="7" destOrd="0" presId="urn:microsoft.com/office/officeart/2005/8/layout/default"/>
    <dgm:cxn modelId="{FBC1EAA0-AA2C-4F61-A062-6608D0DACF3A}" type="presParOf" srcId="{CCF42B09-122D-4E80-A40F-2810FDFCAA3F}" destId="{AAD9D89B-83EF-4B3C-A643-15099B14FC76}" srcOrd="8" destOrd="0" presId="urn:microsoft.com/office/officeart/2005/8/layout/default"/>
    <dgm:cxn modelId="{C50DFECD-BB59-430D-8FB8-5CFB2D0861B7}" type="presParOf" srcId="{CCF42B09-122D-4E80-A40F-2810FDFCAA3F}" destId="{4BC56885-EE32-47B6-8DCF-32A07E426954}" srcOrd="9" destOrd="0" presId="urn:microsoft.com/office/officeart/2005/8/layout/default"/>
    <dgm:cxn modelId="{4049BA38-464E-4AD2-8EB4-206637D7B961}" type="presParOf" srcId="{CCF42B09-122D-4E80-A40F-2810FDFCAA3F}" destId="{F3819CA8-1124-450B-983F-5CEEBCE5129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5E7C0C-07A7-4A84-A8A2-2A50B8047403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DD2F010-8534-4FCE-A526-275EBAD6E017}">
      <dgm:prSet/>
      <dgm:spPr/>
      <dgm:t>
        <a:bodyPr/>
        <a:lstStyle/>
        <a:p>
          <a:r>
            <a:rPr lang="en-US" baseline="0">
              <a:hlinkClick xmlns:r="http://schemas.openxmlformats.org/officeDocument/2006/relationships" r:id="rId1"/>
            </a:rPr>
            <a:t>https://www.youtube.com/watch?v=QrIjTN6Vey4&amp;t=149s</a:t>
          </a:r>
          <a:r>
            <a:rPr lang="en-US" baseline="0"/>
            <a:t> </a:t>
          </a:r>
          <a:endParaRPr lang="en-US"/>
        </a:p>
      </dgm:t>
    </dgm:pt>
    <dgm:pt modelId="{E7228F12-2686-4A79-BE84-09516AB29D20}" type="parTrans" cxnId="{C4894426-F051-454B-9485-804F00674892}">
      <dgm:prSet/>
      <dgm:spPr/>
      <dgm:t>
        <a:bodyPr/>
        <a:lstStyle/>
        <a:p>
          <a:endParaRPr lang="en-US"/>
        </a:p>
      </dgm:t>
    </dgm:pt>
    <dgm:pt modelId="{148C5378-A615-4275-94FC-75C0C2A5E3B8}" type="sibTrans" cxnId="{C4894426-F051-454B-9485-804F00674892}">
      <dgm:prSet/>
      <dgm:spPr/>
      <dgm:t>
        <a:bodyPr/>
        <a:lstStyle/>
        <a:p>
          <a:endParaRPr lang="en-US"/>
        </a:p>
      </dgm:t>
    </dgm:pt>
    <dgm:pt modelId="{54B64A04-3416-4A5F-8608-B573ADF09CA7}">
      <dgm:prSet/>
      <dgm:spPr/>
      <dgm:t>
        <a:bodyPr/>
        <a:lstStyle/>
        <a:p>
          <a:r>
            <a:rPr lang="en-US" baseline="0">
              <a:hlinkClick xmlns:r="http://schemas.openxmlformats.org/officeDocument/2006/relationships" r:id="rId2"/>
            </a:rPr>
            <a:t>https://sangeethwiki.blogspot.com/2017/09/extensible-controls-in-dynamics-365-for.html</a:t>
          </a:r>
          <a:r>
            <a:rPr lang="en-US" baseline="0"/>
            <a:t> </a:t>
          </a:r>
          <a:endParaRPr lang="en-US"/>
        </a:p>
      </dgm:t>
    </dgm:pt>
    <dgm:pt modelId="{7D84F173-2EA9-45A8-B5E9-777D436B6245}" type="parTrans" cxnId="{3C669655-559A-4E82-97C8-FE20FED1B5B5}">
      <dgm:prSet/>
      <dgm:spPr/>
      <dgm:t>
        <a:bodyPr/>
        <a:lstStyle/>
        <a:p>
          <a:endParaRPr lang="en-US"/>
        </a:p>
      </dgm:t>
    </dgm:pt>
    <dgm:pt modelId="{C65C51E8-8314-4A2C-92CC-7FE365216C28}" type="sibTrans" cxnId="{3C669655-559A-4E82-97C8-FE20FED1B5B5}">
      <dgm:prSet/>
      <dgm:spPr/>
      <dgm:t>
        <a:bodyPr/>
        <a:lstStyle/>
        <a:p>
          <a:endParaRPr lang="en-US"/>
        </a:p>
      </dgm:t>
    </dgm:pt>
    <dgm:pt modelId="{0D471E3D-D17C-4D96-ACDD-B5B96E91014A}">
      <dgm:prSet/>
      <dgm:spPr/>
      <dgm:t>
        <a:bodyPr/>
        <a:lstStyle/>
        <a:p>
          <a:r>
            <a:rPr lang="en-US" baseline="0"/>
            <a:t>Use Javascript and html to create your own D365 controls.</a:t>
          </a:r>
          <a:endParaRPr lang="en-US"/>
        </a:p>
      </dgm:t>
    </dgm:pt>
    <dgm:pt modelId="{829B2955-410A-457B-99ED-5469CDF96226}" type="parTrans" cxnId="{23E30F55-24F6-4CAA-90D6-93A93808154F}">
      <dgm:prSet/>
      <dgm:spPr/>
      <dgm:t>
        <a:bodyPr/>
        <a:lstStyle/>
        <a:p>
          <a:endParaRPr lang="en-US"/>
        </a:p>
      </dgm:t>
    </dgm:pt>
    <dgm:pt modelId="{C53E9EB6-531A-44A8-8FFE-D7ECC366148A}" type="sibTrans" cxnId="{23E30F55-24F6-4CAA-90D6-93A93808154F}">
      <dgm:prSet/>
      <dgm:spPr/>
      <dgm:t>
        <a:bodyPr/>
        <a:lstStyle/>
        <a:p>
          <a:endParaRPr lang="en-US"/>
        </a:p>
      </dgm:t>
    </dgm:pt>
    <dgm:pt modelId="{3FBEE656-7535-407F-B6B9-714B4707394F}" type="pres">
      <dgm:prSet presAssocID="{625E7C0C-07A7-4A84-A8A2-2A50B8047403}" presName="linear" presStyleCnt="0">
        <dgm:presLayoutVars>
          <dgm:animLvl val="lvl"/>
          <dgm:resizeHandles val="exact"/>
        </dgm:presLayoutVars>
      </dgm:prSet>
      <dgm:spPr/>
    </dgm:pt>
    <dgm:pt modelId="{7F1DCF35-479D-4CB1-A224-D5D241FC48BF}" type="pres">
      <dgm:prSet presAssocID="{CDD2F010-8534-4FCE-A526-275EBAD6E01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3B4EF4E-7A06-4FEA-9E46-132FE9FE0A02}" type="pres">
      <dgm:prSet presAssocID="{148C5378-A615-4275-94FC-75C0C2A5E3B8}" presName="spacer" presStyleCnt="0"/>
      <dgm:spPr/>
    </dgm:pt>
    <dgm:pt modelId="{972F90A9-AF7E-4ABB-946F-EE338D29473B}" type="pres">
      <dgm:prSet presAssocID="{54B64A04-3416-4A5F-8608-B573ADF09CA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8C10DC7-6DDD-4C8B-8F26-C3F443B42788}" type="pres">
      <dgm:prSet presAssocID="{C65C51E8-8314-4A2C-92CC-7FE365216C28}" presName="spacer" presStyleCnt="0"/>
      <dgm:spPr/>
    </dgm:pt>
    <dgm:pt modelId="{B052B154-BEB1-4DED-A572-BD594D180370}" type="pres">
      <dgm:prSet presAssocID="{0D471E3D-D17C-4D96-ACDD-B5B96E91014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2E27E0C-D99A-407C-92F5-779E72E6A4D5}" type="presOf" srcId="{625E7C0C-07A7-4A84-A8A2-2A50B8047403}" destId="{3FBEE656-7535-407F-B6B9-714B4707394F}" srcOrd="0" destOrd="0" presId="urn:microsoft.com/office/officeart/2005/8/layout/vList2"/>
    <dgm:cxn modelId="{C4894426-F051-454B-9485-804F00674892}" srcId="{625E7C0C-07A7-4A84-A8A2-2A50B8047403}" destId="{CDD2F010-8534-4FCE-A526-275EBAD6E017}" srcOrd="0" destOrd="0" parTransId="{E7228F12-2686-4A79-BE84-09516AB29D20}" sibTransId="{148C5378-A615-4275-94FC-75C0C2A5E3B8}"/>
    <dgm:cxn modelId="{23E30F55-24F6-4CAA-90D6-93A93808154F}" srcId="{625E7C0C-07A7-4A84-A8A2-2A50B8047403}" destId="{0D471E3D-D17C-4D96-ACDD-B5B96E91014A}" srcOrd="2" destOrd="0" parTransId="{829B2955-410A-457B-99ED-5469CDF96226}" sibTransId="{C53E9EB6-531A-44A8-8FFE-D7ECC366148A}"/>
    <dgm:cxn modelId="{3C669655-559A-4E82-97C8-FE20FED1B5B5}" srcId="{625E7C0C-07A7-4A84-A8A2-2A50B8047403}" destId="{54B64A04-3416-4A5F-8608-B573ADF09CA7}" srcOrd="1" destOrd="0" parTransId="{7D84F173-2EA9-45A8-B5E9-777D436B6245}" sibTransId="{C65C51E8-8314-4A2C-92CC-7FE365216C28}"/>
    <dgm:cxn modelId="{6A713C88-81F3-444E-9D12-31B8F2910941}" type="presOf" srcId="{54B64A04-3416-4A5F-8608-B573ADF09CA7}" destId="{972F90A9-AF7E-4ABB-946F-EE338D29473B}" srcOrd="0" destOrd="0" presId="urn:microsoft.com/office/officeart/2005/8/layout/vList2"/>
    <dgm:cxn modelId="{917977AB-7347-4CBC-93E6-39284FE154B9}" type="presOf" srcId="{CDD2F010-8534-4FCE-A526-275EBAD6E017}" destId="{7F1DCF35-479D-4CB1-A224-D5D241FC48BF}" srcOrd="0" destOrd="0" presId="urn:microsoft.com/office/officeart/2005/8/layout/vList2"/>
    <dgm:cxn modelId="{A31E23B7-8B6E-49EE-A03D-16F6CC1BE29C}" type="presOf" srcId="{0D471E3D-D17C-4D96-ACDD-B5B96E91014A}" destId="{B052B154-BEB1-4DED-A572-BD594D180370}" srcOrd="0" destOrd="0" presId="urn:microsoft.com/office/officeart/2005/8/layout/vList2"/>
    <dgm:cxn modelId="{073ECBB4-5998-491F-B9FA-C1FBE7A17914}" type="presParOf" srcId="{3FBEE656-7535-407F-B6B9-714B4707394F}" destId="{7F1DCF35-479D-4CB1-A224-D5D241FC48BF}" srcOrd="0" destOrd="0" presId="urn:microsoft.com/office/officeart/2005/8/layout/vList2"/>
    <dgm:cxn modelId="{1C06203C-C868-4FDE-91BF-42C9BF7CFA0A}" type="presParOf" srcId="{3FBEE656-7535-407F-B6B9-714B4707394F}" destId="{D3B4EF4E-7A06-4FEA-9E46-132FE9FE0A02}" srcOrd="1" destOrd="0" presId="urn:microsoft.com/office/officeart/2005/8/layout/vList2"/>
    <dgm:cxn modelId="{03A96B5A-ED51-4AAB-8240-FB67DDC0CBCB}" type="presParOf" srcId="{3FBEE656-7535-407F-B6B9-714B4707394F}" destId="{972F90A9-AF7E-4ABB-946F-EE338D29473B}" srcOrd="2" destOrd="0" presId="urn:microsoft.com/office/officeart/2005/8/layout/vList2"/>
    <dgm:cxn modelId="{FFE4C42B-3FFF-464B-97E1-2990296BDE0F}" type="presParOf" srcId="{3FBEE656-7535-407F-B6B9-714B4707394F}" destId="{E8C10DC7-6DDD-4C8B-8F26-C3F443B42788}" srcOrd="3" destOrd="0" presId="urn:microsoft.com/office/officeart/2005/8/layout/vList2"/>
    <dgm:cxn modelId="{EA026786-17E3-4231-9E14-57CA64BA98F9}" type="presParOf" srcId="{3FBEE656-7535-407F-B6B9-714B4707394F}" destId="{B052B154-BEB1-4DED-A572-BD594D18037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14C3237-61D3-4186-968A-8E5594E49AFF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153BEA-5D01-4F30-B78A-9AA060D3CCAF}">
      <dgm:prSet/>
      <dgm:spPr/>
      <dgm:t>
        <a:bodyPr/>
        <a:lstStyle/>
        <a:p>
          <a:r>
            <a:rPr lang="en-US" baseline="0"/>
            <a:t>Use buf2Buf() for copying the contents of one buffer to another.</a:t>
          </a:r>
          <a:endParaRPr lang="en-US"/>
        </a:p>
      </dgm:t>
    </dgm:pt>
    <dgm:pt modelId="{354B5B5D-72F3-4E1F-98A4-2AE1937A24EA}" type="parTrans" cxnId="{DE27B74F-D4F2-409C-B05A-0A68BE1C4BA4}">
      <dgm:prSet/>
      <dgm:spPr/>
      <dgm:t>
        <a:bodyPr/>
        <a:lstStyle/>
        <a:p>
          <a:endParaRPr lang="en-US"/>
        </a:p>
      </dgm:t>
    </dgm:pt>
    <dgm:pt modelId="{8FA7887F-0EE3-4C77-862E-079B2AC05B1B}" type="sibTrans" cxnId="{DE27B74F-D4F2-409C-B05A-0A68BE1C4BA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C86E21E-3237-4787-851C-1136A89FC650}">
      <dgm:prSet/>
      <dgm:spPr/>
      <dgm:t>
        <a:bodyPr/>
        <a:lstStyle/>
        <a:p>
          <a:r>
            <a:rPr lang="en-US" baseline="0"/>
            <a:t>Apply select firstOnly1 when you expect a single record to optimize performance.</a:t>
          </a:r>
          <a:endParaRPr lang="en-US"/>
        </a:p>
      </dgm:t>
    </dgm:pt>
    <dgm:pt modelId="{0851D706-2C48-46F3-9546-36A38B469DD2}" type="parTrans" cxnId="{A0F4121A-CF32-4F4D-B3F4-934F0A679699}">
      <dgm:prSet/>
      <dgm:spPr/>
      <dgm:t>
        <a:bodyPr/>
        <a:lstStyle/>
        <a:p>
          <a:endParaRPr lang="en-US"/>
        </a:p>
      </dgm:t>
    </dgm:pt>
    <dgm:pt modelId="{304C8377-CAA9-46F8-B37E-B72E28011DC7}" type="sibTrans" cxnId="{A0F4121A-CF32-4F4D-B3F4-934F0A67969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DA1D9FA-B9CB-48CD-BF9E-ED88D798C142}">
      <dgm:prSet/>
      <dgm:spPr/>
      <dgm:t>
        <a:bodyPr/>
        <a:lstStyle/>
        <a:p>
          <a:r>
            <a:rPr lang="en-US" baseline="0" dirty="0"/>
            <a:t>Use Views rather than doing complex joins in a query statement (when performance is not critical)</a:t>
          </a:r>
          <a:endParaRPr lang="en-US" dirty="0"/>
        </a:p>
      </dgm:t>
    </dgm:pt>
    <dgm:pt modelId="{CABC15AF-7ABF-4503-A7A9-83394583CC01}" type="parTrans" cxnId="{D7BD878F-9C13-4B19-89DA-8160CEAAC689}">
      <dgm:prSet/>
      <dgm:spPr/>
      <dgm:t>
        <a:bodyPr/>
        <a:lstStyle/>
        <a:p>
          <a:endParaRPr lang="en-US"/>
        </a:p>
      </dgm:t>
    </dgm:pt>
    <dgm:pt modelId="{2EA81282-AB08-46EF-B27E-DD53FFC1B491}" type="sibTrans" cxnId="{D7BD878F-9C13-4B19-89DA-8160CEAAC68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D29D5FF-A381-4813-BB7D-C01A70A6555E}" type="pres">
      <dgm:prSet presAssocID="{A14C3237-61D3-4186-968A-8E5594E49AFF}" presName="Name0" presStyleCnt="0">
        <dgm:presLayoutVars>
          <dgm:animLvl val="lvl"/>
          <dgm:resizeHandles val="exact"/>
        </dgm:presLayoutVars>
      </dgm:prSet>
      <dgm:spPr/>
    </dgm:pt>
    <dgm:pt modelId="{ADACFF31-6A3A-420B-BE67-ACEB98FA8618}" type="pres">
      <dgm:prSet presAssocID="{EB153BEA-5D01-4F30-B78A-9AA060D3CCAF}" presName="compositeNode" presStyleCnt="0">
        <dgm:presLayoutVars>
          <dgm:bulletEnabled val="1"/>
        </dgm:presLayoutVars>
      </dgm:prSet>
      <dgm:spPr/>
    </dgm:pt>
    <dgm:pt modelId="{05398E4C-935F-4EDB-8FA7-35EDBD6C81D7}" type="pres">
      <dgm:prSet presAssocID="{EB153BEA-5D01-4F30-B78A-9AA060D3CCAF}" presName="bgRect" presStyleLbl="bgAccFollowNode1" presStyleIdx="0" presStyleCnt="3"/>
      <dgm:spPr/>
    </dgm:pt>
    <dgm:pt modelId="{28C8885F-6936-4C21-A306-4E010AE6D4ED}" type="pres">
      <dgm:prSet presAssocID="{8FA7887F-0EE3-4C77-862E-079B2AC05B1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6070A8B-2605-472D-9ED0-A6B4C2364F6A}" type="pres">
      <dgm:prSet presAssocID="{EB153BEA-5D01-4F30-B78A-9AA060D3CCAF}" presName="bottomLine" presStyleLbl="alignNode1" presStyleIdx="1" presStyleCnt="6">
        <dgm:presLayoutVars/>
      </dgm:prSet>
      <dgm:spPr/>
    </dgm:pt>
    <dgm:pt modelId="{E168FEB7-EDE0-4B81-88E9-5C55B3FFA37B}" type="pres">
      <dgm:prSet presAssocID="{EB153BEA-5D01-4F30-B78A-9AA060D3CCAF}" presName="nodeText" presStyleLbl="bgAccFollowNode1" presStyleIdx="0" presStyleCnt="3">
        <dgm:presLayoutVars>
          <dgm:bulletEnabled val="1"/>
        </dgm:presLayoutVars>
      </dgm:prSet>
      <dgm:spPr/>
    </dgm:pt>
    <dgm:pt modelId="{A9FF45BA-128F-4594-9460-F50548FD2CCD}" type="pres">
      <dgm:prSet presAssocID="{8FA7887F-0EE3-4C77-862E-079B2AC05B1B}" presName="sibTrans" presStyleCnt="0"/>
      <dgm:spPr/>
    </dgm:pt>
    <dgm:pt modelId="{44A4F942-C8D9-4DF4-BEF2-9233912D498A}" type="pres">
      <dgm:prSet presAssocID="{6C86E21E-3237-4787-851C-1136A89FC650}" presName="compositeNode" presStyleCnt="0">
        <dgm:presLayoutVars>
          <dgm:bulletEnabled val="1"/>
        </dgm:presLayoutVars>
      </dgm:prSet>
      <dgm:spPr/>
    </dgm:pt>
    <dgm:pt modelId="{52FFEA9A-F8CB-4234-BBC7-7C4B76CA5AA6}" type="pres">
      <dgm:prSet presAssocID="{6C86E21E-3237-4787-851C-1136A89FC650}" presName="bgRect" presStyleLbl="bgAccFollowNode1" presStyleIdx="1" presStyleCnt="3"/>
      <dgm:spPr/>
    </dgm:pt>
    <dgm:pt modelId="{576D4393-8514-4C56-9591-9DD412A14491}" type="pres">
      <dgm:prSet presAssocID="{304C8377-CAA9-46F8-B37E-B72E28011DC7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4FF1E26B-1F2E-43E6-AE4E-84DEEA009731}" type="pres">
      <dgm:prSet presAssocID="{6C86E21E-3237-4787-851C-1136A89FC650}" presName="bottomLine" presStyleLbl="alignNode1" presStyleIdx="3" presStyleCnt="6">
        <dgm:presLayoutVars/>
      </dgm:prSet>
      <dgm:spPr/>
    </dgm:pt>
    <dgm:pt modelId="{EB98407D-DBAD-433D-A515-B38969C5C112}" type="pres">
      <dgm:prSet presAssocID="{6C86E21E-3237-4787-851C-1136A89FC650}" presName="nodeText" presStyleLbl="bgAccFollowNode1" presStyleIdx="1" presStyleCnt="3">
        <dgm:presLayoutVars>
          <dgm:bulletEnabled val="1"/>
        </dgm:presLayoutVars>
      </dgm:prSet>
      <dgm:spPr/>
    </dgm:pt>
    <dgm:pt modelId="{DCF8040D-88CC-40BA-9F8F-6FE1AE70E4A5}" type="pres">
      <dgm:prSet presAssocID="{304C8377-CAA9-46F8-B37E-B72E28011DC7}" presName="sibTrans" presStyleCnt="0"/>
      <dgm:spPr/>
    </dgm:pt>
    <dgm:pt modelId="{1148EA86-5CA9-41DA-8AF7-4AA37844E345}" type="pres">
      <dgm:prSet presAssocID="{9DA1D9FA-B9CB-48CD-BF9E-ED88D798C142}" presName="compositeNode" presStyleCnt="0">
        <dgm:presLayoutVars>
          <dgm:bulletEnabled val="1"/>
        </dgm:presLayoutVars>
      </dgm:prSet>
      <dgm:spPr/>
    </dgm:pt>
    <dgm:pt modelId="{62CACA83-D45D-4D93-A6BE-387E84E49421}" type="pres">
      <dgm:prSet presAssocID="{9DA1D9FA-B9CB-48CD-BF9E-ED88D798C142}" presName="bgRect" presStyleLbl="bgAccFollowNode1" presStyleIdx="2" presStyleCnt="3"/>
      <dgm:spPr/>
    </dgm:pt>
    <dgm:pt modelId="{A440924D-63CE-4E4A-862A-DF6B89B1D05C}" type="pres">
      <dgm:prSet presAssocID="{2EA81282-AB08-46EF-B27E-DD53FFC1B491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71AA166-7DD6-41AD-82BD-F39166EEB629}" type="pres">
      <dgm:prSet presAssocID="{9DA1D9FA-B9CB-48CD-BF9E-ED88D798C142}" presName="bottomLine" presStyleLbl="alignNode1" presStyleIdx="5" presStyleCnt="6">
        <dgm:presLayoutVars/>
      </dgm:prSet>
      <dgm:spPr/>
    </dgm:pt>
    <dgm:pt modelId="{B7A3E193-03BA-4315-A7AF-955AA588D090}" type="pres">
      <dgm:prSet presAssocID="{9DA1D9FA-B9CB-48CD-BF9E-ED88D798C142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2DEFBA17-944D-472D-BA67-B0E394B4988F}" type="presOf" srcId="{9DA1D9FA-B9CB-48CD-BF9E-ED88D798C142}" destId="{B7A3E193-03BA-4315-A7AF-955AA588D090}" srcOrd="1" destOrd="0" presId="urn:microsoft.com/office/officeart/2016/7/layout/BasicLinearProcessNumbered"/>
    <dgm:cxn modelId="{A0F4121A-CF32-4F4D-B3F4-934F0A679699}" srcId="{A14C3237-61D3-4186-968A-8E5594E49AFF}" destId="{6C86E21E-3237-4787-851C-1136A89FC650}" srcOrd="1" destOrd="0" parTransId="{0851D706-2C48-46F3-9546-36A38B469DD2}" sibTransId="{304C8377-CAA9-46F8-B37E-B72E28011DC7}"/>
    <dgm:cxn modelId="{9ACC451A-7930-4661-B4E9-C60B3C12D79C}" type="presOf" srcId="{6C86E21E-3237-4787-851C-1136A89FC650}" destId="{EB98407D-DBAD-433D-A515-B38969C5C112}" srcOrd="1" destOrd="0" presId="urn:microsoft.com/office/officeart/2016/7/layout/BasicLinearProcessNumbered"/>
    <dgm:cxn modelId="{9749913F-2B98-4A15-80E8-3383EAFCBF38}" type="presOf" srcId="{EB153BEA-5D01-4F30-B78A-9AA060D3CCAF}" destId="{05398E4C-935F-4EDB-8FA7-35EDBD6C81D7}" srcOrd="0" destOrd="0" presId="urn:microsoft.com/office/officeart/2016/7/layout/BasicLinearProcessNumbered"/>
    <dgm:cxn modelId="{10A5625B-A63E-4AC1-AAC2-B4E1BB17EC9D}" type="presOf" srcId="{9DA1D9FA-B9CB-48CD-BF9E-ED88D798C142}" destId="{62CACA83-D45D-4D93-A6BE-387E84E49421}" srcOrd="0" destOrd="0" presId="urn:microsoft.com/office/officeart/2016/7/layout/BasicLinearProcessNumbered"/>
    <dgm:cxn modelId="{8B24C561-7089-4C2F-98C9-DF2DA6DC36E7}" type="presOf" srcId="{2EA81282-AB08-46EF-B27E-DD53FFC1B491}" destId="{A440924D-63CE-4E4A-862A-DF6B89B1D05C}" srcOrd="0" destOrd="0" presId="urn:microsoft.com/office/officeart/2016/7/layout/BasicLinearProcessNumbered"/>
    <dgm:cxn modelId="{E8731E49-67DD-4CD6-ADA1-FEE4CFF3FB76}" type="presOf" srcId="{A14C3237-61D3-4186-968A-8E5594E49AFF}" destId="{1D29D5FF-A381-4813-BB7D-C01A70A6555E}" srcOrd="0" destOrd="0" presId="urn:microsoft.com/office/officeart/2016/7/layout/BasicLinearProcessNumbered"/>
    <dgm:cxn modelId="{DE27B74F-D4F2-409C-B05A-0A68BE1C4BA4}" srcId="{A14C3237-61D3-4186-968A-8E5594E49AFF}" destId="{EB153BEA-5D01-4F30-B78A-9AA060D3CCAF}" srcOrd="0" destOrd="0" parTransId="{354B5B5D-72F3-4E1F-98A4-2AE1937A24EA}" sibTransId="{8FA7887F-0EE3-4C77-862E-079B2AC05B1B}"/>
    <dgm:cxn modelId="{3B402670-934C-4A94-A023-1C4766863292}" type="presOf" srcId="{8FA7887F-0EE3-4C77-862E-079B2AC05B1B}" destId="{28C8885F-6936-4C21-A306-4E010AE6D4ED}" srcOrd="0" destOrd="0" presId="urn:microsoft.com/office/officeart/2016/7/layout/BasicLinearProcessNumbered"/>
    <dgm:cxn modelId="{94799E8B-CA99-48F8-94F9-A3D11F4E1B40}" type="presOf" srcId="{304C8377-CAA9-46F8-B37E-B72E28011DC7}" destId="{576D4393-8514-4C56-9591-9DD412A14491}" srcOrd="0" destOrd="0" presId="urn:microsoft.com/office/officeart/2016/7/layout/BasicLinearProcessNumbered"/>
    <dgm:cxn modelId="{D7BD878F-9C13-4B19-89DA-8160CEAAC689}" srcId="{A14C3237-61D3-4186-968A-8E5594E49AFF}" destId="{9DA1D9FA-B9CB-48CD-BF9E-ED88D798C142}" srcOrd="2" destOrd="0" parTransId="{CABC15AF-7ABF-4503-A7A9-83394583CC01}" sibTransId="{2EA81282-AB08-46EF-B27E-DD53FFC1B491}"/>
    <dgm:cxn modelId="{4D135EA6-6047-415F-994A-34C410CAFBB0}" type="presOf" srcId="{EB153BEA-5D01-4F30-B78A-9AA060D3CCAF}" destId="{E168FEB7-EDE0-4B81-88E9-5C55B3FFA37B}" srcOrd="1" destOrd="0" presId="urn:microsoft.com/office/officeart/2016/7/layout/BasicLinearProcessNumbered"/>
    <dgm:cxn modelId="{366D85B6-91EC-4384-ACC0-8C589CC72C35}" type="presOf" srcId="{6C86E21E-3237-4787-851C-1136A89FC650}" destId="{52FFEA9A-F8CB-4234-BBC7-7C4B76CA5AA6}" srcOrd="0" destOrd="0" presId="urn:microsoft.com/office/officeart/2016/7/layout/BasicLinearProcessNumbered"/>
    <dgm:cxn modelId="{7666E2BC-E035-46DB-830A-447DB305A027}" type="presParOf" srcId="{1D29D5FF-A381-4813-BB7D-C01A70A6555E}" destId="{ADACFF31-6A3A-420B-BE67-ACEB98FA8618}" srcOrd="0" destOrd="0" presId="urn:microsoft.com/office/officeart/2016/7/layout/BasicLinearProcessNumbered"/>
    <dgm:cxn modelId="{0CF29CD0-DB0C-4F8E-BF0B-BFA1091337FC}" type="presParOf" srcId="{ADACFF31-6A3A-420B-BE67-ACEB98FA8618}" destId="{05398E4C-935F-4EDB-8FA7-35EDBD6C81D7}" srcOrd="0" destOrd="0" presId="urn:microsoft.com/office/officeart/2016/7/layout/BasicLinearProcessNumbered"/>
    <dgm:cxn modelId="{D65606D7-5629-447E-A0E9-39EDCBCA6F49}" type="presParOf" srcId="{ADACFF31-6A3A-420B-BE67-ACEB98FA8618}" destId="{28C8885F-6936-4C21-A306-4E010AE6D4ED}" srcOrd="1" destOrd="0" presId="urn:microsoft.com/office/officeart/2016/7/layout/BasicLinearProcessNumbered"/>
    <dgm:cxn modelId="{D208DA12-D8FB-47C4-999B-352BF43B796F}" type="presParOf" srcId="{ADACFF31-6A3A-420B-BE67-ACEB98FA8618}" destId="{16070A8B-2605-472D-9ED0-A6B4C2364F6A}" srcOrd="2" destOrd="0" presId="urn:microsoft.com/office/officeart/2016/7/layout/BasicLinearProcessNumbered"/>
    <dgm:cxn modelId="{D207251A-50EF-496A-A000-4CCAC8957D95}" type="presParOf" srcId="{ADACFF31-6A3A-420B-BE67-ACEB98FA8618}" destId="{E168FEB7-EDE0-4B81-88E9-5C55B3FFA37B}" srcOrd="3" destOrd="0" presId="urn:microsoft.com/office/officeart/2016/7/layout/BasicLinearProcessNumbered"/>
    <dgm:cxn modelId="{8D0AE945-E02C-43A4-A82F-087285E1185C}" type="presParOf" srcId="{1D29D5FF-A381-4813-BB7D-C01A70A6555E}" destId="{A9FF45BA-128F-4594-9460-F50548FD2CCD}" srcOrd="1" destOrd="0" presId="urn:microsoft.com/office/officeart/2016/7/layout/BasicLinearProcessNumbered"/>
    <dgm:cxn modelId="{5DB5EAF0-B4D8-4FF4-BB85-FF186D960817}" type="presParOf" srcId="{1D29D5FF-A381-4813-BB7D-C01A70A6555E}" destId="{44A4F942-C8D9-4DF4-BEF2-9233912D498A}" srcOrd="2" destOrd="0" presId="urn:microsoft.com/office/officeart/2016/7/layout/BasicLinearProcessNumbered"/>
    <dgm:cxn modelId="{1B0B89A4-A353-46FB-A7FA-C299F244A488}" type="presParOf" srcId="{44A4F942-C8D9-4DF4-BEF2-9233912D498A}" destId="{52FFEA9A-F8CB-4234-BBC7-7C4B76CA5AA6}" srcOrd="0" destOrd="0" presId="urn:microsoft.com/office/officeart/2016/7/layout/BasicLinearProcessNumbered"/>
    <dgm:cxn modelId="{94E913EB-0E4E-4B18-AF58-7B868DEE44F6}" type="presParOf" srcId="{44A4F942-C8D9-4DF4-BEF2-9233912D498A}" destId="{576D4393-8514-4C56-9591-9DD412A14491}" srcOrd="1" destOrd="0" presId="urn:microsoft.com/office/officeart/2016/7/layout/BasicLinearProcessNumbered"/>
    <dgm:cxn modelId="{70BB2394-54B0-464D-881B-EC9C0EFCB654}" type="presParOf" srcId="{44A4F942-C8D9-4DF4-BEF2-9233912D498A}" destId="{4FF1E26B-1F2E-43E6-AE4E-84DEEA009731}" srcOrd="2" destOrd="0" presId="urn:microsoft.com/office/officeart/2016/7/layout/BasicLinearProcessNumbered"/>
    <dgm:cxn modelId="{8B3193E6-734A-4B52-9BE4-FE98E260FACC}" type="presParOf" srcId="{44A4F942-C8D9-4DF4-BEF2-9233912D498A}" destId="{EB98407D-DBAD-433D-A515-B38969C5C112}" srcOrd="3" destOrd="0" presId="urn:microsoft.com/office/officeart/2016/7/layout/BasicLinearProcessNumbered"/>
    <dgm:cxn modelId="{D25387BE-70F8-43D0-A58E-E68C491C3F39}" type="presParOf" srcId="{1D29D5FF-A381-4813-BB7D-C01A70A6555E}" destId="{DCF8040D-88CC-40BA-9F8F-6FE1AE70E4A5}" srcOrd="3" destOrd="0" presId="urn:microsoft.com/office/officeart/2016/7/layout/BasicLinearProcessNumbered"/>
    <dgm:cxn modelId="{0CDF73D1-624C-4DF9-A3E0-E8A8866F28DC}" type="presParOf" srcId="{1D29D5FF-A381-4813-BB7D-C01A70A6555E}" destId="{1148EA86-5CA9-41DA-8AF7-4AA37844E345}" srcOrd="4" destOrd="0" presId="urn:microsoft.com/office/officeart/2016/7/layout/BasicLinearProcessNumbered"/>
    <dgm:cxn modelId="{FDD80BF0-054B-4434-BC9B-E0B1800C9250}" type="presParOf" srcId="{1148EA86-5CA9-41DA-8AF7-4AA37844E345}" destId="{62CACA83-D45D-4D93-A6BE-387E84E49421}" srcOrd="0" destOrd="0" presId="urn:microsoft.com/office/officeart/2016/7/layout/BasicLinearProcessNumbered"/>
    <dgm:cxn modelId="{BE8AEB62-114C-446F-B35E-2E0B187163DE}" type="presParOf" srcId="{1148EA86-5CA9-41DA-8AF7-4AA37844E345}" destId="{A440924D-63CE-4E4A-862A-DF6B89B1D05C}" srcOrd="1" destOrd="0" presId="urn:microsoft.com/office/officeart/2016/7/layout/BasicLinearProcessNumbered"/>
    <dgm:cxn modelId="{69E79A1E-40A7-4F27-9671-ED88B91D4DF0}" type="presParOf" srcId="{1148EA86-5CA9-41DA-8AF7-4AA37844E345}" destId="{D71AA166-7DD6-41AD-82BD-F39166EEB629}" srcOrd="2" destOrd="0" presId="urn:microsoft.com/office/officeart/2016/7/layout/BasicLinearProcessNumbered"/>
    <dgm:cxn modelId="{58515C56-B01D-496B-934E-86EDA72519BB}" type="presParOf" srcId="{1148EA86-5CA9-41DA-8AF7-4AA37844E345}" destId="{B7A3E193-03BA-4315-A7AF-955AA588D09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792B64-0DDA-4954-8AD6-23D9EE6AEC9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8E8A67-A70A-4A1D-93B7-F25038511146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https://learn.microsoft.com/en-us/dynamics365/fin-ops-core/fin-ops/get-started/grid-capabilities</a:t>
          </a:r>
          <a:endParaRPr lang="en-US"/>
        </a:p>
      </dgm:t>
    </dgm:pt>
    <dgm:pt modelId="{B911513D-EF2A-4F95-A041-EDD4128EF3F2}" type="parTrans" cxnId="{40DD8CDE-9A5B-41D3-96A6-F86F50BC33D7}">
      <dgm:prSet/>
      <dgm:spPr/>
      <dgm:t>
        <a:bodyPr/>
        <a:lstStyle/>
        <a:p>
          <a:endParaRPr lang="en-US"/>
        </a:p>
      </dgm:t>
    </dgm:pt>
    <dgm:pt modelId="{5A5B0EB0-7795-4A25-8009-E756F6C19438}" type="sibTrans" cxnId="{40DD8CDE-9A5B-41D3-96A6-F86F50BC33D7}">
      <dgm:prSet/>
      <dgm:spPr/>
      <dgm:t>
        <a:bodyPr/>
        <a:lstStyle/>
        <a:p>
          <a:endParaRPr lang="en-US"/>
        </a:p>
      </dgm:t>
    </dgm:pt>
    <dgm:pt modelId="{1744A80C-D001-4979-AC1E-3DCFBEA0D50E}">
      <dgm:prSet/>
      <dgm:spPr/>
      <dgm:t>
        <a:bodyPr/>
        <a:lstStyle/>
        <a:p>
          <a:r>
            <a:rPr lang="en-US"/>
            <a:t>Just copy and paste.</a:t>
          </a:r>
        </a:p>
      </dgm:t>
    </dgm:pt>
    <dgm:pt modelId="{7C0C74EC-3178-461C-846D-D9B6E56644CD}" type="parTrans" cxnId="{6133A3A8-64F0-4592-948F-9ABDE12D8211}">
      <dgm:prSet/>
      <dgm:spPr/>
      <dgm:t>
        <a:bodyPr/>
        <a:lstStyle/>
        <a:p>
          <a:endParaRPr lang="en-US"/>
        </a:p>
      </dgm:t>
    </dgm:pt>
    <dgm:pt modelId="{055367BA-969E-42EC-838E-23C45F66A0A7}" type="sibTrans" cxnId="{6133A3A8-64F0-4592-948F-9ABDE12D8211}">
      <dgm:prSet/>
      <dgm:spPr/>
      <dgm:t>
        <a:bodyPr/>
        <a:lstStyle/>
        <a:p>
          <a:endParaRPr lang="en-US"/>
        </a:p>
      </dgm:t>
    </dgm:pt>
    <dgm:pt modelId="{BC9A2709-05B5-46D2-868C-026C2808F2E7}">
      <dgm:prSet/>
      <dgm:spPr/>
      <dgm:t>
        <a:bodyPr/>
        <a:lstStyle/>
        <a:p>
          <a:r>
            <a:rPr lang="en-US"/>
            <a:t>Plus, lots of other features (Enabled in Feature Management)</a:t>
          </a:r>
        </a:p>
      </dgm:t>
    </dgm:pt>
    <dgm:pt modelId="{52C93D16-3886-48AC-BB43-B88582C67FC9}" type="parTrans" cxnId="{F5D85341-27C2-41A2-889E-A55D76881BF0}">
      <dgm:prSet/>
      <dgm:spPr/>
      <dgm:t>
        <a:bodyPr/>
        <a:lstStyle/>
        <a:p>
          <a:endParaRPr lang="en-US"/>
        </a:p>
      </dgm:t>
    </dgm:pt>
    <dgm:pt modelId="{CA401C51-AAE6-4048-A853-EBAC421D6B8B}" type="sibTrans" cxnId="{F5D85341-27C2-41A2-889E-A55D76881BF0}">
      <dgm:prSet/>
      <dgm:spPr/>
      <dgm:t>
        <a:bodyPr/>
        <a:lstStyle/>
        <a:p>
          <a:endParaRPr lang="en-US"/>
        </a:p>
      </dgm:t>
    </dgm:pt>
    <dgm:pt modelId="{3CE10964-F787-4915-8092-CD01D82F225E}" type="pres">
      <dgm:prSet presAssocID="{09792B64-0DDA-4954-8AD6-23D9EE6AEC98}" presName="root" presStyleCnt="0">
        <dgm:presLayoutVars>
          <dgm:dir/>
          <dgm:resizeHandles val="exact"/>
        </dgm:presLayoutVars>
      </dgm:prSet>
      <dgm:spPr/>
    </dgm:pt>
    <dgm:pt modelId="{8FD842C2-4693-403C-801E-A565FBBFBCBA}" type="pres">
      <dgm:prSet presAssocID="{398E8A67-A70A-4A1D-93B7-F25038511146}" presName="compNode" presStyleCnt="0"/>
      <dgm:spPr/>
    </dgm:pt>
    <dgm:pt modelId="{8580C5F2-AF3A-4D1C-BCEA-F6AF568E58BF}" type="pres">
      <dgm:prSet presAssocID="{398E8A67-A70A-4A1D-93B7-F25038511146}" presName="bgRect" presStyleLbl="bgShp" presStyleIdx="0" presStyleCnt="3"/>
      <dgm:spPr/>
    </dgm:pt>
    <dgm:pt modelId="{BB62402A-29A2-4C01-9F36-137B4A102E23}" type="pres">
      <dgm:prSet presAssocID="{398E8A67-A70A-4A1D-93B7-F25038511146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1B2C9006-2BD7-4A08-9D86-3650BC1FAAA7}" type="pres">
      <dgm:prSet presAssocID="{398E8A67-A70A-4A1D-93B7-F25038511146}" presName="spaceRect" presStyleCnt="0"/>
      <dgm:spPr/>
    </dgm:pt>
    <dgm:pt modelId="{D67508B9-302A-4981-B0B9-8ACBF11EC961}" type="pres">
      <dgm:prSet presAssocID="{398E8A67-A70A-4A1D-93B7-F25038511146}" presName="parTx" presStyleLbl="revTx" presStyleIdx="0" presStyleCnt="3">
        <dgm:presLayoutVars>
          <dgm:chMax val="0"/>
          <dgm:chPref val="0"/>
        </dgm:presLayoutVars>
      </dgm:prSet>
      <dgm:spPr/>
    </dgm:pt>
    <dgm:pt modelId="{695D4FF1-8630-44EF-9F21-DF3CFDD1675C}" type="pres">
      <dgm:prSet presAssocID="{5A5B0EB0-7795-4A25-8009-E756F6C19438}" presName="sibTrans" presStyleCnt="0"/>
      <dgm:spPr/>
    </dgm:pt>
    <dgm:pt modelId="{E025F615-4DB4-4037-9CA0-8665C5D81447}" type="pres">
      <dgm:prSet presAssocID="{1744A80C-D001-4979-AC1E-3DCFBEA0D50E}" presName="compNode" presStyleCnt="0"/>
      <dgm:spPr/>
    </dgm:pt>
    <dgm:pt modelId="{71F0D9B7-EAFB-4173-9382-9F069D6B7DEB}" type="pres">
      <dgm:prSet presAssocID="{1744A80C-D001-4979-AC1E-3DCFBEA0D50E}" presName="bgRect" presStyleLbl="bgShp" presStyleIdx="1" presStyleCnt="3"/>
      <dgm:spPr/>
    </dgm:pt>
    <dgm:pt modelId="{602FC36A-0A46-4E79-92ED-888DB3E0DB36}" type="pres">
      <dgm:prSet presAssocID="{1744A80C-D001-4979-AC1E-3DCFBEA0D50E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ipboard"/>
        </a:ext>
      </dgm:extLst>
    </dgm:pt>
    <dgm:pt modelId="{DE109997-939E-4392-B9EA-26C1D0701D2A}" type="pres">
      <dgm:prSet presAssocID="{1744A80C-D001-4979-AC1E-3DCFBEA0D50E}" presName="spaceRect" presStyleCnt="0"/>
      <dgm:spPr/>
    </dgm:pt>
    <dgm:pt modelId="{85DC2762-B533-4E10-8338-1502AA8FD65A}" type="pres">
      <dgm:prSet presAssocID="{1744A80C-D001-4979-AC1E-3DCFBEA0D50E}" presName="parTx" presStyleLbl="revTx" presStyleIdx="1" presStyleCnt="3">
        <dgm:presLayoutVars>
          <dgm:chMax val="0"/>
          <dgm:chPref val="0"/>
        </dgm:presLayoutVars>
      </dgm:prSet>
      <dgm:spPr/>
    </dgm:pt>
    <dgm:pt modelId="{6DD9E5E7-C730-433E-96BC-6326681E7D86}" type="pres">
      <dgm:prSet presAssocID="{055367BA-969E-42EC-838E-23C45F66A0A7}" presName="sibTrans" presStyleCnt="0"/>
      <dgm:spPr/>
    </dgm:pt>
    <dgm:pt modelId="{C4DB9371-C8D3-48D5-B06E-D1C438E4BBAE}" type="pres">
      <dgm:prSet presAssocID="{BC9A2709-05B5-46D2-868C-026C2808F2E7}" presName="compNode" presStyleCnt="0"/>
      <dgm:spPr/>
    </dgm:pt>
    <dgm:pt modelId="{5D8BE16E-2B8A-4950-97B1-01B182BBA481}" type="pres">
      <dgm:prSet presAssocID="{BC9A2709-05B5-46D2-868C-026C2808F2E7}" presName="bgRect" presStyleLbl="bgShp" presStyleIdx="2" presStyleCnt="3"/>
      <dgm:spPr/>
    </dgm:pt>
    <dgm:pt modelId="{8AA11571-C039-4D17-B5BE-1DC95CF548F8}" type="pres">
      <dgm:prSet presAssocID="{BC9A2709-05B5-46D2-868C-026C2808F2E7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wn"/>
        </a:ext>
      </dgm:extLst>
    </dgm:pt>
    <dgm:pt modelId="{513BA455-26DB-43F5-ADDE-F3D4D5E75EBC}" type="pres">
      <dgm:prSet presAssocID="{BC9A2709-05B5-46D2-868C-026C2808F2E7}" presName="spaceRect" presStyleCnt="0"/>
      <dgm:spPr/>
    </dgm:pt>
    <dgm:pt modelId="{F7E2E698-B078-4D87-8675-89555166DB2D}" type="pres">
      <dgm:prSet presAssocID="{BC9A2709-05B5-46D2-868C-026C2808F2E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6C5C701-29A1-4F60-9685-456EA6E0DE96}" type="presOf" srcId="{09792B64-0DDA-4954-8AD6-23D9EE6AEC98}" destId="{3CE10964-F787-4915-8092-CD01D82F225E}" srcOrd="0" destOrd="0" presId="urn:microsoft.com/office/officeart/2018/2/layout/IconVerticalSolidList"/>
    <dgm:cxn modelId="{E371C00E-1972-4335-84A2-9A0F8E6E77FF}" type="presOf" srcId="{BC9A2709-05B5-46D2-868C-026C2808F2E7}" destId="{F7E2E698-B078-4D87-8675-89555166DB2D}" srcOrd="0" destOrd="0" presId="urn:microsoft.com/office/officeart/2018/2/layout/IconVerticalSolidList"/>
    <dgm:cxn modelId="{1369503A-3545-497F-AF07-F5F7330B0D0F}" type="presOf" srcId="{398E8A67-A70A-4A1D-93B7-F25038511146}" destId="{D67508B9-302A-4981-B0B9-8ACBF11EC961}" srcOrd="0" destOrd="0" presId="urn:microsoft.com/office/officeart/2018/2/layout/IconVerticalSolidList"/>
    <dgm:cxn modelId="{F5D85341-27C2-41A2-889E-A55D76881BF0}" srcId="{09792B64-0DDA-4954-8AD6-23D9EE6AEC98}" destId="{BC9A2709-05B5-46D2-868C-026C2808F2E7}" srcOrd="2" destOrd="0" parTransId="{52C93D16-3886-48AC-BB43-B88582C67FC9}" sibTransId="{CA401C51-AAE6-4048-A853-EBAC421D6B8B}"/>
    <dgm:cxn modelId="{F73C1042-0D3C-4FF2-83E8-855D3F48FA35}" type="presOf" srcId="{1744A80C-D001-4979-AC1E-3DCFBEA0D50E}" destId="{85DC2762-B533-4E10-8338-1502AA8FD65A}" srcOrd="0" destOrd="0" presId="urn:microsoft.com/office/officeart/2018/2/layout/IconVerticalSolidList"/>
    <dgm:cxn modelId="{6133A3A8-64F0-4592-948F-9ABDE12D8211}" srcId="{09792B64-0DDA-4954-8AD6-23D9EE6AEC98}" destId="{1744A80C-D001-4979-AC1E-3DCFBEA0D50E}" srcOrd="1" destOrd="0" parTransId="{7C0C74EC-3178-461C-846D-D9B6E56644CD}" sibTransId="{055367BA-969E-42EC-838E-23C45F66A0A7}"/>
    <dgm:cxn modelId="{40DD8CDE-9A5B-41D3-96A6-F86F50BC33D7}" srcId="{09792B64-0DDA-4954-8AD6-23D9EE6AEC98}" destId="{398E8A67-A70A-4A1D-93B7-F25038511146}" srcOrd="0" destOrd="0" parTransId="{B911513D-EF2A-4F95-A041-EDD4128EF3F2}" sibTransId="{5A5B0EB0-7795-4A25-8009-E756F6C19438}"/>
    <dgm:cxn modelId="{582CB9A0-631F-4489-836C-C3638FA20642}" type="presParOf" srcId="{3CE10964-F787-4915-8092-CD01D82F225E}" destId="{8FD842C2-4693-403C-801E-A565FBBFBCBA}" srcOrd="0" destOrd="0" presId="urn:microsoft.com/office/officeart/2018/2/layout/IconVerticalSolidList"/>
    <dgm:cxn modelId="{B497A649-FCF4-46B2-901F-AC2E7F981FEB}" type="presParOf" srcId="{8FD842C2-4693-403C-801E-A565FBBFBCBA}" destId="{8580C5F2-AF3A-4D1C-BCEA-F6AF568E58BF}" srcOrd="0" destOrd="0" presId="urn:microsoft.com/office/officeart/2018/2/layout/IconVerticalSolidList"/>
    <dgm:cxn modelId="{5287338B-7FD3-4822-BDD2-74FBCEA2F948}" type="presParOf" srcId="{8FD842C2-4693-403C-801E-A565FBBFBCBA}" destId="{BB62402A-29A2-4C01-9F36-137B4A102E23}" srcOrd="1" destOrd="0" presId="urn:microsoft.com/office/officeart/2018/2/layout/IconVerticalSolidList"/>
    <dgm:cxn modelId="{83E4519F-75A7-4ED9-AF56-391722CC1EE9}" type="presParOf" srcId="{8FD842C2-4693-403C-801E-A565FBBFBCBA}" destId="{1B2C9006-2BD7-4A08-9D86-3650BC1FAAA7}" srcOrd="2" destOrd="0" presId="urn:microsoft.com/office/officeart/2018/2/layout/IconVerticalSolidList"/>
    <dgm:cxn modelId="{F0B6C4E7-0AAF-4032-88C8-1BAF8886C290}" type="presParOf" srcId="{8FD842C2-4693-403C-801E-A565FBBFBCBA}" destId="{D67508B9-302A-4981-B0B9-8ACBF11EC961}" srcOrd="3" destOrd="0" presId="urn:microsoft.com/office/officeart/2018/2/layout/IconVerticalSolidList"/>
    <dgm:cxn modelId="{6246E356-9227-409A-979F-68186E90D742}" type="presParOf" srcId="{3CE10964-F787-4915-8092-CD01D82F225E}" destId="{695D4FF1-8630-44EF-9F21-DF3CFDD1675C}" srcOrd="1" destOrd="0" presId="urn:microsoft.com/office/officeart/2018/2/layout/IconVerticalSolidList"/>
    <dgm:cxn modelId="{7051DA25-555D-479F-90D8-04E8231949E3}" type="presParOf" srcId="{3CE10964-F787-4915-8092-CD01D82F225E}" destId="{E025F615-4DB4-4037-9CA0-8665C5D81447}" srcOrd="2" destOrd="0" presId="urn:microsoft.com/office/officeart/2018/2/layout/IconVerticalSolidList"/>
    <dgm:cxn modelId="{57E85093-E35C-400B-935E-ED8DBFAE7EB1}" type="presParOf" srcId="{E025F615-4DB4-4037-9CA0-8665C5D81447}" destId="{71F0D9B7-EAFB-4173-9382-9F069D6B7DEB}" srcOrd="0" destOrd="0" presId="urn:microsoft.com/office/officeart/2018/2/layout/IconVerticalSolidList"/>
    <dgm:cxn modelId="{85646124-1573-4B97-ABA2-DF434C7AC360}" type="presParOf" srcId="{E025F615-4DB4-4037-9CA0-8665C5D81447}" destId="{602FC36A-0A46-4E79-92ED-888DB3E0DB36}" srcOrd="1" destOrd="0" presId="urn:microsoft.com/office/officeart/2018/2/layout/IconVerticalSolidList"/>
    <dgm:cxn modelId="{8084742F-1697-463E-96A4-F06D1096C9DD}" type="presParOf" srcId="{E025F615-4DB4-4037-9CA0-8665C5D81447}" destId="{DE109997-939E-4392-B9EA-26C1D0701D2A}" srcOrd="2" destOrd="0" presId="urn:microsoft.com/office/officeart/2018/2/layout/IconVerticalSolidList"/>
    <dgm:cxn modelId="{424D2778-6DE6-44EF-8C2A-1CA087A53706}" type="presParOf" srcId="{E025F615-4DB4-4037-9CA0-8665C5D81447}" destId="{85DC2762-B533-4E10-8338-1502AA8FD65A}" srcOrd="3" destOrd="0" presId="urn:microsoft.com/office/officeart/2018/2/layout/IconVerticalSolidList"/>
    <dgm:cxn modelId="{A75B33F9-4F45-47D1-81B8-FB4BD2961D61}" type="presParOf" srcId="{3CE10964-F787-4915-8092-CD01D82F225E}" destId="{6DD9E5E7-C730-433E-96BC-6326681E7D86}" srcOrd="3" destOrd="0" presId="urn:microsoft.com/office/officeart/2018/2/layout/IconVerticalSolidList"/>
    <dgm:cxn modelId="{72F32DFD-9F43-44D6-A4EE-AE6FD1D72301}" type="presParOf" srcId="{3CE10964-F787-4915-8092-CD01D82F225E}" destId="{C4DB9371-C8D3-48D5-B06E-D1C438E4BBAE}" srcOrd="4" destOrd="0" presId="urn:microsoft.com/office/officeart/2018/2/layout/IconVerticalSolidList"/>
    <dgm:cxn modelId="{3141F997-BD28-4B1B-8D54-8440C0BAD9A7}" type="presParOf" srcId="{C4DB9371-C8D3-48D5-B06E-D1C438E4BBAE}" destId="{5D8BE16E-2B8A-4950-97B1-01B182BBA481}" srcOrd="0" destOrd="0" presId="urn:microsoft.com/office/officeart/2018/2/layout/IconVerticalSolidList"/>
    <dgm:cxn modelId="{2E76B05E-3402-42A1-8C58-C860F2B10B2D}" type="presParOf" srcId="{C4DB9371-C8D3-48D5-B06E-D1C438E4BBAE}" destId="{8AA11571-C039-4D17-B5BE-1DC95CF548F8}" srcOrd="1" destOrd="0" presId="urn:microsoft.com/office/officeart/2018/2/layout/IconVerticalSolidList"/>
    <dgm:cxn modelId="{478F30C1-990C-41A6-9779-5C7D44A7EB22}" type="presParOf" srcId="{C4DB9371-C8D3-48D5-B06E-D1C438E4BBAE}" destId="{513BA455-26DB-43F5-ADDE-F3D4D5E75EBC}" srcOrd="2" destOrd="0" presId="urn:microsoft.com/office/officeart/2018/2/layout/IconVerticalSolidList"/>
    <dgm:cxn modelId="{4CED4408-0E38-4981-87B0-05E68C6304AC}" type="presParOf" srcId="{C4DB9371-C8D3-48D5-B06E-D1C438E4BBAE}" destId="{F7E2E698-B078-4D87-8675-89555166DB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A2D9F0B-EC0E-4718-BA6C-26336020DC8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52554C-6361-47EF-8FDC-7874931EFD33}">
      <dgm:prSet/>
      <dgm:spPr/>
      <dgm:t>
        <a:bodyPr/>
        <a:lstStyle/>
        <a:p>
          <a:r>
            <a:rPr lang="en-US" baseline="0"/>
            <a:t>Open Source</a:t>
          </a:r>
          <a:endParaRPr lang="en-US"/>
        </a:p>
      </dgm:t>
    </dgm:pt>
    <dgm:pt modelId="{17B3E6AC-5117-47AD-A3B7-655022B1B62E}" type="parTrans" cxnId="{10E6949E-B850-4811-A6DF-6EE057A7A4F3}">
      <dgm:prSet/>
      <dgm:spPr/>
      <dgm:t>
        <a:bodyPr/>
        <a:lstStyle/>
        <a:p>
          <a:endParaRPr lang="en-US"/>
        </a:p>
      </dgm:t>
    </dgm:pt>
    <dgm:pt modelId="{136C1DF3-AEE4-44F7-ABF1-E24D4285DB53}" type="sibTrans" cxnId="{10E6949E-B850-4811-A6DF-6EE057A7A4F3}">
      <dgm:prSet/>
      <dgm:spPr/>
      <dgm:t>
        <a:bodyPr/>
        <a:lstStyle/>
        <a:p>
          <a:endParaRPr lang="en-US"/>
        </a:p>
      </dgm:t>
    </dgm:pt>
    <dgm:pt modelId="{EBFF1688-22EA-4A32-BD39-CBA38FEC7B02}">
      <dgm:prSet/>
      <dgm:spPr/>
      <dgm:t>
        <a:bodyPr/>
        <a:lstStyle/>
        <a:p>
          <a:r>
            <a:rPr lang="en-US" baseline="0">
              <a:hlinkClick xmlns:r="http://schemas.openxmlformats.org/officeDocument/2006/relationships" r:id="rId1"/>
            </a:rPr>
            <a:t>https://github.com/TrudAX/TRUDUtilsD365</a:t>
          </a:r>
          <a:endParaRPr lang="en-US"/>
        </a:p>
      </dgm:t>
    </dgm:pt>
    <dgm:pt modelId="{C7F045A3-E783-467A-B759-53DB0432C001}" type="parTrans" cxnId="{D9243244-1168-4A1F-AC27-7F7B7657CA9B}">
      <dgm:prSet/>
      <dgm:spPr/>
      <dgm:t>
        <a:bodyPr/>
        <a:lstStyle/>
        <a:p>
          <a:endParaRPr lang="en-US"/>
        </a:p>
      </dgm:t>
    </dgm:pt>
    <dgm:pt modelId="{850417B5-9A76-4CFA-84AA-D51898D16D90}" type="sibTrans" cxnId="{D9243244-1168-4A1F-AC27-7F7B7657CA9B}">
      <dgm:prSet/>
      <dgm:spPr/>
      <dgm:t>
        <a:bodyPr/>
        <a:lstStyle/>
        <a:p>
          <a:endParaRPr lang="en-US"/>
        </a:p>
      </dgm:t>
    </dgm:pt>
    <dgm:pt modelId="{C6239DA6-C5C5-420B-89FE-2ABE109AC808}">
      <dgm:prSet/>
      <dgm:spPr/>
      <dgm:t>
        <a:bodyPr/>
        <a:lstStyle/>
        <a:p>
          <a:r>
            <a:rPr lang="en-US" baseline="0"/>
            <a:t>Prototyping Tools that help with productivity</a:t>
          </a:r>
          <a:endParaRPr lang="en-US"/>
        </a:p>
      </dgm:t>
    </dgm:pt>
    <dgm:pt modelId="{0DCBEC22-ADF6-41AB-9E60-7A3754B6F8F9}" type="parTrans" cxnId="{43094332-6E9A-41DB-8A17-BAEE8DEBDCEB}">
      <dgm:prSet/>
      <dgm:spPr/>
      <dgm:t>
        <a:bodyPr/>
        <a:lstStyle/>
        <a:p>
          <a:endParaRPr lang="en-US"/>
        </a:p>
      </dgm:t>
    </dgm:pt>
    <dgm:pt modelId="{F5487271-A271-4AD4-8919-9DC964305AB2}" type="sibTrans" cxnId="{43094332-6E9A-41DB-8A17-BAEE8DEBDCEB}">
      <dgm:prSet/>
      <dgm:spPr/>
      <dgm:t>
        <a:bodyPr/>
        <a:lstStyle/>
        <a:p>
          <a:endParaRPr lang="en-US"/>
        </a:p>
      </dgm:t>
    </dgm:pt>
    <dgm:pt modelId="{9DFF259C-8155-4C55-A0C9-209570DD17B1}">
      <dgm:prSet/>
      <dgm:spPr/>
      <dgm:t>
        <a:bodyPr/>
        <a:lstStyle/>
        <a:p>
          <a:r>
            <a:rPr lang="en-US" baseline="0"/>
            <a:t>Configurable</a:t>
          </a:r>
          <a:endParaRPr lang="en-US"/>
        </a:p>
      </dgm:t>
    </dgm:pt>
    <dgm:pt modelId="{726E78E0-DD19-48FF-B5DC-E87CF6990C82}" type="parTrans" cxnId="{025A7F21-B374-4B0A-9E8C-92B84936A96E}">
      <dgm:prSet/>
      <dgm:spPr/>
      <dgm:t>
        <a:bodyPr/>
        <a:lstStyle/>
        <a:p>
          <a:endParaRPr lang="en-US"/>
        </a:p>
      </dgm:t>
    </dgm:pt>
    <dgm:pt modelId="{BE21B905-C533-4FAA-A23D-825056B179B9}" type="sibTrans" cxnId="{025A7F21-B374-4B0A-9E8C-92B84936A96E}">
      <dgm:prSet/>
      <dgm:spPr/>
      <dgm:t>
        <a:bodyPr/>
        <a:lstStyle/>
        <a:p>
          <a:endParaRPr lang="en-US"/>
        </a:p>
      </dgm:t>
    </dgm:pt>
    <dgm:pt modelId="{8CE5F200-583D-4B93-9EEB-0B4E00C13911}">
      <dgm:prSet/>
      <dgm:spPr/>
      <dgm:t>
        <a:bodyPr/>
        <a:lstStyle/>
        <a:p>
          <a:r>
            <a:rPr lang="en-US" baseline="0"/>
            <a:t>Similar idea from AX 2009/2012 with configurable MorphX tools</a:t>
          </a:r>
          <a:endParaRPr lang="en-US"/>
        </a:p>
      </dgm:t>
    </dgm:pt>
    <dgm:pt modelId="{92A3EE28-6A8A-43BD-8169-D8AC603ECBF3}" type="parTrans" cxnId="{AFA2D026-36A0-49BC-BFC9-7EB0E8025C9E}">
      <dgm:prSet/>
      <dgm:spPr/>
      <dgm:t>
        <a:bodyPr/>
        <a:lstStyle/>
        <a:p>
          <a:endParaRPr lang="en-US"/>
        </a:p>
      </dgm:t>
    </dgm:pt>
    <dgm:pt modelId="{0FAFE9BA-8335-485F-8D12-DABF09B7ED67}" type="sibTrans" cxnId="{AFA2D026-36A0-49BC-BFC9-7EB0E8025C9E}">
      <dgm:prSet/>
      <dgm:spPr/>
      <dgm:t>
        <a:bodyPr/>
        <a:lstStyle/>
        <a:p>
          <a:endParaRPr lang="en-US"/>
        </a:p>
      </dgm:t>
    </dgm:pt>
    <dgm:pt modelId="{70286045-D110-4E96-ACFE-AF19B46C8445}" type="pres">
      <dgm:prSet presAssocID="{1A2D9F0B-EC0E-4718-BA6C-26336020DC8F}" presName="root" presStyleCnt="0">
        <dgm:presLayoutVars>
          <dgm:dir/>
          <dgm:resizeHandles val="exact"/>
        </dgm:presLayoutVars>
      </dgm:prSet>
      <dgm:spPr/>
    </dgm:pt>
    <dgm:pt modelId="{97E192BC-CFFB-4C65-A798-D9A46C103077}" type="pres">
      <dgm:prSet presAssocID="{6652554C-6361-47EF-8FDC-7874931EFD33}" presName="compNode" presStyleCnt="0"/>
      <dgm:spPr/>
    </dgm:pt>
    <dgm:pt modelId="{D22E70E7-DA71-449F-B390-3B922C8734A3}" type="pres">
      <dgm:prSet presAssocID="{6652554C-6361-47EF-8FDC-7874931EFD33}" presName="bgRect" presStyleLbl="bgShp" presStyleIdx="0" presStyleCnt="5"/>
      <dgm:spPr/>
    </dgm:pt>
    <dgm:pt modelId="{901860DF-9704-48AB-9C05-C02913CED17F}" type="pres">
      <dgm:prSet presAssocID="{6652554C-6361-47EF-8FDC-7874931EFD33}" presName="iconRect" presStyleLbl="node1" presStyleIdx="0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D43A25E-3038-41F5-AB85-14C799F27805}" type="pres">
      <dgm:prSet presAssocID="{6652554C-6361-47EF-8FDC-7874931EFD33}" presName="spaceRect" presStyleCnt="0"/>
      <dgm:spPr/>
    </dgm:pt>
    <dgm:pt modelId="{2435AB57-D789-4C84-A252-AD68B4C6D310}" type="pres">
      <dgm:prSet presAssocID="{6652554C-6361-47EF-8FDC-7874931EFD33}" presName="parTx" presStyleLbl="revTx" presStyleIdx="0" presStyleCnt="5">
        <dgm:presLayoutVars>
          <dgm:chMax val="0"/>
          <dgm:chPref val="0"/>
        </dgm:presLayoutVars>
      </dgm:prSet>
      <dgm:spPr/>
    </dgm:pt>
    <dgm:pt modelId="{597BC641-5ED8-4F29-BE7A-FAEF5AC46B47}" type="pres">
      <dgm:prSet presAssocID="{136C1DF3-AEE4-44F7-ABF1-E24D4285DB53}" presName="sibTrans" presStyleCnt="0"/>
      <dgm:spPr/>
    </dgm:pt>
    <dgm:pt modelId="{7FB0568C-EB21-4053-9A63-4FE9667CE76C}" type="pres">
      <dgm:prSet presAssocID="{EBFF1688-22EA-4A32-BD39-CBA38FEC7B02}" presName="compNode" presStyleCnt="0"/>
      <dgm:spPr/>
    </dgm:pt>
    <dgm:pt modelId="{C611C1CC-CBDC-48BC-845C-F9AD34339706}" type="pres">
      <dgm:prSet presAssocID="{EBFF1688-22EA-4A32-BD39-CBA38FEC7B02}" presName="bgRect" presStyleLbl="bgShp" presStyleIdx="1" presStyleCnt="5"/>
      <dgm:spPr/>
    </dgm:pt>
    <dgm:pt modelId="{A644579A-0578-4F2C-8A94-AE465561C9C6}" type="pres">
      <dgm:prSet presAssocID="{EBFF1688-22EA-4A32-BD39-CBA38FEC7B02}" presName="iconRect" presStyleLbl="node1" presStyleIdx="1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C0F948A8-431C-427E-AE64-0776FB0CA762}" type="pres">
      <dgm:prSet presAssocID="{EBFF1688-22EA-4A32-BD39-CBA38FEC7B02}" presName="spaceRect" presStyleCnt="0"/>
      <dgm:spPr/>
    </dgm:pt>
    <dgm:pt modelId="{29063280-E6E4-46E4-9479-C511491E38ED}" type="pres">
      <dgm:prSet presAssocID="{EBFF1688-22EA-4A32-BD39-CBA38FEC7B02}" presName="parTx" presStyleLbl="revTx" presStyleIdx="1" presStyleCnt="5">
        <dgm:presLayoutVars>
          <dgm:chMax val="0"/>
          <dgm:chPref val="0"/>
        </dgm:presLayoutVars>
      </dgm:prSet>
      <dgm:spPr/>
    </dgm:pt>
    <dgm:pt modelId="{3C487229-6ACF-465E-8534-38DF983AA72C}" type="pres">
      <dgm:prSet presAssocID="{850417B5-9A76-4CFA-84AA-D51898D16D90}" presName="sibTrans" presStyleCnt="0"/>
      <dgm:spPr/>
    </dgm:pt>
    <dgm:pt modelId="{EE9ED776-E161-4B14-BEE8-375BB1D504D2}" type="pres">
      <dgm:prSet presAssocID="{C6239DA6-C5C5-420B-89FE-2ABE109AC808}" presName="compNode" presStyleCnt="0"/>
      <dgm:spPr/>
    </dgm:pt>
    <dgm:pt modelId="{22F5B503-B96B-4E8A-B81D-0141C59303A9}" type="pres">
      <dgm:prSet presAssocID="{C6239DA6-C5C5-420B-89FE-2ABE109AC808}" presName="bgRect" presStyleLbl="bgShp" presStyleIdx="2" presStyleCnt="5"/>
      <dgm:spPr/>
    </dgm:pt>
    <dgm:pt modelId="{7D64BD9F-7604-4FE3-A8B8-87C0350A16A6}" type="pres">
      <dgm:prSet presAssocID="{C6239DA6-C5C5-420B-89FE-2ABE109AC808}" presName="iconRect" presStyleLbl="node1" presStyleIdx="2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99DF485-B863-4BE0-BE73-644BEC353941}" type="pres">
      <dgm:prSet presAssocID="{C6239DA6-C5C5-420B-89FE-2ABE109AC808}" presName="spaceRect" presStyleCnt="0"/>
      <dgm:spPr/>
    </dgm:pt>
    <dgm:pt modelId="{2EA2A09C-877A-4944-8527-D077B4EA0D45}" type="pres">
      <dgm:prSet presAssocID="{C6239DA6-C5C5-420B-89FE-2ABE109AC808}" presName="parTx" presStyleLbl="revTx" presStyleIdx="2" presStyleCnt="5">
        <dgm:presLayoutVars>
          <dgm:chMax val="0"/>
          <dgm:chPref val="0"/>
        </dgm:presLayoutVars>
      </dgm:prSet>
      <dgm:spPr/>
    </dgm:pt>
    <dgm:pt modelId="{94731579-46A9-4A54-944C-073FD471C04D}" type="pres">
      <dgm:prSet presAssocID="{F5487271-A271-4AD4-8919-9DC964305AB2}" presName="sibTrans" presStyleCnt="0"/>
      <dgm:spPr/>
    </dgm:pt>
    <dgm:pt modelId="{B8E69B92-ACD2-4E10-B583-19A222550CFA}" type="pres">
      <dgm:prSet presAssocID="{9DFF259C-8155-4C55-A0C9-209570DD17B1}" presName="compNode" presStyleCnt="0"/>
      <dgm:spPr/>
    </dgm:pt>
    <dgm:pt modelId="{D7885653-17D1-4664-85C6-CBBE644858F6}" type="pres">
      <dgm:prSet presAssocID="{9DFF259C-8155-4C55-A0C9-209570DD17B1}" presName="bgRect" presStyleLbl="bgShp" presStyleIdx="3" presStyleCnt="5"/>
      <dgm:spPr/>
    </dgm:pt>
    <dgm:pt modelId="{96B4473F-0D1B-4FE4-9F4F-F32AAC76139C}" type="pres">
      <dgm:prSet presAssocID="{9DFF259C-8155-4C55-A0C9-209570DD17B1}" presName="iconRect" presStyleLbl="node1" presStyleIdx="3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66FC2B35-DDAB-4976-B9BA-75456962EE19}" type="pres">
      <dgm:prSet presAssocID="{9DFF259C-8155-4C55-A0C9-209570DD17B1}" presName="spaceRect" presStyleCnt="0"/>
      <dgm:spPr/>
    </dgm:pt>
    <dgm:pt modelId="{ACF92BEB-2073-414C-8802-545A3D1302D6}" type="pres">
      <dgm:prSet presAssocID="{9DFF259C-8155-4C55-A0C9-209570DD17B1}" presName="parTx" presStyleLbl="revTx" presStyleIdx="3" presStyleCnt="5">
        <dgm:presLayoutVars>
          <dgm:chMax val="0"/>
          <dgm:chPref val="0"/>
        </dgm:presLayoutVars>
      </dgm:prSet>
      <dgm:spPr/>
    </dgm:pt>
    <dgm:pt modelId="{4164C0AC-78B7-47CA-83E9-543E5B9C6F76}" type="pres">
      <dgm:prSet presAssocID="{BE21B905-C533-4FAA-A23D-825056B179B9}" presName="sibTrans" presStyleCnt="0"/>
      <dgm:spPr/>
    </dgm:pt>
    <dgm:pt modelId="{CF2B9C79-A564-42A1-9F2B-A2486221174B}" type="pres">
      <dgm:prSet presAssocID="{8CE5F200-583D-4B93-9EEB-0B4E00C13911}" presName="compNode" presStyleCnt="0"/>
      <dgm:spPr/>
    </dgm:pt>
    <dgm:pt modelId="{D14D8A22-3FA4-4B47-94B3-2EBF70BCC0C2}" type="pres">
      <dgm:prSet presAssocID="{8CE5F200-583D-4B93-9EEB-0B4E00C13911}" presName="bgRect" presStyleLbl="bgShp" presStyleIdx="4" presStyleCnt="5"/>
      <dgm:spPr/>
    </dgm:pt>
    <dgm:pt modelId="{6A92691C-DAE6-41FA-9654-A63F310FF59C}" type="pres">
      <dgm:prSet presAssocID="{8CE5F200-583D-4B93-9EEB-0B4E00C13911}" presName="iconRect" presStyleLbl="node1" presStyleIdx="4" presStyleCnt="5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4512DF2A-5CAD-4813-A2DE-E100F6EC383A}" type="pres">
      <dgm:prSet presAssocID="{8CE5F200-583D-4B93-9EEB-0B4E00C13911}" presName="spaceRect" presStyleCnt="0"/>
      <dgm:spPr/>
    </dgm:pt>
    <dgm:pt modelId="{822E21EF-E4E8-4865-89C7-6CFEF63D5748}" type="pres">
      <dgm:prSet presAssocID="{8CE5F200-583D-4B93-9EEB-0B4E00C1391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058A519-ACAA-4D05-82EA-6AF4DDA787DB}" type="presOf" srcId="{9DFF259C-8155-4C55-A0C9-209570DD17B1}" destId="{ACF92BEB-2073-414C-8802-545A3D1302D6}" srcOrd="0" destOrd="0" presId="urn:microsoft.com/office/officeart/2018/2/layout/IconVerticalSolidList"/>
    <dgm:cxn modelId="{025A7F21-B374-4B0A-9E8C-92B84936A96E}" srcId="{1A2D9F0B-EC0E-4718-BA6C-26336020DC8F}" destId="{9DFF259C-8155-4C55-A0C9-209570DD17B1}" srcOrd="3" destOrd="0" parTransId="{726E78E0-DD19-48FF-B5DC-E87CF6990C82}" sibTransId="{BE21B905-C533-4FAA-A23D-825056B179B9}"/>
    <dgm:cxn modelId="{AFA2D026-36A0-49BC-BFC9-7EB0E8025C9E}" srcId="{1A2D9F0B-EC0E-4718-BA6C-26336020DC8F}" destId="{8CE5F200-583D-4B93-9EEB-0B4E00C13911}" srcOrd="4" destOrd="0" parTransId="{92A3EE28-6A8A-43BD-8169-D8AC603ECBF3}" sibTransId="{0FAFE9BA-8335-485F-8D12-DABF09B7ED67}"/>
    <dgm:cxn modelId="{43094332-6E9A-41DB-8A17-BAEE8DEBDCEB}" srcId="{1A2D9F0B-EC0E-4718-BA6C-26336020DC8F}" destId="{C6239DA6-C5C5-420B-89FE-2ABE109AC808}" srcOrd="2" destOrd="0" parTransId="{0DCBEC22-ADF6-41AB-9E60-7A3754B6F8F9}" sibTransId="{F5487271-A271-4AD4-8919-9DC964305AB2}"/>
    <dgm:cxn modelId="{88F70543-6E81-46D3-B9D7-1CF233738D79}" type="presOf" srcId="{EBFF1688-22EA-4A32-BD39-CBA38FEC7B02}" destId="{29063280-E6E4-46E4-9479-C511491E38ED}" srcOrd="0" destOrd="0" presId="urn:microsoft.com/office/officeart/2018/2/layout/IconVerticalSolidList"/>
    <dgm:cxn modelId="{D9243244-1168-4A1F-AC27-7F7B7657CA9B}" srcId="{1A2D9F0B-EC0E-4718-BA6C-26336020DC8F}" destId="{EBFF1688-22EA-4A32-BD39-CBA38FEC7B02}" srcOrd="1" destOrd="0" parTransId="{C7F045A3-E783-467A-B759-53DB0432C001}" sibTransId="{850417B5-9A76-4CFA-84AA-D51898D16D90}"/>
    <dgm:cxn modelId="{F7843482-D4AC-451D-A6C6-43026EE07BCF}" type="presOf" srcId="{1A2D9F0B-EC0E-4718-BA6C-26336020DC8F}" destId="{70286045-D110-4E96-ACFE-AF19B46C8445}" srcOrd="0" destOrd="0" presId="urn:microsoft.com/office/officeart/2018/2/layout/IconVerticalSolidList"/>
    <dgm:cxn modelId="{4543D194-1CB1-459D-8AF0-F0D5B1391485}" type="presOf" srcId="{6652554C-6361-47EF-8FDC-7874931EFD33}" destId="{2435AB57-D789-4C84-A252-AD68B4C6D310}" srcOrd="0" destOrd="0" presId="urn:microsoft.com/office/officeart/2018/2/layout/IconVerticalSolidList"/>
    <dgm:cxn modelId="{10E6949E-B850-4811-A6DF-6EE057A7A4F3}" srcId="{1A2D9F0B-EC0E-4718-BA6C-26336020DC8F}" destId="{6652554C-6361-47EF-8FDC-7874931EFD33}" srcOrd="0" destOrd="0" parTransId="{17B3E6AC-5117-47AD-A3B7-655022B1B62E}" sibTransId="{136C1DF3-AEE4-44F7-ABF1-E24D4285DB53}"/>
    <dgm:cxn modelId="{162AC2A8-5F66-4CD4-A4AF-12710701E9B1}" type="presOf" srcId="{C6239DA6-C5C5-420B-89FE-2ABE109AC808}" destId="{2EA2A09C-877A-4944-8527-D077B4EA0D45}" srcOrd="0" destOrd="0" presId="urn:microsoft.com/office/officeart/2018/2/layout/IconVerticalSolidList"/>
    <dgm:cxn modelId="{3C95FFD1-AE57-4347-A361-83710139E920}" type="presOf" srcId="{8CE5F200-583D-4B93-9EEB-0B4E00C13911}" destId="{822E21EF-E4E8-4865-89C7-6CFEF63D5748}" srcOrd="0" destOrd="0" presId="urn:microsoft.com/office/officeart/2018/2/layout/IconVerticalSolidList"/>
    <dgm:cxn modelId="{C9980EDC-A52A-4002-B51A-B109A317A76B}" type="presParOf" srcId="{70286045-D110-4E96-ACFE-AF19B46C8445}" destId="{97E192BC-CFFB-4C65-A798-D9A46C103077}" srcOrd="0" destOrd="0" presId="urn:microsoft.com/office/officeart/2018/2/layout/IconVerticalSolidList"/>
    <dgm:cxn modelId="{664C70CB-6388-47A4-8925-A6B5EB3A585F}" type="presParOf" srcId="{97E192BC-CFFB-4C65-A798-D9A46C103077}" destId="{D22E70E7-DA71-449F-B390-3B922C8734A3}" srcOrd="0" destOrd="0" presId="urn:microsoft.com/office/officeart/2018/2/layout/IconVerticalSolidList"/>
    <dgm:cxn modelId="{5D0603E7-0E0C-43EE-A78F-D38397284A8F}" type="presParOf" srcId="{97E192BC-CFFB-4C65-A798-D9A46C103077}" destId="{901860DF-9704-48AB-9C05-C02913CED17F}" srcOrd="1" destOrd="0" presId="urn:microsoft.com/office/officeart/2018/2/layout/IconVerticalSolidList"/>
    <dgm:cxn modelId="{D5E87C57-0845-4D4F-A6C4-0C23C0594191}" type="presParOf" srcId="{97E192BC-CFFB-4C65-A798-D9A46C103077}" destId="{7D43A25E-3038-41F5-AB85-14C799F27805}" srcOrd="2" destOrd="0" presId="urn:microsoft.com/office/officeart/2018/2/layout/IconVerticalSolidList"/>
    <dgm:cxn modelId="{9183E322-CD95-4C28-8E17-B001439EB509}" type="presParOf" srcId="{97E192BC-CFFB-4C65-A798-D9A46C103077}" destId="{2435AB57-D789-4C84-A252-AD68B4C6D310}" srcOrd="3" destOrd="0" presId="urn:microsoft.com/office/officeart/2018/2/layout/IconVerticalSolidList"/>
    <dgm:cxn modelId="{D18E5E80-3ED8-4B8F-9679-C40D73833593}" type="presParOf" srcId="{70286045-D110-4E96-ACFE-AF19B46C8445}" destId="{597BC641-5ED8-4F29-BE7A-FAEF5AC46B47}" srcOrd="1" destOrd="0" presId="urn:microsoft.com/office/officeart/2018/2/layout/IconVerticalSolidList"/>
    <dgm:cxn modelId="{F2EE9910-9878-459F-A04B-84E28D833F08}" type="presParOf" srcId="{70286045-D110-4E96-ACFE-AF19B46C8445}" destId="{7FB0568C-EB21-4053-9A63-4FE9667CE76C}" srcOrd="2" destOrd="0" presId="urn:microsoft.com/office/officeart/2018/2/layout/IconVerticalSolidList"/>
    <dgm:cxn modelId="{C369882D-6141-40C4-B5DE-ED58A47BA06D}" type="presParOf" srcId="{7FB0568C-EB21-4053-9A63-4FE9667CE76C}" destId="{C611C1CC-CBDC-48BC-845C-F9AD34339706}" srcOrd="0" destOrd="0" presId="urn:microsoft.com/office/officeart/2018/2/layout/IconVerticalSolidList"/>
    <dgm:cxn modelId="{F05B77EA-E3D2-4BDF-930B-4D2BAC9771D6}" type="presParOf" srcId="{7FB0568C-EB21-4053-9A63-4FE9667CE76C}" destId="{A644579A-0578-4F2C-8A94-AE465561C9C6}" srcOrd="1" destOrd="0" presId="urn:microsoft.com/office/officeart/2018/2/layout/IconVerticalSolidList"/>
    <dgm:cxn modelId="{7E533A12-070B-49A4-BB28-24483FA1A41F}" type="presParOf" srcId="{7FB0568C-EB21-4053-9A63-4FE9667CE76C}" destId="{C0F948A8-431C-427E-AE64-0776FB0CA762}" srcOrd="2" destOrd="0" presId="urn:microsoft.com/office/officeart/2018/2/layout/IconVerticalSolidList"/>
    <dgm:cxn modelId="{CD76CDD3-39A7-4043-AF62-477C09E12BC8}" type="presParOf" srcId="{7FB0568C-EB21-4053-9A63-4FE9667CE76C}" destId="{29063280-E6E4-46E4-9479-C511491E38ED}" srcOrd="3" destOrd="0" presId="urn:microsoft.com/office/officeart/2018/2/layout/IconVerticalSolidList"/>
    <dgm:cxn modelId="{2DAB301A-9DD5-4259-9BD6-B009AAD760D2}" type="presParOf" srcId="{70286045-D110-4E96-ACFE-AF19B46C8445}" destId="{3C487229-6ACF-465E-8534-38DF983AA72C}" srcOrd="3" destOrd="0" presId="urn:microsoft.com/office/officeart/2018/2/layout/IconVerticalSolidList"/>
    <dgm:cxn modelId="{9F85774E-9B68-4485-8119-C5BA90322331}" type="presParOf" srcId="{70286045-D110-4E96-ACFE-AF19B46C8445}" destId="{EE9ED776-E161-4B14-BEE8-375BB1D504D2}" srcOrd="4" destOrd="0" presId="urn:microsoft.com/office/officeart/2018/2/layout/IconVerticalSolidList"/>
    <dgm:cxn modelId="{514F8D93-5084-4A9B-9E3B-741C6C2CC7DC}" type="presParOf" srcId="{EE9ED776-E161-4B14-BEE8-375BB1D504D2}" destId="{22F5B503-B96B-4E8A-B81D-0141C59303A9}" srcOrd="0" destOrd="0" presId="urn:microsoft.com/office/officeart/2018/2/layout/IconVerticalSolidList"/>
    <dgm:cxn modelId="{8529296B-169F-4035-816A-10714DC5CD8F}" type="presParOf" srcId="{EE9ED776-E161-4B14-BEE8-375BB1D504D2}" destId="{7D64BD9F-7604-4FE3-A8B8-87C0350A16A6}" srcOrd="1" destOrd="0" presId="urn:microsoft.com/office/officeart/2018/2/layout/IconVerticalSolidList"/>
    <dgm:cxn modelId="{10F79E7F-6E08-4517-B47F-0B25294F4E48}" type="presParOf" srcId="{EE9ED776-E161-4B14-BEE8-375BB1D504D2}" destId="{199DF485-B863-4BE0-BE73-644BEC353941}" srcOrd="2" destOrd="0" presId="urn:microsoft.com/office/officeart/2018/2/layout/IconVerticalSolidList"/>
    <dgm:cxn modelId="{64B24911-0AA3-4E01-B433-667538FE9048}" type="presParOf" srcId="{EE9ED776-E161-4B14-BEE8-375BB1D504D2}" destId="{2EA2A09C-877A-4944-8527-D077B4EA0D45}" srcOrd="3" destOrd="0" presId="urn:microsoft.com/office/officeart/2018/2/layout/IconVerticalSolidList"/>
    <dgm:cxn modelId="{499E8EF6-8A5F-4F4A-8EF2-81E9EC9E806E}" type="presParOf" srcId="{70286045-D110-4E96-ACFE-AF19B46C8445}" destId="{94731579-46A9-4A54-944C-073FD471C04D}" srcOrd="5" destOrd="0" presId="urn:microsoft.com/office/officeart/2018/2/layout/IconVerticalSolidList"/>
    <dgm:cxn modelId="{D51AA626-CD98-4F63-A7D4-59E95A255EF4}" type="presParOf" srcId="{70286045-D110-4E96-ACFE-AF19B46C8445}" destId="{B8E69B92-ACD2-4E10-B583-19A222550CFA}" srcOrd="6" destOrd="0" presId="urn:microsoft.com/office/officeart/2018/2/layout/IconVerticalSolidList"/>
    <dgm:cxn modelId="{1962AE53-8FBD-48C1-B83B-7D60B0512A60}" type="presParOf" srcId="{B8E69B92-ACD2-4E10-B583-19A222550CFA}" destId="{D7885653-17D1-4664-85C6-CBBE644858F6}" srcOrd="0" destOrd="0" presId="urn:microsoft.com/office/officeart/2018/2/layout/IconVerticalSolidList"/>
    <dgm:cxn modelId="{BAEFCBFD-D3F1-45D8-9FA6-BF5561AAC16F}" type="presParOf" srcId="{B8E69B92-ACD2-4E10-B583-19A222550CFA}" destId="{96B4473F-0D1B-4FE4-9F4F-F32AAC76139C}" srcOrd="1" destOrd="0" presId="urn:microsoft.com/office/officeart/2018/2/layout/IconVerticalSolidList"/>
    <dgm:cxn modelId="{D7B3D5D7-0689-4B2B-B37A-5900DA46570E}" type="presParOf" srcId="{B8E69B92-ACD2-4E10-B583-19A222550CFA}" destId="{66FC2B35-DDAB-4976-B9BA-75456962EE19}" srcOrd="2" destOrd="0" presId="urn:microsoft.com/office/officeart/2018/2/layout/IconVerticalSolidList"/>
    <dgm:cxn modelId="{29E298E8-D897-4ACC-9F90-72B9BBF3EAF7}" type="presParOf" srcId="{B8E69B92-ACD2-4E10-B583-19A222550CFA}" destId="{ACF92BEB-2073-414C-8802-545A3D1302D6}" srcOrd="3" destOrd="0" presId="urn:microsoft.com/office/officeart/2018/2/layout/IconVerticalSolidList"/>
    <dgm:cxn modelId="{2A3D11B9-08BA-448A-B406-449BD3AD9698}" type="presParOf" srcId="{70286045-D110-4E96-ACFE-AF19B46C8445}" destId="{4164C0AC-78B7-47CA-83E9-543E5B9C6F76}" srcOrd="7" destOrd="0" presId="urn:microsoft.com/office/officeart/2018/2/layout/IconVerticalSolidList"/>
    <dgm:cxn modelId="{55F23375-7299-462C-822B-6B68EB44AACB}" type="presParOf" srcId="{70286045-D110-4E96-ACFE-AF19B46C8445}" destId="{CF2B9C79-A564-42A1-9F2B-A2486221174B}" srcOrd="8" destOrd="0" presId="urn:microsoft.com/office/officeart/2018/2/layout/IconVerticalSolidList"/>
    <dgm:cxn modelId="{1E089978-8BE5-4475-8224-4359CCC1CAA4}" type="presParOf" srcId="{CF2B9C79-A564-42A1-9F2B-A2486221174B}" destId="{D14D8A22-3FA4-4B47-94B3-2EBF70BCC0C2}" srcOrd="0" destOrd="0" presId="urn:microsoft.com/office/officeart/2018/2/layout/IconVerticalSolidList"/>
    <dgm:cxn modelId="{952F55B2-AA63-4D5B-AD12-E2E89F58DF13}" type="presParOf" srcId="{CF2B9C79-A564-42A1-9F2B-A2486221174B}" destId="{6A92691C-DAE6-41FA-9654-A63F310FF59C}" srcOrd="1" destOrd="0" presId="urn:microsoft.com/office/officeart/2018/2/layout/IconVerticalSolidList"/>
    <dgm:cxn modelId="{D75563DD-1E4E-4C4A-A5D4-038BE2E79296}" type="presParOf" srcId="{CF2B9C79-A564-42A1-9F2B-A2486221174B}" destId="{4512DF2A-5CAD-4813-A2DE-E100F6EC383A}" srcOrd="2" destOrd="0" presId="urn:microsoft.com/office/officeart/2018/2/layout/IconVerticalSolidList"/>
    <dgm:cxn modelId="{8DDFDAFF-CF49-4A34-A2AD-514FE45CC1CA}" type="presParOf" srcId="{CF2B9C79-A564-42A1-9F2B-A2486221174B}" destId="{822E21EF-E4E8-4865-89C7-6CFEF63D57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44A7858-8B42-4B17-98E7-611BE86E9CE6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C5045E-C4BA-4433-AF96-2B15A8AAEBD7}">
      <dgm:prSet/>
      <dgm:spPr/>
      <dgm:t>
        <a:bodyPr/>
        <a:lstStyle/>
        <a:p>
          <a:r>
            <a:rPr lang="en-US"/>
            <a:t>First, check out UDEs if you haven't heard of them yet</a:t>
          </a:r>
        </a:p>
      </dgm:t>
    </dgm:pt>
    <dgm:pt modelId="{DB2BC4BD-DA3D-4CDE-BD7E-9CF63805CE24}" type="parTrans" cxnId="{D8D8F9FB-9C4C-4A78-8C92-BFED04364D54}">
      <dgm:prSet/>
      <dgm:spPr/>
      <dgm:t>
        <a:bodyPr/>
        <a:lstStyle/>
        <a:p>
          <a:endParaRPr lang="en-US"/>
        </a:p>
      </dgm:t>
    </dgm:pt>
    <dgm:pt modelId="{C37771E1-38A0-42FB-8617-9CF280ACB576}" type="sibTrans" cxnId="{D8D8F9FB-9C4C-4A78-8C92-BFED04364D54}">
      <dgm:prSet/>
      <dgm:spPr/>
      <dgm:t>
        <a:bodyPr/>
        <a:lstStyle/>
        <a:p>
          <a:endParaRPr lang="en-US"/>
        </a:p>
      </dgm:t>
    </dgm:pt>
    <dgm:pt modelId="{3AF65793-A316-4EAA-A153-D38A316EC196}">
      <dgm:prSet/>
      <dgm:spPr/>
      <dgm:t>
        <a:bodyPr/>
        <a:lstStyle/>
        <a:p>
          <a:r>
            <a:rPr lang="en-US"/>
            <a:t>Build models, not projects or solutions</a:t>
          </a:r>
        </a:p>
      </dgm:t>
    </dgm:pt>
    <dgm:pt modelId="{1774334D-6FDA-4FC1-B003-252D68E4F19B}" type="parTrans" cxnId="{E33D76E1-CE1B-4028-9AB1-0F87C9F39356}">
      <dgm:prSet/>
      <dgm:spPr/>
      <dgm:t>
        <a:bodyPr/>
        <a:lstStyle/>
        <a:p>
          <a:endParaRPr lang="en-US"/>
        </a:p>
      </dgm:t>
    </dgm:pt>
    <dgm:pt modelId="{84176B1F-03DD-4B38-906C-FB1852DFDB6D}" type="sibTrans" cxnId="{E33D76E1-CE1B-4028-9AB1-0F87C9F39356}">
      <dgm:prSet/>
      <dgm:spPr/>
      <dgm:t>
        <a:bodyPr/>
        <a:lstStyle/>
        <a:p>
          <a:endParaRPr lang="en-US"/>
        </a:p>
      </dgm:t>
    </dgm:pt>
    <dgm:pt modelId="{A8DCBF95-A8FC-4101-BAE4-31F1CE5ABC66}">
      <dgm:prSet/>
      <dgm:spPr/>
      <dgm:t>
        <a:bodyPr/>
        <a:lstStyle/>
        <a:p>
          <a:r>
            <a:rPr lang="en-US"/>
            <a:t>Better support for Git with configurable metadata</a:t>
          </a:r>
        </a:p>
      </dgm:t>
    </dgm:pt>
    <dgm:pt modelId="{5A4B3D3A-9D7D-4E77-901B-E72A24486874}" type="parTrans" cxnId="{FE7D051F-0ED4-4C55-A0B9-E9D2F31C32D4}">
      <dgm:prSet/>
      <dgm:spPr/>
      <dgm:t>
        <a:bodyPr/>
        <a:lstStyle/>
        <a:p>
          <a:endParaRPr lang="en-US"/>
        </a:p>
      </dgm:t>
    </dgm:pt>
    <dgm:pt modelId="{C3C3DCFE-6EE0-4CF2-BF65-9B0A287FD02B}" type="sibTrans" cxnId="{FE7D051F-0ED4-4C55-A0B9-E9D2F31C32D4}">
      <dgm:prSet/>
      <dgm:spPr/>
      <dgm:t>
        <a:bodyPr/>
        <a:lstStyle/>
        <a:p>
          <a:endParaRPr lang="en-US"/>
        </a:p>
      </dgm:t>
    </dgm:pt>
    <dgm:pt modelId="{4D550645-6F36-43D9-8706-73BEC71CBBC4}">
      <dgm:prSet/>
      <dgm:spPr/>
      <dgm:t>
        <a:bodyPr/>
        <a:lstStyle/>
        <a:p>
          <a:r>
            <a:rPr lang="en-US"/>
            <a:t>You get everything with your UDE so you can test your data entities in a dual write scenario, or power automate, virtual tables, etc</a:t>
          </a:r>
        </a:p>
      </dgm:t>
    </dgm:pt>
    <dgm:pt modelId="{02DFA6BF-359F-4F49-B1A5-3406C4AA178A}" type="parTrans" cxnId="{B6B957E6-4FD3-42F7-B80A-F6469BFDE791}">
      <dgm:prSet/>
      <dgm:spPr/>
      <dgm:t>
        <a:bodyPr/>
        <a:lstStyle/>
        <a:p>
          <a:endParaRPr lang="en-US"/>
        </a:p>
      </dgm:t>
    </dgm:pt>
    <dgm:pt modelId="{4341C1C4-C8DD-405A-AF30-36B1F7B655FE}" type="sibTrans" cxnId="{B6B957E6-4FD3-42F7-B80A-F6469BFDE791}">
      <dgm:prSet/>
      <dgm:spPr/>
      <dgm:t>
        <a:bodyPr/>
        <a:lstStyle/>
        <a:p>
          <a:endParaRPr lang="en-US"/>
        </a:p>
      </dgm:t>
    </dgm:pt>
    <dgm:pt modelId="{3C45A79D-7E50-4E64-858D-1C3226D89668}">
      <dgm:prSet/>
      <dgm:spPr/>
      <dgm:t>
        <a:bodyPr/>
        <a:lstStyle/>
        <a:p>
          <a:r>
            <a:rPr lang="en-US"/>
            <a:t>JIT data access</a:t>
          </a:r>
        </a:p>
      </dgm:t>
    </dgm:pt>
    <dgm:pt modelId="{BC049162-6CD4-4156-B66E-B87EC4829187}" type="parTrans" cxnId="{5B2C3C37-5CA2-4896-BAD4-25984E684C1A}">
      <dgm:prSet/>
      <dgm:spPr/>
      <dgm:t>
        <a:bodyPr/>
        <a:lstStyle/>
        <a:p>
          <a:endParaRPr lang="en-US"/>
        </a:p>
      </dgm:t>
    </dgm:pt>
    <dgm:pt modelId="{4EB5E20C-17B9-4706-A482-62CB3AAB5B3E}" type="sibTrans" cxnId="{5B2C3C37-5CA2-4896-BAD4-25984E684C1A}">
      <dgm:prSet/>
      <dgm:spPr/>
      <dgm:t>
        <a:bodyPr/>
        <a:lstStyle/>
        <a:p>
          <a:endParaRPr lang="en-US"/>
        </a:p>
      </dgm:t>
    </dgm:pt>
    <dgm:pt modelId="{5F2C8664-B278-4633-8166-09878C41C519}">
      <dgm:prSet/>
      <dgm:spPr/>
      <dgm:t>
        <a:bodyPr/>
        <a:lstStyle/>
        <a:p>
          <a:r>
            <a:rPr lang="en-US"/>
            <a:t>(sigh) Copilot</a:t>
          </a:r>
        </a:p>
      </dgm:t>
    </dgm:pt>
    <dgm:pt modelId="{5E931892-ABFD-48EB-A826-16B2ED2AFA98}" type="parTrans" cxnId="{C634896E-7B3D-4D20-8896-7198FD540C82}">
      <dgm:prSet/>
      <dgm:spPr/>
      <dgm:t>
        <a:bodyPr/>
        <a:lstStyle/>
        <a:p>
          <a:endParaRPr lang="en-US"/>
        </a:p>
      </dgm:t>
    </dgm:pt>
    <dgm:pt modelId="{8447F032-402D-454E-B247-3A53A060F8DA}" type="sibTrans" cxnId="{C634896E-7B3D-4D20-8896-7198FD540C82}">
      <dgm:prSet/>
      <dgm:spPr/>
      <dgm:t>
        <a:bodyPr/>
        <a:lstStyle/>
        <a:p>
          <a:endParaRPr lang="en-US"/>
        </a:p>
      </dgm:t>
    </dgm:pt>
    <dgm:pt modelId="{E3B29297-7877-4516-8BF4-1D2ACF7BF586}">
      <dgm:prSet/>
      <dgm:spPr/>
      <dgm:t>
        <a:bodyPr/>
        <a:lstStyle/>
        <a:p>
          <a:r>
            <a:rPr lang="en-US"/>
            <a:t>Microservices are available</a:t>
          </a:r>
        </a:p>
      </dgm:t>
    </dgm:pt>
    <dgm:pt modelId="{AC057010-34D5-4F2C-B1BF-60E69F5B2E3B}" type="parTrans" cxnId="{7D5B9E8D-C128-42FE-8439-4AFE48ACCEF4}">
      <dgm:prSet/>
      <dgm:spPr/>
      <dgm:t>
        <a:bodyPr/>
        <a:lstStyle/>
        <a:p>
          <a:endParaRPr lang="en-US"/>
        </a:p>
      </dgm:t>
    </dgm:pt>
    <dgm:pt modelId="{9C71D3EF-E75D-4044-A7C0-1756BC9A81AC}" type="sibTrans" cxnId="{7D5B9E8D-C128-42FE-8439-4AFE48ACCEF4}">
      <dgm:prSet/>
      <dgm:spPr/>
      <dgm:t>
        <a:bodyPr/>
        <a:lstStyle/>
        <a:p>
          <a:endParaRPr lang="en-US"/>
        </a:p>
      </dgm:t>
    </dgm:pt>
    <dgm:pt modelId="{D13025AE-47D9-40C7-A6BE-6E4642FE83B6}">
      <dgm:prSet/>
      <dgm:spPr/>
      <dgm:t>
        <a:bodyPr/>
        <a:lstStyle/>
        <a:p>
          <a:r>
            <a:rPr lang="en-US" dirty="0"/>
            <a:t>Availability based on storage</a:t>
          </a:r>
        </a:p>
      </dgm:t>
    </dgm:pt>
    <dgm:pt modelId="{29A370B8-5E65-44BD-AB35-9A975BBCF220}" type="parTrans" cxnId="{B5DF8DCF-BE50-4D9D-8943-7DF9ECF6CBEC}">
      <dgm:prSet/>
      <dgm:spPr/>
      <dgm:t>
        <a:bodyPr/>
        <a:lstStyle/>
        <a:p>
          <a:endParaRPr lang="en-US"/>
        </a:p>
      </dgm:t>
    </dgm:pt>
    <dgm:pt modelId="{057C3BA7-97A1-487C-9148-3CA3E49DED41}" type="sibTrans" cxnId="{B5DF8DCF-BE50-4D9D-8943-7DF9ECF6CBEC}">
      <dgm:prSet/>
      <dgm:spPr/>
      <dgm:t>
        <a:bodyPr/>
        <a:lstStyle/>
        <a:p>
          <a:endParaRPr lang="en-US"/>
        </a:p>
      </dgm:t>
    </dgm:pt>
    <dgm:pt modelId="{CC6B3BB2-C555-4FDD-B98A-54A36F12CFF0}">
      <dgm:prSet/>
      <dgm:spPr/>
      <dgm:t>
        <a:bodyPr/>
        <a:lstStyle/>
        <a:p>
          <a:r>
            <a:rPr lang="en-US" dirty="0"/>
            <a:t>Persistent database access?</a:t>
          </a:r>
        </a:p>
      </dgm:t>
    </dgm:pt>
    <dgm:pt modelId="{71384FC4-89AF-4011-81A3-867BC08D9C03}" type="parTrans" cxnId="{2B27584A-9448-4A4E-A3E8-F3AF0D66822A}">
      <dgm:prSet/>
      <dgm:spPr/>
      <dgm:t>
        <a:bodyPr/>
        <a:lstStyle/>
        <a:p>
          <a:endParaRPr lang="en-US"/>
        </a:p>
      </dgm:t>
    </dgm:pt>
    <dgm:pt modelId="{AB0F04E2-2039-4AF5-ADAA-98590C495D02}" type="sibTrans" cxnId="{2B27584A-9448-4A4E-A3E8-F3AF0D66822A}">
      <dgm:prSet/>
      <dgm:spPr/>
      <dgm:t>
        <a:bodyPr/>
        <a:lstStyle/>
        <a:p>
          <a:endParaRPr lang="en-US"/>
        </a:p>
      </dgm:t>
    </dgm:pt>
    <dgm:pt modelId="{9A900B5F-FE87-4D3F-9C75-0D0D395CCCF9}">
      <dgm:prSet/>
      <dgm:spPr/>
      <dgm:t>
        <a:bodyPr/>
        <a:lstStyle/>
        <a:p>
          <a:r>
            <a:rPr lang="en-US" dirty="0"/>
            <a:t>License Usage Summary – User License</a:t>
          </a:r>
        </a:p>
      </dgm:t>
    </dgm:pt>
    <dgm:pt modelId="{124A46AC-7682-4CF9-9631-C8689E2C000A}" type="parTrans" cxnId="{80A4DF6B-8529-4C28-81C6-DF4C2D542D4A}">
      <dgm:prSet/>
      <dgm:spPr/>
      <dgm:t>
        <a:bodyPr/>
        <a:lstStyle/>
        <a:p>
          <a:endParaRPr lang="en-US"/>
        </a:p>
      </dgm:t>
    </dgm:pt>
    <dgm:pt modelId="{DF1B5F91-6BD2-49DA-8182-F57D8A66A819}" type="sibTrans" cxnId="{80A4DF6B-8529-4C28-81C6-DF4C2D542D4A}">
      <dgm:prSet/>
      <dgm:spPr/>
      <dgm:t>
        <a:bodyPr/>
        <a:lstStyle/>
        <a:p>
          <a:endParaRPr lang="en-US"/>
        </a:p>
      </dgm:t>
    </dgm:pt>
    <dgm:pt modelId="{D1433DAC-1F3D-4310-8DF1-9AFD85B008E3}" type="pres">
      <dgm:prSet presAssocID="{C44A7858-8B42-4B17-98E7-611BE86E9CE6}" presName="linear" presStyleCnt="0">
        <dgm:presLayoutVars>
          <dgm:animLvl val="lvl"/>
          <dgm:resizeHandles val="exact"/>
        </dgm:presLayoutVars>
      </dgm:prSet>
      <dgm:spPr/>
    </dgm:pt>
    <dgm:pt modelId="{41825DC8-2571-4500-B52E-B736EF40BAEA}" type="pres">
      <dgm:prSet presAssocID="{A9C5045E-C4BA-4433-AF96-2B15A8AAEBD7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57DD4BC7-842D-4463-BBF1-6C96EEEB3CB6}" type="pres">
      <dgm:prSet presAssocID="{C37771E1-38A0-42FB-8617-9CF280ACB576}" presName="spacer" presStyleCnt="0"/>
      <dgm:spPr/>
    </dgm:pt>
    <dgm:pt modelId="{B3AF39DE-75F9-4641-8F39-406263B26B41}" type="pres">
      <dgm:prSet presAssocID="{3AF65793-A316-4EAA-A153-D38A316EC196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A86494C1-031E-4EA9-BF95-FCF53270498B}" type="pres">
      <dgm:prSet presAssocID="{84176B1F-03DD-4B38-906C-FB1852DFDB6D}" presName="spacer" presStyleCnt="0"/>
      <dgm:spPr/>
    </dgm:pt>
    <dgm:pt modelId="{5D56EE7A-A45C-4B36-90F6-82EEE212C772}" type="pres">
      <dgm:prSet presAssocID="{A8DCBF95-A8FC-4101-BAE4-31F1CE5ABC66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BAE6FE9C-15A3-434D-BB76-7D650E4275F5}" type="pres">
      <dgm:prSet presAssocID="{C3C3DCFE-6EE0-4CF2-BF65-9B0A287FD02B}" presName="spacer" presStyleCnt="0"/>
      <dgm:spPr/>
    </dgm:pt>
    <dgm:pt modelId="{FF2F4860-5D90-44B9-A1C1-00C353B104F5}" type="pres">
      <dgm:prSet presAssocID="{4D550645-6F36-43D9-8706-73BEC71CBBC4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2DB8FB77-3D71-4B22-B8AD-738A662ECD39}" type="pres">
      <dgm:prSet presAssocID="{4341C1C4-C8DD-405A-AF30-36B1F7B655FE}" presName="spacer" presStyleCnt="0"/>
      <dgm:spPr/>
    </dgm:pt>
    <dgm:pt modelId="{A830FF46-229B-4DEF-B53E-65668F466A04}" type="pres">
      <dgm:prSet presAssocID="{3C45A79D-7E50-4E64-858D-1C3226D89668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3333F472-AECE-488B-B929-DE97EE8FADC9}" type="pres">
      <dgm:prSet presAssocID="{4EB5E20C-17B9-4706-A482-62CB3AAB5B3E}" presName="spacer" presStyleCnt="0"/>
      <dgm:spPr/>
    </dgm:pt>
    <dgm:pt modelId="{92C74475-8FFD-4AC5-9E0F-FF9B89ABD8CC}" type="pres">
      <dgm:prSet presAssocID="{5F2C8664-B278-4633-8166-09878C41C519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0167D17E-CE03-4781-B306-8A458114ED3D}" type="pres">
      <dgm:prSet presAssocID="{8447F032-402D-454E-B247-3A53A060F8DA}" presName="spacer" presStyleCnt="0"/>
      <dgm:spPr/>
    </dgm:pt>
    <dgm:pt modelId="{ACBF4EC9-2ECC-4CF6-B97C-AAC283D4B180}" type="pres">
      <dgm:prSet presAssocID="{E3B29297-7877-4516-8BF4-1D2ACF7BF586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CA7C046F-76C6-4975-8DAC-67636C7CACD3}" type="pres">
      <dgm:prSet presAssocID="{9C71D3EF-E75D-4044-A7C0-1756BC9A81AC}" presName="spacer" presStyleCnt="0"/>
      <dgm:spPr/>
    </dgm:pt>
    <dgm:pt modelId="{0F957649-B9FC-46C2-BE41-075C15CDD243}" type="pres">
      <dgm:prSet presAssocID="{D13025AE-47D9-40C7-A6BE-6E4642FE83B6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F9CCE0F1-7E1F-4B91-BA33-3E7BC64710B4}" type="pres">
      <dgm:prSet presAssocID="{057C3BA7-97A1-487C-9148-3CA3E49DED41}" presName="spacer" presStyleCnt="0"/>
      <dgm:spPr/>
    </dgm:pt>
    <dgm:pt modelId="{C0CE26AE-387F-44C7-8447-CE0CF3957F5F}" type="pres">
      <dgm:prSet presAssocID="{CC6B3BB2-C555-4FDD-B98A-54A36F12CFF0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124444F5-B5C5-41E2-AF43-787A09753741}" type="pres">
      <dgm:prSet presAssocID="{AB0F04E2-2039-4AF5-ADAA-98590C495D02}" presName="spacer" presStyleCnt="0"/>
      <dgm:spPr/>
    </dgm:pt>
    <dgm:pt modelId="{A22BD584-9F4F-4AC5-93CE-24D4DB2320EB}" type="pres">
      <dgm:prSet presAssocID="{9A900B5F-FE87-4D3F-9C75-0D0D395CCCF9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FE7D051F-0ED4-4C55-A0B9-E9D2F31C32D4}" srcId="{C44A7858-8B42-4B17-98E7-611BE86E9CE6}" destId="{A8DCBF95-A8FC-4101-BAE4-31F1CE5ABC66}" srcOrd="2" destOrd="0" parTransId="{5A4B3D3A-9D7D-4E77-901B-E72A24486874}" sibTransId="{C3C3DCFE-6EE0-4CF2-BF65-9B0A287FD02B}"/>
    <dgm:cxn modelId="{FBE08E26-2D2C-42D4-8B30-561721AB0573}" type="presOf" srcId="{3AF65793-A316-4EAA-A153-D38A316EC196}" destId="{B3AF39DE-75F9-4641-8F39-406263B26B41}" srcOrd="0" destOrd="0" presId="urn:microsoft.com/office/officeart/2005/8/layout/vList2"/>
    <dgm:cxn modelId="{4F53BB2B-F746-4710-A318-BF8BF58F131C}" type="presOf" srcId="{3C45A79D-7E50-4E64-858D-1C3226D89668}" destId="{A830FF46-229B-4DEF-B53E-65668F466A04}" srcOrd="0" destOrd="0" presId="urn:microsoft.com/office/officeart/2005/8/layout/vList2"/>
    <dgm:cxn modelId="{5B2C3C37-5CA2-4896-BAD4-25984E684C1A}" srcId="{C44A7858-8B42-4B17-98E7-611BE86E9CE6}" destId="{3C45A79D-7E50-4E64-858D-1C3226D89668}" srcOrd="4" destOrd="0" parTransId="{BC049162-6CD4-4156-B66E-B87EC4829187}" sibTransId="{4EB5E20C-17B9-4706-A482-62CB3AAB5B3E}"/>
    <dgm:cxn modelId="{6249F140-99CB-460A-A479-84928214E9EB}" type="presOf" srcId="{4D550645-6F36-43D9-8706-73BEC71CBBC4}" destId="{FF2F4860-5D90-44B9-A1C1-00C353B104F5}" srcOrd="0" destOrd="0" presId="urn:microsoft.com/office/officeart/2005/8/layout/vList2"/>
    <dgm:cxn modelId="{2B27584A-9448-4A4E-A3E8-F3AF0D66822A}" srcId="{C44A7858-8B42-4B17-98E7-611BE86E9CE6}" destId="{CC6B3BB2-C555-4FDD-B98A-54A36F12CFF0}" srcOrd="8" destOrd="0" parTransId="{71384FC4-89AF-4011-81A3-867BC08D9C03}" sibTransId="{AB0F04E2-2039-4AF5-ADAA-98590C495D02}"/>
    <dgm:cxn modelId="{88FBF34A-373D-4C2E-8086-435C31F5697E}" type="presOf" srcId="{A8DCBF95-A8FC-4101-BAE4-31F1CE5ABC66}" destId="{5D56EE7A-A45C-4B36-90F6-82EEE212C772}" srcOrd="0" destOrd="0" presId="urn:microsoft.com/office/officeart/2005/8/layout/vList2"/>
    <dgm:cxn modelId="{80A4DF6B-8529-4C28-81C6-DF4C2D542D4A}" srcId="{C44A7858-8B42-4B17-98E7-611BE86E9CE6}" destId="{9A900B5F-FE87-4D3F-9C75-0D0D395CCCF9}" srcOrd="9" destOrd="0" parTransId="{124A46AC-7682-4CF9-9631-C8689E2C000A}" sibTransId="{DF1B5F91-6BD2-49DA-8182-F57D8A66A819}"/>
    <dgm:cxn modelId="{C634896E-7B3D-4D20-8896-7198FD540C82}" srcId="{C44A7858-8B42-4B17-98E7-611BE86E9CE6}" destId="{5F2C8664-B278-4633-8166-09878C41C519}" srcOrd="5" destOrd="0" parTransId="{5E931892-ABFD-48EB-A826-16B2ED2AFA98}" sibTransId="{8447F032-402D-454E-B247-3A53A060F8DA}"/>
    <dgm:cxn modelId="{BF5B6F76-6185-44C8-A735-2EFF7882EA6A}" type="presOf" srcId="{E3B29297-7877-4516-8BF4-1D2ACF7BF586}" destId="{ACBF4EC9-2ECC-4CF6-B97C-AAC283D4B180}" srcOrd="0" destOrd="0" presId="urn:microsoft.com/office/officeart/2005/8/layout/vList2"/>
    <dgm:cxn modelId="{10ADBA56-09B2-4B54-9237-C15CAD5B68A0}" type="presOf" srcId="{A9C5045E-C4BA-4433-AF96-2B15A8AAEBD7}" destId="{41825DC8-2571-4500-B52E-B736EF40BAEA}" srcOrd="0" destOrd="0" presId="urn:microsoft.com/office/officeart/2005/8/layout/vList2"/>
    <dgm:cxn modelId="{02CE8958-5125-487E-A202-24C036694A24}" type="presOf" srcId="{9A900B5F-FE87-4D3F-9C75-0D0D395CCCF9}" destId="{A22BD584-9F4F-4AC5-93CE-24D4DB2320EB}" srcOrd="0" destOrd="0" presId="urn:microsoft.com/office/officeart/2005/8/layout/vList2"/>
    <dgm:cxn modelId="{7D5B9E8D-C128-42FE-8439-4AFE48ACCEF4}" srcId="{C44A7858-8B42-4B17-98E7-611BE86E9CE6}" destId="{E3B29297-7877-4516-8BF4-1D2ACF7BF586}" srcOrd="6" destOrd="0" parTransId="{AC057010-34D5-4F2C-B1BF-60E69F5B2E3B}" sibTransId="{9C71D3EF-E75D-4044-A7C0-1756BC9A81AC}"/>
    <dgm:cxn modelId="{5BE6E58E-17A3-4CEB-B04F-973ABE101590}" type="presOf" srcId="{CC6B3BB2-C555-4FDD-B98A-54A36F12CFF0}" destId="{C0CE26AE-387F-44C7-8447-CE0CF3957F5F}" srcOrd="0" destOrd="0" presId="urn:microsoft.com/office/officeart/2005/8/layout/vList2"/>
    <dgm:cxn modelId="{8BB70693-BB24-4F32-ADD4-84743D87C3DF}" type="presOf" srcId="{C44A7858-8B42-4B17-98E7-611BE86E9CE6}" destId="{D1433DAC-1F3D-4310-8DF1-9AFD85B008E3}" srcOrd="0" destOrd="0" presId="urn:microsoft.com/office/officeart/2005/8/layout/vList2"/>
    <dgm:cxn modelId="{3D73AEB7-318A-4E35-A00E-B24295881544}" type="presOf" srcId="{5F2C8664-B278-4633-8166-09878C41C519}" destId="{92C74475-8FFD-4AC5-9E0F-FF9B89ABD8CC}" srcOrd="0" destOrd="0" presId="urn:microsoft.com/office/officeart/2005/8/layout/vList2"/>
    <dgm:cxn modelId="{B5DF8DCF-BE50-4D9D-8943-7DF9ECF6CBEC}" srcId="{C44A7858-8B42-4B17-98E7-611BE86E9CE6}" destId="{D13025AE-47D9-40C7-A6BE-6E4642FE83B6}" srcOrd="7" destOrd="0" parTransId="{29A370B8-5E65-44BD-AB35-9A975BBCF220}" sibTransId="{057C3BA7-97A1-487C-9148-3CA3E49DED41}"/>
    <dgm:cxn modelId="{F71D82D9-F6C1-4983-9709-723C0231BDD3}" type="presOf" srcId="{D13025AE-47D9-40C7-A6BE-6E4642FE83B6}" destId="{0F957649-B9FC-46C2-BE41-075C15CDD243}" srcOrd="0" destOrd="0" presId="urn:microsoft.com/office/officeart/2005/8/layout/vList2"/>
    <dgm:cxn modelId="{E33D76E1-CE1B-4028-9AB1-0F87C9F39356}" srcId="{C44A7858-8B42-4B17-98E7-611BE86E9CE6}" destId="{3AF65793-A316-4EAA-A153-D38A316EC196}" srcOrd="1" destOrd="0" parTransId="{1774334D-6FDA-4FC1-B003-252D68E4F19B}" sibTransId="{84176B1F-03DD-4B38-906C-FB1852DFDB6D}"/>
    <dgm:cxn modelId="{B6B957E6-4FD3-42F7-B80A-F6469BFDE791}" srcId="{C44A7858-8B42-4B17-98E7-611BE86E9CE6}" destId="{4D550645-6F36-43D9-8706-73BEC71CBBC4}" srcOrd="3" destOrd="0" parTransId="{02DFA6BF-359F-4F49-B1A5-3406C4AA178A}" sibTransId="{4341C1C4-C8DD-405A-AF30-36B1F7B655FE}"/>
    <dgm:cxn modelId="{D8D8F9FB-9C4C-4A78-8C92-BFED04364D54}" srcId="{C44A7858-8B42-4B17-98E7-611BE86E9CE6}" destId="{A9C5045E-C4BA-4433-AF96-2B15A8AAEBD7}" srcOrd="0" destOrd="0" parTransId="{DB2BC4BD-DA3D-4CDE-BD7E-9CF63805CE24}" sibTransId="{C37771E1-38A0-42FB-8617-9CF280ACB576}"/>
    <dgm:cxn modelId="{76E36CF4-6921-445F-B01A-00D50486DBE8}" type="presParOf" srcId="{D1433DAC-1F3D-4310-8DF1-9AFD85B008E3}" destId="{41825DC8-2571-4500-B52E-B736EF40BAEA}" srcOrd="0" destOrd="0" presId="urn:microsoft.com/office/officeart/2005/8/layout/vList2"/>
    <dgm:cxn modelId="{F45AD559-6CF4-449E-BF38-E221682B973A}" type="presParOf" srcId="{D1433DAC-1F3D-4310-8DF1-9AFD85B008E3}" destId="{57DD4BC7-842D-4463-BBF1-6C96EEEB3CB6}" srcOrd="1" destOrd="0" presId="urn:microsoft.com/office/officeart/2005/8/layout/vList2"/>
    <dgm:cxn modelId="{5D022574-3D23-4E08-BA8C-888D5966744C}" type="presParOf" srcId="{D1433DAC-1F3D-4310-8DF1-9AFD85B008E3}" destId="{B3AF39DE-75F9-4641-8F39-406263B26B41}" srcOrd="2" destOrd="0" presId="urn:microsoft.com/office/officeart/2005/8/layout/vList2"/>
    <dgm:cxn modelId="{AC4D446A-C32D-4329-90A4-8FECCC7C8F7A}" type="presParOf" srcId="{D1433DAC-1F3D-4310-8DF1-9AFD85B008E3}" destId="{A86494C1-031E-4EA9-BF95-FCF53270498B}" srcOrd="3" destOrd="0" presId="urn:microsoft.com/office/officeart/2005/8/layout/vList2"/>
    <dgm:cxn modelId="{50019EEB-9535-4CB9-8DE9-DD965B8E11C2}" type="presParOf" srcId="{D1433DAC-1F3D-4310-8DF1-9AFD85B008E3}" destId="{5D56EE7A-A45C-4B36-90F6-82EEE212C772}" srcOrd="4" destOrd="0" presId="urn:microsoft.com/office/officeart/2005/8/layout/vList2"/>
    <dgm:cxn modelId="{9372EF6E-2AC2-4EF9-9CC1-93756E8372FB}" type="presParOf" srcId="{D1433DAC-1F3D-4310-8DF1-9AFD85B008E3}" destId="{BAE6FE9C-15A3-434D-BB76-7D650E4275F5}" srcOrd="5" destOrd="0" presId="urn:microsoft.com/office/officeart/2005/8/layout/vList2"/>
    <dgm:cxn modelId="{249AF82C-5585-4388-B0BD-479C87A740A7}" type="presParOf" srcId="{D1433DAC-1F3D-4310-8DF1-9AFD85B008E3}" destId="{FF2F4860-5D90-44B9-A1C1-00C353B104F5}" srcOrd="6" destOrd="0" presId="urn:microsoft.com/office/officeart/2005/8/layout/vList2"/>
    <dgm:cxn modelId="{5989F82D-1B97-497D-965A-E9358B658B0E}" type="presParOf" srcId="{D1433DAC-1F3D-4310-8DF1-9AFD85B008E3}" destId="{2DB8FB77-3D71-4B22-B8AD-738A662ECD39}" srcOrd="7" destOrd="0" presId="urn:microsoft.com/office/officeart/2005/8/layout/vList2"/>
    <dgm:cxn modelId="{4215A41D-A65E-4D67-8435-F585E23D31DB}" type="presParOf" srcId="{D1433DAC-1F3D-4310-8DF1-9AFD85B008E3}" destId="{A830FF46-229B-4DEF-B53E-65668F466A04}" srcOrd="8" destOrd="0" presId="urn:microsoft.com/office/officeart/2005/8/layout/vList2"/>
    <dgm:cxn modelId="{B9ABE7D3-A36C-4973-8484-46CCC7BF3E83}" type="presParOf" srcId="{D1433DAC-1F3D-4310-8DF1-9AFD85B008E3}" destId="{3333F472-AECE-488B-B929-DE97EE8FADC9}" srcOrd="9" destOrd="0" presId="urn:microsoft.com/office/officeart/2005/8/layout/vList2"/>
    <dgm:cxn modelId="{367A28CA-5A5A-4CCE-B141-A0D72F137B56}" type="presParOf" srcId="{D1433DAC-1F3D-4310-8DF1-9AFD85B008E3}" destId="{92C74475-8FFD-4AC5-9E0F-FF9B89ABD8CC}" srcOrd="10" destOrd="0" presId="urn:microsoft.com/office/officeart/2005/8/layout/vList2"/>
    <dgm:cxn modelId="{0B78EA60-6956-48B2-B7A5-2FFB68A8437D}" type="presParOf" srcId="{D1433DAC-1F3D-4310-8DF1-9AFD85B008E3}" destId="{0167D17E-CE03-4781-B306-8A458114ED3D}" srcOrd="11" destOrd="0" presId="urn:microsoft.com/office/officeart/2005/8/layout/vList2"/>
    <dgm:cxn modelId="{90975BB5-96F6-463B-90C3-B069050A1B31}" type="presParOf" srcId="{D1433DAC-1F3D-4310-8DF1-9AFD85B008E3}" destId="{ACBF4EC9-2ECC-4CF6-B97C-AAC283D4B180}" srcOrd="12" destOrd="0" presId="urn:microsoft.com/office/officeart/2005/8/layout/vList2"/>
    <dgm:cxn modelId="{7CA500EB-A780-4157-8137-46650304019E}" type="presParOf" srcId="{D1433DAC-1F3D-4310-8DF1-9AFD85B008E3}" destId="{CA7C046F-76C6-4975-8DAC-67636C7CACD3}" srcOrd="13" destOrd="0" presId="urn:microsoft.com/office/officeart/2005/8/layout/vList2"/>
    <dgm:cxn modelId="{3B984FC1-D29E-41CF-8DF4-96D8C7003BBC}" type="presParOf" srcId="{D1433DAC-1F3D-4310-8DF1-9AFD85B008E3}" destId="{0F957649-B9FC-46C2-BE41-075C15CDD243}" srcOrd="14" destOrd="0" presId="urn:microsoft.com/office/officeart/2005/8/layout/vList2"/>
    <dgm:cxn modelId="{ECC02252-B41D-4A48-A61D-A1406192CD60}" type="presParOf" srcId="{D1433DAC-1F3D-4310-8DF1-9AFD85B008E3}" destId="{F9CCE0F1-7E1F-4B91-BA33-3E7BC64710B4}" srcOrd="15" destOrd="0" presId="urn:microsoft.com/office/officeart/2005/8/layout/vList2"/>
    <dgm:cxn modelId="{36AD05C3-923E-4597-B6E3-9F55A14F44D0}" type="presParOf" srcId="{D1433DAC-1F3D-4310-8DF1-9AFD85B008E3}" destId="{C0CE26AE-387F-44C7-8447-CE0CF3957F5F}" srcOrd="16" destOrd="0" presId="urn:microsoft.com/office/officeart/2005/8/layout/vList2"/>
    <dgm:cxn modelId="{ABB09782-209C-48D0-9582-10411FE23DF7}" type="presParOf" srcId="{D1433DAC-1F3D-4310-8DF1-9AFD85B008E3}" destId="{124444F5-B5C5-41E2-AF43-787A09753741}" srcOrd="17" destOrd="0" presId="urn:microsoft.com/office/officeart/2005/8/layout/vList2"/>
    <dgm:cxn modelId="{BBF69F63-8526-4FD3-9E0F-510B540CEAD6}" type="presParOf" srcId="{D1433DAC-1F3D-4310-8DF1-9AFD85B008E3}" destId="{A22BD584-9F4F-4AC5-93CE-24D4DB2320EB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49B89-A110-4B09-ACAD-89D95ED39517}">
      <dsp:nvSpPr>
        <dsp:cNvPr id="0" name=""/>
        <dsp:cNvSpPr/>
      </dsp:nvSpPr>
      <dsp:spPr>
        <a:xfrm>
          <a:off x="0" y="14778"/>
          <a:ext cx="12125563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Update_recordset rather than while select w/ update</a:t>
          </a:r>
        </a:p>
      </dsp:txBody>
      <dsp:txXfrm>
        <a:off x="22617" y="37395"/>
        <a:ext cx="12080329" cy="418086"/>
      </dsp:txXfrm>
    </dsp:sp>
    <dsp:sp modelId="{468DB5B5-DCFF-4E32-95A9-4690C4FF69DD}">
      <dsp:nvSpPr>
        <dsp:cNvPr id="0" name=""/>
        <dsp:cNvSpPr/>
      </dsp:nvSpPr>
      <dsp:spPr>
        <a:xfrm>
          <a:off x="0" y="529938"/>
          <a:ext cx="12125563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RecordInsertList rather looped inserts</a:t>
          </a:r>
        </a:p>
      </dsp:txBody>
      <dsp:txXfrm>
        <a:off x="22617" y="552555"/>
        <a:ext cx="12080329" cy="418086"/>
      </dsp:txXfrm>
    </dsp:sp>
    <dsp:sp modelId="{FC10F564-1093-4013-885D-41163CB54E3D}">
      <dsp:nvSpPr>
        <dsp:cNvPr id="0" name=""/>
        <dsp:cNvSpPr/>
      </dsp:nvSpPr>
      <dsp:spPr>
        <a:xfrm>
          <a:off x="0" y="1045098"/>
          <a:ext cx="12125563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RecordInsertList rather than insert_recordset</a:t>
          </a:r>
        </a:p>
      </dsp:txBody>
      <dsp:txXfrm>
        <a:off x="22617" y="1067715"/>
        <a:ext cx="12080329" cy="418086"/>
      </dsp:txXfrm>
    </dsp:sp>
    <dsp:sp modelId="{B1611D0D-9F5B-4673-8698-AEFD84B01F49}">
      <dsp:nvSpPr>
        <dsp:cNvPr id="0" name=""/>
        <dsp:cNvSpPr/>
      </dsp:nvSpPr>
      <dsp:spPr>
        <a:xfrm>
          <a:off x="0" y="1560258"/>
          <a:ext cx="12125563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Delete_from rather than while select update</a:t>
          </a:r>
        </a:p>
      </dsp:txBody>
      <dsp:txXfrm>
        <a:off x="22617" y="1582875"/>
        <a:ext cx="12080329" cy="418086"/>
      </dsp:txXfrm>
    </dsp:sp>
    <dsp:sp modelId="{6C77B603-7B82-4B22-905B-0E0459D9BCE0}">
      <dsp:nvSpPr>
        <dsp:cNvPr id="0" name=""/>
        <dsp:cNvSpPr/>
      </dsp:nvSpPr>
      <dsp:spPr>
        <a:xfrm>
          <a:off x="0" y="2075418"/>
          <a:ext cx="12125563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 new(ish) SysDA APIs</a:t>
          </a:r>
        </a:p>
      </dsp:txBody>
      <dsp:txXfrm>
        <a:off x="22617" y="2098035"/>
        <a:ext cx="12080329" cy="418086"/>
      </dsp:txXfrm>
    </dsp:sp>
    <dsp:sp modelId="{8D1F4F69-D4CE-4401-8135-10B5E51FAA1C}">
      <dsp:nvSpPr>
        <dsp:cNvPr id="0" name=""/>
        <dsp:cNvSpPr/>
      </dsp:nvSpPr>
      <dsp:spPr>
        <a:xfrm>
          <a:off x="0" y="2590578"/>
          <a:ext cx="12125563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hlinkClick xmlns:r="http://schemas.openxmlformats.org/officeDocument/2006/relationships" r:id="rId1"/>
            </a:rPr>
            <a:t>How To Insert Data In D365</a:t>
          </a:r>
          <a:endParaRPr lang="en-US" sz="1800" kern="1200"/>
        </a:p>
      </dsp:txBody>
      <dsp:txXfrm>
        <a:off x="22617" y="2613195"/>
        <a:ext cx="12080329" cy="418086"/>
      </dsp:txXfrm>
    </dsp:sp>
    <dsp:sp modelId="{7704E2C5-01DF-4CF5-917E-FD8AF26C8FF0}">
      <dsp:nvSpPr>
        <dsp:cNvPr id="0" name=""/>
        <dsp:cNvSpPr/>
      </dsp:nvSpPr>
      <dsp:spPr>
        <a:xfrm>
          <a:off x="0" y="3105738"/>
          <a:ext cx="12125563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hlinkClick xmlns:r="http://schemas.openxmlformats.org/officeDocument/2006/relationships" r:id="rId2"/>
            </a:rPr>
            <a:t>How To Update Data In D365</a:t>
          </a:r>
          <a:endParaRPr lang="en-US" sz="1800" kern="1200"/>
        </a:p>
      </dsp:txBody>
      <dsp:txXfrm>
        <a:off x="22617" y="3128355"/>
        <a:ext cx="12080329" cy="418086"/>
      </dsp:txXfrm>
    </dsp:sp>
    <dsp:sp modelId="{E3F23F37-3133-4AB8-8145-7CDB1CD3EA12}">
      <dsp:nvSpPr>
        <dsp:cNvPr id="0" name=""/>
        <dsp:cNvSpPr/>
      </dsp:nvSpPr>
      <dsp:spPr>
        <a:xfrm>
          <a:off x="0" y="3620898"/>
          <a:ext cx="12125563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hlinkClick xmlns:r="http://schemas.openxmlformats.org/officeDocument/2006/relationships" r:id="rId3"/>
            </a:rPr>
            <a:t>How To Use Insert_recordset in D365</a:t>
          </a:r>
          <a:endParaRPr lang="en-US" sz="1800" kern="1200"/>
        </a:p>
      </dsp:txBody>
      <dsp:txXfrm>
        <a:off x="22617" y="3643515"/>
        <a:ext cx="12080329" cy="418086"/>
      </dsp:txXfrm>
    </dsp:sp>
    <dsp:sp modelId="{DA150A0D-985A-48B6-9861-F204130A1346}">
      <dsp:nvSpPr>
        <dsp:cNvPr id="0" name=""/>
        <dsp:cNvSpPr/>
      </dsp:nvSpPr>
      <dsp:spPr>
        <a:xfrm>
          <a:off x="0" y="4136058"/>
          <a:ext cx="12125563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hlinkClick xmlns:r="http://schemas.openxmlformats.org/officeDocument/2006/relationships" r:id="rId4"/>
            </a:rPr>
            <a:t>How To Use InsertDatabase in D365</a:t>
          </a:r>
          <a:endParaRPr lang="en-US" sz="1800" kern="1200"/>
        </a:p>
      </dsp:txBody>
      <dsp:txXfrm>
        <a:off x="22617" y="4158675"/>
        <a:ext cx="12080329" cy="418086"/>
      </dsp:txXfrm>
    </dsp:sp>
    <dsp:sp modelId="{A61834B4-F358-4C29-AA1A-8B424952EFB2}">
      <dsp:nvSpPr>
        <dsp:cNvPr id="0" name=""/>
        <dsp:cNvSpPr/>
      </dsp:nvSpPr>
      <dsp:spPr>
        <a:xfrm>
          <a:off x="0" y="4651219"/>
          <a:ext cx="12125563" cy="463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hlinkClick xmlns:r="http://schemas.openxmlformats.org/officeDocument/2006/relationships" r:id="rId5"/>
            </a:rPr>
            <a:t>D365 TTSBegin and TTSCommit</a:t>
          </a:r>
          <a:endParaRPr lang="en-US" sz="1800" kern="1200"/>
        </a:p>
      </dsp:txBody>
      <dsp:txXfrm>
        <a:off x="22617" y="4673836"/>
        <a:ext cx="12080329" cy="4180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46599E-6209-49A7-8C6B-BD90D95492FF}">
      <dsp:nvSpPr>
        <dsp:cNvPr id="0" name=""/>
        <dsp:cNvSpPr/>
      </dsp:nvSpPr>
      <dsp:spPr>
        <a:xfrm>
          <a:off x="334317" y="2530"/>
          <a:ext cx="3219952" cy="19319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Hit F9 in design view to go to the main thing for the item selected</a:t>
          </a:r>
        </a:p>
      </dsp:txBody>
      <dsp:txXfrm>
        <a:off x="334317" y="2530"/>
        <a:ext cx="3219952" cy="1931971"/>
      </dsp:txXfrm>
    </dsp:sp>
    <dsp:sp modelId="{56689C00-9472-4B43-9279-03B213CB3264}">
      <dsp:nvSpPr>
        <dsp:cNvPr id="0" name=""/>
        <dsp:cNvSpPr/>
      </dsp:nvSpPr>
      <dsp:spPr>
        <a:xfrm>
          <a:off x="3876266" y="2530"/>
          <a:ext cx="3219952" cy="19319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F9 on a table extension will take you to the base table</a:t>
          </a:r>
        </a:p>
      </dsp:txBody>
      <dsp:txXfrm>
        <a:off x="3876266" y="2530"/>
        <a:ext cx="3219952" cy="1931971"/>
      </dsp:txXfrm>
    </dsp:sp>
    <dsp:sp modelId="{61F448E3-306D-4229-A84E-1B69BA09FC36}">
      <dsp:nvSpPr>
        <dsp:cNvPr id="0" name=""/>
        <dsp:cNvSpPr/>
      </dsp:nvSpPr>
      <dsp:spPr>
        <a:xfrm>
          <a:off x="7418214" y="2530"/>
          <a:ext cx="3219952" cy="19319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F9 on a field will take you to the EDT</a:t>
          </a:r>
        </a:p>
      </dsp:txBody>
      <dsp:txXfrm>
        <a:off x="7418214" y="2530"/>
        <a:ext cx="3219952" cy="1931971"/>
      </dsp:txXfrm>
    </dsp:sp>
    <dsp:sp modelId="{792D74C9-D6E4-4226-9A12-5909A6785B9D}">
      <dsp:nvSpPr>
        <dsp:cNvPr id="0" name=""/>
        <dsp:cNvSpPr/>
      </dsp:nvSpPr>
      <dsp:spPr>
        <a:xfrm>
          <a:off x="334317" y="2256497"/>
          <a:ext cx="3219952" cy="19319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F9 on a field with a relationship will take you to the related table</a:t>
          </a:r>
        </a:p>
      </dsp:txBody>
      <dsp:txXfrm>
        <a:off x="334317" y="2256497"/>
        <a:ext cx="3219952" cy="1931971"/>
      </dsp:txXfrm>
    </dsp:sp>
    <dsp:sp modelId="{AAD9D89B-83EF-4B3C-A643-15099B14FC76}">
      <dsp:nvSpPr>
        <dsp:cNvPr id="0" name=""/>
        <dsp:cNvSpPr/>
      </dsp:nvSpPr>
      <dsp:spPr>
        <a:xfrm>
          <a:off x="3876266" y="2256497"/>
          <a:ext cx="3219952" cy="19319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F9 on a field in a data entity will open the table/entity for that field</a:t>
          </a:r>
        </a:p>
      </dsp:txBody>
      <dsp:txXfrm>
        <a:off x="3876266" y="2256497"/>
        <a:ext cx="3219952" cy="1931971"/>
      </dsp:txXfrm>
    </dsp:sp>
    <dsp:sp modelId="{F3819CA8-1124-450B-983F-5CEEBCE5129B}">
      <dsp:nvSpPr>
        <dsp:cNvPr id="0" name=""/>
        <dsp:cNvSpPr/>
      </dsp:nvSpPr>
      <dsp:spPr>
        <a:xfrm>
          <a:off x="7418214" y="2256497"/>
          <a:ext cx="3219952" cy="19319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F9 on COC Extension Class will take you to the main class</a:t>
          </a:r>
        </a:p>
      </dsp:txBody>
      <dsp:txXfrm>
        <a:off x="7418214" y="2256497"/>
        <a:ext cx="3219952" cy="19319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1DCF35-479D-4CB1-A224-D5D241FC48BF}">
      <dsp:nvSpPr>
        <dsp:cNvPr id="0" name=""/>
        <dsp:cNvSpPr/>
      </dsp:nvSpPr>
      <dsp:spPr>
        <a:xfrm>
          <a:off x="0" y="23837"/>
          <a:ext cx="10972485" cy="13215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>
              <a:hlinkClick xmlns:r="http://schemas.openxmlformats.org/officeDocument/2006/relationships" r:id="rId1"/>
            </a:rPr>
            <a:t>https://www.youtube.com/watch?v=QrIjTN6Vey4&amp;t=149s</a:t>
          </a:r>
          <a:r>
            <a:rPr lang="en-US" sz="3100" kern="1200" baseline="0"/>
            <a:t> </a:t>
          </a:r>
          <a:endParaRPr lang="en-US" sz="3100" kern="1200"/>
        </a:p>
      </dsp:txBody>
      <dsp:txXfrm>
        <a:off x="64515" y="88352"/>
        <a:ext cx="10843455" cy="1192558"/>
      </dsp:txXfrm>
    </dsp:sp>
    <dsp:sp modelId="{972F90A9-AF7E-4ABB-946F-EE338D29473B}">
      <dsp:nvSpPr>
        <dsp:cNvPr id="0" name=""/>
        <dsp:cNvSpPr/>
      </dsp:nvSpPr>
      <dsp:spPr>
        <a:xfrm>
          <a:off x="0" y="1434705"/>
          <a:ext cx="10972485" cy="13215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>
              <a:hlinkClick xmlns:r="http://schemas.openxmlformats.org/officeDocument/2006/relationships" r:id="rId2"/>
            </a:rPr>
            <a:t>https://sangeethwiki.blogspot.com/2017/09/extensible-controls-in-dynamics-365-for.html</a:t>
          </a:r>
          <a:r>
            <a:rPr lang="en-US" sz="3100" kern="1200" baseline="0"/>
            <a:t> </a:t>
          </a:r>
          <a:endParaRPr lang="en-US" sz="3100" kern="1200"/>
        </a:p>
      </dsp:txBody>
      <dsp:txXfrm>
        <a:off x="64515" y="1499220"/>
        <a:ext cx="10843455" cy="1192558"/>
      </dsp:txXfrm>
    </dsp:sp>
    <dsp:sp modelId="{B052B154-BEB1-4DED-A572-BD594D180370}">
      <dsp:nvSpPr>
        <dsp:cNvPr id="0" name=""/>
        <dsp:cNvSpPr/>
      </dsp:nvSpPr>
      <dsp:spPr>
        <a:xfrm>
          <a:off x="0" y="2845573"/>
          <a:ext cx="10972485" cy="13215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Use Javascript and html to create your own D365 controls.</a:t>
          </a:r>
          <a:endParaRPr lang="en-US" sz="3100" kern="1200"/>
        </a:p>
      </dsp:txBody>
      <dsp:txXfrm>
        <a:off x="64515" y="2910088"/>
        <a:ext cx="10843455" cy="11925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98E4C-935F-4EDB-8FA7-35EDBD6C81D7}">
      <dsp:nvSpPr>
        <dsp:cNvPr id="0" name=""/>
        <dsp:cNvSpPr/>
      </dsp:nvSpPr>
      <dsp:spPr>
        <a:xfrm>
          <a:off x="0" y="0"/>
          <a:ext cx="3428901" cy="41909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331" tIns="330200" rIns="267331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/>
            <a:t>Use buf2Buf() for copying the contents of one buffer to another.</a:t>
          </a:r>
          <a:endParaRPr lang="en-US" sz="2300" kern="1200"/>
        </a:p>
      </dsp:txBody>
      <dsp:txXfrm>
        <a:off x="0" y="1592579"/>
        <a:ext cx="3428901" cy="2514599"/>
      </dsp:txXfrm>
    </dsp:sp>
    <dsp:sp modelId="{28C8885F-6936-4C21-A306-4E010AE6D4ED}">
      <dsp:nvSpPr>
        <dsp:cNvPr id="0" name=""/>
        <dsp:cNvSpPr/>
      </dsp:nvSpPr>
      <dsp:spPr>
        <a:xfrm>
          <a:off x="1085800" y="419099"/>
          <a:ext cx="1257299" cy="12572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8024" tIns="12700" rIns="9802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69927" y="603226"/>
        <a:ext cx="889045" cy="889045"/>
      </dsp:txXfrm>
    </dsp:sp>
    <dsp:sp modelId="{16070A8B-2605-472D-9ED0-A6B4C2364F6A}">
      <dsp:nvSpPr>
        <dsp:cNvPr id="0" name=""/>
        <dsp:cNvSpPr/>
      </dsp:nvSpPr>
      <dsp:spPr>
        <a:xfrm>
          <a:off x="0" y="4190927"/>
          <a:ext cx="3428901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2FFEA9A-F8CB-4234-BBC7-7C4B76CA5AA6}">
      <dsp:nvSpPr>
        <dsp:cNvPr id="0" name=""/>
        <dsp:cNvSpPr/>
      </dsp:nvSpPr>
      <dsp:spPr>
        <a:xfrm>
          <a:off x="3771791" y="0"/>
          <a:ext cx="3428901" cy="41909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331" tIns="330200" rIns="267331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/>
            <a:t>Apply select firstOnly1 when you expect a single record to optimize performance.</a:t>
          </a:r>
          <a:endParaRPr lang="en-US" sz="2300" kern="1200"/>
        </a:p>
      </dsp:txBody>
      <dsp:txXfrm>
        <a:off x="3771791" y="1592579"/>
        <a:ext cx="3428901" cy="2514599"/>
      </dsp:txXfrm>
    </dsp:sp>
    <dsp:sp modelId="{576D4393-8514-4C56-9591-9DD412A14491}">
      <dsp:nvSpPr>
        <dsp:cNvPr id="0" name=""/>
        <dsp:cNvSpPr/>
      </dsp:nvSpPr>
      <dsp:spPr>
        <a:xfrm>
          <a:off x="4857592" y="419099"/>
          <a:ext cx="1257299" cy="12572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8024" tIns="12700" rIns="9802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41719" y="603226"/>
        <a:ext cx="889045" cy="889045"/>
      </dsp:txXfrm>
    </dsp:sp>
    <dsp:sp modelId="{4FF1E26B-1F2E-43E6-AE4E-84DEEA009731}">
      <dsp:nvSpPr>
        <dsp:cNvPr id="0" name=""/>
        <dsp:cNvSpPr/>
      </dsp:nvSpPr>
      <dsp:spPr>
        <a:xfrm>
          <a:off x="3771791" y="4190927"/>
          <a:ext cx="3428901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2CACA83-D45D-4D93-A6BE-387E84E49421}">
      <dsp:nvSpPr>
        <dsp:cNvPr id="0" name=""/>
        <dsp:cNvSpPr/>
      </dsp:nvSpPr>
      <dsp:spPr>
        <a:xfrm>
          <a:off x="7543583" y="0"/>
          <a:ext cx="3428901" cy="41909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331" tIns="330200" rIns="267331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baseline="0" dirty="0"/>
            <a:t>Use Views rather than doing complex joins in a query statement (when performance is not critical)</a:t>
          </a:r>
          <a:endParaRPr lang="en-US" sz="2300" kern="1200" dirty="0"/>
        </a:p>
      </dsp:txBody>
      <dsp:txXfrm>
        <a:off x="7543583" y="1592579"/>
        <a:ext cx="3428901" cy="2514599"/>
      </dsp:txXfrm>
    </dsp:sp>
    <dsp:sp modelId="{A440924D-63CE-4E4A-862A-DF6B89B1D05C}">
      <dsp:nvSpPr>
        <dsp:cNvPr id="0" name=""/>
        <dsp:cNvSpPr/>
      </dsp:nvSpPr>
      <dsp:spPr>
        <a:xfrm>
          <a:off x="8629384" y="419099"/>
          <a:ext cx="1257299" cy="12572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8024" tIns="12700" rIns="9802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813511" y="603226"/>
        <a:ext cx="889045" cy="889045"/>
      </dsp:txXfrm>
    </dsp:sp>
    <dsp:sp modelId="{D71AA166-7DD6-41AD-82BD-F39166EEB629}">
      <dsp:nvSpPr>
        <dsp:cNvPr id="0" name=""/>
        <dsp:cNvSpPr/>
      </dsp:nvSpPr>
      <dsp:spPr>
        <a:xfrm>
          <a:off x="7543583" y="4190927"/>
          <a:ext cx="3428901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0C5F2-AF3A-4D1C-BCEA-F6AF568E58BF}">
      <dsp:nvSpPr>
        <dsp:cNvPr id="0" name=""/>
        <dsp:cNvSpPr/>
      </dsp:nvSpPr>
      <dsp:spPr>
        <a:xfrm>
          <a:off x="0" y="626"/>
          <a:ext cx="12125563" cy="14651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62402A-29A2-4C01-9F36-137B4A102E23}">
      <dsp:nvSpPr>
        <dsp:cNvPr id="0" name=""/>
        <dsp:cNvSpPr/>
      </dsp:nvSpPr>
      <dsp:spPr>
        <a:xfrm>
          <a:off x="443211" y="330287"/>
          <a:ext cx="805838" cy="8058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508B9-302A-4981-B0B9-8ACBF11EC961}">
      <dsp:nvSpPr>
        <dsp:cNvPr id="0" name=""/>
        <dsp:cNvSpPr/>
      </dsp:nvSpPr>
      <dsp:spPr>
        <a:xfrm>
          <a:off x="1692261" y="626"/>
          <a:ext cx="10433301" cy="146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063" tIns="155063" rIns="155063" bIns="1550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hlinkClick xmlns:r="http://schemas.openxmlformats.org/officeDocument/2006/relationships" r:id="rId3"/>
            </a:rPr>
            <a:t>https://learn.microsoft.com/en-us/dynamics365/fin-ops-core/fin-ops/get-started/grid-capabilities</a:t>
          </a:r>
          <a:endParaRPr lang="en-US" sz="2500" kern="1200"/>
        </a:p>
      </dsp:txBody>
      <dsp:txXfrm>
        <a:off x="1692261" y="626"/>
        <a:ext cx="10433301" cy="1465161"/>
      </dsp:txXfrm>
    </dsp:sp>
    <dsp:sp modelId="{71F0D9B7-EAFB-4173-9382-9F069D6B7DEB}">
      <dsp:nvSpPr>
        <dsp:cNvPr id="0" name=""/>
        <dsp:cNvSpPr/>
      </dsp:nvSpPr>
      <dsp:spPr>
        <a:xfrm>
          <a:off x="0" y="1832078"/>
          <a:ext cx="12125563" cy="14651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FC36A-0A46-4E79-92ED-888DB3E0DB36}">
      <dsp:nvSpPr>
        <dsp:cNvPr id="0" name=""/>
        <dsp:cNvSpPr/>
      </dsp:nvSpPr>
      <dsp:spPr>
        <a:xfrm>
          <a:off x="443211" y="2161739"/>
          <a:ext cx="805838" cy="805838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DC2762-B533-4E10-8338-1502AA8FD65A}">
      <dsp:nvSpPr>
        <dsp:cNvPr id="0" name=""/>
        <dsp:cNvSpPr/>
      </dsp:nvSpPr>
      <dsp:spPr>
        <a:xfrm>
          <a:off x="1692261" y="1832078"/>
          <a:ext cx="10433301" cy="146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063" tIns="155063" rIns="155063" bIns="1550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Just copy and paste.</a:t>
          </a:r>
        </a:p>
      </dsp:txBody>
      <dsp:txXfrm>
        <a:off x="1692261" y="1832078"/>
        <a:ext cx="10433301" cy="1465161"/>
      </dsp:txXfrm>
    </dsp:sp>
    <dsp:sp modelId="{5D8BE16E-2B8A-4950-97B1-01B182BBA481}">
      <dsp:nvSpPr>
        <dsp:cNvPr id="0" name=""/>
        <dsp:cNvSpPr/>
      </dsp:nvSpPr>
      <dsp:spPr>
        <a:xfrm>
          <a:off x="0" y="3663530"/>
          <a:ext cx="12125563" cy="14651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11571-C039-4D17-B5BE-1DC95CF548F8}">
      <dsp:nvSpPr>
        <dsp:cNvPr id="0" name=""/>
        <dsp:cNvSpPr/>
      </dsp:nvSpPr>
      <dsp:spPr>
        <a:xfrm>
          <a:off x="443211" y="3993191"/>
          <a:ext cx="805838" cy="805838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2E698-B078-4D87-8675-89555166DB2D}">
      <dsp:nvSpPr>
        <dsp:cNvPr id="0" name=""/>
        <dsp:cNvSpPr/>
      </dsp:nvSpPr>
      <dsp:spPr>
        <a:xfrm>
          <a:off x="1692261" y="3663530"/>
          <a:ext cx="10433301" cy="146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063" tIns="155063" rIns="155063" bIns="15506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Plus, lots of other features (Enabled in Feature Management)</a:t>
          </a:r>
        </a:p>
      </dsp:txBody>
      <dsp:txXfrm>
        <a:off x="1692261" y="3663530"/>
        <a:ext cx="10433301" cy="146516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E70E7-DA71-449F-B390-3B922C8734A3}">
      <dsp:nvSpPr>
        <dsp:cNvPr id="0" name=""/>
        <dsp:cNvSpPr/>
      </dsp:nvSpPr>
      <dsp:spPr>
        <a:xfrm>
          <a:off x="0" y="4007"/>
          <a:ext cx="12125563" cy="8535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1860DF-9704-48AB-9C05-C02913CED17F}">
      <dsp:nvSpPr>
        <dsp:cNvPr id="0" name=""/>
        <dsp:cNvSpPr/>
      </dsp:nvSpPr>
      <dsp:spPr>
        <a:xfrm>
          <a:off x="258199" y="196056"/>
          <a:ext cx="469452" cy="4694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5AB57-D789-4C84-A252-AD68B4C6D310}">
      <dsp:nvSpPr>
        <dsp:cNvPr id="0" name=""/>
        <dsp:cNvSpPr/>
      </dsp:nvSpPr>
      <dsp:spPr>
        <a:xfrm>
          <a:off x="985850" y="4007"/>
          <a:ext cx="11139712" cy="853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34" tIns="90334" rIns="90334" bIns="903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Open Source</a:t>
          </a:r>
          <a:endParaRPr lang="en-US" sz="1900" kern="1200"/>
        </a:p>
      </dsp:txBody>
      <dsp:txXfrm>
        <a:off x="985850" y="4007"/>
        <a:ext cx="11139712" cy="853550"/>
      </dsp:txXfrm>
    </dsp:sp>
    <dsp:sp modelId="{C611C1CC-CBDC-48BC-845C-F9AD34339706}">
      <dsp:nvSpPr>
        <dsp:cNvPr id="0" name=""/>
        <dsp:cNvSpPr/>
      </dsp:nvSpPr>
      <dsp:spPr>
        <a:xfrm>
          <a:off x="0" y="1070945"/>
          <a:ext cx="12125563" cy="8535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44579A-0578-4F2C-8A94-AE465561C9C6}">
      <dsp:nvSpPr>
        <dsp:cNvPr id="0" name=""/>
        <dsp:cNvSpPr/>
      </dsp:nvSpPr>
      <dsp:spPr>
        <a:xfrm>
          <a:off x="258199" y="1262994"/>
          <a:ext cx="469452" cy="4694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63280-E6E4-46E4-9479-C511491E38ED}">
      <dsp:nvSpPr>
        <dsp:cNvPr id="0" name=""/>
        <dsp:cNvSpPr/>
      </dsp:nvSpPr>
      <dsp:spPr>
        <a:xfrm>
          <a:off x="985850" y="1070945"/>
          <a:ext cx="11139712" cy="853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34" tIns="90334" rIns="90334" bIns="903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>
              <a:hlinkClick xmlns:r="http://schemas.openxmlformats.org/officeDocument/2006/relationships" r:id="rId5"/>
            </a:rPr>
            <a:t>https://github.com/TrudAX/TRUDUtilsD365</a:t>
          </a:r>
          <a:endParaRPr lang="en-US" sz="1900" kern="1200"/>
        </a:p>
      </dsp:txBody>
      <dsp:txXfrm>
        <a:off x="985850" y="1070945"/>
        <a:ext cx="11139712" cy="853550"/>
      </dsp:txXfrm>
    </dsp:sp>
    <dsp:sp modelId="{22F5B503-B96B-4E8A-B81D-0141C59303A9}">
      <dsp:nvSpPr>
        <dsp:cNvPr id="0" name=""/>
        <dsp:cNvSpPr/>
      </dsp:nvSpPr>
      <dsp:spPr>
        <a:xfrm>
          <a:off x="0" y="2137883"/>
          <a:ext cx="12125563" cy="8535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4BD9F-7604-4FE3-A8B8-87C0350A16A6}">
      <dsp:nvSpPr>
        <dsp:cNvPr id="0" name=""/>
        <dsp:cNvSpPr/>
      </dsp:nvSpPr>
      <dsp:spPr>
        <a:xfrm>
          <a:off x="258199" y="2329932"/>
          <a:ext cx="469452" cy="469452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2A09C-877A-4944-8527-D077B4EA0D45}">
      <dsp:nvSpPr>
        <dsp:cNvPr id="0" name=""/>
        <dsp:cNvSpPr/>
      </dsp:nvSpPr>
      <dsp:spPr>
        <a:xfrm>
          <a:off x="985850" y="2137883"/>
          <a:ext cx="11139712" cy="853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34" tIns="90334" rIns="90334" bIns="903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Prototyping Tools that help with productivity</a:t>
          </a:r>
          <a:endParaRPr lang="en-US" sz="1900" kern="1200"/>
        </a:p>
      </dsp:txBody>
      <dsp:txXfrm>
        <a:off x="985850" y="2137883"/>
        <a:ext cx="11139712" cy="853550"/>
      </dsp:txXfrm>
    </dsp:sp>
    <dsp:sp modelId="{D7885653-17D1-4664-85C6-CBBE644858F6}">
      <dsp:nvSpPr>
        <dsp:cNvPr id="0" name=""/>
        <dsp:cNvSpPr/>
      </dsp:nvSpPr>
      <dsp:spPr>
        <a:xfrm>
          <a:off x="0" y="3204821"/>
          <a:ext cx="12125563" cy="8535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B4473F-0D1B-4FE4-9F4F-F32AAC76139C}">
      <dsp:nvSpPr>
        <dsp:cNvPr id="0" name=""/>
        <dsp:cNvSpPr/>
      </dsp:nvSpPr>
      <dsp:spPr>
        <a:xfrm>
          <a:off x="258199" y="3396870"/>
          <a:ext cx="469452" cy="469452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F92BEB-2073-414C-8802-545A3D1302D6}">
      <dsp:nvSpPr>
        <dsp:cNvPr id="0" name=""/>
        <dsp:cNvSpPr/>
      </dsp:nvSpPr>
      <dsp:spPr>
        <a:xfrm>
          <a:off x="985850" y="3204821"/>
          <a:ext cx="11139712" cy="853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34" tIns="90334" rIns="90334" bIns="903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Configurable</a:t>
          </a:r>
          <a:endParaRPr lang="en-US" sz="1900" kern="1200"/>
        </a:p>
      </dsp:txBody>
      <dsp:txXfrm>
        <a:off x="985850" y="3204821"/>
        <a:ext cx="11139712" cy="853550"/>
      </dsp:txXfrm>
    </dsp:sp>
    <dsp:sp modelId="{D14D8A22-3FA4-4B47-94B3-2EBF70BCC0C2}">
      <dsp:nvSpPr>
        <dsp:cNvPr id="0" name=""/>
        <dsp:cNvSpPr/>
      </dsp:nvSpPr>
      <dsp:spPr>
        <a:xfrm>
          <a:off x="0" y="4271760"/>
          <a:ext cx="12125563" cy="8535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2691C-DAE6-41FA-9654-A63F310FF59C}">
      <dsp:nvSpPr>
        <dsp:cNvPr id="0" name=""/>
        <dsp:cNvSpPr/>
      </dsp:nvSpPr>
      <dsp:spPr>
        <a:xfrm>
          <a:off x="258199" y="4463809"/>
          <a:ext cx="469452" cy="469452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E21EF-E4E8-4865-89C7-6CFEF63D5748}">
      <dsp:nvSpPr>
        <dsp:cNvPr id="0" name=""/>
        <dsp:cNvSpPr/>
      </dsp:nvSpPr>
      <dsp:spPr>
        <a:xfrm>
          <a:off x="985850" y="4271760"/>
          <a:ext cx="11139712" cy="853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34" tIns="90334" rIns="90334" bIns="903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Similar idea from AX 2009/2012 with configurable MorphX tools</a:t>
          </a:r>
          <a:endParaRPr lang="en-US" sz="1900" kern="1200"/>
        </a:p>
      </dsp:txBody>
      <dsp:txXfrm>
        <a:off x="985850" y="4271760"/>
        <a:ext cx="11139712" cy="8535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825DC8-2571-4500-B52E-B736EF40BAEA}">
      <dsp:nvSpPr>
        <dsp:cNvPr id="0" name=""/>
        <dsp:cNvSpPr/>
      </dsp:nvSpPr>
      <dsp:spPr>
        <a:xfrm>
          <a:off x="0" y="298098"/>
          <a:ext cx="12125563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First, check out UDEs if you haven't heard of them yet</a:t>
          </a:r>
        </a:p>
      </dsp:txBody>
      <dsp:txXfrm>
        <a:off x="20104" y="318202"/>
        <a:ext cx="12085355" cy="371632"/>
      </dsp:txXfrm>
    </dsp:sp>
    <dsp:sp modelId="{B3AF39DE-75F9-4641-8F39-406263B26B41}">
      <dsp:nvSpPr>
        <dsp:cNvPr id="0" name=""/>
        <dsp:cNvSpPr/>
      </dsp:nvSpPr>
      <dsp:spPr>
        <a:xfrm>
          <a:off x="0" y="756018"/>
          <a:ext cx="12125563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models, not projects or solutions</a:t>
          </a:r>
        </a:p>
      </dsp:txBody>
      <dsp:txXfrm>
        <a:off x="20104" y="776122"/>
        <a:ext cx="12085355" cy="371632"/>
      </dsp:txXfrm>
    </dsp:sp>
    <dsp:sp modelId="{5D56EE7A-A45C-4B36-90F6-82EEE212C772}">
      <dsp:nvSpPr>
        <dsp:cNvPr id="0" name=""/>
        <dsp:cNvSpPr/>
      </dsp:nvSpPr>
      <dsp:spPr>
        <a:xfrm>
          <a:off x="0" y="1213939"/>
          <a:ext cx="12125563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Better support for Git with configurable metadata</a:t>
          </a:r>
        </a:p>
      </dsp:txBody>
      <dsp:txXfrm>
        <a:off x="20104" y="1234043"/>
        <a:ext cx="12085355" cy="371632"/>
      </dsp:txXfrm>
    </dsp:sp>
    <dsp:sp modelId="{FF2F4860-5D90-44B9-A1C1-00C353B104F5}">
      <dsp:nvSpPr>
        <dsp:cNvPr id="0" name=""/>
        <dsp:cNvSpPr/>
      </dsp:nvSpPr>
      <dsp:spPr>
        <a:xfrm>
          <a:off x="0" y="1671859"/>
          <a:ext cx="12125563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You get everything with your UDE so you can test your data entities in a dual write scenario, or power automate, virtual tables, etc</a:t>
          </a:r>
        </a:p>
      </dsp:txBody>
      <dsp:txXfrm>
        <a:off x="20104" y="1691963"/>
        <a:ext cx="12085355" cy="371632"/>
      </dsp:txXfrm>
    </dsp:sp>
    <dsp:sp modelId="{A830FF46-229B-4DEF-B53E-65668F466A04}">
      <dsp:nvSpPr>
        <dsp:cNvPr id="0" name=""/>
        <dsp:cNvSpPr/>
      </dsp:nvSpPr>
      <dsp:spPr>
        <a:xfrm>
          <a:off x="0" y="2129779"/>
          <a:ext cx="12125563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JIT data access</a:t>
          </a:r>
        </a:p>
      </dsp:txBody>
      <dsp:txXfrm>
        <a:off x="20104" y="2149883"/>
        <a:ext cx="12085355" cy="371632"/>
      </dsp:txXfrm>
    </dsp:sp>
    <dsp:sp modelId="{92C74475-8FFD-4AC5-9E0F-FF9B89ABD8CC}">
      <dsp:nvSpPr>
        <dsp:cNvPr id="0" name=""/>
        <dsp:cNvSpPr/>
      </dsp:nvSpPr>
      <dsp:spPr>
        <a:xfrm>
          <a:off x="0" y="2587699"/>
          <a:ext cx="12125563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(sigh) Copilot</a:t>
          </a:r>
        </a:p>
      </dsp:txBody>
      <dsp:txXfrm>
        <a:off x="20104" y="2607803"/>
        <a:ext cx="12085355" cy="371632"/>
      </dsp:txXfrm>
    </dsp:sp>
    <dsp:sp modelId="{ACBF4EC9-2ECC-4CF6-B97C-AAC283D4B180}">
      <dsp:nvSpPr>
        <dsp:cNvPr id="0" name=""/>
        <dsp:cNvSpPr/>
      </dsp:nvSpPr>
      <dsp:spPr>
        <a:xfrm>
          <a:off x="0" y="3045619"/>
          <a:ext cx="12125563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Microservices are available</a:t>
          </a:r>
        </a:p>
      </dsp:txBody>
      <dsp:txXfrm>
        <a:off x="20104" y="3065723"/>
        <a:ext cx="12085355" cy="371632"/>
      </dsp:txXfrm>
    </dsp:sp>
    <dsp:sp modelId="{0F957649-B9FC-46C2-BE41-075C15CDD243}">
      <dsp:nvSpPr>
        <dsp:cNvPr id="0" name=""/>
        <dsp:cNvSpPr/>
      </dsp:nvSpPr>
      <dsp:spPr>
        <a:xfrm>
          <a:off x="0" y="3503539"/>
          <a:ext cx="12125563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Availability based on storage</a:t>
          </a:r>
        </a:p>
      </dsp:txBody>
      <dsp:txXfrm>
        <a:off x="20104" y="3523643"/>
        <a:ext cx="12085355" cy="371632"/>
      </dsp:txXfrm>
    </dsp:sp>
    <dsp:sp modelId="{C0CE26AE-387F-44C7-8447-CE0CF3957F5F}">
      <dsp:nvSpPr>
        <dsp:cNvPr id="0" name=""/>
        <dsp:cNvSpPr/>
      </dsp:nvSpPr>
      <dsp:spPr>
        <a:xfrm>
          <a:off x="0" y="3961459"/>
          <a:ext cx="12125563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Persistent database access?</a:t>
          </a:r>
        </a:p>
      </dsp:txBody>
      <dsp:txXfrm>
        <a:off x="20104" y="3981563"/>
        <a:ext cx="12085355" cy="371632"/>
      </dsp:txXfrm>
    </dsp:sp>
    <dsp:sp modelId="{A22BD584-9F4F-4AC5-93CE-24D4DB2320EB}">
      <dsp:nvSpPr>
        <dsp:cNvPr id="0" name=""/>
        <dsp:cNvSpPr/>
      </dsp:nvSpPr>
      <dsp:spPr>
        <a:xfrm>
          <a:off x="0" y="4419379"/>
          <a:ext cx="12125563" cy="41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License Usage Summary – User License</a:t>
          </a:r>
        </a:p>
      </dsp:txBody>
      <dsp:txXfrm>
        <a:off x="20104" y="4439483"/>
        <a:ext cx="12085355" cy="3716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CRMUG Summit 2017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8CAF0-866C-41B3-A854-572A2A51FA6A}" type="datetime8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10/23/2025 9:03 AM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2017 Dynamic Communities.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CRMUG Summit 2017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58EF5B-311B-4148-8831-2D28534D49CD}" type="datetime8">
              <a:rPr lang="en-US" smtClean="0"/>
              <a:t>10/23/2025 9:03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2017 Dynamic Communities.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84131-AC7F-447A-9557-D76C036BDE2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73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84131-AC7F-447A-9557-D76C036BDE2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03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84131-AC7F-447A-9557-D76C036BDE2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https://jatomas.com/en/2020/05/02/dark-mode-visual-studio-x-code-editor/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84131-AC7F-447A-9557-D76C036BDE2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04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https://jatomas.com/en/2020/05/02/dark-mode-visual-studio-x-code-editor/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84131-AC7F-447A-9557-D76C036BDE2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51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4114E-5918-B1DB-D683-8740D0633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67774B5-F68C-1108-7441-1A84E31C5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aseline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baseline="0">
                <a:solidFill>
                  <a:schemeClr val="bg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67BE35-4283-FC22-2DF1-9BAE77625F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375" y="302406"/>
            <a:ext cx="3086100" cy="1092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DF9018-552B-83D7-92A3-76120E4637B5}"/>
              </a:ext>
            </a:extLst>
          </p:cNvPr>
          <p:cNvSpPr/>
          <p:nvPr userDrawn="1"/>
        </p:nvSpPr>
        <p:spPr bwMode="auto">
          <a:xfrm>
            <a:off x="-3" y="0"/>
            <a:ext cx="12436477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FDFF33-C3AC-4360-2256-6D09B51BC89A}"/>
              </a:ext>
            </a:extLst>
          </p:cNvPr>
          <p:cNvSpPr/>
          <p:nvPr userDrawn="1"/>
        </p:nvSpPr>
        <p:spPr bwMode="auto">
          <a:xfrm>
            <a:off x="-3" y="6637474"/>
            <a:ext cx="12436478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E7527AD-759C-5A08-98E2-71BD229E8255}"/>
              </a:ext>
            </a:extLst>
          </p:cNvPr>
          <p:cNvCxnSpPr/>
          <p:nvPr userDrawn="1"/>
        </p:nvCxnSpPr>
        <p:spPr>
          <a:xfrm>
            <a:off x="-4" y="385588"/>
            <a:ext cx="12436478" cy="0"/>
          </a:xfrm>
          <a:prstGeom prst="line">
            <a:avLst/>
          </a:prstGeom>
          <a:ln w="53975">
            <a:solidFill>
              <a:srgbClr val="F5912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10">
            <a:extLst>
              <a:ext uri="{FF2B5EF4-FFF2-40B4-BE49-F238E27FC236}">
                <a16:creationId xmlns:a16="http://schemas.microsoft.com/office/drawing/2014/main" id="{C02CC332-457D-2159-182F-CF67A980D719}"/>
              </a:ext>
            </a:extLst>
          </p:cNvPr>
          <p:cNvSpPr txBox="1"/>
          <p:nvPr userDrawn="1"/>
        </p:nvSpPr>
        <p:spPr>
          <a:xfrm>
            <a:off x="9732132" y="6713921"/>
            <a:ext cx="2684147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baseline="0" dirty="0">
                <a:solidFill>
                  <a:schemeClr val="tx1"/>
                </a:solidFill>
              </a:rPr>
              <a:t>@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-50" baseline="0" dirty="0">
                <a:solidFill>
                  <a:schemeClr val="tx1"/>
                </a:solidFill>
              </a:rPr>
              <a:t>202</a:t>
            </a:r>
            <a:r>
              <a:rPr lang="en-US" spc="-50" baseline="0" dirty="0">
                <a:solidFill>
                  <a:schemeClr val="tx1"/>
                </a:solidFill>
              </a:rPr>
              <a:t>5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60" baseline="0" dirty="0">
                <a:solidFill>
                  <a:schemeClr val="tx1"/>
                </a:solidFill>
              </a:rPr>
              <a:t>Dynamic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40" baseline="0" dirty="0">
                <a:solidFill>
                  <a:schemeClr val="tx1"/>
                </a:solidFill>
              </a:rPr>
              <a:t>Communities</a:t>
            </a:r>
          </a:p>
        </p:txBody>
      </p:sp>
    </p:spTree>
    <p:extLst>
      <p:ext uri="{BB962C8B-B14F-4D97-AF65-F5344CB8AC3E}">
        <p14:creationId xmlns:p14="http://schemas.microsoft.com/office/powerpoint/2010/main" val="3788838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orient="horz" pos="105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647BE7B-65E1-0320-C8A6-9B9EC05A5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389485E-3748-70B7-6A15-7D7BC8C67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aseline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baseline="0">
                <a:solidFill>
                  <a:schemeClr val="bg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B2A1F-346F-E426-5FCD-6CE0B300F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375" y="302406"/>
            <a:ext cx="3086100" cy="1092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6251F0-97DC-6218-B185-ECFCDBA57014}"/>
              </a:ext>
            </a:extLst>
          </p:cNvPr>
          <p:cNvSpPr/>
          <p:nvPr userDrawn="1"/>
        </p:nvSpPr>
        <p:spPr bwMode="auto">
          <a:xfrm>
            <a:off x="-3" y="0"/>
            <a:ext cx="12436477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F22EB9-D1CD-40AE-09A4-CD7D374E2567}"/>
              </a:ext>
            </a:extLst>
          </p:cNvPr>
          <p:cNvSpPr/>
          <p:nvPr userDrawn="1"/>
        </p:nvSpPr>
        <p:spPr bwMode="auto">
          <a:xfrm>
            <a:off x="-3" y="6637474"/>
            <a:ext cx="12436478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976A84-16EE-D6CB-5268-1A801CB94C29}"/>
              </a:ext>
            </a:extLst>
          </p:cNvPr>
          <p:cNvCxnSpPr/>
          <p:nvPr userDrawn="1"/>
        </p:nvCxnSpPr>
        <p:spPr>
          <a:xfrm>
            <a:off x="-4" y="385588"/>
            <a:ext cx="12436478" cy="0"/>
          </a:xfrm>
          <a:prstGeom prst="line">
            <a:avLst/>
          </a:prstGeom>
          <a:ln w="53975">
            <a:solidFill>
              <a:srgbClr val="F5912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bject 10">
            <a:extLst>
              <a:ext uri="{FF2B5EF4-FFF2-40B4-BE49-F238E27FC236}">
                <a16:creationId xmlns:a16="http://schemas.microsoft.com/office/drawing/2014/main" id="{E0839425-C7BA-9D40-5A68-DEF9E707DF47}"/>
              </a:ext>
            </a:extLst>
          </p:cNvPr>
          <p:cNvSpPr txBox="1"/>
          <p:nvPr userDrawn="1"/>
        </p:nvSpPr>
        <p:spPr>
          <a:xfrm>
            <a:off x="9732128" y="6712952"/>
            <a:ext cx="2684147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baseline="0" dirty="0">
                <a:solidFill>
                  <a:schemeClr val="tx1"/>
                </a:solidFill>
              </a:rPr>
              <a:t>@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-50" baseline="0" dirty="0">
                <a:solidFill>
                  <a:schemeClr val="tx1"/>
                </a:solidFill>
              </a:rPr>
              <a:t>202</a:t>
            </a:r>
            <a:r>
              <a:rPr lang="en-US" spc="-50" baseline="0" dirty="0">
                <a:solidFill>
                  <a:schemeClr val="tx1"/>
                </a:solidFill>
              </a:rPr>
              <a:t>5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60" baseline="0" dirty="0">
                <a:solidFill>
                  <a:schemeClr val="tx1"/>
                </a:solidFill>
              </a:rPr>
              <a:t>Dynamic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40" baseline="0" dirty="0">
                <a:solidFill>
                  <a:schemeClr val="tx1"/>
                </a:solidFill>
              </a:rPr>
              <a:t>Communities</a:t>
            </a:r>
          </a:p>
        </p:txBody>
      </p:sp>
    </p:spTree>
    <p:extLst>
      <p:ext uri="{BB962C8B-B14F-4D97-AF65-F5344CB8AC3E}">
        <p14:creationId xmlns:p14="http://schemas.microsoft.com/office/powerpoint/2010/main" val="3879918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orient="horz" pos="105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ry2 with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AB300-83A5-C8A6-8997-8AA97222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79A92AF-199F-1976-F0A5-D1F4A01045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>
            <a:lvl1pPr>
              <a:defRPr baseline="0">
                <a:solidFill>
                  <a:srgbClr val="000000"/>
                </a:solidFill>
              </a:defRPr>
            </a:lvl1pPr>
            <a:lvl2pPr>
              <a:defRPr baseline="0">
                <a:solidFill>
                  <a:srgbClr val="000000"/>
                </a:solidFill>
              </a:defRPr>
            </a:lvl2pPr>
            <a:lvl3pPr>
              <a:defRPr baseline="0"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69805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05625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39689" y="1668462"/>
            <a:ext cx="5021348" cy="4191000"/>
          </a:xfrm>
        </p:spPr>
        <p:txBody>
          <a:bodyPr wrap="square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 baseline="0">
                <a:solidFill>
                  <a:srgbClr val="000000"/>
                </a:solidFill>
              </a:defRPr>
            </a:lvl1pPr>
            <a:lvl2pPr marL="0" indent="0">
              <a:buNone/>
              <a:defRPr sz="2000" baseline="0">
                <a:solidFill>
                  <a:srgbClr val="000000"/>
                </a:solidFill>
              </a:defRPr>
            </a:lvl2pPr>
            <a:lvl3pPr marL="231775" indent="0">
              <a:buNone/>
              <a:tabLst/>
              <a:defRPr sz="2000" baseline="0">
                <a:solidFill>
                  <a:srgbClr val="000000"/>
                </a:solidFill>
              </a:defRPr>
            </a:lvl3pPr>
            <a:lvl4pPr marL="460375" indent="0">
              <a:buNone/>
              <a:defRPr baseline="0">
                <a:solidFill>
                  <a:srgbClr val="000000"/>
                </a:solidFill>
              </a:defRPr>
            </a:lvl4pPr>
            <a:lvl5pPr marL="685800" indent="0">
              <a:buNone/>
              <a:tabLst/>
              <a:defRPr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218237" y="1668462"/>
            <a:ext cx="5486400" cy="4191000"/>
          </a:xfrm>
        </p:spPr>
        <p:txBody>
          <a:bodyPr wrap="square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 baseline="0">
                <a:solidFill>
                  <a:srgbClr val="000000"/>
                </a:solidFill>
              </a:defRPr>
            </a:lvl1pPr>
            <a:lvl2pPr marL="0" indent="0">
              <a:buNone/>
              <a:defRPr sz="2000" baseline="0">
                <a:solidFill>
                  <a:srgbClr val="000000"/>
                </a:solidFill>
              </a:defRPr>
            </a:lvl2pPr>
            <a:lvl3pPr marL="231775" indent="0">
              <a:buNone/>
              <a:tabLst/>
              <a:defRPr sz="2000" baseline="0">
                <a:solidFill>
                  <a:srgbClr val="000000"/>
                </a:solidFill>
              </a:defRPr>
            </a:lvl3pPr>
            <a:lvl4pPr marL="460375" indent="0">
              <a:buNone/>
              <a:defRPr baseline="0">
                <a:solidFill>
                  <a:srgbClr val="000000"/>
                </a:solidFill>
              </a:defRPr>
            </a:lvl4pPr>
            <a:lvl5pPr marL="685800" indent="0">
              <a:buNone/>
              <a:tabLst/>
              <a:defRPr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837" y="2125662"/>
            <a:ext cx="7315200" cy="2286000"/>
          </a:xfrm>
          <a:noFill/>
        </p:spPr>
        <p:txBody>
          <a:bodyPr wrap="square" tIns="91440" bIns="91440" anchor="t" anchorCtr="0">
            <a:noAutofit/>
          </a:bodyPr>
          <a:lstStyle>
            <a:lvl1pPr>
              <a:defRPr sz="4400" b="1" i="0" spc="-10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28849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11FC0C72-737D-446E-3EBF-97A33E71CB20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274637" y="6469062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© 2025 Dynamic Communities.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71807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88C3-1EA5-3614-1946-6015D751C8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129" y="1935162"/>
            <a:ext cx="6077634" cy="1351952"/>
          </a:xfr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Session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30869-1BD4-D9D2-CE84-B199E855D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EEE12B02-F83C-EE22-51AA-8DB85C11B023}"/>
              </a:ext>
            </a:extLst>
          </p:cNvPr>
          <p:cNvSpPr txBox="1"/>
          <p:nvPr userDrawn="1"/>
        </p:nvSpPr>
        <p:spPr>
          <a:xfrm>
            <a:off x="466368" y="652823"/>
            <a:ext cx="7316918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The largest Microsoft Business Applications </a:t>
            </a:r>
            <a:b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user conference on the planet.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B3D165BB-366E-FF38-B8DA-3AF941C1841F}"/>
              </a:ext>
            </a:extLst>
          </p:cNvPr>
          <p:cNvSpPr/>
          <p:nvPr userDrawn="1"/>
        </p:nvSpPr>
        <p:spPr>
          <a:xfrm>
            <a:off x="431123" y="2331509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8B820B61-2594-56BE-784C-A8565846E223}"/>
              </a:ext>
            </a:extLst>
          </p:cNvPr>
          <p:cNvSpPr txBox="1"/>
          <p:nvPr userDrawn="1"/>
        </p:nvSpPr>
        <p:spPr>
          <a:xfrm>
            <a:off x="9626784" y="6676209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809A18-CADB-A7A0-34E2-48FA8D75A1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4230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>
            <a:extLst>
              <a:ext uri="{FF2B5EF4-FFF2-40B4-BE49-F238E27FC236}">
                <a16:creationId xmlns:a16="http://schemas.microsoft.com/office/drawing/2014/main" id="{AA4E1C05-C18C-5999-ACBA-01155639006B}"/>
              </a:ext>
            </a:extLst>
          </p:cNvPr>
          <p:cNvSpPr txBox="1"/>
          <p:nvPr userDrawn="1"/>
        </p:nvSpPr>
        <p:spPr>
          <a:xfrm>
            <a:off x="9685337" y="6637374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8FB400-37E7-74B2-ACB9-7ED56CD5F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1ABBA802-E452-2AFC-E7D9-86DF60B7192F}"/>
              </a:ext>
            </a:extLst>
          </p:cNvPr>
          <p:cNvSpPr/>
          <p:nvPr userDrawn="1"/>
        </p:nvSpPr>
        <p:spPr>
          <a:xfrm>
            <a:off x="580899" y="745163"/>
            <a:ext cx="96228" cy="494786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1A45573-240E-43E8-215E-27DACC27BE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4041" y="1672535"/>
            <a:ext cx="4852788" cy="4632253"/>
          </a:xfrm>
        </p:spPr>
        <p:txBody>
          <a:bodyPr/>
          <a:lstStyle>
            <a:lvl1pPr marL="291436" indent="-291436">
              <a:buClr>
                <a:srgbClr val="E88C23"/>
              </a:buClr>
              <a:buSzPct val="110000"/>
              <a:buFont typeface="Arial" panose="020B0604020202020204" pitchFamily="34" charset="0"/>
              <a:buChar char="•"/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91436" indent="-291436"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91436" indent="-291436"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91436" indent="-291436"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1436" indent="-291436"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Agenda items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358E50-23C2-0424-524F-699C343C65C3}"/>
              </a:ext>
            </a:extLst>
          </p:cNvPr>
          <p:cNvSpPr txBox="1"/>
          <p:nvPr userDrawn="1"/>
        </p:nvSpPr>
        <p:spPr>
          <a:xfrm>
            <a:off x="774041" y="628494"/>
            <a:ext cx="2936625" cy="734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629" tIns="46629" rIns="46629" bIns="46629" numCol="1" spcCol="38100" rtlCol="0" anchor="t">
            <a:spAutoFit/>
          </a:bodyPr>
          <a:lstStyle/>
          <a:p>
            <a:pPr marL="0" marR="0" indent="0" algn="l" defTabSz="93259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80" b="1" i="0" u="none" strike="noStrike" cap="none" spc="0" normalizeH="0" baseline="0">
                <a:ln>
                  <a:noFill/>
                </a:ln>
                <a:solidFill>
                  <a:srgbClr val="273472"/>
                </a:solidFill>
                <a:effectLst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Calibri"/>
              </a:rPr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F96BD7-A0D0-5697-E23A-C8FAF10B2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0664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>
            <a:extLst>
              <a:ext uri="{FF2B5EF4-FFF2-40B4-BE49-F238E27FC236}">
                <a16:creationId xmlns:a16="http://schemas.microsoft.com/office/drawing/2014/main" id="{AA4E1C05-C18C-5999-ACBA-01155639006B}"/>
              </a:ext>
            </a:extLst>
          </p:cNvPr>
          <p:cNvSpPr txBox="1"/>
          <p:nvPr userDrawn="1"/>
        </p:nvSpPr>
        <p:spPr>
          <a:xfrm>
            <a:off x="9685337" y="6637374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8FB400-37E7-74B2-ACB9-7ED56CD5F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F96BD7-A0D0-5697-E23A-C8FAF10B2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110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0">
            <a:extLst>
              <a:ext uri="{FF2B5EF4-FFF2-40B4-BE49-F238E27FC236}">
                <a16:creationId xmlns:a16="http://schemas.microsoft.com/office/drawing/2014/main" id="{D53E30DB-3424-A7B3-DD4B-ECDCD1F473EA}"/>
              </a:ext>
            </a:extLst>
          </p:cNvPr>
          <p:cNvSpPr txBox="1"/>
          <p:nvPr userDrawn="1"/>
        </p:nvSpPr>
        <p:spPr>
          <a:xfrm>
            <a:off x="9698505" y="6676209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28E884E9-8151-D4F3-956D-80BE3F8721D9}"/>
              </a:ext>
            </a:extLst>
          </p:cNvPr>
          <p:cNvSpPr/>
          <p:nvPr userDrawn="1"/>
        </p:nvSpPr>
        <p:spPr>
          <a:xfrm>
            <a:off x="580899" y="2043488"/>
            <a:ext cx="96228" cy="1246050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A10028-72AC-53E2-41A9-93F66C4F0D92}"/>
              </a:ext>
            </a:extLst>
          </p:cNvPr>
          <p:cNvSpPr txBox="1"/>
          <p:nvPr userDrawn="1"/>
        </p:nvSpPr>
        <p:spPr>
          <a:xfrm>
            <a:off x="871322" y="1922300"/>
            <a:ext cx="4656520" cy="148842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lvl="0" indent="12700" eaLnBrk="1" hangingPunct="1">
              <a:spcBef>
                <a:spcPts val="100"/>
              </a:spcBef>
              <a:defRPr sz="4400" b="1" spc="-200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lvl="0"/>
            <a:r>
              <a:rPr lang="en-US" sz="4488">
                <a:sym typeface="Calibri"/>
              </a:rPr>
              <a:t>Thank you for Attending!</a:t>
            </a: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E205A04B-C58C-BC42-5E28-9F389C949012}"/>
              </a:ext>
            </a:extLst>
          </p:cNvPr>
          <p:cNvSpPr txBox="1"/>
          <p:nvPr userDrawn="1"/>
        </p:nvSpPr>
        <p:spPr>
          <a:xfrm>
            <a:off x="466368" y="652823"/>
            <a:ext cx="6250118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The largest Microsoft Business Applications 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user conference on the planet.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852A0F6-69FE-7925-F6B0-18B7342A4A83}"/>
              </a:ext>
            </a:extLst>
          </p:cNvPr>
          <p:cNvSpPr txBox="1"/>
          <p:nvPr userDrawn="1"/>
        </p:nvSpPr>
        <p:spPr>
          <a:xfrm>
            <a:off x="-75621" y="6607302"/>
            <a:ext cx="560346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5181" lvl="0" indent="12953" algn="r" defTabSz="932742" rtl="0" eaLnBrk="1" fontAlgn="auto" latinLnBrk="0" hangingPunct="1">
              <a:lnSpc>
                <a:spcPct val="100000"/>
              </a:lnSpc>
              <a:spcBef>
                <a:spcPts val="306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spc="85">
                <a:solidFill>
                  <a:srgbClr val="252F35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en-US" sz="1800" dirty="0">
                <a:solidFill>
                  <a:srgbClr val="1B449A"/>
                </a:solidFill>
              </a:rPr>
              <a:t>A Dynamics-First, ‘For User, By User’ Event</a:t>
            </a:r>
            <a:r>
              <a:rPr sz="1800" spc="-25" baseline="0" dirty="0">
                <a:solidFill>
                  <a:srgbClr val="1B449A"/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E8EE19-D4A5-89BF-DC08-BC3CB7FE89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661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 descr="object 3">
            <a:extLst>
              <a:ext uri="{FF2B5EF4-FFF2-40B4-BE49-F238E27FC236}">
                <a16:creationId xmlns:a16="http://schemas.microsoft.com/office/drawing/2014/main" id="{A5D03D5E-93BB-8906-4997-A84B5DF91C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0014"/>
          <a:stretch/>
        </p:blipFill>
        <p:spPr>
          <a:xfrm>
            <a:off x="0" y="6049961"/>
            <a:ext cx="12462953" cy="94456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6" name="object 10">
            <a:extLst>
              <a:ext uri="{FF2B5EF4-FFF2-40B4-BE49-F238E27FC236}">
                <a16:creationId xmlns:a16="http://schemas.microsoft.com/office/drawing/2014/main" id="{3F3FC02D-4163-99D0-F7E6-842667F226E2}"/>
              </a:ext>
            </a:extLst>
          </p:cNvPr>
          <p:cNvSpPr txBox="1"/>
          <p:nvPr userDrawn="1"/>
        </p:nvSpPr>
        <p:spPr>
          <a:xfrm>
            <a:off x="713677" y="6469062"/>
            <a:ext cx="2684147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>
                <a:solidFill>
                  <a:schemeClr val="bg1"/>
                </a:solidFill>
              </a:rPr>
              <a:t>@</a:t>
            </a:r>
            <a:r>
              <a:rPr spc="-65">
                <a:solidFill>
                  <a:schemeClr val="bg1"/>
                </a:solidFill>
              </a:rPr>
              <a:t> </a:t>
            </a:r>
            <a:r>
              <a:rPr spc="-50">
                <a:solidFill>
                  <a:schemeClr val="bg1"/>
                </a:solidFill>
              </a:rPr>
              <a:t>202</a:t>
            </a:r>
            <a:r>
              <a:rPr lang="en-US" spc="-50">
                <a:solidFill>
                  <a:schemeClr val="bg1"/>
                </a:solidFill>
              </a:rPr>
              <a:t>4</a:t>
            </a:r>
            <a:r>
              <a:rPr spc="-65">
                <a:solidFill>
                  <a:schemeClr val="bg1"/>
                </a:solidFill>
              </a:rPr>
              <a:t> </a:t>
            </a:r>
            <a:r>
              <a:rPr spc="60">
                <a:solidFill>
                  <a:schemeClr val="bg1"/>
                </a:solidFill>
              </a:rPr>
              <a:t>Dynamic</a:t>
            </a:r>
            <a:r>
              <a:rPr spc="-65">
                <a:solidFill>
                  <a:schemeClr val="bg1"/>
                </a:solidFill>
              </a:rPr>
              <a:t> </a:t>
            </a:r>
            <a:r>
              <a:rPr spc="40">
                <a:solidFill>
                  <a:schemeClr val="bg1"/>
                </a:solidFill>
              </a:rPr>
              <a:t>Communities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969C0B-617D-29BE-69D1-96DCD556D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677" y="459009"/>
            <a:ext cx="10972484" cy="71224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9BD2D9-3E59-9AC9-5C71-E4D386FAEF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3361" y="1595360"/>
            <a:ext cx="10972800" cy="4035501"/>
          </a:xfrm>
        </p:spPr>
        <p:txBody>
          <a:bodyPr/>
          <a:lstStyle/>
          <a:p>
            <a:pPr lvl="0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165A25-F545-F0E8-D06C-6484AA82E9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8736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 descr="object 3">
            <a:extLst>
              <a:ext uri="{FF2B5EF4-FFF2-40B4-BE49-F238E27FC236}">
                <a16:creationId xmlns:a16="http://schemas.microsoft.com/office/drawing/2014/main" id="{7C4580D5-DF6C-B99D-F0E1-D596FC54F696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12447768" cy="116575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7" name="object 5" descr="object 5">
            <a:extLst>
              <a:ext uri="{FF2B5EF4-FFF2-40B4-BE49-F238E27FC236}">
                <a16:creationId xmlns:a16="http://schemas.microsoft.com/office/drawing/2014/main" id="{D8A6BD4D-54AD-741C-B9BC-1E215FBE54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3285" y="116575"/>
            <a:ext cx="2575149" cy="93260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970BF9C-EB8A-F7E0-0637-053886C09B4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5456" y="1332521"/>
            <a:ext cx="12125563" cy="5129318"/>
          </a:xfrm>
        </p:spPr>
        <p:txBody>
          <a:bodyPr/>
          <a:lstStyle>
            <a:lvl1pPr>
              <a:defRPr sz="2800"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1pPr>
            <a:lvl2pPr>
              <a:defRPr sz="2400"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2pPr>
            <a:lvl3pPr>
              <a:defRPr sz="2000"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3pPr>
            <a:lvl4pPr>
              <a:defRPr sz="1800"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0A6AD1-9465-F490-B69E-FA1600170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791" y="0"/>
            <a:ext cx="9717828" cy="1164444"/>
          </a:xfrm>
          <a:ln>
            <a:noFill/>
          </a:ln>
        </p:spPr>
        <p:txBody>
          <a:bodyPr anchor="ctr" anchorCtr="0"/>
          <a:lstStyle>
            <a:lvl1pPr>
              <a:defRPr sz="36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Session Title</a:t>
            </a:r>
          </a:p>
        </p:txBody>
      </p:sp>
      <p:pic>
        <p:nvPicPr>
          <p:cNvPr id="2" name="object 5" descr="object 5">
            <a:extLst>
              <a:ext uri="{FF2B5EF4-FFF2-40B4-BE49-F238E27FC236}">
                <a16:creationId xmlns:a16="http://schemas.microsoft.com/office/drawing/2014/main" id="{E52B9CDA-7D8F-BDDB-A414-A25418760B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64537" y="47446"/>
            <a:ext cx="3071937" cy="108821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8553AB-92A1-D8FE-3D0E-3A09CFBA18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64537" y="30759"/>
            <a:ext cx="30988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59943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4036C-F2D0-E5FA-A9AD-9F13C43C5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163" y="1144588"/>
            <a:ext cx="9328150" cy="2435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027C8-6E77-AA13-28A0-54A3DA880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163" y="3673475"/>
            <a:ext cx="9328150" cy="16891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838F5-6A95-0D91-ED36-47BEFFF4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70B45-D55C-7586-BF10-D531E345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39F54-5652-FD6C-DC9C-25863317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50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06E4-0255-04C2-05F4-69A58A21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42DC-8B03-6107-E71E-9588A4865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9F7FA-AEA7-B39E-4D04-5645B5FB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1419-2070-DBE8-4146-4E956DA4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D1D98-2323-B250-6D61-CA41D4A0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01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30CF9-0706-CA5E-8233-A787752FE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313" y="1743075"/>
            <a:ext cx="10725150" cy="290988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967A8-44A8-E9A0-067A-424CE9489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313" y="4681538"/>
            <a:ext cx="10725150" cy="15287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0E77A-EC6E-C017-88A8-8DC15532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CE00A-629B-9809-956B-E335D55F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B17E4-5C7F-BEF8-1CB1-B96E8750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9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92D2-7BB3-EE30-D85D-6D233270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507E3-3070-235F-5D9B-7B41B9945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5663" y="1862138"/>
            <a:ext cx="5286375" cy="443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98F23-5C78-95FD-0482-21D4DA4F8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4438" y="1862138"/>
            <a:ext cx="5286375" cy="443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7ACFC-758C-978C-4200-4FDD1300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416CE-42F7-3D16-510A-2BAF401E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E40FE-5412-F1B7-8745-8D453CC2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99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6CB6-D887-658C-B7FA-79FCA556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373063"/>
            <a:ext cx="10725150" cy="13509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16B04-70DE-2CE1-9DDB-0DB3D6994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1714500"/>
            <a:ext cx="5260975" cy="8397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19F21-136B-62F9-F77B-D07F5D223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7250" y="2554288"/>
            <a:ext cx="5260975" cy="375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B9F4C-216C-D100-87B3-878B00311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6025" y="1714500"/>
            <a:ext cx="5286375" cy="8397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D0F06-6168-E592-6EE1-0A5122276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6025" y="2554288"/>
            <a:ext cx="5286375" cy="375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D48404-402B-BB3A-3C70-8A663BDD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417AAD-C961-8ECB-7C7A-85205960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1A1BB-E631-C611-0459-D280C316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14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A011-289E-4B8F-1CF9-1CC46C447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827F9-3D49-C709-70CB-C5FEB4C8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E711E-3BAE-C5B5-877C-39686A36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BD723-4295-41EC-1F80-779B398E4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647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7A1CD-DCA6-9DCC-93A2-D3367DDE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2637B-D79E-AF39-64A5-FE4BFCF6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E2B03-8005-975D-D987-65836D70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E886-43E5-69A2-5BDE-5E08C8C2C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466725"/>
            <a:ext cx="4010025" cy="16319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8FB97-A01D-6830-CE18-36081E7A6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6375" y="1006475"/>
            <a:ext cx="6296025" cy="49704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F96C4-95F9-4732-564F-4371A24B5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7250" y="2098675"/>
            <a:ext cx="4010025" cy="38877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2F4A7-65C3-91EA-0380-ECEA5255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AB7D-1A55-8DFA-770D-643C0F82F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11768-80EB-0515-CB18-834166E56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9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D050-AE94-CF41-9AE3-4152A36F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466725"/>
            <a:ext cx="4010025" cy="16319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1A4CF3-5678-5504-703C-5F8AB9953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86375" y="1006475"/>
            <a:ext cx="6296025" cy="49704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D9EB5-A1F8-4DB6-0F7E-6D7A8A381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7250" y="2098675"/>
            <a:ext cx="4010025" cy="38877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4A06F-D2A9-5DDB-D6F5-301C2AF0A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49984-990B-61CD-AA48-AC61B9BC2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EF457-44D0-AFCA-A69C-747942E0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249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2AB6-3227-57A3-8413-53E76E7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50A63-D241-C9E9-41DD-5E2CC350C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9AA09-52C9-6C3E-BB98-EB6E9216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B782F-650F-3302-A3CC-99E53073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C915C-FCAF-91AE-ACBE-36811915C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919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857E7F-84CF-1B9E-EF2F-B9328A682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99525" y="373063"/>
            <a:ext cx="2681288" cy="59261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BB55B-480C-B12D-AFA3-BF5E468CE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55663" y="373063"/>
            <a:ext cx="7891462" cy="5926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C5921-0D28-EA8B-4059-D11B21B2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A2E97-ECAB-3093-1D38-19D8598EB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86EFD-7EB8-157E-7837-59BB74941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53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C52D-7A32-0C55-6FB2-F0247B919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163" y="1144588"/>
            <a:ext cx="9328150" cy="2435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564D3-A5F1-E105-364A-C71B92B5B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163" y="3673475"/>
            <a:ext cx="9328150" cy="16891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7980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5" name="Group 4" hidden="1"/>
          <p:cNvGrpSpPr/>
          <p:nvPr userDrawn="1"/>
        </p:nvGrpSpPr>
        <p:grpSpPr>
          <a:xfrm>
            <a:off x="12619037" y="0"/>
            <a:ext cx="952400" cy="5766965"/>
            <a:chOff x="12618968" y="0"/>
            <a:chExt cx="952400" cy="5766965"/>
          </a:xfrm>
        </p:grpSpPr>
        <p:grpSp>
          <p:nvGrpSpPr>
            <p:cNvPr id="6" name="Group 5"/>
            <p:cNvGrpSpPr/>
            <p:nvPr userDrawn="1"/>
          </p:nvGrpSpPr>
          <p:grpSpPr>
            <a:xfrm rot="5400000">
              <a:off x="11582060" y="1045295"/>
              <a:ext cx="2703053" cy="629235"/>
              <a:chOff x="1586734" y="4543426"/>
              <a:chExt cx="2703053" cy="629235"/>
            </a:xfrm>
          </p:grpSpPr>
          <p:sp>
            <p:nvSpPr>
              <p:cNvPr id="14" name="Rectangle 13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G:0 B:77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5" name="Rectangle 14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R:5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G:124 B:193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6" name="Rectangle 15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28302">
                          <a:schemeClr val="bg1"/>
                        </a:gs>
                        <a:gs pos="67000">
                          <a:schemeClr val="bg1"/>
                        </a:gs>
                      </a:gsLst>
                      <a:lin ang="5400000" scaled="1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Red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8302">
                          <a:schemeClr val="bg1"/>
                        </a:gs>
                        <a:gs pos="67000">
                          <a:schemeClr val="bg1"/>
                        </a:gs>
                      </a:gsLst>
                      <a:lin ang="5400000" scaled="1"/>
                    </a:gradFill>
                    <a:ea typeface="Segoe UI" pitchFamily="34" charset="0"/>
                    <a:cs typeface="Segoe UI" pitchFamily="34" charset="0"/>
                  </a:rPr>
                  <a:t>R:237</a:t>
                </a:r>
                <a:r>
                  <a:rPr lang="en-US" sz="500" baseline="0">
                    <a:gradFill>
                      <a:gsLst>
                        <a:gs pos="28302">
                          <a:schemeClr val="bg1"/>
                        </a:gs>
                        <a:gs pos="67000">
                          <a:schemeClr val="bg1"/>
                        </a:gs>
                      </a:gsLst>
                      <a:lin ang="5400000" scaled="1"/>
                    </a:gradFill>
                    <a:ea typeface="Segoe UI" pitchFamily="34" charset="0"/>
                    <a:cs typeface="Segoe UI" pitchFamily="34" charset="0"/>
                  </a:rPr>
                  <a:t> G:38 B:36</a:t>
                </a:r>
                <a:endParaRPr lang="en-US" sz="500">
                  <a:gradFill>
                    <a:gsLst>
                      <a:gs pos="28302">
                        <a:schemeClr val="bg1"/>
                      </a:gs>
                      <a:gs pos="67000">
                        <a:schemeClr val="bg1"/>
                      </a:gs>
                    </a:gsLst>
                    <a:lin ang="5400000" scaled="1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7" name="Rectangle 16"/>
              <p:cNvSpPr/>
              <p:nvPr userDrawn="1"/>
            </p:nvSpPr>
            <p:spPr bwMode="auto">
              <a:xfrm>
                <a:off x="1586734" y="4882895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4717">
                          <a:schemeClr val="tx1"/>
                        </a:gs>
                        <a:gs pos="36000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Gold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4717">
                          <a:schemeClr val="tx1"/>
                        </a:gs>
                        <a:gs pos="36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R:254</a:t>
                </a:r>
                <a:r>
                  <a:rPr lang="en-US" sz="500" baseline="0">
                    <a:gradFill>
                      <a:gsLst>
                        <a:gs pos="4717">
                          <a:schemeClr val="tx1"/>
                        </a:gs>
                        <a:gs pos="36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G:197 B:35</a:t>
                </a:r>
                <a:endParaRPr lang="en-US" sz="500">
                  <a:gradFill>
                    <a:gsLst>
                      <a:gs pos="4717">
                        <a:schemeClr val="tx1"/>
                      </a:gs>
                      <a:gs pos="36000">
                        <a:schemeClr val="tx1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8" name="Rectangle 17"/>
              <p:cNvSpPr/>
              <p:nvPr userDrawn="1"/>
            </p:nvSpPr>
            <p:spPr bwMode="auto">
              <a:xfrm>
                <a:off x="3419857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547">
                          <a:schemeClr val="tx1"/>
                        </a:gs>
                        <a:gs pos="28302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547">
                          <a:schemeClr val="tx1"/>
                        </a:gs>
                        <a:gs pos="28302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547">
                          <a:schemeClr val="tx1"/>
                        </a:gs>
                        <a:gs pos="28302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186 G:216 B:10</a:t>
                </a:r>
                <a:endParaRPr lang="en-US" sz="500">
                  <a:gradFill>
                    <a:gsLst>
                      <a:gs pos="7547">
                        <a:schemeClr val="tx1"/>
                      </a:gs>
                      <a:gs pos="28302">
                        <a:schemeClr val="tx1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9" name="Rectangle 18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6415">
                          <a:schemeClr val="bg1"/>
                        </a:gs>
                        <a:gs pos="52000">
                          <a:schemeClr val="bg1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Teal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6415">
                          <a:schemeClr val="bg1"/>
                        </a:gs>
                        <a:gs pos="52000">
                          <a:schemeClr val="bg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R:0</a:t>
                </a:r>
                <a:r>
                  <a:rPr lang="en-US" sz="500" baseline="0">
                    <a:gradFill>
                      <a:gsLst>
                        <a:gs pos="76415">
                          <a:schemeClr val="bg1"/>
                        </a:gs>
                        <a:gs pos="52000">
                          <a:schemeClr val="bg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G:130 B:114</a:t>
                </a:r>
                <a:endParaRPr lang="en-US" sz="500">
                  <a:gradFill>
                    <a:gsLst>
                      <a:gs pos="76415">
                        <a:schemeClr val="bg1"/>
                      </a:gs>
                      <a:gs pos="52000">
                        <a:schemeClr val="bg1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8" name="Group 7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11" name="Rectangle 10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>
                    <a:gradFill>
                      <a:gsLst>
                        <a:gs pos="16981">
                          <a:schemeClr val="tx1"/>
                        </a:gs>
                        <a:gs pos="48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Light Blue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>
                    <a:gradFill>
                      <a:gsLst>
                        <a:gs pos="16981">
                          <a:schemeClr val="tx1"/>
                        </a:gs>
                        <a:gs pos="48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12" name="Rectangle 11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004B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Teal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R:0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G:75 B:80</a:t>
                </a:r>
              </a:p>
            </p:txBody>
          </p:sp>
          <p:sp>
            <p:nvSpPr>
              <p:cNvPr id="13" name="Rectangle 12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2830">
                          <a:schemeClr val="bg2">
                            <a:lumMod val="10000"/>
                          </a:schemeClr>
                        </a:gs>
                        <a:gs pos="16981">
                          <a:schemeClr val="bg2">
                            <a:lumMod val="10000"/>
                          </a:schemeClr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830">
                          <a:schemeClr val="bg2">
                            <a:lumMod val="10000"/>
                          </a:schemeClr>
                        </a:gs>
                        <a:gs pos="16981">
                          <a:schemeClr val="bg2">
                            <a:lumMod val="10000"/>
                          </a:schemeClr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R:150</a:t>
                </a:r>
                <a:r>
                  <a:rPr lang="en-US" sz="500" baseline="0">
                    <a:gradFill>
                      <a:gsLst>
                        <a:gs pos="2830">
                          <a:schemeClr val="bg2">
                            <a:lumMod val="10000"/>
                          </a:schemeClr>
                        </a:gs>
                        <a:gs pos="16981">
                          <a:schemeClr val="bg2">
                            <a:lumMod val="10000"/>
                          </a:schemeClr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G:150 B:150</a:t>
                </a:r>
                <a:endParaRPr lang="en-US" sz="500">
                  <a:gradFill>
                    <a:gsLst>
                      <a:gs pos="2830">
                        <a:schemeClr val="bg2">
                          <a:lumMod val="10000"/>
                        </a:schemeClr>
                      </a:gs>
                      <a:gs pos="16981">
                        <a:schemeClr val="bg2">
                          <a:lumMod val="10000"/>
                        </a:schemeClr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9" name="TextBox 8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10" name="TextBox 9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B521CD24-D579-6250-9F9D-FD9139D8F71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50375" y="343643"/>
            <a:ext cx="3086100" cy="10922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58F9EF9-9A00-C7DD-6B3C-0760A62AD132}"/>
              </a:ext>
            </a:extLst>
          </p:cNvPr>
          <p:cNvSpPr/>
          <p:nvPr userDrawn="1"/>
        </p:nvSpPr>
        <p:spPr bwMode="auto">
          <a:xfrm>
            <a:off x="-3" y="0"/>
            <a:ext cx="12436477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49377A-F4E2-F2B6-1291-981F2844CB82}"/>
              </a:ext>
            </a:extLst>
          </p:cNvPr>
          <p:cNvSpPr/>
          <p:nvPr userDrawn="1"/>
        </p:nvSpPr>
        <p:spPr bwMode="auto">
          <a:xfrm>
            <a:off x="-3" y="6637474"/>
            <a:ext cx="12436478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223CEF-0055-62EC-2EA9-B762EC3CD697}"/>
              </a:ext>
            </a:extLst>
          </p:cNvPr>
          <p:cNvCxnSpPr/>
          <p:nvPr userDrawn="1"/>
        </p:nvCxnSpPr>
        <p:spPr>
          <a:xfrm>
            <a:off x="-4" y="385588"/>
            <a:ext cx="12436478" cy="0"/>
          </a:xfrm>
          <a:prstGeom prst="line">
            <a:avLst/>
          </a:prstGeom>
          <a:ln w="53975">
            <a:solidFill>
              <a:srgbClr val="F5912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10">
            <a:extLst>
              <a:ext uri="{FF2B5EF4-FFF2-40B4-BE49-F238E27FC236}">
                <a16:creationId xmlns:a16="http://schemas.microsoft.com/office/drawing/2014/main" id="{FDAC7605-1A2A-2BC3-3AC8-3BD446317472}"/>
              </a:ext>
            </a:extLst>
          </p:cNvPr>
          <p:cNvSpPr txBox="1"/>
          <p:nvPr userDrawn="1"/>
        </p:nvSpPr>
        <p:spPr>
          <a:xfrm>
            <a:off x="9752328" y="6715566"/>
            <a:ext cx="2684147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baseline="0" dirty="0">
                <a:solidFill>
                  <a:schemeClr val="bg1"/>
                </a:solidFill>
              </a:rPr>
              <a:t>@</a:t>
            </a:r>
            <a:r>
              <a:rPr spc="-65" baseline="0" dirty="0">
                <a:solidFill>
                  <a:schemeClr val="bg1"/>
                </a:solidFill>
              </a:rPr>
              <a:t> </a:t>
            </a:r>
            <a:r>
              <a:rPr spc="-50" baseline="0" dirty="0">
                <a:solidFill>
                  <a:schemeClr val="bg1"/>
                </a:solidFill>
              </a:rPr>
              <a:t>202</a:t>
            </a:r>
            <a:r>
              <a:rPr lang="en-US" spc="-50" baseline="0" dirty="0">
                <a:solidFill>
                  <a:schemeClr val="bg1"/>
                </a:solidFill>
              </a:rPr>
              <a:t>5</a:t>
            </a:r>
            <a:r>
              <a:rPr spc="-65" baseline="0" dirty="0">
                <a:solidFill>
                  <a:schemeClr val="bg1"/>
                </a:solidFill>
              </a:rPr>
              <a:t> </a:t>
            </a:r>
            <a:r>
              <a:rPr spc="60" baseline="0" dirty="0">
                <a:solidFill>
                  <a:schemeClr val="bg1"/>
                </a:solidFill>
              </a:rPr>
              <a:t>Dynamic</a:t>
            </a:r>
            <a:r>
              <a:rPr spc="-65" baseline="0" dirty="0">
                <a:solidFill>
                  <a:schemeClr val="bg1"/>
                </a:solidFill>
              </a:rPr>
              <a:t> </a:t>
            </a:r>
            <a:r>
              <a:rPr spc="40" baseline="0" dirty="0">
                <a:solidFill>
                  <a:schemeClr val="bg1"/>
                </a:solidFill>
              </a:rPr>
              <a:t>Communities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5" r:id="rId1"/>
    <p:sldLayoutId id="2147484314" r:id="rId2"/>
    <p:sldLayoutId id="2147484339" r:id="rId3"/>
    <p:sldLayoutId id="2147484295" r:id="rId4"/>
    <p:sldLayoutId id="2147484297" r:id="rId5"/>
    <p:sldLayoutId id="2147484264" r:id="rId6"/>
    <p:sldLayoutId id="2147484337" r:id="rId7"/>
    <p:sldLayoutId id="2147484341" r:id="rId8"/>
    <p:sldLayoutId id="2147484344" r:id="rId9"/>
    <p:sldLayoutId id="2147484365" r:id="rId10"/>
    <p:sldLayoutId id="2147484347" r:id="rId11"/>
    <p:sldLayoutId id="2147484366" r:id="rId12"/>
    <p:sldLayoutId id="2147484367" r:id="rId1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400" b="1" i="0" kern="1200" cap="none" spc="-102" baseline="0" dirty="0" smtClean="0">
          <a:ln w="3175">
            <a:noFill/>
          </a:ln>
          <a:solidFill>
            <a:srgbClr val="1E275C"/>
          </a:solidFill>
          <a:effectLst/>
          <a:latin typeface="Segoe" panose="020B0502040200020203" pitchFamily="34" charset="77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600" kern="1200" spc="0" baseline="0">
          <a:solidFill>
            <a:srgbClr val="000000"/>
          </a:solidFill>
          <a:latin typeface="+mn-lt"/>
          <a:ea typeface="+mn-ea"/>
          <a:cs typeface="Segoe UI" panose="020B0502040204020203" pitchFamily="34" charset="0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800" kern="1200" spc="0" baseline="0">
          <a:solidFill>
            <a:srgbClr val="000000"/>
          </a:soli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solidFill>
            <a:srgbClr val="000000"/>
          </a:soli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33" userDrawn="1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40" userDrawn="1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5CEBA-2515-2B2D-E729-A0429CFD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663" y="373063"/>
            <a:ext cx="10725150" cy="1350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E5176-9F35-35F4-9F58-8999CDAD2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663" y="1862138"/>
            <a:ext cx="10725150" cy="4437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DDD3F-B92D-F18C-30AE-AB40DA502B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5663" y="648335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419FB-D837-7647-AC90-84F19AB974C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22FAE-66D8-8757-6FC4-9872E71BC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9563" y="6483350"/>
            <a:ext cx="4197350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052C6-8BA9-0863-F91D-6A455ABCF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83638" y="648335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3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55" r:id="rId2"/>
    <p:sldLayoutId id="2147484356" r:id="rId3"/>
    <p:sldLayoutId id="2147484357" r:id="rId4"/>
    <p:sldLayoutId id="2147484358" r:id="rId5"/>
    <p:sldLayoutId id="2147484359" r:id="rId6"/>
    <p:sldLayoutId id="2147484360" r:id="rId7"/>
    <p:sldLayoutId id="2147484361" r:id="rId8"/>
    <p:sldLayoutId id="2147484362" r:id="rId9"/>
    <p:sldLayoutId id="2147484363" r:id="rId10"/>
    <p:sldLayoutId id="21474843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D9A7C-1210-A2E3-4936-753F4D448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663" y="373063"/>
            <a:ext cx="10725150" cy="1350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0E567-B43C-F191-A69E-49D27BDB9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663" y="1862138"/>
            <a:ext cx="10725150" cy="4437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4463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ynamics.fo/" TargetMode="External"/><Relationship Id="rId2" Type="http://schemas.openxmlformats.org/officeDocument/2006/relationships/hyperlink" Target="https://www.atomicax.co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hyperlink" Target="https://github.com/NathanClouseAX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hyperlink" Target="mailto:peter.ramer@rsmus.com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rsmus.com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vp.microsoft.com/en-US/MVP/profile/6c08dbff-03c6-ec11-a7b5-0022482d3c49" TargetMode="External"/><Relationship Id="rId5" Type="http://schemas.openxmlformats.org/officeDocument/2006/relationships/hyperlink" Target="https://www.linkedin.com/in/peter-ramer/" TargetMode="External"/><Relationship Id="rId4" Type="http://schemas.openxmlformats.org/officeDocument/2006/relationships/hyperlink" Target="http://dynamics365musings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dynamics365musings.com/d365-sales-order-total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7.jp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dynamics365musings.com/d365-development-learning-playlist/" TargetMode="Externa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learn.microsoft.com/en-us/dynamics365/fin-ops-core/dev-itpro/copilot/extend-copilot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omicax.com/blog-entry/batchretryable-bundled-batch-job-example" TargetMode="External"/><Relationship Id="rId2" Type="http://schemas.openxmlformats.org/officeDocument/2006/relationships/hyperlink" Target="https://www.atomicax.com/blog-entry/batchretryable-top-picking-batch-job-example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jpg"/><Relationship Id="rId5" Type="http://schemas.openxmlformats.org/officeDocument/2006/relationships/hyperlink" Target="https://www.atomicax.com/blog-entry/batchretryable-runbasebatch-class" TargetMode="External"/><Relationship Id="rId4" Type="http://schemas.openxmlformats.org/officeDocument/2006/relationships/hyperlink" Target="https://www.atomicax.com/blog-entry/batchretryable-individual-task-modeled-batch-job-example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4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52.jp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dynamics365musings.com/d365-table-browser/" TargetMode="Externa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hyperlink" Target="https://learn.microsoft.com/en-us/dynamics365/fin-ops-core/dev-itpro/sysadmin/archive-custom#finance-and-operations-table-names-in-live-history-and-dataverse-managed-data-lake-tables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7.jp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jpg"/><Relationship Id="rId5" Type="http://schemas.openxmlformats.org/officeDocument/2006/relationships/image" Target="../media/image62.png"/><Relationship Id="rId4" Type="http://schemas.openxmlformats.org/officeDocument/2006/relationships/image" Target="../media/image5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83.jp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8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hyperlink" Target="https://sangeethwiki.blogspot.com/2017/09/extensible-controls-in-dynamics-365-for.html" TargetMode="External"/><Relationship Id="rId3" Type="http://schemas.openxmlformats.org/officeDocument/2006/relationships/hyperlink" Target="https://docs.microsoft.com/en-us/dynamics365/fin-ops-core/dev-itpro/dev-ref/xpp-business-run-time-functions" TargetMode="External"/><Relationship Id="rId7" Type="http://schemas.openxmlformats.org/officeDocument/2006/relationships/hyperlink" Target="https://www.youtube.com/watch?v=QrIjTN6Vey4&amp;t=149s" TargetMode="External"/><Relationship Id="rId2" Type="http://schemas.openxmlformats.org/officeDocument/2006/relationships/hyperlink" Target="http://www.atomicax.com/article/d365fotools-and-vs2017-manhattan-projec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ynamics365musings.com/d365-sales-order-totals/" TargetMode="External"/><Relationship Id="rId5" Type="http://schemas.openxmlformats.org/officeDocument/2006/relationships/hyperlink" Target="https://jatomas.com/en/2020/05/02/dark-mode-visual-studio-x-code-editor/" TargetMode="External"/><Relationship Id="rId4" Type="http://schemas.openxmlformats.org/officeDocument/2006/relationships/hyperlink" Target="https://docs.microsoft.com/en-us/dynamics365/fin-ops-core/dev-itpro/dev-ref/xpp-string-run-time-functions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rudAX/TRUDUtilsD365" TargetMode="External"/><Relationship Id="rId2" Type="http://schemas.openxmlformats.org/officeDocument/2006/relationships/hyperlink" Target="https://ariste.info/en/2021/06/socratex-application-check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ynamics365musings.com/x-development-boost-your-development-skills-with-proven-tips-and-tricks/" TargetMode="External"/><Relationship Id="rId5" Type="http://schemas.openxmlformats.org/officeDocument/2006/relationships/hyperlink" Target="https://learn.microsoft.com/en-us/power-platform/developer/unified-experience/finance-operations-dev-overview" TargetMode="External"/><Relationship Id="rId4" Type="http://schemas.openxmlformats.org/officeDocument/2006/relationships/hyperlink" Target="https://devblogs.microsoft.com/powerplatform/the-unified-development-environment-is-ga/" TargetMode="Externa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ynamics.fo/" TargetMode="External"/><Relationship Id="rId2" Type="http://schemas.openxmlformats.org/officeDocument/2006/relationships/hyperlink" Target="http://www.atomicax.com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linkedin.com/in/peter-ramer-0500999/" TargetMode="External"/><Relationship Id="rId5" Type="http://schemas.openxmlformats.org/officeDocument/2006/relationships/hyperlink" Target="http://www.dynamics365musings.com/" TargetMode="External"/><Relationship Id="rId4" Type="http://schemas.openxmlformats.org/officeDocument/2006/relationships/hyperlink" Target="https://www.linkedin.com/in/nathanclouseax/" TargetMode="Externa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nt, graphics, graphic design, text&#10;&#10;Description automatically generated">
            <a:extLst>
              <a:ext uri="{FF2B5EF4-FFF2-40B4-BE49-F238E27FC236}">
                <a16:creationId xmlns:a16="http://schemas.microsoft.com/office/drawing/2014/main" id="{DA7104A4-1876-F218-924C-1DBE7991C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936" y="854072"/>
            <a:ext cx="7658101" cy="17730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1F283B-2ED3-34AA-C2A9-C297486AB75C}"/>
              </a:ext>
            </a:extLst>
          </p:cNvPr>
          <p:cNvSpPr txBox="1"/>
          <p:nvPr/>
        </p:nvSpPr>
        <p:spPr>
          <a:xfrm>
            <a:off x="46037" y="5652619"/>
            <a:ext cx="6172200" cy="108183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1B4499"/>
                </a:solidFill>
                <a:latin typeface="Poppins SemiBold" pitchFamily="2" charset="77"/>
                <a:ea typeface="Helvetica Neue Condensed Black" panose="02000503000000020004" pitchFamily="2" charset="0"/>
                <a:cs typeface="Poppins SemiBold" pitchFamily="2" charset="77"/>
              </a:rPr>
              <a:t>Orlando, FL </a:t>
            </a:r>
            <a:br>
              <a:rPr lang="en-US" sz="2800" b="1" dirty="0">
                <a:solidFill>
                  <a:srgbClr val="1B4499"/>
                </a:solidFill>
                <a:latin typeface="Poppins SemiBold" pitchFamily="2" charset="77"/>
                <a:ea typeface="Helvetica Neue Condensed Black" panose="02000503000000020004" pitchFamily="2" charset="0"/>
                <a:cs typeface="Poppins SemiBold" pitchFamily="2" charset="77"/>
              </a:rPr>
            </a:br>
            <a:r>
              <a:rPr lang="en-US" sz="2800" b="1" dirty="0">
                <a:solidFill>
                  <a:srgbClr val="1B4499"/>
                </a:solidFill>
                <a:latin typeface="Poppins SemiBold" pitchFamily="2" charset="77"/>
                <a:ea typeface="Helvetica Neue Condensed Black" panose="02000503000000020004" pitchFamily="2" charset="0"/>
                <a:cs typeface="Poppins SemiBold" pitchFamily="2" charset="77"/>
              </a:rPr>
              <a:t>October 19-23,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28B35-846E-E9DF-A6FD-4248B8456C2C}"/>
              </a:ext>
            </a:extLst>
          </p:cNvPr>
          <p:cNvSpPr txBox="1"/>
          <p:nvPr/>
        </p:nvSpPr>
        <p:spPr>
          <a:xfrm>
            <a:off x="3397893" y="2645229"/>
            <a:ext cx="7565281" cy="1348061"/>
          </a:xfrm>
          <a:prstGeom prst="rect">
            <a:avLst/>
          </a:prstGeom>
          <a:noFill/>
        </p:spPr>
        <p:txBody>
          <a:bodyPr wrap="square" lIns="182880" tIns="146304" rIns="182880" bIns="146304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800" dirty="0">
                <a:solidFill>
                  <a:srgbClr val="1B4499"/>
                </a:solidFill>
                <a:latin typeface="segoe ui black"/>
                <a:ea typeface="segoe ui black"/>
                <a:cs typeface="Poppins SemiBold"/>
              </a:rPr>
              <a:t>FINANCE &amp;</a:t>
            </a:r>
            <a:br>
              <a:rPr lang="en-US" sz="3800" dirty="0">
                <a:solidFill>
                  <a:srgbClr val="1B4499"/>
                </a:solidFill>
                <a:latin typeface="segoe ui black"/>
                <a:ea typeface="segoe ui black"/>
                <a:cs typeface="Poppins SemiBold"/>
              </a:rPr>
            </a:br>
            <a:r>
              <a:rPr lang="en-US" sz="3800" dirty="0">
                <a:solidFill>
                  <a:srgbClr val="1B4499"/>
                </a:solidFill>
                <a:latin typeface="segoe ui black"/>
                <a:ea typeface="segoe ui black"/>
                <a:cs typeface="Poppins SemiBold"/>
              </a:rPr>
              <a:t>SUPPLY CHAIN/F&amp;O</a:t>
            </a:r>
          </a:p>
        </p:txBody>
      </p:sp>
      <p:pic>
        <p:nvPicPr>
          <p:cNvPr id="13" name="Picture 12" descr="A blue and white hexagon with text and palm trees&#10;&#10;Description automatically generated">
            <a:extLst>
              <a:ext uri="{FF2B5EF4-FFF2-40B4-BE49-F238E27FC236}">
                <a16:creationId xmlns:a16="http://schemas.microsoft.com/office/drawing/2014/main" id="{ACEDB42A-C09D-ABA5-F585-DB6EB3E56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7630" y="3465086"/>
            <a:ext cx="2998731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6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9AF1B0-4DAB-4458-0669-0DCD524B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1935162"/>
            <a:ext cx="9070254" cy="2807954"/>
          </a:xfrm>
          <a:ln>
            <a:noFill/>
          </a:ln>
        </p:spPr>
        <p:txBody>
          <a:bodyPr/>
          <a:lstStyle>
            <a:lvl1pPr>
              <a:defRPr sz="4400"/>
            </a:lvl1pPr>
          </a:lstStyle>
          <a:p>
            <a:r>
              <a:rPr lang="en-US" b="1" dirty="0">
                <a:solidFill>
                  <a:srgbClr val="1E275C"/>
                </a:solidFill>
              </a:rPr>
              <a:t>Mastering X++ Development: Expert Tips, Tools, and Techniques.</a:t>
            </a:r>
            <a:br>
              <a:rPr lang="en-US" b="1" dirty="0">
                <a:solidFill>
                  <a:srgbClr val="1E275C"/>
                </a:solidFill>
              </a:rPr>
            </a:br>
            <a:br>
              <a:rPr lang="en-US" b="1" dirty="0">
                <a:solidFill>
                  <a:srgbClr val="1E275C"/>
                </a:solidFill>
              </a:rPr>
            </a:br>
            <a:r>
              <a:rPr lang="en-US" sz="3600" b="1" dirty="0">
                <a:solidFill>
                  <a:srgbClr val="1E275C"/>
                </a:solidFill>
              </a:rPr>
              <a:t>60 tips in 60 minutes</a:t>
            </a:r>
            <a:endParaRPr lang="en-US" b="1" dirty="0">
              <a:solidFill>
                <a:srgbClr val="1E27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0571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E98189-BD51-46A0-336E-294655BF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677" y="244405"/>
            <a:ext cx="4323272" cy="712249"/>
          </a:xfrm>
        </p:spPr>
        <p:txBody>
          <a:bodyPr/>
          <a:lstStyle/>
          <a:p>
            <a:r>
              <a:rPr lang="en-US" dirty="0"/>
              <a:t>Nathan Clouse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4457C9-F4B5-913D-D7A6-E76D5F345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3677" y="1038245"/>
            <a:ext cx="5504560" cy="4961339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Sr. Director, D365 Solutions</a:t>
            </a:r>
          </a:p>
          <a:p>
            <a:pPr marL="0" indent="0">
              <a:buNone/>
            </a:pPr>
            <a:r>
              <a:rPr lang="en-US" sz="1800" dirty="0" err="1"/>
              <a:t>WineShipping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 rtl="0" fontAlgn="base">
              <a:spcBef>
                <a:spcPts val="1224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Email: </a:t>
            </a:r>
            <a:r>
              <a:rPr lang="en-US" sz="1200" dirty="0">
                <a:solidFill>
                  <a:srgbClr val="3F454F"/>
                </a:solidFill>
              </a:rPr>
              <a:t>nathan.clouse@gmail.com</a:t>
            </a:r>
            <a:endParaRPr lang="en-US" sz="1200" b="0" i="0" u="none" strike="noStrike" dirty="0">
              <a:solidFill>
                <a:srgbClr val="3F454F"/>
              </a:solidFill>
              <a:effectLst/>
            </a:endParaRPr>
          </a:p>
          <a:p>
            <a:pPr marL="0" indent="0" rtl="0" fontAlgn="base">
              <a:spcBef>
                <a:spcPts val="1224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Blog #1: </a:t>
            </a:r>
            <a:r>
              <a:rPr lang="en-US" sz="1200" b="0" i="0" u="none" strike="noStrike" dirty="0">
                <a:solidFill>
                  <a:srgbClr val="3F454F"/>
                </a:solidFill>
                <a:effectLst/>
                <a:hlinkClick r:id="rId2"/>
              </a:rPr>
              <a:t>https://www.atomicax.com</a:t>
            </a:r>
            <a:endParaRPr lang="en-US" sz="1200" b="0" i="0" u="none" strike="noStrike" dirty="0">
              <a:solidFill>
                <a:srgbClr val="3F454F"/>
              </a:solidFill>
              <a:effectLst/>
            </a:endParaRPr>
          </a:p>
          <a:p>
            <a:pPr marL="0" indent="0" rtl="0" fontAlgn="base">
              <a:spcBef>
                <a:spcPts val="1224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Blog #2: </a:t>
            </a:r>
            <a:r>
              <a:rPr lang="en-US" sz="1200" b="0" i="0" u="none" strike="noStrike" dirty="0">
                <a:solidFill>
                  <a:srgbClr val="3F454F"/>
                </a:solidFill>
                <a:effectLst/>
                <a:hlinkClick r:id="rId3"/>
              </a:rPr>
              <a:t>https://www.dynamics.fo</a:t>
            </a:r>
            <a:endParaRPr lang="en-US" sz="1200" b="0" i="0" u="none" strike="noStrike" dirty="0">
              <a:solidFill>
                <a:srgbClr val="3F454F"/>
              </a:solidFill>
              <a:effectLst/>
            </a:endParaRPr>
          </a:p>
          <a:p>
            <a:pPr marL="0" indent="0" rtl="0" fontAlgn="base">
              <a:spcBef>
                <a:spcPts val="1224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GitHub: </a:t>
            </a:r>
            <a:r>
              <a:rPr lang="en-US" sz="1200" b="0" i="0" u="none" strike="noStrike" dirty="0">
                <a:solidFill>
                  <a:srgbClr val="3F454F"/>
                </a:solidFill>
                <a:effectLst/>
                <a:hlinkClick r:id="rId4"/>
              </a:rPr>
              <a:t>https://github.com/NathanClouseAX</a:t>
            </a:r>
            <a:endParaRPr lang="en-US" sz="1200" b="0" i="0" u="none" strike="noStrike" dirty="0">
              <a:solidFill>
                <a:srgbClr val="3F454F"/>
              </a:solidFill>
              <a:effectLst/>
            </a:endParaRPr>
          </a:p>
          <a:p>
            <a:pPr marL="0" indent="0" rtl="0" fontAlgn="base">
              <a:spcBef>
                <a:spcPts val="1224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@NathanClouseAX on most platforms</a:t>
            </a:r>
          </a:p>
          <a:p>
            <a:pPr marL="0" indent="0">
              <a:buNone/>
            </a:pPr>
            <a:endParaRPr lang="en-US" sz="1800" dirty="0"/>
          </a:p>
          <a:p>
            <a:pPr marL="0" indent="0" rtl="0">
              <a:spcBef>
                <a:spcPts val="1224"/>
              </a:spcBef>
              <a:spcAft>
                <a:spcPts val="0"/>
              </a:spcAft>
              <a:buNone/>
            </a:pPr>
            <a:r>
              <a:rPr lang="en-US" sz="1400" b="0" i="0" u="none" strike="noStrike" dirty="0">
                <a:solidFill>
                  <a:srgbClr val="3F454F"/>
                </a:solidFill>
                <a:effectLst/>
              </a:rPr>
              <a:t>Background:</a:t>
            </a:r>
            <a:endParaRPr lang="en-US" sz="1400" b="0" dirty="0">
              <a:effectLst/>
            </a:endParaRPr>
          </a:p>
          <a:p>
            <a:pPr rtl="0" fontAlgn="base">
              <a:spcBef>
                <a:spcPts val="1224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3F454F"/>
                </a:solidFill>
                <a:effectLst/>
              </a:rPr>
              <a:t>Awarded Microsoft MVP in Business Applications </a:t>
            </a:r>
            <a:r>
              <a:rPr lang="en-US" sz="1400" dirty="0">
                <a:solidFill>
                  <a:srgbClr val="3F454F"/>
                </a:solidFill>
              </a:rPr>
              <a:t>since 2019</a:t>
            </a:r>
            <a:endParaRPr lang="en-US" sz="1400" b="0" i="0" u="none" strike="noStrike" dirty="0">
              <a:solidFill>
                <a:srgbClr val="3F454F"/>
              </a:solidFill>
              <a:effectLst/>
            </a:endParaRPr>
          </a:p>
          <a:p>
            <a:pPr rtl="0" fontAlgn="base">
              <a:spcBef>
                <a:spcPts val="1224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3F454F"/>
                </a:solidFill>
                <a:effectLst/>
              </a:rPr>
              <a:t>Been working with AX since 2009</a:t>
            </a:r>
          </a:p>
          <a:p>
            <a:pPr rtl="0" fontAlgn="base">
              <a:spcBef>
                <a:spcPts val="1224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3F454F"/>
                </a:solidFill>
                <a:effectLst/>
              </a:rPr>
              <a:t>Been working with D365FO since 2017</a:t>
            </a:r>
          </a:p>
          <a:p>
            <a:pPr rtl="0" fontAlgn="base">
              <a:spcBef>
                <a:spcPts val="1224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3F454F"/>
                </a:solidFill>
                <a:effectLst/>
              </a:rPr>
              <a:t>Have spoken at Summit, Focus, and local chapters around various  AX/D365FO technical topics plus other groups events</a:t>
            </a:r>
            <a:endParaRPr lang="en-US" sz="1800" dirty="0"/>
          </a:p>
        </p:txBody>
      </p:sp>
      <p:pic>
        <p:nvPicPr>
          <p:cNvPr id="2" name="Picture 10" descr="A blue and white rectangular sign with white text&#10;&#10;Description automatically generated">
            <a:extLst>
              <a:ext uri="{FF2B5EF4-FFF2-40B4-BE49-F238E27FC236}">
                <a16:creationId xmlns:a16="http://schemas.microsoft.com/office/drawing/2014/main" id="{DBEDCCD6-22FF-A8FF-B8B8-95D0B1CF3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6898" y="3738325"/>
            <a:ext cx="1190562" cy="188274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DF30686-8998-C8F0-4F78-40FF1B753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948" y="223479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3937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782D6-FA84-7D94-CA2F-E308FB92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706023-4814-F2E6-1499-0B0ADD07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Peter Ramer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00ED4E-068C-DCC5-4B9F-960BE60E3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668462"/>
            <a:ext cx="5246933" cy="4190999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Director of Managed Application Services</a:t>
            </a:r>
          </a:p>
          <a:p>
            <a:pPr marL="0" indent="0">
              <a:buNone/>
            </a:pPr>
            <a:r>
              <a:rPr lang="en-US" sz="1800" dirty="0">
                <a:hlinkClick r:id="rId2"/>
              </a:rPr>
              <a:t>RSM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 rtl="0" fontAlgn="base">
              <a:spcBef>
                <a:spcPts val="1224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Email: </a:t>
            </a:r>
            <a:r>
              <a:rPr lang="en-US" sz="1200" b="0" i="0" u="none" strike="noStrike" dirty="0">
                <a:solidFill>
                  <a:srgbClr val="002060"/>
                </a:solidFill>
                <a:effectLst/>
                <a:hlinkClick r:id="rId3"/>
              </a:rPr>
              <a:t>peter.ramer@rsmus.com</a:t>
            </a:r>
            <a:r>
              <a:rPr lang="en-US" sz="1200" b="0" i="0" u="none" strike="noStrike" dirty="0">
                <a:solidFill>
                  <a:srgbClr val="002060"/>
                </a:solidFill>
                <a:effectLst/>
              </a:rPr>
              <a:t> </a:t>
            </a:r>
          </a:p>
          <a:p>
            <a:pPr marL="0" indent="0" rtl="0" fontAlgn="base">
              <a:spcBef>
                <a:spcPts val="1224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Blog: </a:t>
            </a:r>
            <a:r>
              <a:rPr lang="en-US" sz="1200" b="0" i="0" u="sng" strike="noStrike" dirty="0">
                <a:solidFill>
                  <a:srgbClr val="002060"/>
                </a:solidFill>
                <a:effectLst/>
                <a:hlinkClick r:id="rId4"/>
              </a:rPr>
              <a:t>http://dynamics365musings.com/</a:t>
            </a:r>
            <a:endParaRPr lang="en-US" sz="1200" b="0" i="0" u="sng" strike="noStrike" dirty="0">
              <a:solidFill>
                <a:srgbClr val="002060"/>
              </a:solidFill>
              <a:effectLst/>
            </a:endParaRPr>
          </a:p>
          <a:p>
            <a:pPr marL="0" indent="0" rtl="0" fontAlgn="base">
              <a:spcBef>
                <a:spcPts val="1224"/>
              </a:spcBef>
              <a:spcAft>
                <a:spcPts val="0"/>
              </a:spcAft>
              <a:buNone/>
            </a:pPr>
            <a:r>
              <a:rPr lang="en-US" sz="1200" b="0" i="0" u="sng" strike="noStrike" dirty="0">
                <a:solidFill>
                  <a:srgbClr val="0095C8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en-US" sz="1200" dirty="0">
                <a:solidFill>
                  <a:srgbClr val="3F454F"/>
                </a:solidFill>
              </a:rPr>
              <a:t> | </a:t>
            </a:r>
            <a:r>
              <a:rPr lang="en-US" sz="1200" b="0" i="0" u="sng" strike="noStrike" dirty="0">
                <a:solidFill>
                  <a:srgbClr val="002060"/>
                </a:solidFill>
                <a:effectLst/>
                <a:hlinkClick r:id="rId6"/>
              </a:rPr>
              <a:t>Microsoft MVP Profile</a:t>
            </a:r>
            <a:endParaRPr lang="en-US" sz="1200" b="0" i="0" u="none" strike="noStrike" dirty="0">
              <a:solidFill>
                <a:srgbClr val="3F454F"/>
              </a:solidFill>
              <a:effectLst/>
            </a:endParaRPr>
          </a:p>
          <a:p>
            <a:pPr marL="0" indent="0" rtl="0">
              <a:spcBef>
                <a:spcPts val="1224"/>
              </a:spcBef>
              <a:spcAft>
                <a:spcPts val="0"/>
              </a:spcAft>
              <a:buNone/>
            </a:pPr>
            <a:endParaRPr lang="en-US" sz="1200" b="0" i="0" u="none" strike="noStrike" dirty="0">
              <a:solidFill>
                <a:srgbClr val="3F454F"/>
              </a:solidFill>
              <a:effectLst/>
            </a:endParaRPr>
          </a:p>
          <a:p>
            <a:pPr marL="0" indent="0" rtl="0">
              <a:spcBef>
                <a:spcPts val="1224"/>
              </a:spcBef>
              <a:spcAft>
                <a:spcPts val="0"/>
              </a:spcAft>
              <a:buNone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Background:</a:t>
            </a:r>
            <a:endParaRPr lang="en-US" sz="1200" b="0" dirty="0">
              <a:effectLst/>
            </a:endParaRPr>
          </a:p>
          <a:p>
            <a:pPr rtl="0" fontAlgn="base">
              <a:spcBef>
                <a:spcPts val="1224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Awarded Microsoft MVP in Business Applications </a:t>
            </a:r>
            <a:r>
              <a:rPr lang="en-US" sz="1200" dirty="0">
                <a:solidFill>
                  <a:srgbClr val="3F454F"/>
                </a:solidFill>
              </a:rPr>
              <a:t>since 2022</a:t>
            </a:r>
            <a:endParaRPr lang="en-US" sz="1200" b="0" i="0" u="none" strike="noStrike" dirty="0">
              <a:solidFill>
                <a:srgbClr val="3F454F"/>
              </a:solidFill>
              <a:effectLst/>
            </a:endParaRPr>
          </a:p>
          <a:p>
            <a:pPr rtl="0" fontAlgn="base">
              <a:spcBef>
                <a:spcPts val="1224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Been working with AX since 2006</a:t>
            </a:r>
          </a:p>
          <a:p>
            <a:pPr rtl="0" fontAlgn="base">
              <a:spcBef>
                <a:spcPts val="1224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Have written code that was then purchased and included into the standard F&amp;O product.</a:t>
            </a:r>
          </a:p>
          <a:p>
            <a:pPr rtl="0" fontAlgn="base">
              <a:spcBef>
                <a:spcPts val="1224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3F454F"/>
                </a:solidFill>
                <a:effectLst/>
              </a:rPr>
              <a:t>Have a </a:t>
            </a:r>
            <a:r>
              <a:rPr lang="en-US" sz="1200" dirty="0">
                <a:solidFill>
                  <a:srgbClr val="3F454F"/>
                </a:solidFill>
              </a:rPr>
              <a:t>blog and YouTube channel that contains lots of technical tutorials.</a:t>
            </a:r>
            <a:endParaRPr lang="en-US" sz="1200" b="0" i="0" u="none" strike="noStrike" dirty="0">
              <a:solidFill>
                <a:srgbClr val="3F454F"/>
              </a:solidFill>
              <a:effectLst/>
            </a:endParaRP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11" name="Picture 10" descr="A blue and white rectangular sign with white text&#10;&#10;Description automatically generated">
            <a:extLst>
              <a:ext uri="{FF2B5EF4-FFF2-40B4-BE49-F238E27FC236}">
                <a16:creationId xmlns:a16="http://schemas.microsoft.com/office/drawing/2014/main" id="{638B16F3-E008-202A-B877-369252FD78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6898" y="3738325"/>
            <a:ext cx="1190562" cy="1882749"/>
          </a:xfrm>
          <a:prstGeom prst="rect">
            <a:avLst/>
          </a:prstGeom>
        </p:spPr>
      </p:pic>
      <p:pic>
        <p:nvPicPr>
          <p:cNvPr id="3" name="Picture 2" descr="A person in a suit smiling&#10;&#10;Description automatically generated">
            <a:extLst>
              <a:ext uri="{FF2B5EF4-FFF2-40B4-BE49-F238E27FC236}">
                <a16:creationId xmlns:a16="http://schemas.microsoft.com/office/drawing/2014/main" id="{50F77593-6654-AD4F-8581-2F2B4AD87F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2877" y="1226781"/>
            <a:ext cx="3763077" cy="405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90152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CE6F4F-34A7-9B1E-CBDE-E2584E87A2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4041" y="1672535"/>
            <a:ext cx="7844496" cy="4632253"/>
          </a:xfrm>
        </p:spPr>
        <p:txBody>
          <a:bodyPr vert="horz" wrap="square" lIns="146304" tIns="91440" rIns="146304" bIns="91440" rtlCol="0" anchor="t">
            <a:noAutofit/>
          </a:bodyPr>
          <a:lstStyle/>
          <a:p>
            <a:pPr marL="290830" indent="-290830"/>
            <a:r>
              <a:rPr lang="en-US" sz="2400" dirty="0">
                <a:solidFill>
                  <a:srgbClr val="3F454F"/>
                </a:solidFill>
                <a:latin typeface="Poppins"/>
                <a:ea typeface="Verdana"/>
                <a:cs typeface="Poppins"/>
              </a:rPr>
              <a:t>Coding Tips</a:t>
            </a:r>
            <a:endParaRPr lang="en-US" dirty="0">
              <a:ea typeface="Verdana"/>
            </a:endParaRPr>
          </a:p>
          <a:p>
            <a:pPr marL="290830" indent="-290830"/>
            <a:r>
              <a:rPr lang="en-US" sz="2400" dirty="0">
                <a:solidFill>
                  <a:srgbClr val="3F454F"/>
                </a:solidFill>
                <a:latin typeface="Poppins"/>
                <a:ea typeface="Verdana"/>
                <a:cs typeface="Poppins"/>
              </a:rPr>
              <a:t>D365FO.Tools </a:t>
            </a:r>
            <a:endParaRPr lang="en-US" dirty="0">
              <a:ea typeface="Verdana"/>
            </a:endParaRPr>
          </a:p>
          <a:p>
            <a:pPr marL="290830" indent="-290830"/>
            <a:r>
              <a:rPr lang="en-US" sz="2400" dirty="0">
                <a:solidFill>
                  <a:srgbClr val="3F454F"/>
                </a:solidFill>
                <a:latin typeface="Poppins"/>
                <a:ea typeface="Verdana"/>
                <a:cs typeface="Poppins"/>
              </a:rPr>
              <a:t>Quality of Life Hacks</a:t>
            </a:r>
            <a:endParaRPr lang="en-US" dirty="0">
              <a:ea typeface="Verdana"/>
            </a:endParaRPr>
          </a:p>
          <a:p>
            <a:pPr marL="290830" indent="-290830"/>
            <a:r>
              <a:rPr lang="en-US" sz="2400" dirty="0">
                <a:solidFill>
                  <a:srgbClr val="3F454F"/>
                </a:solidFill>
                <a:latin typeface="Poppins"/>
                <a:ea typeface="Verdana"/>
                <a:cs typeface="Poppins"/>
              </a:rPr>
              <a:t>Debugging</a:t>
            </a:r>
            <a:endParaRPr lang="en-US" dirty="0">
              <a:ea typeface="Verdana"/>
            </a:endParaRPr>
          </a:p>
          <a:p>
            <a:pPr marL="290830" indent="-290830"/>
            <a:r>
              <a:rPr lang="en-US" sz="2400" dirty="0">
                <a:solidFill>
                  <a:srgbClr val="3F454F"/>
                </a:solidFill>
                <a:latin typeface="Poppins"/>
                <a:ea typeface="Verdana"/>
                <a:cs typeface="Poppins"/>
              </a:rPr>
              <a:t>Visual Studio Hidden</a:t>
            </a:r>
            <a:endParaRPr lang="en-US" dirty="0">
              <a:ea typeface="Verdana"/>
            </a:endParaRPr>
          </a:p>
          <a:p>
            <a:pPr marL="290830" indent="-290830"/>
            <a:endParaRPr lang="en-US" sz="1800" dirty="0"/>
          </a:p>
        </p:txBody>
      </p:sp>
      <p:pic>
        <p:nvPicPr>
          <p:cNvPr id="1026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29B8AE04-B40F-B0CE-408B-B925F3076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694947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27614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9AF1B0-4DAB-4458-0669-0DCD524B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1935162"/>
            <a:ext cx="6077634" cy="1351952"/>
          </a:xfrm>
          <a:ln>
            <a:noFill/>
          </a:ln>
        </p:spPr>
        <p:txBody>
          <a:bodyPr/>
          <a:lstStyle>
            <a:lvl1pPr>
              <a:defRPr sz="4400"/>
            </a:lvl1pPr>
          </a:lstStyle>
          <a:p>
            <a:r>
              <a:rPr lang="en-US" b="1">
                <a:solidFill>
                  <a:srgbClr val="1E275C"/>
                </a:solidFill>
              </a:rPr>
              <a:t>Coding Tips</a:t>
            </a:r>
          </a:p>
        </p:txBody>
      </p:sp>
      <p:pic>
        <p:nvPicPr>
          <p:cNvPr id="2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73B85D9D-57A3-0D63-FC8E-ED3E56A4F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694947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44612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91" y="0"/>
            <a:ext cx="9717828" cy="1164444"/>
          </a:xfrm>
        </p:spPr>
        <p:txBody>
          <a:bodyPr wrap="square" anchor="ctr">
            <a:normAutofit/>
          </a:bodyPr>
          <a:lstStyle/>
          <a:p>
            <a:r>
              <a:rPr lang="en-US"/>
              <a:t>Use Set Based Operations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7535C987-72A3-13E3-7DC4-994CF34ADF1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259218326"/>
              </p:ext>
            </p:extLst>
          </p:nvPr>
        </p:nvGraphicFramePr>
        <p:xfrm>
          <a:off x="155456" y="1332521"/>
          <a:ext cx="12125563" cy="5129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 descr="A cartoon character with a mustache and red coat&#10;&#10;AI-generated content may be incorrect.">
            <a:extLst>
              <a:ext uri="{FF2B5EF4-FFF2-40B4-BE49-F238E27FC236}">
                <a16:creationId xmlns:a16="http://schemas.microsoft.com/office/drawing/2014/main" id="{800F43B8-2C1F-F171-3795-6BD9B58127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5499" y="3669776"/>
            <a:ext cx="2681654" cy="268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8198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3CC2D5-5057-F319-F665-AB4ED95E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"/>
                <a:cs typeface="Poppins"/>
              </a:rPr>
              <a:t>Set Based Operations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1A764F-15C4-38FE-9049-93DCE084B6CA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916280"/>
            <a:ext cx="12125325" cy="396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4F2ABE15-651C-852E-6051-13639AA2B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694947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15255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A98A7C-CB29-DD65-A714-6F811ABEF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specifying columns matter? (and also </a:t>
            </a:r>
            <a:r>
              <a:rPr lang="en-US" dirty="0" err="1"/>
              <a:t>FirstOnly</a:t>
            </a:r>
            <a:r>
              <a:rPr lang="en-US" dirty="0"/>
              <a:t>)</a:t>
            </a:r>
          </a:p>
        </p:txBody>
      </p:sp>
      <p:pic>
        <p:nvPicPr>
          <p:cNvPr id="4" name="Content Placeholder 4" descr="A graph with blue bars&#10;&#10;AI-generated content may be incorrect.">
            <a:extLst>
              <a:ext uri="{FF2B5EF4-FFF2-40B4-BE49-F238E27FC236}">
                <a16:creationId xmlns:a16="http://schemas.microsoft.com/office/drawing/2014/main" id="{A07FBAEF-5DF3-8086-09A6-1677517E115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115403" y="1488413"/>
            <a:ext cx="8052179" cy="4837152"/>
          </a:xfrm>
          <a:prstGeom prst="rect">
            <a:avLst/>
          </a:prstGeom>
        </p:spPr>
      </p:pic>
      <p:pic>
        <p:nvPicPr>
          <p:cNvPr id="2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BE98C38B-8051-9B30-CBE6-9EBEEECF4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694947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08324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FieldNum Ordinals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A84BAE8-2753-2928-DCDC-03E70BB8C73E}"/>
              </a:ext>
            </a:extLst>
          </p:cNvPr>
          <p:cNvSpPr txBox="1">
            <a:spLocks/>
          </p:cNvSpPr>
          <p:nvPr/>
        </p:nvSpPr>
        <p:spPr>
          <a:xfrm>
            <a:off x="466368" y="1118812"/>
            <a:ext cx="11503739" cy="5241318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Standard: CustTable.AccountNum</a:t>
            </a:r>
          </a:p>
          <a:p>
            <a:r>
              <a:rPr lang="en-US"/>
              <a:t>Using Ordinals: CustTable.(fieldNum(CustTable,AccountNum))</a:t>
            </a:r>
          </a:p>
        </p:txBody>
      </p:sp>
      <p:pic>
        <p:nvPicPr>
          <p:cNvPr id="6" name="Picture 5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10EABBEE-6BDD-DB6D-1D4A-4414D8748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87" y="2480201"/>
            <a:ext cx="7043081" cy="2855304"/>
          </a:xfrm>
          <a:prstGeom prst="rect">
            <a:avLst/>
          </a:prstGeom>
        </p:spPr>
      </p:pic>
      <p:pic>
        <p:nvPicPr>
          <p:cNvPr id="7" name="Picture 6" descr="Cartoon character in a round object&#10;&#10;AI-generated content may be incorrect.">
            <a:extLst>
              <a:ext uri="{FF2B5EF4-FFF2-40B4-BE49-F238E27FC236}">
                <a16:creationId xmlns:a16="http://schemas.microsoft.com/office/drawing/2014/main" id="{AF613ACD-120D-E35A-E4A7-68A093AB6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877" y="4005359"/>
            <a:ext cx="2503807" cy="235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8479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wrap="square" anchor="ctr">
            <a:normAutofit/>
          </a:bodyPr>
          <a:lstStyle/>
          <a:p>
            <a:r>
              <a:rPr lang="en-US" sz="3700"/>
              <a:t>Add Financial Dimension for OData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EA2C34C-C874-4A94-D8ED-19D61B3556AE}"/>
              </a:ext>
            </a:extLst>
          </p:cNvPr>
          <p:cNvSpPr txBox="1">
            <a:spLocks/>
          </p:cNvSpPr>
          <p:nvPr/>
        </p:nvSpPr>
        <p:spPr>
          <a:xfrm>
            <a:off x="6313328" y="1668462"/>
            <a:ext cx="5390992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rm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kern="1200" spc="0" baseline="0">
                <a:solidFill>
                  <a:schemeClr val="bg1">
                    <a:lumMod val="50000"/>
                  </a:schemeClr>
                </a:solidFill>
              </a:rPr>
              <a:t>Dynamics 365 &gt; Addins &gt; Add financial dimensions for OData</a:t>
            </a:r>
          </a:p>
          <a:p>
            <a:endParaRPr lang="en-US" sz="3600" kern="1200" spc="0" baseline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43DCD-07BE-0F62-1B82-854FA9D004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52" b="-5"/>
          <a:stretch>
            <a:fillRect/>
          </a:stretch>
        </p:blipFill>
        <p:spPr>
          <a:xfrm>
            <a:off x="731836" y="1668462"/>
            <a:ext cx="5390992" cy="4190999"/>
          </a:xfrm>
          <a:prstGeom prst="rect">
            <a:avLst/>
          </a:prstGeom>
          <a:noFill/>
        </p:spPr>
      </p:pic>
      <p:pic>
        <p:nvPicPr>
          <p:cNvPr id="7" name="Picture 6" descr="A stuffed toy with a red shirt and glasses&#10;&#10;AI-generated content may be incorrect.">
            <a:extLst>
              <a:ext uri="{FF2B5EF4-FFF2-40B4-BE49-F238E27FC236}">
                <a16:creationId xmlns:a16="http://schemas.microsoft.com/office/drawing/2014/main" id="{0A95A6A8-0C22-0B0E-BA92-5AB42D8D5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518" y="4622242"/>
            <a:ext cx="2456771" cy="184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5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mment uncomment">
            <a:hlinkClick r:id="" action="ppaction://media"/>
            <a:extLst>
              <a:ext uri="{FF2B5EF4-FFF2-40B4-BE49-F238E27FC236}">
                <a16:creationId xmlns:a16="http://schemas.microsoft.com/office/drawing/2014/main" id="{93E58562-B9AA-3BF0-CCBE-D25AD896246F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843" y="1332521"/>
            <a:ext cx="9118788" cy="5129318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91" y="0"/>
            <a:ext cx="9717828" cy="1164444"/>
          </a:xfrm>
        </p:spPr>
        <p:txBody>
          <a:bodyPr wrap="square" anchor="ctr">
            <a:normAutofit/>
          </a:bodyPr>
          <a:lstStyle/>
          <a:p>
            <a:r>
              <a:rPr lang="en-US"/>
              <a:t>Comment Code</a:t>
            </a:r>
          </a:p>
        </p:txBody>
      </p:sp>
      <p:pic>
        <p:nvPicPr>
          <p:cNvPr id="6" name="Picture 5" descr="A cartoon character with a mustache and glasses&#10;&#10;AI-generated content may be incorrect.">
            <a:extLst>
              <a:ext uri="{FF2B5EF4-FFF2-40B4-BE49-F238E27FC236}">
                <a16:creationId xmlns:a16="http://schemas.microsoft.com/office/drawing/2014/main" id="{C76CC153-7CB2-D49C-2A4B-8B7FDE7BB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159" y="4612194"/>
            <a:ext cx="3119872" cy="176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0932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vert="horz" wrap="square" lIns="146304" tIns="91440" rIns="146304" bIns="91440" rtlCol="0" anchor="ctr">
            <a:normAutofit/>
          </a:bodyPr>
          <a:lstStyle/>
          <a:p>
            <a:r>
              <a:rPr lang="en-US" sz="3700" b="1" i="0" kern="1200" cap="none" spc="-102" baseline="0">
                <a:ln w="3175">
                  <a:noFill/>
                </a:ln>
                <a:effectLst/>
                <a:latin typeface="Segoe" panose="020B0502040200020203" pitchFamily="34" charset="77"/>
                <a:ea typeface="+mn-ea"/>
                <a:cs typeface="Segoe UI" pitchFamily="34" charset="0"/>
              </a:rPr>
              <a:t>Go To (Main Thing)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E7ABE1D-E334-E8CE-71CD-5352774B2268}"/>
              </a:ext>
            </a:extLst>
          </p:cNvPr>
          <p:cNvSpPr txBox="1">
            <a:spLocks/>
          </p:cNvSpPr>
          <p:nvPr/>
        </p:nvSpPr>
        <p:spPr>
          <a:xfrm>
            <a:off x="6218238" y="1118812"/>
            <a:ext cx="5614351" cy="5241318"/>
          </a:xfrm>
          <a:prstGeom prst="rect">
            <a:avLst/>
          </a:prstGeom>
        </p:spPr>
        <p:txBody>
          <a:bodyPr/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+mn-ea"/>
                <a:cs typeface="Poppins" pitchFamily="2" charset="77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+mn-ea"/>
                <a:cs typeface="Poppins" pitchFamily="2" charset="77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+mn-ea"/>
                <a:cs typeface="Poppins" pitchFamily="2" charset="77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7" name="Text Placeholder 7">
            <a:extLst>
              <a:ext uri="{FF2B5EF4-FFF2-40B4-BE49-F238E27FC236}">
                <a16:creationId xmlns:a16="http://schemas.microsoft.com/office/drawing/2014/main" id="{F5B8BF3F-46CC-5824-43B5-6C27F8C159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575970"/>
              </p:ext>
            </p:extLst>
          </p:nvPr>
        </p:nvGraphicFramePr>
        <p:xfrm>
          <a:off x="731836" y="1668462"/>
          <a:ext cx="10972485" cy="4190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cartoon character of a blue hedgehog&#10;&#10;AI-generated content may be incorrect.">
            <a:extLst>
              <a:ext uri="{FF2B5EF4-FFF2-40B4-BE49-F238E27FC236}">
                <a16:creationId xmlns:a16="http://schemas.microsoft.com/office/drawing/2014/main" id="{69050B6C-EF43-CB53-7073-505A953F76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104" y="5487091"/>
            <a:ext cx="1994371" cy="112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44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wrap="square" anchor="ctr">
            <a:normAutofit/>
          </a:bodyPr>
          <a:lstStyle/>
          <a:p>
            <a:r>
              <a:rPr lang="en-US" sz="3700"/>
              <a:t>Copy Event Handlers - Methods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02366B1-0BF0-DD95-441D-4F0DE45EBB4F}"/>
              </a:ext>
            </a:extLst>
          </p:cNvPr>
          <p:cNvSpPr txBox="1">
            <a:spLocks/>
          </p:cNvSpPr>
          <p:nvPr/>
        </p:nvSpPr>
        <p:spPr>
          <a:xfrm>
            <a:off x="6313328" y="1668462"/>
            <a:ext cx="5390992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rm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kern="1200" spc="0" baseline="0">
                <a:solidFill>
                  <a:schemeClr val="bg1">
                    <a:lumMod val="50000"/>
                  </a:schemeClr>
                </a:solidFill>
              </a:rPr>
              <a:t>In design view, expand methods, right click, copy event handler</a:t>
            </a:r>
          </a:p>
          <a:p>
            <a:endParaRPr lang="en-US" sz="3600" kern="1200" spc="0" baseline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60FAA584-5390-7B76-86B9-D3C8CD2AD247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6" y="1843421"/>
            <a:ext cx="5390992" cy="3841081"/>
          </a:xfrm>
          <a:prstGeom prst="rect">
            <a:avLst/>
          </a:prstGeom>
          <a:noFill/>
        </p:spPr>
      </p:pic>
      <p:pic>
        <p:nvPicPr>
          <p:cNvPr id="7" name="Picture 6" descr="Cartoon characters of a cartoon character&#10;&#10;AI-generated content may be incorrect.">
            <a:extLst>
              <a:ext uri="{FF2B5EF4-FFF2-40B4-BE49-F238E27FC236}">
                <a16:creationId xmlns:a16="http://schemas.microsoft.com/office/drawing/2014/main" id="{D0F41A1A-BF49-F55B-8EBB-1DEEE78F0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729" y="3890671"/>
            <a:ext cx="3466667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2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wrap="square" anchor="ctr">
            <a:normAutofit/>
          </a:bodyPr>
          <a:lstStyle/>
          <a:p>
            <a:r>
              <a:rPr lang="en-US" sz="3700"/>
              <a:t>Copy Event Handler - Events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466565-F3A0-EF25-352C-18587C0AF4B4}"/>
              </a:ext>
            </a:extLst>
          </p:cNvPr>
          <p:cNvSpPr txBox="1">
            <a:spLocks/>
          </p:cNvSpPr>
          <p:nvPr/>
        </p:nvSpPr>
        <p:spPr>
          <a:xfrm>
            <a:off x="6313328" y="1668462"/>
            <a:ext cx="5390992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rm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kern="1200" spc="0" baseline="0">
                <a:solidFill>
                  <a:schemeClr val="bg1">
                    <a:lumMod val="50000"/>
                  </a:schemeClr>
                </a:solidFill>
              </a:rPr>
              <a:t>In design view, expand events, right click, copy event handler</a:t>
            </a:r>
          </a:p>
          <a:p>
            <a:endParaRPr lang="en-US" sz="3600" kern="1200" spc="0" baseline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3600" kern="1200" spc="0" baseline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553327E7-AF71-1E89-3EF5-4C3D2740D4A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929" y="1668462"/>
            <a:ext cx="4850805" cy="4190999"/>
          </a:xfrm>
          <a:prstGeom prst="rect">
            <a:avLst/>
          </a:prstGeom>
          <a:noFill/>
        </p:spPr>
      </p:pic>
      <p:pic>
        <p:nvPicPr>
          <p:cNvPr id="2" name="Picture 1" descr="Cartoon characters of a cartoon character&#10;&#10;AI-generated content may be incorrect.">
            <a:extLst>
              <a:ext uri="{FF2B5EF4-FFF2-40B4-BE49-F238E27FC236}">
                <a16:creationId xmlns:a16="http://schemas.microsoft.com/office/drawing/2014/main" id="{DE9BE860-2E92-F6CD-6777-29C7DBC14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729" y="3890671"/>
            <a:ext cx="3466667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wrap="square" anchor="ctr">
            <a:normAutofit/>
          </a:bodyPr>
          <a:lstStyle/>
          <a:p>
            <a:r>
              <a:rPr lang="en-US" sz="3700"/>
              <a:t>Sales order Totals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F311AB4-20BF-0D0E-5E81-695DBC3FB788}"/>
              </a:ext>
            </a:extLst>
          </p:cNvPr>
          <p:cNvSpPr txBox="1">
            <a:spLocks/>
          </p:cNvSpPr>
          <p:nvPr/>
        </p:nvSpPr>
        <p:spPr>
          <a:xfrm>
            <a:off x="6313328" y="1668462"/>
            <a:ext cx="5390992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rm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kern="1200" spc="0" baseline="0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https://dynamics365musings.com/d365-sales-order-totals/</a:t>
            </a:r>
            <a:endParaRPr lang="en-US" sz="3600" kern="1200" spc="0" baseline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3600" kern="1200" spc="0" baseline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3600" kern="1200" spc="0" baseline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5" descr="Text&#10;&#10;Description automatically generated">
            <a:extLst>
              <a:ext uri="{FF2B5EF4-FFF2-40B4-BE49-F238E27FC236}">
                <a16:creationId xmlns:a16="http://schemas.microsoft.com/office/drawing/2014/main" id="{3A5DBE73-55FE-27F2-0038-7555C4FA5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6" y="1708646"/>
            <a:ext cx="5390992" cy="4110630"/>
          </a:xfrm>
          <a:prstGeom prst="rect">
            <a:avLst/>
          </a:prstGeom>
          <a:noFill/>
        </p:spPr>
      </p:pic>
      <p:pic>
        <p:nvPicPr>
          <p:cNvPr id="7" name="Picture 6" descr="A cartoon character with lightning coming out of it&#10;&#10;AI-generated content may be incorrect.">
            <a:extLst>
              <a:ext uri="{FF2B5EF4-FFF2-40B4-BE49-F238E27FC236}">
                <a16:creationId xmlns:a16="http://schemas.microsoft.com/office/drawing/2014/main" id="{2F92F4A5-4C5C-12DF-5E0C-3051F0EF6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870" y="4190163"/>
            <a:ext cx="4038756" cy="22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22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vert="horz" wrap="square" lIns="146304" tIns="91440" rIns="146304" bIns="91440" rtlCol="0" anchor="ctr">
            <a:normAutofit/>
          </a:bodyPr>
          <a:lstStyle/>
          <a:p>
            <a:r>
              <a:rPr lang="en-US" sz="3700" b="1" i="0" kern="1200" cap="none" spc="-102" baseline="0">
                <a:ln w="3175">
                  <a:noFill/>
                </a:ln>
                <a:effectLst/>
                <a:latin typeface="Segoe" panose="020B0502040200020203" pitchFamily="34" charset="77"/>
                <a:ea typeface="+mn-ea"/>
                <a:cs typeface="Segoe UI" pitchFamily="34" charset="0"/>
              </a:rPr>
              <a:t>Extensible Controls</a:t>
            </a:r>
          </a:p>
        </p:txBody>
      </p:sp>
      <p:graphicFrame>
        <p:nvGraphicFramePr>
          <p:cNvPr id="10" name="Text Placeholder 2">
            <a:extLst>
              <a:ext uri="{FF2B5EF4-FFF2-40B4-BE49-F238E27FC236}">
                <a16:creationId xmlns:a16="http://schemas.microsoft.com/office/drawing/2014/main" id="{0F62A996-E686-0BFB-3ACE-6066E61D0F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5629732"/>
              </p:ext>
            </p:extLst>
          </p:nvPr>
        </p:nvGraphicFramePr>
        <p:xfrm>
          <a:off x="731836" y="1668462"/>
          <a:ext cx="10972485" cy="4190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cartoon character in a car&#10;&#10;AI-generated content may be incorrect.">
            <a:extLst>
              <a:ext uri="{FF2B5EF4-FFF2-40B4-BE49-F238E27FC236}">
                <a16:creationId xmlns:a16="http://schemas.microsoft.com/office/drawing/2014/main" id="{1BFEBD23-0367-EC40-2DF6-B7DE3BCC0B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9213" y="504109"/>
            <a:ext cx="1164353" cy="116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3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wrap="square" anchor="ctr">
            <a:normAutofit/>
          </a:bodyPr>
          <a:lstStyle/>
          <a:p>
            <a:r>
              <a:rPr lang="en-US" sz="3700"/>
              <a:t>Paste Special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C5EE906-3EB4-B493-6E70-6C8EF7BC52F4}"/>
              </a:ext>
            </a:extLst>
          </p:cNvPr>
          <p:cNvSpPr txBox="1">
            <a:spLocks/>
          </p:cNvSpPr>
          <p:nvPr/>
        </p:nvSpPr>
        <p:spPr>
          <a:xfrm>
            <a:off x="6313328" y="1668462"/>
            <a:ext cx="5390992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rm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kern="1200" spc="0" baseline="0">
                <a:solidFill>
                  <a:schemeClr val="bg1">
                    <a:lumMod val="50000"/>
                  </a:schemeClr>
                </a:solidFill>
              </a:rPr>
              <a:t>Edit &gt; Paste Special</a:t>
            </a:r>
          </a:p>
          <a:p>
            <a:r>
              <a:rPr lang="en-US" sz="3600" kern="1200" spc="0" baseline="0">
                <a:solidFill>
                  <a:schemeClr val="bg1">
                    <a:lumMod val="50000"/>
                  </a:schemeClr>
                </a:solidFill>
              </a:rPr>
              <a:t>XML as Class</a:t>
            </a:r>
          </a:p>
          <a:p>
            <a:r>
              <a:rPr lang="en-US" sz="3600" kern="1200" spc="0" baseline="0">
                <a:solidFill>
                  <a:schemeClr val="bg1">
                    <a:lumMod val="50000"/>
                  </a:schemeClr>
                </a:solidFill>
              </a:rPr>
              <a:t>JSON as Class</a:t>
            </a:r>
          </a:p>
          <a:p>
            <a:endParaRPr lang="en-US" sz="3600" kern="1200" spc="0" baseline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165D59D3-1C8C-722D-6ED9-262C415CFE25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r="2563" b="2"/>
          <a:stretch>
            <a:fillRect/>
          </a:stretch>
        </p:blipFill>
        <p:spPr>
          <a:xfrm>
            <a:off x="731836" y="1668462"/>
            <a:ext cx="5390992" cy="4190999"/>
          </a:xfrm>
          <a:prstGeom prst="rect">
            <a:avLst/>
          </a:prstGeom>
          <a:noFill/>
        </p:spPr>
      </p:pic>
      <p:pic>
        <p:nvPicPr>
          <p:cNvPr id="9" name="Picture 8" descr="Cartoon characters of a cartoon character&#10;&#10;AI-generated content may be incorrect.">
            <a:extLst>
              <a:ext uri="{FF2B5EF4-FFF2-40B4-BE49-F238E27FC236}">
                <a16:creationId xmlns:a16="http://schemas.microsoft.com/office/drawing/2014/main" id="{D173F182-7582-64D8-929C-52DB992A6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824" y="4292600"/>
            <a:ext cx="314325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2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Paste Special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19DB34-1C1C-92B2-2B1B-4403C5C9BC0D}"/>
              </a:ext>
            </a:extLst>
          </p:cNvPr>
          <p:cNvSpPr>
            <a:spLocks noGrp="1"/>
          </p:cNvSpPr>
          <p:nvPr/>
        </p:nvSpPr>
        <p:spPr>
          <a:xfrm>
            <a:off x="847042" y="1465946"/>
            <a:ext cx="5284752" cy="4437962"/>
          </a:xfrm>
          <a:prstGeom prst="rect">
            <a:avLst/>
          </a:prstGeom>
        </p:spPr>
        <p:txBody>
          <a:bodyPr vert="horz" lIns="93260" tIns="46630" rIns="93260" bIns="4663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23283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3283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3283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3283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3283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56"/>
              <a:t>{"menu": {</a:t>
            </a:r>
          </a:p>
          <a:p>
            <a:pPr marL="0" indent="0">
              <a:buNone/>
            </a:pPr>
            <a:r>
              <a:rPr lang="en-US" sz="2856"/>
              <a:t>  "id": "file",</a:t>
            </a:r>
          </a:p>
          <a:p>
            <a:pPr marL="0" indent="0">
              <a:buNone/>
            </a:pPr>
            <a:r>
              <a:rPr lang="en-US" sz="2856"/>
              <a:t>  "value": "File",</a:t>
            </a:r>
          </a:p>
          <a:p>
            <a:pPr marL="0" indent="0">
              <a:buNone/>
            </a:pPr>
            <a:r>
              <a:rPr lang="en-US" sz="2856"/>
              <a:t>  "popup": {</a:t>
            </a:r>
          </a:p>
          <a:p>
            <a:pPr marL="0" indent="0">
              <a:buNone/>
            </a:pPr>
            <a:r>
              <a:rPr lang="en-US" sz="2856"/>
              <a:t>    "menuitem": [</a:t>
            </a:r>
          </a:p>
          <a:p>
            <a:pPr marL="0" indent="0">
              <a:buNone/>
            </a:pPr>
            <a:r>
              <a:rPr lang="en-US" sz="2856"/>
              <a:t>      {"value": "New", "onclick": "CreateNewDoc()"},</a:t>
            </a:r>
          </a:p>
          <a:p>
            <a:pPr marL="0" indent="0">
              <a:buNone/>
            </a:pPr>
            <a:r>
              <a:rPr lang="en-US" sz="2856"/>
              <a:t>      {"value": "Open", "onclick": "OpenDoc()"},</a:t>
            </a:r>
          </a:p>
          <a:p>
            <a:pPr marL="0" indent="0">
              <a:buNone/>
            </a:pPr>
            <a:r>
              <a:rPr lang="en-US" sz="2856"/>
              <a:t>      {"value": "Close", "onclick": "CloseDoc()"}</a:t>
            </a:r>
          </a:p>
          <a:p>
            <a:pPr marL="0" indent="0">
              <a:buNone/>
            </a:pPr>
            <a:r>
              <a:rPr lang="en-US" sz="2856"/>
              <a:t>    ]</a:t>
            </a:r>
          </a:p>
          <a:p>
            <a:pPr marL="0" indent="0">
              <a:buNone/>
            </a:pPr>
            <a:r>
              <a:rPr lang="en-US" sz="2856"/>
              <a:t>  }</a:t>
            </a:r>
          </a:p>
          <a:p>
            <a:pPr marL="0" indent="0">
              <a:buNone/>
            </a:pPr>
            <a:r>
              <a:rPr lang="en-US" sz="2856"/>
              <a:t>}}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CC15102-FB2A-8B7D-2BBE-DDAD4C0B050D}"/>
              </a:ext>
            </a:extLst>
          </p:cNvPr>
          <p:cNvSpPr>
            <a:spLocks noGrp="1"/>
          </p:cNvSpPr>
          <p:nvPr/>
        </p:nvSpPr>
        <p:spPr>
          <a:xfrm>
            <a:off x="6287228" y="1465946"/>
            <a:ext cx="5284752" cy="4437962"/>
          </a:xfrm>
          <a:prstGeom prst="rect">
            <a:avLst/>
          </a:prstGeom>
        </p:spPr>
        <p:txBody>
          <a:bodyPr vert="horz" lIns="93260" tIns="46630" rIns="93260" bIns="4663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23283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3283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3283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3283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3283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36">
                <a:solidFill>
                  <a:srgbClr val="2B91AF"/>
                </a:solidFill>
                <a:latin typeface="Consolas" panose="020B0609020204030204" pitchFamily="49" charset="0"/>
              </a:rPr>
              <a:t>Menu</a:t>
            </a:r>
            <a:endParaRPr lang="en-US" sz="1836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value {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Popup popup {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n-US" sz="1836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36">
                <a:solidFill>
                  <a:srgbClr val="2B91AF"/>
                </a:solidFill>
                <a:latin typeface="Consolas" panose="020B0609020204030204" pitchFamily="49" charset="0"/>
              </a:rPr>
              <a:t>Popup</a:t>
            </a:r>
            <a:endParaRPr lang="en-US" sz="1836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Menuitem[] menuitem {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n-US" sz="1836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36">
                <a:solidFill>
                  <a:srgbClr val="2B91AF"/>
                </a:solidFill>
                <a:latin typeface="Consolas" panose="020B0609020204030204" pitchFamily="49" charset="0"/>
              </a:rPr>
              <a:t>Menuitem</a:t>
            </a:r>
            <a:endParaRPr lang="en-US" sz="1836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value {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onclick {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36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36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sz="2856"/>
          </a:p>
        </p:txBody>
      </p:sp>
      <p:pic>
        <p:nvPicPr>
          <p:cNvPr id="7" name="Picture 6" descr="Cartoon characters of sonic the hedgehog and sonic the hedgehog&#10;&#10;AI-generated content may be incorrect.">
            <a:extLst>
              <a:ext uri="{FF2B5EF4-FFF2-40B4-BE49-F238E27FC236}">
                <a16:creationId xmlns:a16="http://schemas.microsoft.com/office/drawing/2014/main" id="{D2F2F62F-E5DF-18B5-0995-153A79060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380" y="4735422"/>
            <a:ext cx="3142857" cy="1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915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If XML Option Missing…	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8E0364-349C-EFA5-1674-445A0DC9B1ED}"/>
              </a:ext>
            </a:extLst>
          </p:cNvPr>
          <p:cNvSpPr txBox="1">
            <a:spLocks/>
          </p:cNvSpPr>
          <p:nvPr/>
        </p:nvSpPr>
        <p:spPr>
          <a:xfrm>
            <a:off x="466368" y="1118812"/>
            <a:ext cx="11503739" cy="5241318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Add ASP.NET to VS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F24DE-B613-299E-CA54-C7C0B435153F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47" y="1804986"/>
            <a:ext cx="10600591" cy="338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5DD32641-46DE-4695-98F0-D631E22A3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700294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51422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742425-F1E4-7123-5E4F-F9D986C6529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799268" y="1175475"/>
            <a:ext cx="4868214" cy="540845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AE57DBE-166A-CA08-2524-2A0B8CB7B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Mandatory Slide about AI</a:t>
            </a:r>
          </a:p>
        </p:txBody>
      </p:sp>
      <p:pic>
        <p:nvPicPr>
          <p:cNvPr id="4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18E9222A-3E12-99A3-009B-6ABCFB30E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694947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3563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02236C-1D70-DA44-E539-301A7964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really tries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0CC162-357C-9DB6-22F2-8AC5BB6239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420DEE-D0AC-8548-FA54-F3EAC4BB34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936CB1-078A-93CC-9E29-57B6E3B34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09" y="2061663"/>
            <a:ext cx="5102134" cy="3208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4179D8-018B-5810-B401-35640850D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113" y="2075222"/>
            <a:ext cx="6289968" cy="3181041"/>
          </a:xfrm>
          <a:prstGeom prst="rect">
            <a:avLst/>
          </a:prstGeom>
        </p:spPr>
      </p:pic>
      <p:pic>
        <p:nvPicPr>
          <p:cNvPr id="3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BFA46EA3-E77B-715A-B7DB-C74C060AE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694947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39655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CrossCompany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7DCFEFF-2906-8FE5-8C92-1C83DA7E0D3C}"/>
              </a:ext>
            </a:extLst>
          </p:cNvPr>
          <p:cNvSpPr txBox="1">
            <a:spLocks/>
          </p:cNvSpPr>
          <p:nvPr/>
        </p:nvSpPr>
        <p:spPr>
          <a:xfrm>
            <a:off x="466368" y="1118812"/>
            <a:ext cx="11503739" cy="5241318"/>
          </a:xfrm>
          <a:prstGeom prst="rect">
            <a:avLst/>
          </a:prstGeom>
        </p:spPr>
        <p:txBody>
          <a:bodyPr vert="horz" wrap="square" lIns="146304" tIns="91440" rIns="146304" bIns="91440" rtlCol="0">
            <a:normAutofit fontScale="47500" lnSpcReduction="20000"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/>
              <a:t>static void JobDemoCrossCompany(Args _args)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{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BankAccountTable tabBAT; // saveDataPerCompany == true.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container conCompanies = [ 'cm1', 'cm2', 'dat' ];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str 4 sCompanyPrevious = " "; // Maximum length is 4 characters.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int iCountCompanies = 0;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;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while select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crossCompany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    : conCompanies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* from tabBAT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order by dataAreaId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{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if ( sCompanyPrevious != tabBAT.dataAreaId )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{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    info( tabBAT.dataAreaId + " = tabBAT.dataAreaId" );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    iCountCompanies++;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    if ( iCountCompanies &gt;= 2 )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    {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        break;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    }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    sCompanyPrevious = tabBAT.dataAreaId;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    }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}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    return;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    }</a:t>
            </a:r>
          </a:p>
        </p:txBody>
      </p:sp>
      <p:pic>
        <p:nvPicPr>
          <p:cNvPr id="6" name="Picture 5" descr="A cartoon character running through a road&#10;&#10;AI-generated content may be incorrect.">
            <a:extLst>
              <a:ext uri="{FF2B5EF4-FFF2-40B4-BE49-F238E27FC236}">
                <a16:creationId xmlns:a16="http://schemas.microsoft.com/office/drawing/2014/main" id="{03C712D8-3D97-85B0-8C1C-F08852F1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0450" y="3577649"/>
            <a:ext cx="2862868" cy="286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8387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7001540-DAE1-3354-13E0-EE6294E4DF05}"/>
              </a:ext>
            </a:extLst>
          </p:cNvPr>
          <p:cNvSpPr txBox="1">
            <a:spLocks/>
          </p:cNvSpPr>
          <p:nvPr/>
        </p:nvSpPr>
        <p:spPr>
          <a:xfrm>
            <a:off x="466368" y="1118812"/>
            <a:ext cx="11503739" cy="5241318"/>
          </a:xfrm>
          <a:prstGeom prst="rect">
            <a:avLst/>
          </a:prstGeom>
        </p:spPr>
        <p:txBody>
          <a:bodyPr vert="horz" wrap="square" lIns="146304" tIns="91440" rIns="146304" bIns="91440" rtlCol="0">
            <a:norm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Poppins" pitchFamily="2" charset="77"/>
                <a:ea typeface="Verdana" panose="020B0604030504040204" pitchFamily="34" charset="0"/>
                <a:cs typeface="Poppins" pitchFamily="2" charset="77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/>
              <a:t>        </a:t>
            </a:r>
            <a:r>
              <a:rPr lang="en-US" sz="2000" err="1"/>
              <a:t>BankAccountTable</a:t>
            </a:r>
            <a:r>
              <a:rPr lang="en-US" sz="2000"/>
              <a:t> </a:t>
            </a:r>
            <a:r>
              <a:rPr lang="en-US" sz="2000" err="1"/>
              <a:t>tabBAT</a:t>
            </a:r>
            <a:r>
              <a:rPr lang="en-US" sz="2000"/>
              <a:t>; // </a:t>
            </a:r>
            <a:r>
              <a:rPr lang="en-US" sz="2000" err="1"/>
              <a:t>saveDataPerCompany</a:t>
            </a:r>
            <a:r>
              <a:rPr lang="en-US" sz="2000"/>
              <a:t> == true.</a:t>
            </a:r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container </a:t>
            </a:r>
            <a:r>
              <a:rPr lang="en-US" sz="2000" err="1"/>
              <a:t>conCompanies</a:t>
            </a:r>
            <a:r>
              <a:rPr lang="en-US" sz="2000"/>
              <a:t> = [ 'cm1', 'cm2', '</a:t>
            </a:r>
            <a:r>
              <a:rPr lang="en-US" sz="2000" err="1"/>
              <a:t>dat</a:t>
            </a:r>
            <a:r>
              <a:rPr lang="en-US" sz="2000"/>
              <a:t>' ];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str 4 </a:t>
            </a:r>
            <a:r>
              <a:rPr lang="en-US" sz="2000" err="1"/>
              <a:t>sCompanyPrevious</a:t>
            </a:r>
            <a:r>
              <a:rPr lang="en-US" sz="2000"/>
              <a:t> = " "; // Maximum length is 4 characters.</a:t>
            </a:r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int </a:t>
            </a:r>
            <a:r>
              <a:rPr lang="en-US" sz="2000" err="1"/>
              <a:t>iCountCompanies</a:t>
            </a:r>
            <a:r>
              <a:rPr lang="en-US" sz="2000"/>
              <a:t> = 0;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while select</a:t>
            </a:r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    </a:t>
            </a:r>
            <a:r>
              <a:rPr lang="en-US" sz="2000" err="1"/>
              <a:t>crossCompany</a:t>
            </a:r>
            <a:endParaRPr lang="en-US" sz="2000"/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        : </a:t>
            </a:r>
            <a:r>
              <a:rPr lang="en-US" sz="2000" err="1"/>
              <a:t>conCompanies</a:t>
            </a:r>
            <a:r>
              <a:rPr lang="en-US" sz="2000"/>
              <a:t> </a:t>
            </a:r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    * from </a:t>
            </a:r>
            <a:r>
              <a:rPr lang="en-US" sz="2000" err="1"/>
              <a:t>tabBAT</a:t>
            </a:r>
            <a:endParaRPr lang="en-US" sz="2000"/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    order by </a:t>
            </a:r>
            <a:r>
              <a:rPr lang="en-US" sz="2000" err="1"/>
              <a:t>dataAreaId</a:t>
            </a:r>
            <a:endParaRPr lang="en-US" sz="2000"/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{</a:t>
            </a:r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    …</a:t>
            </a:r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}</a:t>
            </a:r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    return;</a:t>
            </a:r>
          </a:p>
          <a:p>
            <a:pPr marL="0" indent="0">
              <a:buFont typeface="Arial" pitchFamily="34" charset="0"/>
              <a:buNone/>
            </a:pPr>
            <a:r>
              <a:rPr lang="en-US" sz="2000"/>
              <a:t>    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B764AC-B8A3-1DED-80C2-FFBFE544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CrossCompany</a:t>
            </a:r>
            <a:endParaRPr lang="en-US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E23E4A4D-55CA-75CA-F422-A50734CB2DE5}"/>
              </a:ext>
            </a:extLst>
          </p:cNvPr>
          <p:cNvSpPr/>
          <p:nvPr/>
        </p:nvSpPr>
        <p:spPr>
          <a:xfrm>
            <a:off x="7589837" y="1477962"/>
            <a:ext cx="838487" cy="38502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2EB192BB-53A1-460D-923A-EE0D90315691}"/>
              </a:ext>
            </a:extLst>
          </p:cNvPr>
          <p:cNvSpPr/>
          <p:nvPr/>
        </p:nvSpPr>
        <p:spPr>
          <a:xfrm>
            <a:off x="4503737" y="3484043"/>
            <a:ext cx="838487" cy="38502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pic>
        <p:nvPicPr>
          <p:cNvPr id="4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1494A464-AEA3-5D6B-C2D0-14E4FAE02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694947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8997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99B91-86B5-483D-B620-881C8BC801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/>
              <a:t>static void </a:t>
            </a:r>
            <a:r>
              <a:rPr lang="en-US" err="1"/>
              <a:t>JobDemoAllowCrossCompany</a:t>
            </a:r>
            <a:r>
              <a:rPr lang="en-US"/>
              <a:t>(</a:t>
            </a:r>
            <a:r>
              <a:rPr lang="en-US" err="1"/>
              <a:t>Args</a:t>
            </a:r>
            <a:r>
              <a:rPr lang="en-US"/>
              <a:t> _</a:t>
            </a:r>
            <a:r>
              <a:rPr lang="en-US" err="1"/>
              <a:t>args</a:t>
            </a:r>
            <a:r>
              <a:rPr lang="en-US"/>
              <a:t>)</a:t>
            </a:r>
          </a:p>
          <a:p>
            <a:pPr marL="0" indent="0">
              <a:buNone/>
            </a:pPr>
            <a:r>
              <a:rPr lang="en-US"/>
              <a:t>    {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err="1"/>
              <a:t>BankAccountTable</a:t>
            </a:r>
            <a:r>
              <a:rPr lang="en-US"/>
              <a:t> </a:t>
            </a:r>
            <a:r>
              <a:rPr lang="en-US" err="1"/>
              <a:t>tabBAT</a:t>
            </a:r>
            <a:r>
              <a:rPr lang="en-US"/>
              <a:t>; // </a:t>
            </a:r>
            <a:r>
              <a:rPr lang="en-US" err="1"/>
              <a:t>saveDataPerCompany</a:t>
            </a:r>
            <a:r>
              <a:rPr lang="en-US"/>
              <a:t> == true.</a:t>
            </a:r>
          </a:p>
          <a:p>
            <a:pPr marL="0" indent="0">
              <a:buNone/>
            </a:pPr>
            <a:r>
              <a:rPr lang="en-US"/>
              <a:t>        Query qry2;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err="1"/>
              <a:t>QueryBuildDataSource</a:t>
            </a:r>
            <a:r>
              <a:rPr lang="en-US"/>
              <a:t> qbds3;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err="1"/>
              <a:t>QueryRun</a:t>
            </a:r>
            <a:r>
              <a:rPr lang="en-US"/>
              <a:t> qrun4;</a:t>
            </a:r>
          </a:p>
          <a:p>
            <a:pPr marL="0" indent="0">
              <a:buNone/>
            </a:pPr>
            <a:r>
              <a:rPr lang="en-US"/>
              <a:t>        str </a:t>
            </a:r>
            <a:r>
              <a:rPr lang="en-US" err="1"/>
              <a:t>sCompanyPrevious</a:t>
            </a:r>
            <a:r>
              <a:rPr lang="en-US"/>
              <a:t> = "   ";</a:t>
            </a:r>
          </a:p>
          <a:p>
            <a:pPr marL="0" indent="0">
              <a:buNone/>
            </a:pPr>
            <a:r>
              <a:rPr lang="en-US"/>
              <a:t>        int </a:t>
            </a:r>
            <a:r>
              <a:rPr lang="en-US" err="1"/>
              <a:t>iCountCompanies</a:t>
            </a:r>
            <a:r>
              <a:rPr lang="en-US"/>
              <a:t> = 0;</a:t>
            </a:r>
          </a:p>
          <a:p>
            <a:pPr marL="0" indent="0">
              <a:buNone/>
            </a:pPr>
            <a:r>
              <a:rPr lang="en-US"/>
              <a:t>        int </a:t>
            </a:r>
            <a:r>
              <a:rPr lang="en-US" err="1"/>
              <a:t>iTableNumBAT</a:t>
            </a:r>
            <a:r>
              <a:rPr lang="en-US"/>
              <a:t>;</a:t>
            </a:r>
          </a:p>
          <a:p>
            <a:pPr marL="0" indent="0">
              <a:buNone/>
            </a:pPr>
            <a:r>
              <a:rPr lang="en-US"/>
              <a:t>        ;</a:t>
            </a:r>
          </a:p>
          <a:p>
            <a:pPr marL="0" indent="0">
              <a:buNone/>
            </a:pPr>
            <a:r>
              <a:rPr lang="en-US"/>
              <a:t>        qry2 = new Query();</a:t>
            </a:r>
          </a:p>
          <a:p>
            <a:pPr marL="0" indent="0">
              <a:buNone/>
            </a:pPr>
            <a:r>
              <a:rPr lang="en-US"/>
              <a:t>        qry2.allowCrossCompany( true );</a:t>
            </a:r>
          </a:p>
          <a:p>
            <a:pPr marL="0" indent="0">
              <a:buNone/>
            </a:pPr>
            <a:r>
              <a:rPr lang="en-US"/>
              <a:t>        qry2.addCompanyRange( '</a:t>
            </a:r>
            <a:r>
              <a:rPr lang="en-US" err="1"/>
              <a:t>dat</a:t>
            </a:r>
            <a:r>
              <a:rPr lang="en-US"/>
              <a:t>' );</a:t>
            </a:r>
          </a:p>
          <a:p>
            <a:pPr marL="0" indent="0">
              <a:buNone/>
            </a:pPr>
            <a:r>
              <a:rPr lang="en-US"/>
              <a:t>        qry2.addCompanyRange( '</a:t>
            </a:r>
            <a:r>
              <a:rPr lang="en-US" err="1"/>
              <a:t>twf</a:t>
            </a:r>
            <a:r>
              <a:rPr lang="en-US"/>
              <a:t>' );</a:t>
            </a:r>
          </a:p>
          <a:p>
            <a:pPr marL="0" indent="0">
              <a:buNone/>
            </a:pPr>
            <a:r>
              <a:rPr lang="en-US"/>
              <a:t>        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err="1"/>
              <a:t>iTableNumBAT</a:t>
            </a:r>
            <a:r>
              <a:rPr lang="en-US"/>
              <a:t> = </a:t>
            </a:r>
            <a:r>
              <a:rPr lang="en-US" err="1"/>
              <a:t>tableNum</a:t>
            </a:r>
            <a:r>
              <a:rPr lang="en-US"/>
              <a:t>( </a:t>
            </a:r>
            <a:r>
              <a:rPr lang="en-US" err="1"/>
              <a:t>BankAccountTable</a:t>
            </a:r>
            <a:r>
              <a:rPr lang="en-US"/>
              <a:t> );</a:t>
            </a:r>
          </a:p>
          <a:p>
            <a:pPr marL="0" indent="0">
              <a:buNone/>
            </a:pPr>
            <a:r>
              <a:rPr lang="en-US"/>
              <a:t>        qbds3 = qry2 .</a:t>
            </a:r>
            <a:r>
              <a:rPr lang="en-US" err="1"/>
              <a:t>addDataSource</a:t>
            </a:r>
            <a:r>
              <a:rPr lang="en-US"/>
              <a:t>( </a:t>
            </a:r>
            <a:r>
              <a:rPr lang="en-US" err="1"/>
              <a:t>iTableNumBAT</a:t>
            </a:r>
            <a:r>
              <a:rPr lang="en-US"/>
              <a:t> );</a:t>
            </a:r>
          </a:p>
          <a:p>
            <a:pPr marL="0" indent="0">
              <a:buNone/>
            </a:pPr>
            <a:r>
              <a:rPr lang="en-US"/>
              <a:t>        //qbds3.company( '</a:t>
            </a:r>
            <a:r>
              <a:rPr lang="en-US" err="1"/>
              <a:t>dat</a:t>
            </a:r>
            <a:r>
              <a:rPr lang="en-US"/>
              <a:t>' );</a:t>
            </a:r>
          </a:p>
          <a:p>
            <a:pPr marL="0" indent="0">
              <a:buNone/>
            </a:pPr>
            <a:r>
              <a:rPr lang="en-US"/>
              <a:t>        </a:t>
            </a:r>
          </a:p>
          <a:p>
            <a:pPr marL="0" indent="0">
              <a:buNone/>
            </a:pPr>
            <a:r>
              <a:rPr lang="en-US"/>
              <a:t>        qrun4 = new </a:t>
            </a:r>
            <a:r>
              <a:rPr lang="en-US" err="1"/>
              <a:t>QueryRun</a:t>
            </a:r>
            <a:r>
              <a:rPr lang="en-US"/>
              <a:t>( qry2 );</a:t>
            </a:r>
          </a:p>
          <a:p>
            <a:pPr marL="0" indent="0">
              <a:buNone/>
            </a:pPr>
            <a:r>
              <a:rPr lang="en-US"/>
              <a:t>        </a:t>
            </a:r>
          </a:p>
          <a:p>
            <a:pPr marL="0" indent="0">
              <a:buNone/>
            </a:pPr>
            <a:r>
              <a:rPr lang="en-US"/>
              <a:t>        while ( qrun4.next() )</a:t>
            </a:r>
          </a:p>
          <a:p>
            <a:pPr marL="0" indent="0">
              <a:buNone/>
            </a:pPr>
            <a:r>
              <a:rPr lang="en-US"/>
              <a:t>        {</a:t>
            </a:r>
          </a:p>
          <a:p>
            <a:pPr marL="0" indent="0">
              <a:buNone/>
            </a:pPr>
            <a:r>
              <a:rPr lang="en-US"/>
              <a:t>            if ( qrun4.changed( </a:t>
            </a:r>
            <a:r>
              <a:rPr lang="en-US" err="1"/>
              <a:t>iTableNumBAT</a:t>
            </a:r>
            <a:r>
              <a:rPr lang="en-US"/>
              <a:t> ) )</a:t>
            </a:r>
          </a:p>
          <a:p>
            <a:pPr marL="0" indent="0">
              <a:buNone/>
            </a:pPr>
            <a:r>
              <a:rPr lang="en-US"/>
              <a:t>            {</a:t>
            </a:r>
          </a:p>
          <a:p>
            <a:pPr marL="0" indent="0">
              <a:buNone/>
            </a:pPr>
            <a:r>
              <a:rPr lang="en-US"/>
              <a:t>                </a:t>
            </a:r>
            <a:r>
              <a:rPr lang="en-US" err="1"/>
              <a:t>tabBAT</a:t>
            </a:r>
            <a:r>
              <a:rPr lang="en-US"/>
              <a:t> = qrun4.get( </a:t>
            </a:r>
            <a:r>
              <a:rPr lang="en-US" err="1"/>
              <a:t>iTableNumBAT</a:t>
            </a:r>
            <a:r>
              <a:rPr lang="en-US"/>
              <a:t> );</a:t>
            </a:r>
          </a:p>
          <a:p>
            <a:pPr marL="0" indent="0">
              <a:buNone/>
            </a:pPr>
            <a:r>
              <a:rPr lang="en-US"/>
              <a:t>        </a:t>
            </a:r>
          </a:p>
          <a:p>
            <a:pPr marL="0" indent="0">
              <a:buNone/>
            </a:pPr>
            <a:r>
              <a:rPr lang="en-US"/>
              <a:t>                if ( </a:t>
            </a:r>
            <a:r>
              <a:rPr lang="en-US" err="1"/>
              <a:t>sCompanyPrevious</a:t>
            </a:r>
            <a:r>
              <a:rPr lang="en-US"/>
              <a:t> != </a:t>
            </a:r>
            <a:r>
              <a:rPr lang="en-US" err="1"/>
              <a:t>tabBAT.dataAreaId</a:t>
            </a:r>
            <a:r>
              <a:rPr lang="en-US"/>
              <a:t> )</a:t>
            </a:r>
          </a:p>
          <a:p>
            <a:pPr marL="0" indent="0">
              <a:buNone/>
            </a:pPr>
            <a:r>
              <a:rPr lang="en-US"/>
              <a:t>                {</a:t>
            </a:r>
          </a:p>
          <a:p>
            <a:pPr marL="0" indent="0">
              <a:buNone/>
            </a:pPr>
            <a:r>
              <a:rPr lang="en-US"/>
              <a:t>                    print( </a:t>
            </a:r>
            <a:r>
              <a:rPr lang="en-US" err="1"/>
              <a:t>tabBAT.dataAreaId</a:t>
            </a:r>
            <a:r>
              <a:rPr lang="en-US"/>
              <a:t> + " = </a:t>
            </a:r>
            <a:r>
              <a:rPr lang="en-US" err="1"/>
              <a:t>tabBAT.dataAreaId</a:t>
            </a:r>
            <a:r>
              <a:rPr lang="en-US"/>
              <a:t>" );</a:t>
            </a:r>
          </a:p>
          <a:p>
            <a:pPr marL="0" indent="0">
              <a:buNone/>
            </a:pPr>
            <a:r>
              <a:rPr lang="en-US"/>
              <a:t>                    </a:t>
            </a:r>
            <a:r>
              <a:rPr lang="en-US" err="1"/>
              <a:t>iCountCompanies</a:t>
            </a:r>
            <a:r>
              <a:rPr lang="en-US"/>
              <a:t>++;</a:t>
            </a:r>
          </a:p>
          <a:p>
            <a:pPr marL="0" indent="0">
              <a:buNone/>
            </a:pPr>
            <a:r>
              <a:rPr lang="en-US"/>
              <a:t>                    if ( </a:t>
            </a:r>
            <a:r>
              <a:rPr lang="en-US" err="1"/>
              <a:t>iCountCompanies</a:t>
            </a:r>
            <a:r>
              <a:rPr lang="en-US"/>
              <a:t> &gt;= 2 )</a:t>
            </a:r>
          </a:p>
          <a:p>
            <a:pPr marL="0" indent="0">
              <a:buNone/>
            </a:pPr>
            <a:r>
              <a:rPr lang="en-US"/>
              <a:t>                    {</a:t>
            </a:r>
          </a:p>
          <a:p>
            <a:pPr marL="0" indent="0">
              <a:buNone/>
            </a:pPr>
            <a:r>
              <a:rPr lang="en-US"/>
              <a:t>                        break;</a:t>
            </a:r>
          </a:p>
          <a:p>
            <a:pPr marL="0" indent="0">
              <a:buNone/>
            </a:pPr>
            <a:r>
              <a:rPr lang="en-US"/>
              <a:t>                    }</a:t>
            </a:r>
          </a:p>
          <a:p>
            <a:pPr marL="0" indent="0">
              <a:buNone/>
            </a:pPr>
            <a:r>
              <a:rPr lang="en-US"/>
              <a:t>                    </a:t>
            </a:r>
            <a:r>
              <a:rPr lang="en-US" err="1"/>
              <a:t>sCompanyPrevious</a:t>
            </a:r>
            <a:r>
              <a:rPr lang="en-US"/>
              <a:t> = </a:t>
            </a:r>
            <a:r>
              <a:rPr lang="en-US" err="1"/>
              <a:t>tabBAT.dataAreaId</a:t>
            </a:r>
            <a:r>
              <a:rPr lang="en-US"/>
              <a:t>;</a:t>
            </a:r>
          </a:p>
          <a:p>
            <a:pPr marL="0" indent="0">
              <a:buNone/>
            </a:pPr>
            <a:r>
              <a:rPr lang="en-US"/>
              <a:t>                }</a:t>
            </a:r>
          </a:p>
          <a:p>
            <a:pPr marL="0" indent="0">
              <a:buNone/>
            </a:pPr>
            <a:r>
              <a:rPr lang="en-US"/>
              <a:t>            }</a:t>
            </a:r>
          </a:p>
          <a:p>
            <a:pPr marL="0" indent="0">
              <a:buNone/>
            </a:pPr>
            <a:r>
              <a:rPr lang="en-US"/>
              <a:t>        }</a:t>
            </a:r>
          </a:p>
          <a:p>
            <a:pPr marL="0" indent="0">
              <a:buNone/>
            </a:pPr>
            <a:r>
              <a:rPr lang="en-US"/>
              <a:t>        pause;</a:t>
            </a:r>
          </a:p>
          <a:p>
            <a:pPr marL="0" indent="0">
              <a:buNone/>
            </a:pPr>
            <a:r>
              <a:rPr lang="en-US"/>
              <a:t>        return;</a:t>
            </a:r>
          </a:p>
          <a:p>
            <a:pPr marL="0" indent="0">
              <a:buNone/>
            </a:pPr>
            <a:r>
              <a:rPr lang="en-US"/>
              <a:t>    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36F8B-67C5-BE3D-3A41-04F9FB2F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CrossCompany</a:t>
            </a:r>
            <a:r>
              <a:rPr lang="en-US"/>
              <a:t> Queries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50E6ED0F-FAC3-E15A-6E1C-463E481C4247}"/>
              </a:ext>
            </a:extLst>
          </p:cNvPr>
          <p:cNvSpPr/>
          <p:nvPr/>
        </p:nvSpPr>
        <p:spPr>
          <a:xfrm>
            <a:off x="2179637" y="2354262"/>
            <a:ext cx="838487" cy="38502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pic>
        <p:nvPicPr>
          <p:cNvPr id="7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BCB924E2-B443-F739-6C83-1D1FDCF7F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694947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0080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99B91-86B5-483D-B620-881C8BC801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        </a:t>
            </a:r>
            <a:r>
              <a:rPr lang="en-US" err="1"/>
              <a:t>BankAccountTable</a:t>
            </a:r>
            <a:r>
              <a:rPr lang="en-US"/>
              <a:t> </a:t>
            </a:r>
            <a:r>
              <a:rPr lang="en-US" err="1"/>
              <a:t>tabBAT</a:t>
            </a:r>
            <a:r>
              <a:rPr lang="en-US"/>
              <a:t>; // </a:t>
            </a:r>
            <a:r>
              <a:rPr lang="en-US" err="1"/>
              <a:t>saveDataPerCompany</a:t>
            </a:r>
            <a:r>
              <a:rPr lang="en-US"/>
              <a:t> == true.</a:t>
            </a:r>
          </a:p>
          <a:p>
            <a:pPr marL="0" indent="0">
              <a:buNone/>
            </a:pPr>
            <a:r>
              <a:rPr lang="en-US"/>
              <a:t>        Query qry2;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err="1"/>
              <a:t>QueryBuildDataSource</a:t>
            </a:r>
            <a:r>
              <a:rPr lang="en-US"/>
              <a:t> qbds3;</a:t>
            </a:r>
          </a:p>
          <a:p>
            <a:pPr marL="0" indent="0">
              <a:buNone/>
            </a:pPr>
            <a:r>
              <a:rPr lang="en-US"/>
              <a:t>        </a:t>
            </a:r>
            <a:r>
              <a:rPr lang="en-US" err="1"/>
              <a:t>QueryRun</a:t>
            </a:r>
            <a:r>
              <a:rPr lang="en-US"/>
              <a:t> qrun4;</a:t>
            </a:r>
          </a:p>
          <a:p>
            <a:pPr marL="0" indent="0">
              <a:buNone/>
            </a:pPr>
            <a:r>
              <a:rPr lang="en-US"/>
              <a:t>        str </a:t>
            </a:r>
            <a:r>
              <a:rPr lang="en-US" err="1"/>
              <a:t>sCompanyPrevious</a:t>
            </a:r>
            <a:r>
              <a:rPr lang="en-US"/>
              <a:t> = "   ";</a:t>
            </a:r>
          </a:p>
          <a:p>
            <a:pPr marL="0" indent="0">
              <a:buNone/>
            </a:pPr>
            <a:r>
              <a:rPr lang="en-US"/>
              <a:t>        int </a:t>
            </a:r>
            <a:r>
              <a:rPr lang="en-US" err="1"/>
              <a:t>iCountCompanies</a:t>
            </a:r>
            <a:r>
              <a:rPr lang="en-US"/>
              <a:t> = 0;</a:t>
            </a:r>
          </a:p>
          <a:p>
            <a:pPr marL="0" indent="0">
              <a:buNone/>
            </a:pPr>
            <a:r>
              <a:rPr lang="en-US"/>
              <a:t>        int </a:t>
            </a:r>
            <a:r>
              <a:rPr lang="en-US" err="1"/>
              <a:t>iTableNumBAT</a:t>
            </a:r>
            <a:r>
              <a:rPr lang="en-US"/>
              <a:t>;</a:t>
            </a:r>
          </a:p>
          <a:p>
            <a:pPr marL="0" indent="0">
              <a:buNone/>
            </a:pPr>
            <a:r>
              <a:rPr lang="en-US"/>
              <a:t>        ;</a:t>
            </a:r>
          </a:p>
          <a:p>
            <a:pPr marL="0" indent="0">
              <a:buNone/>
            </a:pPr>
            <a:r>
              <a:rPr lang="en-US"/>
              <a:t>        qry2 = new Query();</a:t>
            </a:r>
          </a:p>
          <a:p>
            <a:pPr marL="0" indent="0">
              <a:buNone/>
            </a:pPr>
            <a:r>
              <a:rPr lang="en-US"/>
              <a:t>        qry2.allowCrossCompany( true );</a:t>
            </a:r>
          </a:p>
          <a:p>
            <a:pPr marL="0" indent="0">
              <a:buNone/>
            </a:pPr>
            <a:r>
              <a:rPr lang="en-US"/>
              <a:t>        qry2.addCompanyRange( '</a:t>
            </a:r>
            <a:r>
              <a:rPr lang="en-US" err="1"/>
              <a:t>dat</a:t>
            </a:r>
            <a:r>
              <a:rPr lang="en-US"/>
              <a:t>' );</a:t>
            </a:r>
          </a:p>
          <a:p>
            <a:pPr marL="0" indent="0">
              <a:buNone/>
            </a:pPr>
            <a:r>
              <a:rPr lang="en-US"/>
              <a:t>        qry2.addCompanyRange( '</a:t>
            </a:r>
            <a:r>
              <a:rPr lang="en-US" err="1"/>
              <a:t>twf</a:t>
            </a:r>
            <a:r>
              <a:rPr lang="en-US"/>
              <a:t>' );</a:t>
            </a:r>
          </a:p>
          <a:p>
            <a:pPr marL="0" indent="0">
              <a:buNone/>
            </a:pPr>
            <a:r>
              <a:rPr lang="en-US"/>
              <a:t>        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F66609-4401-8DF7-8AA2-007A601A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CrossCompany</a:t>
            </a:r>
            <a:r>
              <a:rPr lang="en-US"/>
              <a:t> Queries</a:t>
            </a:r>
            <a:br>
              <a:rPr lang="en-US"/>
            </a:br>
            <a:endParaRPr lang="en-US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CEAB1BCA-53CD-439A-9C6B-C797D3ED573E}"/>
              </a:ext>
            </a:extLst>
          </p:cNvPr>
          <p:cNvSpPr/>
          <p:nvPr/>
        </p:nvSpPr>
        <p:spPr>
          <a:xfrm>
            <a:off x="6675437" y="4525962"/>
            <a:ext cx="838487" cy="38502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27998ACE-4F16-4861-902E-1A9302200EC7}"/>
              </a:ext>
            </a:extLst>
          </p:cNvPr>
          <p:cNvSpPr/>
          <p:nvPr/>
        </p:nvSpPr>
        <p:spPr>
          <a:xfrm>
            <a:off x="6599237" y="5220712"/>
            <a:ext cx="838487" cy="38502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pic>
        <p:nvPicPr>
          <p:cNvPr id="4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E88C97B4-E0E0-9C36-7C2C-4AE083BCD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694947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9405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96ADF-FBA2-4279-928E-BD81F67831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X++ is good but what it can’t do, C# can do</a:t>
            </a:r>
          </a:p>
          <a:p>
            <a:pPr lvl="1"/>
            <a:r>
              <a:rPr lang="en-US"/>
              <a:t>Call an external web service</a:t>
            </a:r>
          </a:p>
          <a:p>
            <a:pPr lvl="1"/>
            <a:r>
              <a:rPr lang="en-US"/>
              <a:t>Handle JSON/XML tedium</a:t>
            </a:r>
          </a:p>
          <a:p>
            <a:pPr lvl="1"/>
            <a:r>
              <a:rPr lang="en-US"/>
              <a:t>FTP</a:t>
            </a:r>
          </a:p>
          <a:p>
            <a:pPr lvl="1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FFC5F-C7B0-BD72-DA4B-D4AB85AE3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C#</a:t>
            </a:r>
          </a:p>
        </p:txBody>
      </p:sp>
      <p:pic>
        <p:nvPicPr>
          <p:cNvPr id="6" name="Picture 5" descr="A cartoon cat with big eyes&#10;&#10;AI-generated content may be incorrect.">
            <a:extLst>
              <a:ext uri="{FF2B5EF4-FFF2-40B4-BE49-F238E27FC236}">
                <a16:creationId xmlns:a16="http://schemas.microsoft.com/office/drawing/2014/main" id="{7C09EBBA-4BD3-200D-F558-F0AFB573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145" y="3969099"/>
            <a:ext cx="3739110" cy="249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5888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96ADF-FBA2-4279-928E-BD81F67831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122" i="1">
                <a:solidFill>
                  <a:srgbClr val="707070"/>
                </a:solidFill>
                <a:latin typeface="+mn-lt"/>
              </a:rPr>
              <a:t>class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AAX_AzureQueueTest</a:t>
            </a:r>
            <a:br>
              <a:rPr lang="en-US" sz="1122" i="1">
                <a:solidFill>
                  <a:srgbClr val="707070"/>
                </a:solidFill>
                <a:latin typeface="+mn-lt"/>
              </a:rPr>
            </a:br>
            <a:r>
              <a:rPr lang="en-US" sz="1122" i="1">
                <a:solidFill>
                  <a:srgbClr val="707070"/>
                </a:solidFill>
                <a:latin typeface="+mn-lt"/>
              </a:rPr>
              <a:t>{</a:t>
            </a:r>
            <a:br>
              <a:rPr lang="en-US" sz="1122" i="1">
                <a:solidFill>
                  <a:srgbClr val="707070"/>
                </a:solidFill>
                <a:latin typeface="+mn-lt"/>
              </a:rPr>
            </a:br>
            <a:r>
              <a:rPr lang="en-US" sz="1122" i="1">
                <a:solidFill>
                  <a:srgbClr val="707070"/>
                </a:solidFill>
                <a:latin typeface="+mn-lt"/>
              </a:rPr>
              <a:t>    const str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connectionString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 = "Endpoint=sb://[urlName]servicebus.windows.net/;SharedAccessKeyName=[SharedAccessName];SharedAccessKey=[SharedAccessKey]=;EntityPath=[QueueName]";</a:t>
            </a:r>
            <a:br>
              <a:rPr lang="en-US" sz="1122" i="1">
                <a:solidFill>
                  <a:srgbClr val="707070"/>
                </a:solidFill>
                <a:latin typeface="+mn-lt"/>
              </a:rPr>
            </a:br>
            <a:r>
              <a:rPr lang="en-US" sz="1122" i="1">
                <a:solidFill>
                  <a:srgbClr val="707070"/>
                </a:solidFill>
                <a:latin typeface="+mn-lt"/>
              </a:rPr>
              <a:t>    public static void main(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Args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args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)</a:t>
            </a:r>
            <a:br>
              <a:rPr lang="en-US" sz="1122" i="1">
                <a:solidFill>
                  <a:srgbClr val="707070"/>
                </a:solidFill>
                <a:latin typeface="+mn-lt"/>
              </a:rPr>
            </a:br>
            <a:r>
              <a:rPr lang="en-US" sz="1122" i="1">
                <a:solidFill>
                  <a:srgbClr val="707070"/>
                </a:solidFill>
                <a:latin typeface="+mn-lt"/>
              </a:rPr>
              <a:t>    {</a:t>
            </a:r>
            <a:br>
              <a:rPr lang="en-US" sz="1122" i="1">
                <a:solidFill>
                  <a:srgbClr val="707070"/>
                </a:solidFill>
                <a:latin typeface="+mn-lt"/>
              </a:rPr>
            </a:br>
            <a:r>
              <a:rPr lang="en-US" sz="1122" i="1">
                <a:solidFill>
                  <a:srgbClr val="707070"/>
                </a:solidFill>
                <a:latin typeface="+mn-lt"/>
              </a:rPr>
              <a:t>       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AAX_AzureQueueLibrary.ReceiveAzureQueue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ReceiveAzureQueue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 = new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AAX_AzureQueueLibrary.ReceiveAzureQueue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();</a:t>
            </a:r>
            <a:br>
              <a:rPr lang="en-US" sz="1122" i="1">
                <a:solidFill>
                  <a:srgbClr val="707070"/>
                </a:solidFill>
                <a:latin typeface="+mn-lt"/>
              </a:rPr>
            </a:br>
            <a:r>
              <a:rPr lang="en-US" sz="1122" i="1">
                <a:solidFill>
                  <a:srgbClr val="707070"/>
                </a:solidFill>
                <a:latin typeface="+mn-lt"/>
              </a:rPr>
              <a:t>       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AAX_AzureQueueLibrary.SendAzureQueue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SendAzureQueue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 = new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AAX_AzureQueueLibrary.SendAzureQueue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();</a:t>
            </a:r>
          </a:p>
          <a:p>
            <a:pPr marL="0" indent="0">
              <a:buNone/>
            </a:pPr>
            <a:r>
              <a:rPr lang="en-US" sz="1122" i="1">
                <a:solidFill>
                  <a:srgbClr val="707070"/>
                </a:solidFill>
                <a:latin typeface="+mn-lt"/>
              </a:rPr>
              <a:t>        //x++ get a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guid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, not C#</a:t>
            </a:r>
            <a:br>
              <a:rPr lang="en-US" sz="1122" i="1">
                <a:solidFill>
                  <a:srgbClr val="707070"/>
                </a:solidFill>
                <a:latin typeface="+mn-lt"/>
              </a:rPr>
            </a:br>
            <a:r>
              <a:rPr lang="en-US" sz="1122" i="1">
                <a:solidFill>
                  <a:srgbClr val="707070"/>
                </a:solidFill>
                <a:latin typeface="+mn-lt"/>
              </a:rPr>
              <a:t>        str s = "Test Message " +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WinAPIServer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::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createGUID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();</a:t>
            </a:r>
          </a:p>
          <a:p>
            <a:pPr marL="0" indent="0">
              <a:buNone/>
            </a:pPr>
            <a:r>
              <a:rPr lang="en-US" sz="1122" i="1">
                <a:solidFill>
                  <a:srgbClr val="707070"/>
                </a:solidFill>
                <a:latin typeface="+mn-lt"/>
              </a:rPr>
              <a:t>       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SendAzureQueue.connect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connectionString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);</a:t>
            </a:r>
            <a:br>
              <a:rPr lang="en-US" sz="1122" i="1">
                <a:solidFill>
                  <a:srgbClr val="707070"/>
                </a:solidFill>
                <a:latin typeface="+mn-lt"/>
              </a:rPr>
            </a:br>
            <a:r>
              <a:rPr lang="en-US" sz="1122" i="1">
                <a:solidFill>
                  <a:srgbClr val="707070"/>
                </a:solidFill>
                <a:latin typeface="+mn-lt"/>
              </a:rPr>
              <a:t>       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SendAzureQueue.sendMessage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(s);</a:t>
            </a:r>
            <a:br>
              <a:rPr lang="en-US" sz="1122" i="1">
                <a:solidFill>
                  <a:srgbClr val="707070"/>
                </a:solidFill>
                <a:latin typeface="+mn-lt"/>
              </a:rPr>
            </a:br>
            <a:r>
              <a:rPr lang="en-US" sz="1122" i="1">
                <a:solidFill>
                  <a:srgbClr val="707070"/>
                </a:solidFill>
                <a:latin typeface="+mn-lt"/>
              </a:rPr>
              <a:t>       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SendAzureQueue.close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();</a:t>
            </a:r>
          </a:p>
          <a:p>
            <a:pPr marL="0" indent="0">
              <a:buNone/>
            </a:pPr>
            <a:r>
              <a:rPr lang="en-US" sz="1122" i="1">
                <a:solidFill>
                  <a:srgbClr val="707070"/>
                </a:solidFill>
                <a:latin typeface="+mn-lt"/>
              </a:rPr>
              <a:t>        info(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strFmt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("sent: %1", s));</a:t>
            </a:r>
            <a:br>
              <a:rPr lang="en-US" sz="1122" i="1">
                <a:solidFill>
                  <a:srgbClr val="707070"/>
                </a:solidFill>
                <a:latin typeface="+mn-lt"/>
              </a:rPr>
            </a:br>
            <a:r>
              <a:rPr lang="en-US" sz="1122" i="1">
                <a:solidFill>
                  <a:srgbClr val="707070"/>
                </a:solidFill>
                <a:latin typeface="+mn-lt"/>
              </a:rPr>
              <a:t>        s = "";</a:t>
            </a:r>
          </a:p>
          <a:p>
            <a:pPr marL="0" indent="0">
              <a:buNone/>
            </a:pPr>
            <a:r>
              <a:rPr lang="en-US" sz="1122" i="1">
                <a:solidFill>
                  <a:srgbClr val="707070"/>
                </a:solidFill>
                <a:latin typeface="+mn-lt"/>
              </a:rPr>
              <a:t>       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ReceiveAzureQueue.connect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connectionString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);</a:t>
            </a:r>
          </a:p>
          <a:p>
            <a:pPr marL="0" indent="0">
              <a:buNone/>
            </a:pPr>
            <a:r>
              <a:rPr lang="en-US" sz="1122" i="1">
                <a:solidFill>
                  <a:srgbClr val="707070"/>
                </a:solidFill>
                <a:latin typeface="+mn-lt"/>
              </a:rPr>
              <a:t>        s =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ReceiveAzureQueue.readMessage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();</a:t>
            </a:r>
          </a:p>
          <a:p>
            <a:pPr marL="0" indent="0">
              <a:buNone/>
            </a:pPr>
            <a:r>
              <a:rPr lang="en-US" sz="1122" i="1">
                <a:solidFill>
                  <a:srgbClr val="707070"/>
                </a:solidFill>
                <a:latin typeface="+mn-lt"/>
              </a:rPr>
              <a:t>       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ReceiveAzureQueue.completeMessage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();</a:t>
            </a:r>
          </a:p>
          <a:p>
            <a:pPr marL="0" indent="0">
              <a:buNone/>
            </a:pPr>
            <a:r>
              <a:rPr lang="en-US" sz="1122" i="1">
                <a:solidFill>
                  <a:srgbClr val="707070"/>
                </a:solidFill>
                <a:latin typeface="+mn-lt"/>
              </a:rPr>
              <a:t>        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ReceiveAzureQueue.close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();</a:t>
            </a:r>
          </a:p>
          <a:p>
            <a:pPr marL="0" indent="0">
              <a:buNone/>
            </a:pPr>
            <a:r>
              <a:rPr lang="en-US" sz="1122" i="1">
                <a:solidFill>
                  <a:srgbClr val="707070"/>
                </a:solidFill>
                <a:latin typeface="+mn-lt"/>
              </a:rPr>
              <a:t>        info(</a:t>
            </a:r>
            <a:r>
              <a:rPr lang="en-US" sz="1122" i="1" err="1">
                <a:solidFill>
                  <a:srgbClr val="707070"/>
                </a:solidFill>
                <a:latin typeface="+mn-lt"/>
              </a:rPr>
              <a:t>strFmt</a:t>
            </a:r>
            <a:r>
              <a:rPr lang="en-US" sz="1122" i="1">
                <a:solidFill>
                  <a:srgbClr val="707070"/>
                </a:solidFill>
                <a:latin typeface="+mn-lt"/>
              </a:rPr>
              <a:t>("Received: %1", s));</a:t>
            </a:r>
          </a:p>
          <a:p>
            <a:pPr marL="0" indent="0">
              <a:buNone/>
            </a:pPr>
            <a:r>
              <a:rPr lang="en-US" sz="1122" i="1">
                <a:solidFill>
                  <a:srgbClr val="707070"/>
                </a:solidFill>
                <a:latin typeface="+mn-lt"/>
              </a:rPr>
              <a:t>    }</a:t>
            </a:r>
          </a:p>
          <a:p>
            <a:pPr marL="0" indent="0">
              <a:buNone/>
            </a:pPr>
            <a:r>
              <a:rPr lang="en-US" sz="1122" i="1">
                <a:solidFill>
                  <a:srgbClr val="707070"/>
                </a:solidFill>
                <a:latin typeface="+mn-lt"/>
              </a:rPr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F3A4B8-6849-8004-4287-305C0B954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C#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50DFD-DB3A-4EE6-93D0-B73E57C6B871}"/>
              </a:ext>
            </a:extLst>
          </p:cNvPr>
          <p:cNvSpPr/>
          <p:nvPr/>
        </p:nvSpPr>
        <p:spPr>
          <a:xfrm>
            <a:off x="567231" y="2697163"/>
            <a:ext cx="10649527" cy="34331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6B632-1146-4270-A5AA-A93DC152FED9}"/>
              </a:ext>
            </a:extLst>
          </p:cNvPr>
          <p:cNvSpPr/>
          <p:nvPr/>
        </p:nvSpPr>
        <p:spPr>
          <a:xfrm>
            <a:off x="567231" y="4636961"/>
            <a:ext cx="5447251" cy="228393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46734-6A19-4E69-AC72-9D7922DC9210}"/>
              </a:ext>
            </a:extLst>
          </p:cNvPr>
          <p:cNvSpPr/>
          <p:nvPr/>
        </p:nvSpPr>
        <p:spPr>
          <a:xfrm>
            <a:off x="311270" y="1721959"/>
            <a:ext cx="10036905" cy="34331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3828A1-3314-6812-C926-0C0917F1065A}"/>
              </a:ext>
            </a:extLst>
          </p:cNvPr>
          <p:cNvSpPr/>
          <p:nvPr/>
        </p:nvSpPr>
        <p:spPr>
          <a:xfrm>
            <a:off x="567231" y="3497262"/>
            <a:ext cx="5447251" cy="228393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6"/>
          </a:p>
        </p:txBody>
      </p:sp>
      <p:pic>
        <p:nvPicPr>
          <p:cNvPr id="2" name="Picture 1" descr="A cartoon cat with big eyes&#10;&#10;AI-generated content may be incorrect.">
            <a:extLst>
              <a:ext uri="{FF2B5EF4-FFF2-40B4-BE49-F238E27FC236}">
                <a16:creationId xmlns:a16="http://schemas.microsoft.com/office/drawing/2014/main" id="{EF6F7C9E-7111-5B66-291A-549AA454E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145" y="3969099"/>
            <a:ext cx="3739110" cy="249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848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D3CA0-9F39-40C0-A563-DE22489078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Can’t locate an error that is being thrown? Add a breakpoint in </a:t>
            </a:r>
            <a:r>
              <a:rPr lang="en-US" err="1"/>
              <a:t>info.Add</a:t>
            </a:r>
            <a:r>
              <a:rPr lang="en-US"/>
              <a:t>() (on switch (</a:t>
            </a:r>
            <a:r>
              <a:rPr lang="en-US" err="1"/>
              <a:t>logLevel</a:t>
            </a:r>
            <a:r>
              <a:rPr lang="en-US"/>
              <a:t>))</a:t>
            </a:r>
          </a:p>
          <a:p>
            <a:r>
              <a:rPr lang="en-US"/>
              <a:t>Use </a:t>
            </a:r>
            <a:r>
              <a:rPr lang="en-US" err="1"/>
              <a:t>funcName</a:t>
            </a:r>
            <a:r>
              <a:rPr lang="en-US"/>
              <a:t>() to help with figuring problems out</a:t>
            </a:r>
          </a:p>
          <a:p>
            <a:r>
              <a:rPr lang="en-US" err="1"/>
              <a:t>QueryBuildDataSource.toString</a:t>
            </a:r>
            <a:r>
              <a:rPr lang="en-US"/>
              <a:t>() to see the SQL for a query</a:t>
            </a:r>
          </a:p>
          <a:p>
            <a:r>
              <a:rPr lang="en-US"/>
              <a:t>Data Entities can be temperamental; DB Sync, delete entity (from Data Entity Screen), rebuild list, test again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8540E4-CA94-E95D-19E7-9E714D25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Stuff</a:t>
            </a:r>
          </a:p>
        </p:txBody>
      </p:sp>
      <p:pic>
        <p:nvPicPr>
          <p:cNvPr id="6" name="Picture 5" descr="A cartoon character in a blue smoke&#10;&#10;AI-generated content may be incorrect.">
            <a:extLst>
              <a:ext uri="{FF2B5EF4-FFF2-40B4-BE49-F238E27FC236}">
                <a16:creationId xmlns:a16="http://schemas.microsoft.com/office/drawing/2014/main" id="{F4DE92BE-2869-9730-3B1B-0DE7EA7B0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747" y="4159894"/>
            <a:ext cx="4092346" cy="230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4962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D3CA0-9F39-40C0-A563-DE22489078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>
                <a:latin typeface="Poppins"/>
                <a:ea typeface="Verdana"/>
                <a:cs typeface="Poppins"/>
                <a:hlinkClick r:id="rId2"/>
              </a:rPr>
              <a:t>https://dynamics365musings.com/d365-development-learning-playlist/</a:t>
            </a:r>
            <a:r>
              <a:rPr lang="en-US" dirty="0">
                <a:latin typeface="Poppins"/>
                <a:ea typeface="Verdana"/>
                <a:cs typeface="Poppins"/>
              </a:rPr>
              <a:t> 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8540E4-CA94-E95D-19E7-9E714D25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"/>
                <a:cs typeface="Poppins"/>
              </a:rPr>
              <a:t>D365 X++ Developer Playlist</a:t>
            </a:r>
            <a:endParaRPr lang="en-US" dirty="0"/>
          </a:p>
        </p:txBody>
      </p:sp>
      <p:pic>
        <p:nvPicPr>
          <p:cNvPr id="2" name="Picture 1" descr="A cartoon cat with big eyes&#10;&#10;AI-generated content may be incorrect.">
            <a:extLst>
              <a:ext uri="{FF2B5EF4-FFF2-40B4-BE49-F238E27FC236}">
                <a16:creationId xmlns:a16="http://schemas.microsoft.com/office/drawing/2014/main" id="{7249F4B6-1C12-E432-817B-BD546B5B7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145" y="3969099"/>
            <a:ext cx="3739110" cy="249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3300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D3CA0-9F39-40C0-A563-DE22489078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>
                <a:latin typeface="Poppins"/>
                <a:ea typeface="Verdana"/>
                <a:cs typeface="Poppins"/>
                <a:hlinkClick r:id="rId2"/>
              </a:rPr>
              <a:t>https://learn.microsoft.com/en-us/dynamics365/fin-ops-core/dev-itpro/copilot/extend-copilot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8540E4-CA94-E95D-19E7-9E714D25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"/>
                <a:cs typeface="Poppins"/>
              </a:rPr>
              <a:t>Extend Copilot capabilities</a:t>
            </a: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0E320BA-C137-819B-ADDB-A2D19A58E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53" y="2478681"/>
            <a:ext cx="7129616" cy="2971685"/>
          </a:xfrm>
          <a:prstGeom prst="rect">
            <a:avLst/>
          </a:prstGeom>
        </p:spPr>
      </p:pic>
      <p:pic>
        <p:nvPicPr>
          <p:cNvPr id="7" name="Picture 6" descr="A cartoon character holding a hand&#10;&#10;AI-generated content may be incorrect.">
            <a:extLst>
              <a:ext uri="{FF2B5EF4-FFF2-40B4-BE49-F238E27FC236}">
                <a16:creationId xmlns:a16="http://schemas.microsoft.com/office/drawing/2014/main" id="{17F0E33B-ED6D-1C2F-F9D9-9FB673B7F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275" y="3480544"/>
            <a:ext cx="3203079" cy="298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0102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D3CA0-9F39-40C0-A563-DE22489078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wrap="square" lIns="146304" tIns="91440" rIns="146304" bIns="91440" rtlCol="0" anchor="t">
            <a:no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8540E4-CA94-E95D-19E7-9E714D25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"/>
                <a:cs typeface="Poppins"/>
              </a:rPr>
              <a:t>Copilot capabilities</a:t>
            </a: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2FAFCBD-1CC0-F521-58A7-F4B2E03C7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462" y="1038688"/>
            <a:ext cx="12432975" cy="595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6033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D3CA0-9F39-40C0-A563-DE22489078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wrap="square" lIns="146304" tIns="91440" rIns="146304" bIns="91440" rtlCol="0" anchor="t">
            <a:no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8540E4-CA94-E95D-19E7-9E714D25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"/>
                <a:cs typeface="Poppins"/>
              </a:rPr>
              <a:t>Copilot capabilities</a:t>
            </a:r>
            <a:endParaRPr lang="en-US" dirty="0"/>
          </a:p>
        </p:txBody>
      </p:sp>
      <p:pic>
        <p:nvPicPr>
          <p:cNvPr id="8" name="Content Placeholder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04BCBF7-23DB-ACCE-FAE6-857053CCF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48" y="1775158"/>
            <a:ext cx="5495241" cy="3536121"/>
          </a:xfrm>
          <a:prstGeom prst="rect">
            <a:avLst/>
          </a:prstGeom>
        </p:spPr>
      </p:pic>
      <p:pic>
        <p:nvPicPr>
          <p:cNvPr id="10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A0BBDFA9-9738-AB36-2929-A59CD0C36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446" y="2148010"/>
            <a:ext cx="5884432" cy="303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034667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D3CA0-9F39-40C0-A563-DE22489078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wrap="square" lIns="146304" tIns="91440" rIns="146304" bIns="91440" rtlCol="0" anchor="t">
            <a:no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8540E4-CA94-E95D-19E7-9E714D25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"/>
                <a:cs typeface="Poppins"/>
              </a:rPr>
              <a:t>Copilot capabilities</a:t>
            </a:r>
            <a:endParaRPr lang="en-US" dirty="0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4498AF64-3794-1D8D-8C50-ED0D2309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224"/>
            <a:ext cx="12432975" cy="672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82421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2BFAF7-3AC9-A919-97E1-067591B2BF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Top Picking: </a:t>
            </a:r>
            <a:r>
              <a:rPr lang="en-US" dirty="0">
                <a:hlinkClick r:id="rId2"/>
              </a:rPr>
              <a:t>https://www.atomicax.com/blog-entry/batchretryable-top-picking-batch-job-example</a:t>
            </a:r>
            <a:endParaRPr lang="en-US" dirty="0"/>
          </a:p>
          <a:p>
            <a:r>
              <a:rPr lang="en-US" dirty="0"/>
              <a:t>Bundles: </a:t>
            </a:r>
            <a:r>
              <a:rPr lang="en-US" dirty="0">
                <a:hlinkClick r:id="rId3"/>
              </a:rPr>
              <a:t>https://www.atomicax.com/blog-entry/batchretryable-bundled-batch-job-example</a:t>
            </a:r>
            <a:endParaRPr lang="en-US" dirty="0"/>
          </a:p>
          <a:p>
            <a:r>
              <a:rPr lang="en-US" dirty="0"/>
              <a:t>Induvial Task Models: </a:t>
            </a:r>
            <a:r>
              <a:rPr lang="en-US" dirty="0">
                <a:hlinkClick r:id="rId4"/>
              </a:rPr>
              <a:t>https://www.atomicax.com/blog-entry/batchretryable-individual-task-modeled-batch-job-example</a:t>
            </a:r>
            <a:endParaRPr lang="en-US" dirty="0"/>
          </a:p>
          <a:p>
            <a:r>
              <a:rPr lang="en-US" dirty="0"/>
              <a:t>“Classic”: </a:t>
            </a:r>
            <a:r>
              <a:rPr lang="en-US" dirty="0">
                <a:hlinkClick r:id="rId5"/>
              </a:rPr>
              <a:t>https://www.atomicax.com/blog-entry/batchretryable-runbasebatch-class</a:t>
            </a:r>
            <a:endParaRPr lang="en-US" dirty="0"/>
          </a:p>
          <a:p>
            <a:r>
              <a:rPr lang="en-US" dirty="0"/>
              <a:t>Also review Process Automations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A893B4-0F1D-4256-4D90-901DD38D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Batch Jobs</a:t>
            </a:r>
            <a:endParaRPr lang="en-US" dirty="0"/>
          </a:p>
        </p:txBody>
      </p:sp>
      <p:pic>
        <p:nvPicPr>
          <p:cNvPr id="7" name="Picture 6" descr="A cartoon character with a hand gesture&#10;&#10;AI-generated content may be incorrect.">
            <a:extLst>
              <a:ext uri="{FF2B5EF4-FFF2-40B4-BE49-F238E27FC236}">
                <a16:creationId xmlns:a16="http://schemas.microsoft.com/office/drawing/2014/main" id="{B1525E94-FCD5-AFCF-E083-05BEF602EE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231" y="4230355"/>
            <a:ext cx="1513698" cy="223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69435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7853A1-AD41-E5ED-8A85-FE1BD67F1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wrap="square" anchor="ctr">
            <a:normAutofit/>
          </a:bodyPr>
          <a:lstStyle/>
          <a:p>
            <a:r>
              <a:rPr lang="en-US" sz="3700" err="1"/>
              <a:t>Misc</a:t>
            </a:r>
            <a:r>
              <a:rPr lang="en-US" sz="3700"/>
              <a:t> Grab Bag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D693133A-9BCD-81C3-77C6-613D2B983E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661777"/>
              </p:ext>
            </p:extLst>
          </p:nvPr>
        </p:nvGraphicFramePr>
        <p:xfrm>
          <a:off x="731836" y="1668462"/>
          <a:ext cx="10972485" cy="4190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Cartoon character with hands on his stomach&#10;&#10;AI-generated content may be incorrect.">
            <a:extLst>
              <a:ext uri="{FF2B5EF4-FFF2-40B4-BE49-F238E27FC236}">
                <a16:creationId xmlns:a16="http://schemas.microsoft.com/office/drawing/2014/main" id="{FF2E3BA7-BB16-B596-E7F6-F7D0F2BBA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6112" y="4933739"/>
            <a:ext cx="1016417" cy="163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6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9AF1B0-4DAB-4458-0669-0DCD524B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1935162"/>
            <a:ext cx="6077634" cy="1351952"/>
          </a:xfrm>
          <a:ln>
            <a:noFill/>
          </a:ln>
        </p:spPr>
        <p:txBody>
          <a:bodyPr/>
          <a:lstStyle>
            <a:lvl1pPr>
              <a:defRPr sz="4400"/>
            </a:lvl1pPr>
          </a:lstStyle>
          <a:p>
            <a:r>
              <a:rPr lang="en-US" b="1">
                <a:solidFill>
                  <a:srgbClr val="1E275C"/>
                </a:solidFill>
              </a:rPr>
              <a:t>D365FO.Tools</a:t>
            </a:r>
          </a:p>
        </p:txBody>
      </p:sp>
      <p:pic>
        <p:nvPicPr>
          <p:cNvPr id="2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9ACF856A-E011-7EBF-6103-4A5EB94C0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694947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832560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9AF1B0-4DAB-4458-0669-0DCD524B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1935162"/>
            <a:ext cx="6077634" cy="1351952"/>
          </a:xfrm>
          <a:ln>
            <a:noFill/>
          </a:ln>
        </p:spPr>
        <p:txBody>
          <a:bodyPr/>
          <a:lstStyle>
            <a:lvl1pPr>
              <a:defRPr sz="4400"/>
            </a:lvl1pPr>
          </a:lstStyle>
          <a:p>
            <a:r>
              <a:rPr lang="en-US" b="1">
                <a:solidFill>
                  <a:srgbClr val="1E275C"/>
                </a:solidFill>
              </a:rPr>
              <a:t>Quality Of Life</a:t>
            </a:r>
          </a:p>
        </p:txBody>
      </p:sp>
    </p:spTree>
    <p:extLst>
      <p:ext uri="{BB962C8B-B14F-4D97-AF65-F5344CB8AC3E}">
        <p14:creationId xmlns:p14="http://schemas.microsoft.com/office/powerpoint/2010/main" val="318302254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F59453-AE3C-03C6-3649-3437DCC01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91" y="0"/>
            <a:ext cx="9717828" cy="1164444"/>
          </a:xfrm>
        </p:spPr>
        <p:txBody>
          <a:bodyPr wrap="square" anchor="ctr">
            <a:normAutofit/>
          </a:bodyPr>
          <a:lstStyle/>
          <a:p>
            <a:r>
              <a:rPr lang="en-US"/>
              <a:t>Copy data from excel to D365 grid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D8F4561D-0B6A-632C-45FC-2CF80380A24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265428955"/>
              </p:ext>
            </p:extLst>
          </p:nvPr>
        </p:nvGraphicFramePr>
        <p:xfrm>
          <a:off x="155456" y="1332521"/>
          <a:ext cx="12125563" cy="5129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blue cartoon character on a red surface&#10;&#10;AI-generated content may be incorrect.">
            <a:extLst>
              <a:ext uri="{FF2B5EF4-FFF2-40B4-BE49-F238E27FC236}">
                <a16:creationId xmlns:a16="http://schemas.microsoft.com/office/drawing/2014/main" id="{6F6734EA-2C7A-18D1-872E-2E5C2E54C1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1727" y="2885382"/>
            <a:ext cx="3609292" cy="206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46560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9043B-3C9B-419F-FA0A-05D50F4A267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wrap="square" lIns="93260" tIns="46630" rIns="93260" bIns="46630" rtlCol="0" anchor="t">
            <a:noAutofit/>
          </a:bodyPr>
          <a:lstStyle/>
          <a:p>
            <a:r>
              <a:rPr lang="en-US">
                <a:latin typeface="Poppins"/>
                <a:cs typeface="Poppins"/>
                <a:hlinkClick r:id="rId2"/>
              </a:rPr>
              <a:t>https://dynamics365musings.com/d365-table-browser/</a:t>
            </a:r>
            <a:endParaRPr lang="en-US">
              <a:latin typeface="Poppins"/>
              <a:cs typeface="Poppins"/>
            </a:endParaRPr>
          </a:p>
          <a:p>
            <a:r>
              <a:rPr lang="en-US"/>
              <a:t>https://</a:t>
            </a:r>
            <a:r>
              <a:rPr lang="en-US" b="1"/>
              <a:t>&lt;environmentURL&gt;</a:t>
            </a:r>
            <a:r>
              <a:rPr lang="en-US"/>
              <a:t>/?mi=SysTableBrowser&amp;tablename=</a:t>
            </a:r>
            <a:r>
              <a:rPr lang="en-US" b="1"/>
              <a:t>&lt;tablename&gt;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77E862-6379-4DA8-C1A9-71CB2C405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Poppins"/>
                <a:cs typeface="Poppins"/>
              </a:rPr>
              <a:t>Table Browser</a:t>
            </a:r>
            <a:endParaRPr lang="en-US"/>
          </a:p>
        </p:txBody>
      </p:sp>
      <p:pic>
        <p:nvPicPr>
          <p:cNvPr id="6" name="Picture 5" descr="A cartoon character running with shoes&#10;&#10;AI-generated content may be incorrect.">
            <a:extLst>
              <a:ext uri="{FF2B5EF4-FFF2-40B4-BE49-F238E27FC236}">
                <a16:creationId xmlns:a16="http://schemas.microsoft.com/office/drawing/2014/main" id="{1077877E-118C-4750-6234-4A7FF9F6F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886" y="2522014"/>
            <a:ext cx="3557430" cy="393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88074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66B12A-53EB-E82F-605F-FC7D5984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wrap="square" anchor="ctr">
            <a:normAutofit/>
          </a:bodyPr>
          <a:lstStyle/>
          <a:p>
            <a:r>
              <a:rPr lang="en-US" sz="3700"/>
              <a:t>Run Visual Studio as Admin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818A9-D8AA-44DB-AFCE-264184E64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668462"/>
            <a:ext cx="5390992" cy="4190999"/>
          </a:xfrm>
        </p:spPr>
        <p:txBody>
          <a:bodyPr wrap="square">
            <a:normAutofit/>
          </a:bodyPr>
          <a:lstStyle/>
          <a:p>
            <a:r>
              <a:rPr lang="en-US" sz="2800"/>
              <a:t>Start</a:t>
            </a:r>
          </a:p>
          <a:p>
            <a:r>
              <a:rPr lang="en-US" sz="2800"/>
              <a:t>Search for Visual Studio 2017</a:t>
            </a:r>
          </a:p>
          <a:p>
            <a:r>
              <a:rPr lang="en-US" sz="2800"/>
              <a:t>Right click &gt; Open file location</a:t>
            </a:r>
          </a:p>
          <a:p>
            <a:r>
              <a:rPr lang="en-US" sz="2800"/>
              <a:t>Find icon, right click &gt; Properties &gt; Advanced</a:t>
            </a:r>
          </a:p>
          <a:p>
            <a:r>
              <a:rPr lang="en-US" sz="2800"/>
              <a:t>Check “Run As Administrator”</a:t>
            </a:r>
          </a:p>
          <a:p>
            <a:endParaRPr lang="en-US" sz="2800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E3183490-531C-4A3D-9B6E-11FF7A5A1B1A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t="22259" r="3" b="3"/>
          <a:stretch>
            <a:fillRect/>
          </a:stretch>
        </p:blipFill>
        <p:spPr>
          <a:xfrm>
            <a:off x="6313328" y="1668462"/>
            <a:ext cx="5390992" cy="4190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521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C1B0AC-7F7A-00D3-872B-30E4A922E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 SSMS as Admin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818A9-D8AA-44DB-AFCE-264184E643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119188"/>
            <a:ext cx="11503025" cy="5240337"/>
          </a:xfrm>
        </p:spPr>
        <p:txBody>
          <a:bodyPr/>
          <a:lstStyle/>
          <a:p>
            <a:r>
              <a:rPr lang="en-US"/>
              <a:t>Nearly the same as for VS 2017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7A7B2-97F0-4FAB-B7BC-3DE52275D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7057" y="-5545"/>
            <a:ext cx="388536" cy="388536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A085F2A1-0707-4628-B3DE-4C527C9C3969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637" y="1782762"/>
            <a:ext cx="3875648" cy="373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62736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C1B0AC-7F7A-00D3-872B-30E4A922E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oppins"/>
                <a:cs typeface="Poppins"/>
              </a:rPr>
              <a:t>Extend Archive Framework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818A9-D8AA-44DB-AFCE-264184E6436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119188"/>
            <a:ext cx="11503025" cy="5240337"/>
          </a:xfr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sz="1800" dirty="0">
                <a:ea typeface="+mn-lt"/>
                <a:cs typeface="+mn-lt"/>
                <a:hlinkClick r:id="rId2"/>
              </a:rPr>
              <a:t>https://learn.microsoft.com/en-us/dynamics365/fin-ops-core/dev-itpro/sysadmin/archive-custom#finance-and-operations-table-names-in-live-history-and-dataverse-managed-data-lake-tables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 dirty="0">
                <a:solidFill>
                  <a:srgbClr val="161616"/>
                </a:solidFill>
                <a:latin typeface="Segoe UI"/>
                <a:cs typeface="Segoe UI"/>
              </a:rPr>
              <a:t>The archival framework supports extensions to include custom table fields and custom tables in supported functional scenarios.</a:t>
            </a:r>
            <a:endParaRPr lang="en-US" sz="1800" dirty="0">
              <a:cs typeface="segoe ui"/>
            </a:endParaRPr>
          </a:p>
          <a:p>
            <a:r>
              <a:rPr lang="en-US" sz="1800" dirty="0">
                <a:solidFill>
                  <a:srgbClr val="161616"/>
                </a:solidFill>
                <a:latin typeface="Segoe UI"/>
                <a:cs typeface="Segoe UI"/>
              </a:rPr>
              <a:t>Custom fields that are added to a standard table must be added to the corresponding history table and the business intelligence (BI) entity.</a:t>
            </a:r>
            <a:endParaRPr lang="en-US" sz="1800" dirty="0">
              <a:solidFill>
                <a:srgbClr val="161616"/>
              </a:solidFill>
              <a:latin typeface="Segoe UI"/>
            </a:endParaRPr>
          </a:p>
          <a:p>
            <a:r>
              <a:rPr lang="en-US" sz="1800" dirty="0">
                <a:solidFill>
                  <a:srgbClr val="161616"/>
                </a:solidFill>
                <a:latin typeface="Segoe UI"/>
                <a:cs typeface="Segoe UI"/>
              </a:rPr>
              <a:t>Extend the </a:t>
            </a:r>
            <a:r>
              <a:rPr lang="en-US" sz="1800" b="1" dirty="0" err="1">
                <a:solidFill>
                  <a:srgbClr val="161616"/>
                </a:solidFill>
                <a:latin typeface="Consolas"/>
                <a:cs typeface="Segoe UI"/>
              </a:rPr>
              <a:t>ArchiveAutomationJobRequestCreator</a:t>
            </a:r>
            <a:r>
              <a:rPr lang="en-US" sz="1800" b="1" dirty="0">
                <a:solidFill>
                  <a:srgbClr val="161616"/>
                </a:solidFill>
                <a:latin typeface="Segoe UI"/>
                <a:cs typeface="Segoe UI"/>
              </a:rPr>
              <a:t> </a:t>
            </a:r>
            <a:r>
              <a:rPr lang="en-US" sz="1800" dirty="0">
                <a:solidFill>
                  <a:srgbClr val="161616"/>
                </a:solidFill>
                <a:latin typeface="Segoe UI"/>
                <a:cs typeface="Segoe UI"/>
              </a:rPr>
              <a:t>class for a scenario to add the new table to archive table chart.</a:t>
            </a:r>
          </a:p>
          <a:p>
            <a:endParaRPr lang="en-US" sz="1200" dirty="0">
              <a:solidFill>
                <a:srgbClr val="161616"/>
              </a:solidFill>
              <a:latin typeface="Segoe UI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7A7B2-97F0-4FAB-B7BC-3DE52275D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7057" y="-5545"/>
            <a:ext cx="388536" cy="388536"/>
          </a:xfrm>
          <a:prstGeom prst="rect">
            <a:avLst/>
          </a:prstGeom>
        </p:spPr>
      </p:pic>
      <p:pic>
        <p:nvPicPr>
          <p:cNvPr id="7" name="Picture 6" descr="A cartoon character with lightning coming out of it&#10;&#10;AI-generated content may be incorrect.">
            <a:extLst>
              <a:ext uri="{FF2B5EF4-FFF2-40B4-BE49-F238E27FC236}">
                <a16:creationId xmlns:a16="http://schemas.microsoft.com/office/drawing/2014/main" id="{BC612CDC-D2C4-D397-57AA-6E006869D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319" y="3979907"/>
            <a:ext cx="4577006" cy="257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15433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A8C55-4F37-F395-B0DA-CC09A92887D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Using NOLOCK when directly querying SQL can show uncommitted records</a:t>
            </a:r>
          </a:p>
          <a:p>
            <a:r>
              <a:rPr lang="en-US"/>
              <a:t>Useful when debugging</a:t>
            </a:r>
          </a:p>
          <a:p>
            <a:r>
              <a:rPr lang="en-US"/>
              <a:t>I.e.:</a:t>
            </a:r>
            <a:br>
              <a:rPr lang="en-US"/>
            </a:br>
            <a:r>
              <a:rPr lang="en-US" sz="3264">
                <a:latin typeface="Courier New" panose="02070309020205020404" pitchFamily="49" charset="0"/>
              </a:rPr>
              <a:t>SELECT</a:t>
            </a:r>
            <a:r>
              <a:rPr lang="en-US" sz="3264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n-US" sz="3264">
                <a:latin typeface="Courier New" panose="02070309020205020404" pitchFamily="49" charset="0"/>
              </a:rPr>
              <a:t>*</a:t>
            </a:r>
            <a:br>
              <a:rPr lang="en-US" sz="3264"/>
            </a:br>
            <a:r>
              <a:rPr lang="en-US" sz="3264">
                <a:latin typeface="Courier New" panose="02070309020205020404" pitchFamily="49" charset="0"/>
              </a:rPr>
              <a:t>FROM</a:t>
            </a:r>
            <a:r>
              <a:rPr lang="en-US" sz="3264">
                <a:solidFill>
                  <a:srgbClr val="000000"/>
                </a:solidFill>
                <a:latin typeface="Courier New" panose="02070309020205020404" pitchFamily="49" charset="0"/>
              </a:rPr>
              <a:t>   </a:t>
            </a:r>
            <a:r>
              <a:rPr lang="en-US" sz="3264" err="1">
                <a:latin typeface="Courier New" panose="02070309020205020404" pitchFamily="49" charset="0"/>
              </a:rPr>
              <a:t>SalesTable</a:t>
            </a:r>
            <a:r>
              <a:rPr lang="en-US" sz="3264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n-US" sz="3264">
                <a:latin typeface="Courier New" panose="02070309020205020404" pitchFamily="49" charset="0"/>
              </a:rPr>
              <a:t>WITH</a:t>
            </a:r>
            <a:r>
              <a:rPr lang="en-US" sz="3264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n-US" sz="3264">
                <a:latin typeface="Courier New" panose="02070309020205020404" pitchFamily="49" charset="0"/>
              </a:rPr>
              <a:t>(</a:t>
            </a:r>
            <a:r>
              <a:rPr lang="en-US" sz="3264" err="1">
                <a:latin typeface="Courier New" panose="02070309020205020404" pitchFamily="49" charset="0"/>
              </a:rPr>
              <a:t>nolock</a:t>
            </a:r>
            <a:r>
              <a:rPr lang="en-US" sz="3264">
                <a:latin typeface="Courier New" panose="02070309020205020404" pitchFamily="49" charset="0"/>
              </a:rPr>
              <a:t>)</a:t>
            </a:r>
            <a:br>
              <a:rPr lang="en-US" sz="3264"/>
            </a:br>
            <a:r>
              <a:rPr lang="en-US" sz="3264">
                <a:latin typeface="Courier New" panose="02070309020205020404" pitchFamily="49" charset="0"/>
              </a:rPr>
              <a:t>WHERE</a:t>
            </a:r>
            <a:r>
              <a:rPr lang="en-US" sz="3264">
                <a:solidFill>
                  <a:srgbClr val="000000"/>
                </a:solidFill>
                <a:latin typeface="Courier New" panose="02070309020205020404" pitchFamily="49" charset="0"/>
              </a:rPr>
              <a:t>  </a:t>
            </a:r>
            <a:r>
              <a:rPr lang="en-US" sz="3264" err="1">
                <a:latin typeface="Courier New" panose="02070309020205020404" pitchFamily="49" charset="0"/>
              </a:rPr>
              <a:t>SalesId</a:t>
            </a:r>
            <a:r>
              <a:rPr lang="en-US" sz="3264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n-US" sz="3264">
                <a:latin typeface="Courier New" panose="02070309020205020404" pitchFamily="49" charset="0"/>
              </a:rPr>
              <a:t>=</a:t>
            </a:r>
            <a:r>
              <a:rPr lang="en-US" sz="3264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n-US" sz="3264">
                <a:latin typeface="Courier New" panose="02070309020205020404" pitchFamily="49" charset="0"/>
              </a:rPr>
              <a:t> ‘SO04381969’ </a:t>
            </a:r>
            <a:r>
              <a:rPr lang="en-US" sz="3264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3264">
                <a:latin typeface="Courier New" panose="02070309020205020404" pitchFamily="49" charset="0"/>
              </a:rPr>
              <a:t>   AND  </a:t>
            </a:r>
            <a:r>
              <a:rPr lang="en-US" sz="3264" err="1">
                <a:latin typeface="Courier New" panose="02070309020205020404" pitchFamily="49" charset="0"/>
              </a:rPr>
              <a:t>DataAreaId</a:t>
            </a:r>
            <a:r>
              <a:rPr lang="en-US" sz="3264">
                <a:latin typeface="Courier New" panose="02070309020205020404" pitchFamily="49" charset="0"/>
              </a:rPr>
              <a:t> = ‘USMF’</a:t>
            </a:r>
            <a:endParaRPr lang="en-US" sz="3264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A25D5-78E0-38CF-7CAE-FB2211CA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Querying in SQL w/ </a:t>
            </a:r>
            <a:r>
              <a:rPr lang="en-US" err="1"/>
              <a:t>nolock</a:t>
            </a:r>
            <a:endParaRPr lang="en-US"/>
          </a:p>
        </p:txBody>
      </p:sp>
      <p:pic>
        <p:nvPicPr>
          <p:cNvPr id="6" name="Picture 5" descr="Cartoon character with hands on his stomach&#10;&#10;AI-generated content may be incorrect.">
            <a:extLst>
              <a:ext uri="{FF2B5EF4-FFF2-40B4-BE49-F238E27FC236}">
                <a16:creationId xmlns:a16="http://schemas.microsoft.com/office/drawing/2014/main" id="{762B7B26-1DD5-D209-2056-E3095C48F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98" y="3748036"/>
            <a:ext cx="1611421" cy="25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95750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9AF1B0-4DAB-4458-0669-0DCD524B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1935162"/>
            <a:ext cx="6077634" cy="1351952"/>
          </a:xfrm>
          <a:ln>
            <a:noFill/>
          </a:ln>
        </p:spPr>
        <p:txBody>
          <a:bodyPr/>
          <a:lstStyle>
            <a:lvl1pPr>
              <a:defRPr sz="4400"/>
            </a:lvl1pPr>
          </a:lstStyle>
          <a:p>
            <a:r>
              <a:rPr lang="en-US" b="1">
                <a:solidFill>
                  <a:srgbClr val="1E275C"/>
                </a:solidFill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666410245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1C67FF-F2B2-B931-B6A5-BA4475E08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wrap="square" anchor="ctr">
            <a:normAutofit/>
          </a:bodyPr>
          <a:lstStyle/>
          <a:p>
            <a:r>
              <a:rPr lang="en-US" sz="3700"/>
              <a:t>Debugging Batch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FDC71-FAA9-4C21-AD4B-143F96FFC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668462"/>
            <a:ext cx="5390992" cy="4190999"/>
          </a:xfrm>
        </p:spPr>
        <p:txBody>
          <a:bodyPr wrap="square">
            <a:normAutofit/>
          </a:bodyPr>
          <a:lstStyle/>
          <a:p>
            <a:r>
              <a:rPr lang="en-US"/>
              <a:t>Attached to process</a:t>
            </a:r>
          </a:p>
          <a:p>
            <a:r>
              <a:rPr lang="en-US"/>
              <a:t>Show all processes from all users</a:t>
            </a:r>
          </a:p>
          <a:p>
            <a:r>
              <a:rPr lang="en-US"/>
              <a:t>Look for Batch.exe</a:t>
            </a:r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7B515AAD-30CA-41FF-921E-0E88C379314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3491" r="5180"/>
          <a:stretch>
            <a:fillRect/>
          </a:stretch>
        </p:blipFill>
        <p:spPr>
          <a:xfrm>
            <a:off x="6313328" y="1668462"/>
            <a:ext cx="5390992" cy="4190999"/>
          </a:xfrm>
          <a:prstGeom prst="rect">
            <a:avLst/>
          </a:prstGeom>
          <a:noFill/>
        </p:spPr>
      </p:pic>
      <p:pic>
        <p:nvPicPr>
          <p:cNvPr id="11" name="Picture 10" descr="A cartoon character pointing at something&#10;&#10;AI-generated content may be incorrect.">
            <a:extLst>
              <a:ext uri="{FF2B5EF4-FFF2-40B4-BE49-F238E27FC236}">
                <a16:creationId xmlns:a16="http://schemas.microsoft.com/office/drawing/2014/main" id="{0BFCDD46-CB8F-79B4-B2EA-F3C204E9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97" y="4626808"/>
            <a:ext cx="2276634" cy="178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4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DCC591-7A5A-8DC9-907A-1A722CCE0D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Have Breakpoints</a:t>
            </a:r>
          </a:p>
          <a:p>
            <a:r>
              <a:rPr lang="en-US" dirty="0"/>
              <a:t>Launch the debugger</a:t>
            </a:r>
          </a:p>
          <a:p>
            <a:r>
              <a:rPr lang="en-US" dirty="0"/>
              <a:t>That’s it.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44C984-0B3C-6B1C-8D33-9E824DDAB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with a UDE</a:t>
            </a:r>
          </a:p>
        </p:txBody>
      </p:sp>
    </p:spTree>
    <p:extLst>
      <p:ext uri="{BB962C8B-B14F-4D97-AF65-F5344CB8AC3E}">
        <p14:creationId xmlns:p14="http://schemas.microsoft.com/office/powerpoint/2010/main" val="3767569665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343714-3540-09A5-13FF-AE62717C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Loading Symbols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7E992-7E6D-40D0-9CA0-26DDB02B7AE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119188"/>
            <a:ext cx="11503025" cy="5240337"/>
          </a:xfrm>
        </p:spPr>
        <p:txBody>
          <a:bodyPr/>
          <a:lstStyle/>
          <a:p>
            <a:r>
              <a:rPr lang="en-US"/>
              <a:t>Tools &gt; Options</a:t>
            </a:r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AD4850A9-B2AB-42F5-AA93-559E66434B1F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394" y="1801768"/>
            <a:ext cx="5284752" cy="308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8785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29FC55-85D0-624A-6623-B0FA5B75B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Loading Symbols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AF08F-BF98-46C5-847A-B98AA7885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7057" y="-5545"/>
            <a:ext cx="388536" cy="388536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AD4850A9-B2AB-42F5-AA93-559E66434B1F}"/>
              </a:ext>
            </a:extLst>
          </p:cNvPr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337" y="1169469"/>
            <a:ext cx="7379890" cy="4304934"/>
          </a:xfrm>
          <a:prstGeom prst="rect">
            <a:avLst/>
          </a:prstGeom>
        </p:spPr>
      </p:pic>
      <p:sp>
        <p:nvSpPr>
          <p:cNvPr id="2" name="Arrow: Left 1">
            <a:extLst>
              <a:ext uri="{FF2B5EF4-FFF2-40B4-BE49-F238E27FC236}">
                <a16:creationId xmlns:a16="http://schemas.microsoft.com/office/drawing/2014/main" id="{FC6F02D1-EB4F-21FF-3AD9-C2C20E3D16BA}"/>
              </a:ext>
            </a:extLst>
          </p:cNvPr>
          <p:cNvSpPr/>
          <p:nvPr/>
        </p:nvSpPr>
        <p:spPr>
          <a:xfrm>
            <a:off x="9632056" y="1532101"/>
            <a:ext cx="704210" cy="759436"/>
          </a:xfrm>
          <a:prstGeom prst="lef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629" tIns="46629" rIns="46629" bIns="46629" numCol="1" spcCol="38100" rtlCol="0" anchor="ctr">
            <a:spAutoFit/>
          </a:bodyPr>
          <a:lstStyle/>
          <a:p>
            <a:pPr defTabSz="932597" hangingPunct="0"/>
            <a:endParaRPr lang="en-US" sz="18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D33FB277-B046-CE5D-5D55-F9B1F84DF854}"/>
              </a:ext>
            </a:extLst>
          </p:cNvPr>
          <p:cNvSpPr/>
          <p:nvPr/>
        </p:nvSpPr>
        <p:spPr>
          <a:xfrm>
            <a:off x="8085137" y="1919923"/>
            <a:ext cx="952500" cy="567535"/>
          </a:xfrm>
          <a:prstGeom prst="leftArrow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6629" tIns="46629" rIns="46629" bIns="46629" numCol="1" spcCol="38100" rtlCol="0" anchor="ctr">
            <a:spAutoFit/>
          </a:bodyPr>
          <a:lstStyle/>
          <a:p>
            <a:pPr defTabSz="932597" hangingPunct="0"/>
            <a:endParaRPr lang="en-US" sz="18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119352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6E130C-5B57-6704-AC9C-25F3A3E3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Loading Symbols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AAADBD-841B-C76A-815B-E2D7EE962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904" y="1440119"/>
            <a:ext cx="7066667" cy="4114286"/>
          </a:xfrm>
          <a:prstGeom prst="rect">
            <a:avLst/>
          </a:prstGeom>
        </p:spPr>
      </p:pic>
      <p:sp>
        <p:nvSpPr>
          <p:cNvPr id="6" name="Left Arrow 7">
            <a:extLst>
              <a:ext uri="{FF2B5EF4-FFF2-40B4-BE49-F238E27FC236}">
                <a16:creationId xmlns:a16="http://schemas.microsoft.com/office/drawing/2014/main" id="{59DD941B-6E65-2B65-E7C3-FADE4D56BBFA}"/>
              </a:ext>
            </a:extLst>
          </p:cNvPr>
          <p:cNvSpPr/>
          <p:nvPr/>
        </p:nvSpPr>
        <p:spPr>
          <a:xfrm rot="10800000">
            <a:off x="4656137" y="3421062"/>
            <a:ext cx="952500" cy="567535"/>
          </a:xfrm>
          <a:prstGeom prst="lef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629" tIns="46629" rIns="46629" bIns="46629" numCol="1" spcCol="38100" rtlCol="0" anchor="ctr">
            <a:spAutoFit/>
          </a:bodyPr>
          <a:lstStyle/>
          <a:p>
            <a:pPr defTabSz="932597" hangingPunct="0"/>
            <a:endParaRPr lang="en-US" sz="18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6525659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4850A9-B2AB-42F5-AA93-559E66434B1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2675380" y="1829852"/>
            <a:ext cx="7085714" cy="413333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9758E63-DF07-BAB8-AA4F-E84F683A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 all modules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AF08F-BF98-46C5-847A-B98AA7885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7057" y="-5545"/>
            <a:ext cx="388536" cy="388536"/>
          </a:xfrm>
          <a:prstGeom prst="rect">
            <a:avLst/>
          </a:prstGeom>
        </p:spPr>
      </p:pic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7FB17B77-40E4-475B-B0EC-C8ABCA08495C}"/>
              </a:ext>
            </a:extLst>
          </p:cNvPr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8237" y="1165182"/>
            <a:ext cx="8072297" cy="4708839"/>
          </a:xfrm>
          <a:prstGeom prst="rect">
            <a:avLst/>
          </a:prstGeom>
        </p:spPr>
      </p:pic>
      <p:sp>
        <p:nvSpPr>
          <p:cNvPr id="2" name="Arrow: Left 1">
            <a:extLst>
              <a:ext uri="{FF2B5EF4-FFF2-40B4-BE49-F238E27FC236}">
                <a16:creationId xmlns:a16="http://schemas.microsoft.com/office/drawing/2014/main" id="{FC6F02D1-EB4F-21FF-3AD9-C2C20E3D16BA}"/>
              </a:ext>
            </a:extLst>
          </p:cNvPr>
          <p:cNvSpPr/>
          <p:nvPr/>
        </p:nvSpPr>
        <p:spPr>
          <a:xfrm>
            <a:off x="7361237" y="1858697"/>
            <a:ext cx="704210" cy="759436"/>
          </a:xfrm>
          <a:prstGeom prst="lef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629" tIns="46629" rIns="46629" bIns="46629" numCol="1" spcCol="38100" rtlCol="0" anchor="ctr">
            <a:spAutoFit/>
          </a:bodyPr>
          <a:lstStyle/>
          <a:p>
            <a:pPr defTabSz="932597" hangingPunct="0"/>
            <a:endParaRPr lang="en-US" sz="18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D33FB277-B046-CE5D-5D55-F9B1F84DF854}"/>
              </a:ext>
            </a:extLst>
          </p:cNvPr>
          <p:cNvSpPr/>
          <p:nvPr/>
        </p:nvSpPr>
        <p:spPr>
          <a:xfrm>
            <a:off x="7818437" y="4030662"/>
            <a:ext cx="704210" cy="759436"/>
          </a:xfrm>
          <a:prstGeom prst="lef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629" tIns="46629" rIns="46629" bIns="46629" numCol="1" spcCol="38100" rtlCol="0" anchor="ctr">
            <a:spAutoFit/>
          </a:bodyPr>
          <a:lstStyle/>
          <a:p>
            <a:pPr defTabSz="932597" hangingPunct="0"/>
            <a:endParaRPr lang="en-US" sz="18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A cartoon character in a video game&#10;&#10;AI-generated content may be incorrect.">
            <a:extLst>
              <a:ext uri="{FF2B5EF4-FFF2-40B4-BE49-F238E27FC236}">
                <a16:creationId xmlns:a16="http://schemas.microsoft.com/office/drawing/2014/main" id="{3E33D326-56ED-6C0D-B8C2-6D265BC3B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453" y="5291799"/>
            <a:ext cx="2070122" cy="116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53083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9AF1B0-4DAB-4458-0669-0DCD524B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1935162"/>
            <a:ext cx="6077634" cy="1351952"/>
          </a:xfrm>
          <a:ln>
            <a:noFill/>
          </a:ln>
        </p:spPr>
        <p:txBody>
          <a:bodyPr/>
          <a:lstStyle>
            <a:lvl1pPr>
              <a:defRPr sz="4400"/>
            </a:lvl1pPr>
          </a:lstStyle>
          <a:p>
            <a:r>
              <a:rPr lang="en-US">
                <a:solidFill>
                  <a:srgbClr val="1E275C"/>
                </a:solidFill>
              </a:rPr>
              <a:t>Visual Studio </a:t>
            </a:r>
            <a:br>
              <a:rPr lang="en-US">
                <a:solidFill>
                  <a:srgbClr val="1E275C"/>
                </a:solidFill>
              </a:rPr>
            </a:br>
            <a:r>
              <a:rPr lang="en-US">
                <a:solidFill>
                  <a:srgbClr val="1E275C"/>
                </a:solidFill>
              </a:rPr>
              <a:t>Hidden Gems</a:t>
            </a:r>
            <a:endParaRPr lang="en-US" b="1">
              <a:solidFill>
                <a:srgbClr val="1E27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696770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BC9A8-F1A3-456F-CF4F-8AD1DDE483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Create code extension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44BBC0-A38D-767A-1104-0B393D06B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code extension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061907-4B8A-B1C6-28A2-AF8CB710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036" y="2087562"/>
            <a:ext cx="4677077" cy="4826362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98649643-0372-8563-BEC8-A6774C52A6C4}"/>
              </a:ext>
            </a:extLst>
          </p:cNvPr>
          <p:cNvSpPr/>
          <p:nvPr/>
        </p:nvSpPr>
        <p:spPr>
          <a:xfrm>
            <a:off x="2808573" y="4568790"/>
            <a:ext cx="1554339" cy="759436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6629" tIns="46629" rIns="46629" bIns="46629" numCol="1" spcCol="38100" rtlCol="0" anchor="ctr">
            <a:spAutoFit/>
          </a:bodyPr>
          <a:lstStyle/>
          <a:p>
            <a:pPr defTabSz="932597" hangingPunct="0"/>
            <a:endParaRPr lang="en-US" sz="18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toy figure made of building blocks&#10;&#10;AI-generated content may be incorrect.">
            <a:extLst>
              <a:ext uri="{FF2B5EF4-FFF2-40B4-BE49-F238E27FC236}">
                <a16:creationId xmlns:a16="http://schemas.microsoft.com/office/drawing/2014/main" id="{024F05E4-1095-FE28-71E7-4097A0FB7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619" y="4261426"/>
            <a:ext cx="214312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55702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F93A7C-71DC-3C03-CCDE-818FCC89993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Update model parameters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DE0182-9547-1152-5263-7B643F60C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 Model Parameters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F54FAD-E91C-8607-E9D2-8A7798A7A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355" y="1939836"/>
            <a:ext cx="7849602" cy="456084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A78DDFE-672F-464F-2D7B-8252F2F7AE6B}"/>
              </a:ext>
            </a:extLst>
          </p:cNvPr>
          <p:cNvSpPr/>
          <p:nvPr/>
        </p:nvSpPr>
        <p:spPr>
          <a:xfrm>
            <a:off x="138963" y="4030662"/>
            <a:ext cx="1554339" cy="759436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6629" tIns="46629" rIns="46629" bIns="46629" numCol="1" spcCol="38100" rtlCol="0" anchor="ctr">
            <a:spAutoFit/>
          </a:bodyPr>
          <a:lstStyle/>
          <a:p>
            <a:pPr defTabSz="932597" hangingPunct="0"/>
            <a:endParaRPr lang="en-US" sz="18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794514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3DBCB1-5CB3-22FE-B9B4-6F634DAA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Debug items in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4B5BA9-DF93-D54F-5A8B-A80EA80E2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460" y="1975075"/>
            <a:ext cx="6289763" cy="3629996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73800E07-44D1-E0C3-0242-11BEF0026EF6}"/>
              </a:ext>
            </a:extLst>
          </p:cNvPr>
          <p:cNvSpPr/>
          <p:nvPr/>
        </p:nvSpPr>
        <p:spPr>
          <a:xfrm>
            <a:off x="2332037" y="2430462"/>
            <a:ext cx="1554339" cy="759436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6629" tIns="46629" rIns="46629" bIns="46629" numCol="1" spcCol="38100" rtlCol="0" anchor="ctr">
            <a:spAutoFit/>
          </a:bodyPr>
          <a:lstStyle/>
          <a:p>
            <a:pPr defTabSz="932597" hangingPunct="0"/>
            <a:endParaRPr lang="en-US" sz="18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08047E-83E4-1AED-D431-FE02EE870F9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67265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F7DF06-A653-6653-53C8-3C6DA5F3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 Labels in label file by 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6DF598-8E31-783C-244D-EF5A962AC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076" y="997561"/>
            <a:ext cx="8491223" cy="4999402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3C1F84EB-2583-29AB-20AB-23A830756DA0}"/>
              </a:ext>
            </a:extLst>
          </p:cNvPr>
          <p:cNvSpPr/>
          <p:nvPr/>
        </p:nvSpPr>
        <p:spPr>
          <a:xfrm>
            <a:off x="5555843" y="2368925"/>
            <a:ext cx="1554339" cy="759436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6629" tIns="46629" rIns="46629" bIns="46629" numCol="1" spcCol="38100" rtlCol="0" anchor="ctr">
            <a:spAutoFit/>
          </a:bodyPr>
          <a:lstStyle/>
          <a:p>
            <a:pPr defTabSz="932597" hangingPunct="0"/>
            <a:endParaRPr lang="en-US" sz="18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15BB7F-3565-5A51-F082-FEF1E014AE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51710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EC4285-03AA-F702-84D2-140427E3D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 Options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30A5F-EBB7-6CA1-7425-C47362570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577" y="1034483"/>
            <a:ext cx="5855732" cy="579194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C7ECD5F-2961-189C-79F5-47EAB3001D67}"/>
              </a:ext>
            </a:extLst>
          </p:cNvPr>
          <p:cNvSpPr/>
          <p:nvPr/>
        </p:nvSpPr>
        <p:spPr>
          <a:xfrm>
            <a:off x="3170237" y="2887662"/>
            <a:ext cx="2438400" cy="7239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6629" tIns="46629" rIns="46629" bIns="46629" numCol="1" spcCol="38100" rtlCol="0" anchor="ctr">
            <a:spAutoFit/>
          </a:bodyPr>
          <a:lstStyle/>
          <a:p>
            <a:pPr defTabSz="932597" hangingPunct="0"/>
            <a:endParaRPr lang="en-US" sz="18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2743617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A46B7D3-9824-485C-82FB-4FA86A7FB56D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8240" y="1293663"/>
            <a:ext cx="742950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9314855-1014-C0F4-AF9B-EFE7719E7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Dark Mode Plus Custom Colors</a:t>
            </a: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DC338CC6-B34B-EACD-B3D4-549D47D57F5B}"/>
              </a:ext>
            </a:extLst>
          </p:cNvPr>
          <p:cNvSpPr/>
          <p:nvPr/>
        </p:nvSpPr>
        <p:spPr>
          <a:xfrm>
            <a:off x="9511440" y="2063569"/>
            <a:ext cx="704210" cy="759436"/>
          </a:xfrm>
          <a:prstGeom prst="lef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629" tIns="46629" rIns="46629" bIns="46629" numCol="1" spcCol="38100" rtlCol="0" anchor="ctr">
            <a:spAutoFit/>
          </a:bodyPr>
          <a:lstStyle/>
          <a:p>
            <a:pPr defTabSz="932597" hangingPunct="0"/>
            <a:endParaRPr lang="en-US" sz="18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cartoon character running in a blue background&#10;&#10;AI-generated content may be incorrect.">
            <a:extLst>
              <a:ext uri="{FF2B5EF4-FFF2-40B4-BE49-F238E27FC236}">
                <a16:creationId xmlns:a16="http://schemas.microsoft.com/office/drawing/2014/main" id="{7AA98FF9-F403-35C4-9B3B-0EC320BA4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91" y="4286247"/>
            <a:ext cx="3894883" cy="219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73920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3BD1A163-F798-4155-B804-0E87E720B31F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87834" y="1400360"/>
            <a:ext cx="7327445" cy="512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45E038-A265-ACEC-0F59-88030212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Dark Mode Plus Custom Colors</a:t>
            </a:r>
          </a:p>
        </p:txBody>
      </p:sp>
    </p:spTree>
    <p:extLst>
      <p:ext uri="{BB962C8B-B14F-4D97-AF65-F5344CB8AC3E}">
        <p14:creationId xmlns:p14="http://schemas.microsoft.com/office/powerpoint/2010/main" val="4065078040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C314-A1AA-66C0-D5A0-78665616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Metadata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E109-4BFC-46F1-873E-6A88B44AAC3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119188"/>
            <a:ext cx="11503025" cy="5240337"/>
          </a:xfrm>
        </p:spPr>
        <p:txBody>
          <a:bodyPr/>
          <a:lstStyle/>
          <a:p>
            <a:r>
              <a:rPr lang="en-US"/>
              <a:t>Search on any option, value, metadata, whatever, on an element</a:t>
            </a:r>
          </a:p>
          <a:p>
            <a:r>
              <a:rPr lang="en-US" err="1"/>
              <a:t>type:"form</a:t>
            </a:r>
            <a:r>
              <a:rPr lang="en-US"/>
              <a:t>" </a:t>
            </a:r>
            <a:r>
              <a:rPr lang="en-US" err="1"/>
              <a:t>ccount</a:t>
            </a:r>
            <a:endParaRPr lang="en-US"/>
          </a:p>
          <a:p>
            <a:r>
              <a:rPr lang="en-US" err="1"/>
              <a:t>type:"class</a:t>
            </a:r>
            <a:r>
              <a:rPr lang="en-US"/>
              <a:t>"  </a:t>
            </a:r>
            <a:r>
              <a:rPr lang="en-US" err="1"/>
              <a:t>extensionpoint</a:t>
            </a:r>
            <a:r>
              <a:rPr lang="en-US"/>
              <a:t>:"</a:t>
            </a:r>
            <a:r>
              <a:rPr lang="en-US" err="1"/>
              <a:t>eventhandlers,eventdelegates</a:t>
            </a:r>
            <a:r>
              <a:rPr lang="en-US"/>
              <a:t>"</a:t>
            </a:r>
          </a:p>
        </p:txBody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C53A7D00-709B-4D46-AB42-0EA250C0E98A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037" y="3840482"/>
            <a:ext cx="3921119" cy="2207690"/>
          </a:xfrm>
          <a:prstGeom prst="rect">
            <a:avLst/>
          </a:prstGeom>
        </p:spPr>
      </p:pic>
      <p:pic>
        <p:nvPicPr>
          <p:cNvPr id="6" name="Picture 5" descr="A pair of rubber ducks&#10;&#10;AI-generated content may be incorrect.">
            <a:extLst>
              <a:ext uri="{FF2B5EF4-FFF2-40B4-BE49-F238E27FC236}">
                <a16:creationId xmlns:a16="http://schemas.microsoft.com/office/drawing/2014/main" id="{2CD0D6BD-F6E1-6D33-89FA-9A84AED37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414396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69808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E109-4BFC-46F1-873E-6A88B44AAC3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856"/>
              <a:t>type:"</a:t>
            </a:r>
            <a:r>
              <a:rPr lang="en-US" sz="2856" err="1"/>
              <a:t>dataentityview</a:t>
            </a:r>
            <a:r>
              <a:rPr lang="en-US" sz="2856"/>
              <a:t>"  property:"</a:t>
            </a:r>
            <a:r>
              <a:rPr lang="en-US" sz="2856" err="1"/>
              <a:t>PublicCollectionName</a:t>
            </a:r>
            <a:r>
              <a:rPr lang="en-US" sz="2856"/>
              <a:t>=</a:t>
            </a:r>
            <a:r>
              <a:rPr lang="en-US" sz="2856" err="1"/>
              <a:t>CustomerStatisticsGroups</a:t>
            </a:r>
            <a:r>
              <a:rPr lang="en-US" sz="2856"/>
              <a:t>"</a:t>
            </a:r>
          </a:p>
          <a:p>
            <a:r>
              <a:rPr lang="en-US" sz="2856"/>
              <a:t>type:"</a:t>
            </a:r>
            <a:r>
              <a:rPr lang="en-US" sz="2856" err="1"/>
              <a:t>dataentityview</a:t>
            </a:r>
            <a:r>
              <a:rPr lang="en-US" sz="2856"/>
              <a:t>"  property:"</a:t>
            </a:r>
            <a:r>
              <a:rPr lang="en-US" sz="2856" err="1"/>
              <a:t>PublicEntityName</a:t>
            </a:r>
            <a:r>
              <a:rPr lang="en-US" sz="2856"/>
              <a:t>=</a:t>
            </a:r>
            <a:r>
              <a:rPr lang="en-US" sz="2856" err="1"/>
              <a:t>CustomerStatisticsGroup</a:t>
            </a:r>
            <a:r>
              <a:rPr lang="en-US" sz="2856"/>
              <a:t>"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B2118B-144E-8EFB-756C-63191325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Metadata Search</a:t>
            </a:r>
          </a:p>
        </p:txBody>
      </p:sp>
      <p:pic>
        <p:nvPicPr>
          <p:cNvPr id="4" name="Picture 2" descr="Dr. Ivo Robotnik (Sonic Cinematic Universe) | Villainous Benchmark Wiki |  Fandom">
            <a:extLst>
              <a:ext uri="{FF2B5EF4-FFF2-40B4-BE49-F238E27FC236}">
                <a16:creationId xmlns:a16="http://schemas.microsoft.com/office/drawing/2014/main" id="{4CD91037-2B29-C0BB-540D-1B01D042B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191" y="5700294"/>
            <a:ext cx="687284" cy="94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016795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CE6D3-CD0C-6693-85DE-CF10C15F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91" y="0"/>
            <a:ext cx="9717828" cy="1164444"/>
          </a:xfrm>
        </p:spPr>
        <p:txBody>
          <a:bodyPr wrap="square" anchor="ctr">
            <a:normAutofit/>
          </a:bodyPr>
          <a:lstStyle/>
          <a:p>
            <a:r>
              <a:rPr lang="en-US"/>
              <a:t>TRUDUtilsD365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8F25ED5-07E5-237F-4933-483EF735ACF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80779939"/>
              </p:ext>
            </p:extLst>
          </p:nvPr>
        </p:nvGraphicFramePr>
        <p:xfrm>
          <a:off x="155456" y="1332521"/>
          <a:ext cx="12125563" cy="5129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 descr="A person wearing goggles and a mustache&#10;&#10;AI-generated content may be incorrect.">
            <a:extLst>
              <a:ext uri="{FF2B5EF4-FFF2-40B4-BE49-F238E27FC236}">
                <a16:creationId xmlns:a16="http://schemas.microsoft.com/office/drawing/2014/main" id="{85594076-3897-2682-4AFD-CAD42F5D98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6556" y="4191122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91232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CA208A-AA23-9664-32A1-ECF1D948383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55575" y="1836836"/>
            <a:ext cx="12125325" cy="411936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91382C-472E-AECD-E5C8-77B9A78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VS E: on Form Extensions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806E81A3-B706-B905-53E8-5CB6C2D39AFC}"/>
              </a:ext>
            </a:extLst>
          </p:cNvPr>
          <p:cNvSpPr/>
          <p:nvPr/>
        </p:nvSpPr>
        <p:spPr bwMode="auto">
          <a:xfrm>
            <a:off x="312737" y="2011362"/>
            <a:ext cx="457200" cy="152400"/>
          </a:xfrm>
          <a:prstGeom prst="leftArrow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860173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91382C-472E-AECD-E5C8-77B9A78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VS L: on Form Extensions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806E81A3-B706-B905-53E8-5CB6C2D39AFC}"/>
              </a:ext>
            </a:extLst>
          </p:cNvPr>
          <p:cNvSpPr/>
          <p:nvPr/>
        </p:nvSpPr>
        <p:spPr bwMode="auto">
          <a:xfrm>
            <a:off x="312737" y="2011362"/>
            <a:ext cx="457200" cy="152400"/>
          </a:xfrm>
          <a:prstGeom prst="leftArrow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1C58FF7-A34A-6278-734B-29D5D99DEC5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55575" y="1874455"/>
            <a:ext cx="12125325" cy="4044127"/>
          </a:xfrm>
        </p:spPr>
      </p:pic>
      <p:sp>
        <p:nvSpPr>
          <p:cNvPr id="13" name="Left Arrow 5">
            <a:extLst>
              <a:ext uri="{FF2B5EF4-FFF2-40B4-BE49-F238E27FC236}">
                <a16:creationId xmlns:a16="http://schemas.microsoft.com/office/drawing/2014/main" id="{2758FB90-FCFF-8BA1-4664-D99E3E696EB5}"/>
              </a:ext>
            </a:extLst>
          </p:cNvPr>
          <p:cNvSpPr/>
          <p:nvPr/>
        </p:nvSpPr>
        <p:spPr bwMode="auto">
          <a:xfrm>
            <a:off x="318669" y="2087562"/>
            <a:ext cx="457200" cy="152400"/>
          </a:xfrm>
          <a:prstGeom prst="leftArrow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48952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52DD2-5AD1-0ECE-8EFB-94285A41F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8D3B1D7-E05C-7E0F-E52E-029E668C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1935162"/>
            <a:ext cx="6077634" cy="1351952"/>
          </a:xfrm>
          <a:ln>
            <a:noFill/>
          </a:ln>
        </p:spPr>
        <p:txBody>
          <a:bodyPr/>
          <a:lstStyle>
            <a:lvl1pPr>
              <a:defRPr sz="4400"/>
            </a:lvl1pPr>
          </a:lstStyle>
          <a:p>
            <a:r>
              <a:rPr lang="en-US" b="1" dirty="0"/>
              <a:t>New Things for UDE’s</a:t>
            </a:r>
            <a:endParaRPr lang="en-US" b="1" dirty="0">
              <a:solidFill>
                <a:srgbClr val="1E27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551658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0AE17E-96CB-AB87-40BC-D8326C7E7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91" y="0"/>
            <a:ext cx="9717828" cy="1164444"/>
          </a:xfrm>
        </p:spPr>
        <p:txBody>
          <a:bodyPr wrap="square" anchor="ctr">
            <a:normAutofit/>
          </a:bodyPr>
          <a:lstStyle/>
          <a:p>
            <a:r>
              <a:rPr lang="en-US"/>
              <a:t>UDE Things</a:t>
            </a:r>
            <a:endParaRPr lang="en-US" dirty="0"/>
          </a:p>
        </p:txBody>
      </p: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BDD24B4C-4ACB-B15E-F22F-0C1A99B2753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119370088"/>
              </p:ext>
            </p:extLst>
          </p:nvPr>
        </p:nvGraphicFramePr>
        <p:xfrm>
          <a:off x="155456" y="1332521"/>
          <a:ext cx="12125563" cy="5129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Cartoon character holding a diamond&#10;&#10;AI-generated content may be incorrect.">
            <a:extLst>
              <a:ext uri="{FF2B5EF4-FFF2-40B4-BE49-F238E27FC236}">
                <a16:creationId xmlns:a16="http://schemas.microsoft.com/office/drawing/2014/main" id="{AEF447BD-A5A9-E8A6-3063-6DD89AA8ED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375" y="3997478"/>
            <a:ext cx="3290050" cy="246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688196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F46619-04BA-712E-9B50-D5B593144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wrap="square" anchor="ctr">
            <a:normAutofit/>
          </a:bodyPr>
          <a:lstStyle/>
          <a:p>
            <a:r>
              <a:rPr lang="en-US" sz="3700"/>
              <a:t>Resources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4551D2-431C-41CC-84E5-71303A352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668462"/>
            <a:ext cx="10972485" cy="4190999"/>
          </a:xfrm>
        </p:spPr>
        <p:txBody>
          <a:bodyPr wrap="square">
            <a:normAutofit/>
          </a:bodyPr>
          <a:lstStyle/>
          <a:p>
            <a:r>
              <a:rPr lang="en-US" sz="2300">
                <a:hlinkClick r:id="rId2"/>
              </a:rPr>
              <a:t>http://www.atomicax.com/article/d365fotools-and-vs2017-manhattan-project</a:t>
            </a:r>
            <a:endParaRPr lang="en-US" sz="2300"/>
          </a:p>
          <a:p>
            <a:r>
              <a:rPr lang="en-US" sz="2300">
                <a:hlinkClick r:id="rId3"/>
              </a:rPr>
              <a:t>https://docs.microsoft.com/en-us/dynamics365/fin-ops-core/dev-itpro/dev-ref/xpp-business-run-time-functions</a:t>
            </a:r>
            <a:endParaRPr lang="en-US" sz="2300"/>
          </a:p>
          <a:p>
            <a:r>
              <a:rPr lang="en-US" sz="2300">
                <a:hlinkClick r:id="rId4"/>
              </a:rPr>
              <a:t>https://docs.microsoft.com/en-us/dynamics365/fin-ops-core/dev-itpro/dev-ref/xpp-string-run-time-functions</a:t>
            </a:r>
            <a:endParaRPr lang="en-US" sz="2300"/>
          </a:p>
          <a:p>
            <a:r>
              <a:rPr lang="en-US" sz="2300">
                <a:hlinkClick r:id="rId5"/>
              </a:rPr>
              <a:t>https://jatomas.com/en/2020/05/02/dark-mode-visual-studio-x-code-editor/</a:t>
            </a:r>
            <a:endParaRPr lang="en-US" sz="2300"/>
          </a:p>
          <a:p>
            <a:r>
              <a:rPr lang="en-US" sz="2300">
                <a:hlinkClick r:id="rId6"/>
              </a:rPr>
              <a:t>https://dynamics365musings.com/d365-sales-order-totals/</a:t>
            </a:r>
            <a:endParaRPr lang="en-US" sz="2300"/>
          </a:p>
          <a:p>
            <a:r>
              <a:rPr lang="en-US" sz="2300">
                <a:hlinkClick r:id="rId7"/>
              </a:rPr>
              <a:t>https://www.youtube.com/watch?v=QrIjTN6Vey4&amp;t=149s</a:t>
            </a:r>
            <a:r>
              <a:rPr lang="en-US" sz="2300"/>
              <a:t> </a:t>
            </a:r>
          </a:p>
          <a:p>
            <a:r>
              <a:rPr lang="en-US" sz="2300">
                <a:hlinkClick r:id="rId8"/>
              </a:rPr>
              <a:t>https://sangeethwiki.blogspot.com/2017/09/extensible-controls-in-dynamics-365-for.html</a:t>
            </a:r>
            <a:endParaRPr lang="en-US" sz="2300"/>
          </a:p>
          <a:p>
            <a:pPr marL="0" indent="0">
              <a:buNone/>
            </a:pPr>
            <a:endParaRPr lang="en-US" sz="2300"/>
          </a:p>
          <a:p>
            <a:endParaRPr lang="en-US" sz="2300"/>
          </a:p>
          <a:p>
            <a:endParaRPr lang="en-US" sz="2300"/>
          </a:p>
          <a:p>
            <a:endParaRPr lang="en-US" sz="2300"/>
          </a:p>
        </p:txBody>
      </p:sp>
    </p:spTree>
    <p:extLst>
      <p:ext uri="{BB962C8B-B14F-4D97-AF65-F5344CB8AC3E}">
        <p14:creationId xmlns:p14="http://schemas.microsoft.com/office/powerpoint/2010/main" val="330911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F46619-04BA-712E-9B50-D5B593144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</p:spPr>
        <p:txBody>
          <a:bodyPr wrap="square" anchor="ctr">
            <a:normAutofit/>
          </a:bodyPr>
          <a:lstStyle/>
          <a:p>
            <a:r>
              <a:rPr lang="en-US" sz="3700"/>
              <a:t>Resources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4551D2-431C-41CC-84E5-71303A352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668462"/>
            <a:ext cx="10972485" cy="4190999"/>
          </a:xfrm>
        </p:spPr>
        <p:txBody>
          <a:bodyPr wrap="square">
            <a:normAutofit/>
          </a:bodyPr>
          <a:lstStyle/>
          <a:p>
            <a:r>
              <a:rPr lang="en-US" sz="2800">
                <a:hlinkClick r:id="rId2"/>
              </a:rPr>
              <a:t>https://ariste.info/en/2021/06/socratex-application-checker/</a:t>
            </a:r>
            <a:endParaRPr lang="en-US" sz="2800"/>
          </a:p>
          <a:p>
            <a:r>
              <a:rPr lang="en-US" sz="2800">
                <a:hlinkClick r:id="rId3"/>
              </a:rPr>
              <a:t>https://github.com/TrudAX/TRUDUtilsD365</a:t>
            </a:r>
            <a:endParaRPr lang="en-US" sz="2800"/>
          </a:p>
          <a:p>
            <a:r>
              <a:rPr lang="en-US" sz="2800">
                <a:hlinkClick r:id="rId4"/>
              </a:rPr>
              <a:t>https://devblogs.microsoft.com/powerplatform/the-unified-development-environment-is-ga/</a:t>
            </a:r>
            <a:endParaRPr lang="en-US" sz="2800"/>
          </a:p>
          <a:p>
            <a:r>
              <a:rPr lang="en-US" sz="2800">
                <a:hlinkClick r:id="rId5"/>
              </a:rPr>
              <a:t>https://learn.microsoft.com/en-us/power-platform/developer/unified-experience/finance-operations-dev-overview</a:t>
            </a:r>
            <a:endParaRPr lang="en-US" sz="2800"/>
          </a:p>
          <a:p>
            <a:r>
              <a:rPr lang="en-US" sz="2800">
                <a:hlinkClick r:id="rId6"/>
              </a:rPr>
              <a:t>https://dynamics365musings.com/x-development-boost-your-development-skills-with-proven-tips-and-tricks/</a:t>
            </a:r>
            <a:endParaRPr 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00131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9AF1B0-4DAB-4458-0669-0DCD524B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1935162"/>
            <a:ext cx="6077634" cy="1351952"/>
          </a:xfrm>
          <a:ln>
            <a:noFill/>
          </a:ln>
        </p:spPr>
        <p:txBody>
          <a:bodyPr/>
          <a:lstStyle>
            <a:lvl1pPr>
              <a:defRPr sz="4400"/>
            </a:lvl1pPr>
          </a:lstStyle>
          <a:p>
            <a:r>
              <a:rPr lang="en-US" b="1">
                <a:solidFill>
                  <a:srgbClr val="1E275C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258324132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1C1F4-3AA8-4E12-82D1-6845340887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5456" y="1332521"/>
            <a:ext cx="5605581" cy="5129318"/>
          </a:xfrm>
        </p:spPr>
        <p:txBody>
          <a:bodyPr/>
          <a:lstStyle/>
          <a:p>
            <a:r>
              <a:rPr lang="en-US" sz="2448" dirty="0">
                <a:solidFill>
                  <a:schemeClr val="tx1"/>
                </a:solidFill>
              </a:rPr>
              <a:t>Nathan Clouse</a:t>
            </a:r>
          </a:p>
          <a:p>
            <a:r>
              <a:rPr lang="en-US" sz="2448" dirty="0">
                <a:hlinkClick r:id="rId2"/>
              </a:rPr>
              <a:t>www.atomicax.com</a:t>
            </a:r>
            <a:endParaRPr lang="en-US" sz="2448" dirty="0"/>
          </a:p>
          <a:p>
            <a:r>
              <a:rPr lang="en-US" sz="2448" dirty="0">
                <a:hlinkClick r:id="rId3"/>
              </a:rPr>
              <a:t>www.dynamics.fo</a:t>
            </a:r>
            <a:endParaRPr lang="en-US" sz="2448" dirty="0"/>
          </a:p>
          <a:p>
            <a:r>
              <a:rPr lang="en-US" sz="2448" dirty="0"/>
              <a:t>@NathanClouseAX</a:t>
            </a:r>
          </a:p>
          <a:p>
            <a:r>
              <a:rPr lang="en-US" sz="2448" dirty="0">
                <a:hlinkClick r:id="rId4"/>
              </a:rPr>
              <a:t>https://www.linkedin.com/in/nathanclouseax/</a:t>
            </a:r>
            <a:endParaRPr lang="en-US" sz="2448" dirty="0"/>
          </a:p>
          <a:p>
            <a:endParaRPr lang="en-US" sz="2448" dirty="0"/>
          </a:p>
          <a:p>
            <a:endParaRPr lang="en-US" sz="2448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B9B38-45D4-9340-369F-B5C142F0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Thanks!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2BBDFE-BA0B-28E2-3BDF-0BF668F14A9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761037" y="1401762"/>
            <a:ext cx="5894387" cy="4581525"/>
          </a:xfrm>
        </p:spPr>
        <p:txBody>
          <a:bodyPr vert="horz" wrap="square" lIns="93260" tIns="46630" rIns="93260" bIns="46630" rtlCol="0" anchor="t">
            <a:noAutofit/>
          </a:bodyPr>
          <a:lstStyle/>
          <a:p>
            <a:r>
              <a:rPr lang="en-US" sz="2448">
                <a:latin typeface="Poppins"/>
                <a:cs typeface="Poppins"/>
              </a:rPr>
              <a:t>Peter Ramer</a:t>
            </a:r>
            <a:endParaRPr lang="en-US" sz="2448"/>
          </a:p>
          <a:p>
            <a:r>
              <a:rPr lang="en-US" sz="2448">
                <a:latin typeface="Poppins"/>
                <a:cs typeface="Poppins"/>
                <a:hlinkClick r:id="rId5"/>
              </a:rPr>
              <a:t>www.dynamics365musings.com</a:t>
            </a:r>
            <a:endParaRPr lang="en-US" sz="2448">
              <a:latin typeface="Poppins"/>
              <a:cs typeface="Poppins"/>
            </a:endParaRPr>
          </a:p>
          <a:p>
            <a:r>
              <a:rPr lang="en-US" sz="2448">
                <a:latin typeface="Poppins"/>
                <a:cs typeface="Poppins"/>
                <a:hlinkClick r:id="rId6"/>
              </a:rPr>
              <a:t>https://www.linkedin.com/in/peter-ramer/</a:t>
            </a:r>
            <a:endParaRPr lang="en-US" sz="2448">
              <a:hlinkClick r:id="rId6"/>
            </a:endParaRPr>
          </a:p>
          <a:p>
            <a:endParaRPr lang="en-US" sz="2448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92B25E92-B4A6-4F06-BE39-0B9DE959B3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639300" y="6483350"/>
            <a:ext cx="2797175" cy="371475"/>
          </a:xfrm>
          <a:prstGeom prst="rect">
            <a:avLst/>
          </a:prstGeom>
        </p:spPr>
        <p:txBody>
          <a:bodyPr/>
          <a:lstStyle/>
          <a:p>
            <a:fld id="{590403FA-560B-4B1E-8707-5C73BEE2BB8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11040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93702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rimary with bullets">
  <a:themeElements>
    <a:clrScheme name="Custom 6">
      <a:dk1>
        <a:srgbClr val="3F454F"/>
      </a:dk1>
      <a:lt1>
        <a:srgbClr val="FFFFFF"/>
      </a:lt1>
      <a:dk2>
        <a:srgbClr val="84BD00"/>
      </a:dk2>
      <a:lt2>
        <a:srgbClr val="EAEAEA"/>
      </a:lt2>
      <a:accent1>
        <a:srgbClr val="0095C8"/>
      </a:accent1>
      <a:accent2>
        <a:srgbClr val="001E60"/>
      </a:accent2>
      <a:accent3>
        <a:srgbClr val="E4002B"/>
      </a:accent3>
      <a:accent4>
        <a:srgbClr val="FFB81C"/>
      </a:accent4>
      <a:accent5>
        <a:srgbClr val="3D1B52"/>
      </a:accent5>
      <a:accent6>
        <a:srgbClr val="F2C818"/>
      </a:accent6>
      <a:hlink>
        <a:srgbClr val="0095C8"/>
      </a:hlink>
      <a:folHlink>
        <a:srgbClr val="84BD00"/>
      </a:folHlink>
    </a:clrScheme>
    <a:fontScheme name="Custom 6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CUG-NAVUG Summit 2018 speaker template.pptx" id="{E4180D32-CB38-412B-90E4-C6A367F14268}" vid="{5ABA93EF-FCBD-4FE3-891E-C6F4305AB830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5241CFF6E1864895DCD7ADE29FC1C7" ma:contentTypeVersion="18" ma:contentTypeDescription="Create a new document." ma:contentTypeScope="" ma:versionID="18c11557fac8510406916505c59aacae">
  <xsd:schema xmlns:xsd="http://www.w3.org/2001/XMLSchema" xmlns:xs="http://www.w3.org/2001/XMLSchema" xmlns:p="http://schemas.microsoft.com/office/2006/metadata/properties" xmlns:ns2="29d2a015-485a-400d-b290-ecf68f6652cf" xmlns:ns3="40060f56-dd67-4c74-97f4-8d4b2087e08e" targetNamespace="http://schemas.microsoft.com/office/2006/metadata/properties" ma:root="true" ma:fieldsID="bba247b69ceff1d6cdfdebac7a276114" ns2:_="" ns3:_="">
    <xsd:import namespace="29d2a015-485a-400d-b290-ecf68f6652cf"/>
    <xsd:import namespace="40060f56-dd67-4c74-97f4-8d4b2087e0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d2a015-485a-400d-b290-ecf68f6652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d8785f9-e54f-4c32-bd3d-94d1ae40bbf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60f56-dd67-4c74-97f4-8d4b2087e08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353a670-f4ec-49b7-9238-821180cc4ce8}" ma:internalName="TaxCatchAll" ma:showField="CatchAllData" ma:web="40060f56-dd67-4c74-97f4-8d4b2087e0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d2a015-485a-400d-b290-ecf68f6652cf">
      <Terms xmlns="http://schemas.microsoft.com/office/infopath/2007/PartnerControls"/>
    </lcf76f155ced4ddcb4097134ff3c332f>
    <TaxCatchAll xmlns="40060f56-dd67-4c74-97f4-8d4b2087e08e" xsi:nil="true"/>
  </documentManagement>
</p:properties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8605DE-A454-490A-B3CB-4C6473F23D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d2a015-485a-400d-b290-ecf68f6652cf"/>
    <ds:schemaRef ds:uri="40060f56-dd67-4c74-97f4-8d4b2087e0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40060f56-dd67-4c74-97f4-8d4b2087e08e"/>
    <ds:schemaRef ds:uri="29d2a015-485a-400d-b290-ecf68f6652cf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Words>2371</Words>
  <Application>Microsoft Office PowerPoint</Application>
  <PresentationFormat>Custom</PresentationFormat>
  <Paragraphs>365</Paragraphs>
  <Slides>71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71</vt:i4>
      </vt:variant>
    </vt:vector>
  </HeadingPairs>
  <TitlesOfParts>
    <vt:vector size="88" baseType="lpstr">
      <vt:lpstr>Arial</vt:lpstr>
      <vt:lpstr>Calibri</vt:lpstr>
      <vt:lpstr>Calibri Light</vt:lpstr>
      <vt:lpstr>Consolas</vt:lpstr>
      <vt:lpstr>Courier New</vt:lpstr>
      <vt:lpstr>Lucida Sans Unicode</vt:lpstr>
      <vt:lpstr>Poppins</vt:lpstr>
      <vt:lpstr>Poppins SemiBold</vt:lpstr>
      <vt:lpstr>Segoe</vt:lpstr>
      <vt:lpstr>segoe ui</vt:lpstr>
      <vt:lpstr>segoe ui</vt:lpstr>
      <vt:lpstr>segoe ui black</vt:lpstr>
      <vt:lpstr>Verdana</vt:lpstr>
      <vt:lpstr>Wingdings</vt:lpstr>
      <vt:lpstr>primary with bullets</vt:lpstr>
      <vt:lpstr>1_Custom Design</vt:lpstr>
      <vt:lpstr>Custom Design</vt:lpstr>
      <vt:lpstr>PowerPoint Presentation</vt:lpstr>
      <vt:lpstr>Mastering X++ Development: Expert Tips, Tools, and Techniques.  60 tips in 60 minutes</vt:lpstr>
      <vt:lpstr>Nathan Clouse</vt:lpstr>
      <vt:lpstr>Peter Ramer</vt:lpstr>
      <vt:lpstr>PowerPoint Presentation</vt:lpstr>
      <vt:lpstr>Coding Tips</vt:lpstr>
      <vt:lpstr>Use Set Based Operations</vt:lpstr>
      <vt:lpstr>Set Based Operations</vt:lpstr>
      <vt:lpstr>Does specifying columns matter? (and also FirstOnly)</vt:lpstr>
      <vt:lpstr>Using FieldNum Ordinals</vt:lpstr>
      <vt:lpstr>Add Financial Dimension for OData</vt:lpstr>
      <vt:lpstr>Comment Code</vt:lpstr>
      <vt:lpstr>Go To (Main Thing)</vt:lpstr>
      <vt:lpstr>Copy Event Handlers - Methods</vt:lpstr>
      <vt:lpstr>Copy Event Handler - Events</vt:lpstr>
      <vt:lpstr>Sales order Totals</vt:lpstr>
      <vt:lpstr>Extensible Controls</vt:lpstr>
      <vt:lpstr>Paste Special</vt:lpstr>
      <vt:lpstr>Paste Special</vt:lpstr>
      <vt:lpstr>If XML Option Missing… </vt:lpstr>
      <vt:lpstr>Mandatory Slide about AI</vt:lpstr>
      <vt:lpstr>It really tries</vt:lpstr>
      <vt:lpstr>CrossCompany</vt:lpstr>
      <vt:lpstr>CrossCompany</vt:lpstr>
      <vt:lpstr>CrossCompany Queries</vt:lpstr>
      <vt:lpstr>CrossCompany Queries </vt:lpstr>
      <vt:lpstr>Use C#</vt:lpstr>
      <vt:lpstr>Use C#</vt:lpstr>
      <vt:lpstr>Other Stuff</vt:lpstr>
      <vt:lpstr>D365 X++ Developer Playlist</vt:lpstr>
      <vt:lpstr>Extend Copilot capabilities</vt:lpstr>
      <vt:lpstr>Copilot capabilities</vt:lpstr>
      <vt:lpstr>Copilot capabilities</vt:lpstr>
      <vt:lpstr>Copilot capabilities</vt:lpstr>
      <vt:lpstr>Use Batch Jobs</vt:lpstr>
      <vt:lpstr>Misc Grab Bag</vt:lpstr>
      <vt:lpstr>D365FO.Tools</vt:lpstr>
      <vt:lpstr>Quality Of Life</vt:lpstr>
      <vt:lpstr>Copy data from excel to D365 grid</vt:lpstr>
      <vt:lpstr>Table Browser</vt:lpstr>
      <vt:lpstr>Run Visual Studio as Admin</vt:lpstr>
      <vt:lpstr>Run SSMS as Admin</vt:lpstr>
      <vt:lpstr>Extend Archive Framework</vt:lpstr>
      <vt:lpstr>Querying in SQL w/ nolock</vt:lpstr>
      <vt:lpstr>Debugging</vt:lpstr>
      <vt:lpstr>Debugging Batch Jobs</vt:lpstr>
      <vt:lpstr>Debugging with a UDE</vt:lpstr>
      <vt:lpstr>Loading Symbols</vt:lpstr>
      <vt:lpstr>Loading Symbols</vt:lpstr>
      <vt:lpstr>Loading Symbols</vt:lpstr>
      <vt:lpstr>Load all modules</vt:lpstr>
      <vt:lpstr>Visual Studio  Hidden Gems</vt:lpstr>
      <vt:lpstr>Create code extension</vt:lpstr>
      <vt:lpstr>Update Model Parameters</vt:lpstr>
      <vt:lpstr>Debug items in solution</vt:lpstr>
      <vt:lpstr>Order Labels in label file by ID</vt:lpstr>
      <vt:lpstr>Build Options</vt:lpstr>
      <vt:lpstr>Dark Mode Plus Custom Colors</vt:lpstr>
      <vt:lpstr>Dark Mode Plus Custom Colors</vt:lpstr>
      <vt:lpstr>Metadata Search</vt:lpstr>
      <vt:lpstr>Metadata Search</vt:lpstr>
      <vt:lpstr>TRUDUtilsD365</vt:lpstr>
      <vt:lpstr>VS E: on Form Extensions</vt:lpstr>
      <vt:lpstr>VS L: on Form Extensions</vt:lpstr>
      <vt:lpstr>New Things for UDE’s</vt:lpstr>
      <vt:lpstr>UDE Things</vt:lpstr>
      <vt:lpstr>Resources</vt:lpstr>
      <vt:lpstr>Resources</vt:lpstr>
      <vt:lpstr>Questions?</vt:lpstr>
      <vt:lpstr>Thanks!</vt:lpstr>
      <vt:lpstr>PowerPoint Presentation</vt:lpstr>
    </vt:vector>
  </TitlesOfParts>
  <Manager/>
  <Company>Dynamic Communities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this Template</dc:title>
  <dc:subject>Cross UG Summit 2017</dc:subject>
  <dc:creator>Ty Hagerott</dc:creator>
  <cp:keywords>Dynamic Communities</cp:keywords>
  <dc:description>Template: Mitchell Derrey; Silver Fox Productions_x000d_
Formatting: _x000d_
Audience Type:</dc:description>
  <cp:lastModifiedBy>Nathan Clouse</cp:lastModifiedBy>
  <cp:revision>34</cp:revision>
  <dcterms:created xsi:type="dcterms:W3CDTF">2018-06-21T13:40:22Z</dcterms:created>
  <dcterms:modified xsi:type="dcterms:W3CDTF">2025-10-23T13:08:04Z</dcterms:modified>
  <cp:category>Dynamic Communities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0x010100595241CFF6E1864895DCD7ADE29FC1C7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ediaServiceImageTags">
    <vt:lpwstr/>
  </property>
</Properties>
</file>