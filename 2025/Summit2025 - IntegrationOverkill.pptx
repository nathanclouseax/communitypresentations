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229" r:id="rId4"/>
    <p:sldMasterId id="2147484353" r:id="rId5"/>
    <p:sldMasterId id="2147484350" r:id="rId6"/>
  </p:sldMasterIdLst>
  <p:notesMasterIdLst>
    <p:notesMasterId r:id="rId54"/>
  </p:notesMasterIdLst>
  <p:handoutMasterIdLst>
    <p:handoutMasterId r:id="rId55"/>
  </p:handoutMasterIdLst>
  <p:sldIdLst>
    <p:sldId id="1403" r:id="rId7"/>
    <p:sldId id="267" r:id="rId8"/>
    <p:sldId id="1396" r:id="rId9"/>
    <p:sldId id="482" r:id="rId10"/>
    <p:sldId id="271" r:id="rId11"/>
    <p:sldId id="1385" r:id="rId12"/>
    <p:sldId id="1433" r:id="rId13"/>
    <p:sldId id="1445" r:id="rId14"/>
    <p:sldId id="1434" r:id="rId15"/>
    <p:sldId id="1435" r:id="rId16"/>
    <p:sldId id="1436" r:id="rId17"/>
    <p:sldId id="1437" r:id="rId18"/>
    <p:sldId id="1438" r:id="rId19"/>
    <p:sldId id="1439" r:id="rId20"/>
    <p:sldId id="1440" r:id="rId21"/>
    <p:sldId id="1441" r:id="rId22"/>
    <p:sldId id="1442" r:id="rId23"/>
    <p:sldId id="1443" r:id="rId24"/>
    <p:sldId id="1444" r:id="rId25"/>
    <p:sldId id="1432" r:id="rId26"/>
    <p:sldId id="1453" r:id="rId27"/>
    <p:sldId id="1456" r:id="rId28"/>
    <p:sldId id="1457" r:id="rId29"/>
    <p:sldId id="1458" r:id="rId30"/>
    <p:sldId id="1459" r:id="rId31"/>
    <p:sldId id="1460" r:id="rId32"/>
    <p:sldId id="1461" r:id="rId33"/>
    <p:sldId id="1455" r:id="rId34"/>
    <p:sldId id="1462" r:id="rId35"/>
    <p:sldId id="1454" r:id="rId36"/>
    <p:sldId id="1463" r:id="rId37"/>
    <p:sldId id="1464" r:id="rId38"/>
    <p:sldId id="1465" r:id="rId39"/>
    <p:sldId id="1466" r:id="rId40"/>
    <p:sldId id="1467" r:id="rId41"/>
    <p:sldId id="1468" r:id="rId42"/>
    <p:sldId id="1469" r:id="rId43"/>
    <p:sldId id="1471" r:id="rId44"/>
    <p:sldId id="1477" r:id="rId45"/>
    <p:sldId id="1472" r:id="rId46"/>
    <p:sldId id="1473" r:id="rId47"/>
    <p:sldId id="1474" r:id="rId48"/>
    <p:sldId id="1475" r:id="rId49"/>
    <p:sldId id="1476" r:id="rId50"/>
    <p:sldId id="498" r:id="rId51"/>
    <p:sldId id="1402" r:id="rId52"/>
    <p:sldId id="1410" r:id="rId53"/>
  </p:sldIdLst>
  <p:sldSz cx="12436475" cy="6994525"/>
  <p:notesSz cx="6858000" cy="9144000"/>
  <p:defaultTextStyle>
    <a:defPPr>
      <a:defRPr lang="en-US"/>
    </a:defPPr>
    <a:lvl1pPr marL="0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66371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32742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99113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65484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331856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98226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64597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730969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." id="{BF68131C-8EB2-4A6D-ABFA-02E5AB776A1B}">
          <p14:sldIdLst>
            <p14:sldId id="1403"/>
            <p14:sldId id="267"/>
            <p14:sldId id="1396"/>
            <p14:sldId id="482"/>
            <p14:sldId id="271"/>
            <p14:sldId id="1385"/>
            <p14:sldId id="1433"/>
            <p14:sldId id="1445"/>
            <p14:sldId id="1434"/>
            <p14:sldId id="1435"/>
            <p14:sldId id="1436"/>
            <p14:sldId id="1437"/>
            <p14:sldId id="1438"/>
            <p14:sldId id="1439"/>
            <p14:sldId id="1440"/>
            <p14:sldId id="1441"/>
            <p14:sldId id="1442"/>
            <p14:sldId id="1443"/>
            <p14:sldId id="1444"/>
            <p14:sldId id="1432"/>
            <p14:sldId id="1453"/>
            <p14:sldId id="1456"/>
            <p14:sldId id="1457"/>
            <p14:sldId id="1458"/>
            <p14:sldId id="1459"/>
            <p14:sldId id="1460"/>
            <p14:sldId id="1461"/>
            <p14:sldId id="1455"/>
            <p14:sldId id="1462"/>
            <p14:sldId id="1454"/>
            <p14:sldId id="1463"/>
            <p14:sldId id="1464"/>
            <p14:sldId id="1465"/>
            <p14:sldId id="1466"/>
            <p14:sldId id="1467"/>
            <p14:sldId id="1468"/>
            <p14:sldId id="1469"/>
            <p14:sldId id="1471"/>
            <p14:sldId id="1477"/>
            <p14:sldId id="1472"/>
            <p14:sldId id="1473"/>
            <p14:sldId id="1474"/>
            <p14:sldId id="1475"/>
            <p14:sldId id="1476"/>
            <p14:sldId id="498"/>
            <p14:sldId id="1402"/>
            <p14:sldId id="1410"/>
          </p14:sldIdLst>
        </p14:section>
        <p14:section name="Presentation template" id="{C7FA9FF9-CCBF-4AFF-8011-39A1B6C3CC0F}">
          <p14:sldIdLst/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Saku Uchikawa" initials="SU" lastIdx="11" clrIdx="0"/>
  <p:cmAuthor id="7" name="Auri Mathisen" initials="AM" lastIdx="1" clrIdx="7">
    <p:extLst>
      <p:ext uri="{19B8F6BF-5375-455C-9EA6-DF929625EA0E}">
        <p15:presenceInfo xmlns:p15="http://schemas.microsoft.com/office/powerpoint/2012/main" userId="S-1-5-21-383413107-1061881802-891584314-12534" providerId="AD"/>
      </p:ext>
    </p:extLst>
  </p:cmAuthor>
  <p:cmAuthor id="1" name="Mary Feil-Jacobs" initials="MFJ" lastIdx="43" clrIdx="1"/>
  <p:cmAuthor id="8" name="Judi Lee" initials="JL" lastIdx="3" clrIdx="8">
    <p:extLst>
      <p:ext uri="{19B8F6BF-5375-455C-9EA6-DF929625EA0E}">
        <p15:presenceInfo xmlns:p15="http://schemas.microsoft.com/office/powerpoint/2012/main" userId="S-1-5-21-383413107-1061881802-891584314-9954" providerId="AD"/>
      </p:ext>
    </p:extLst>
  </p:cmAuthor>
  <p:cmAuthor id="2" name="Monica Lueder" initials="ML" lastIdx="22" clrIdx="2">
    <p:extLst>
      <p:ext uri="{19B8F6BF-5375-455C-9EA6-DF929625EA0E}">
        <p15:presenceInfo xmlns:p15="http://schemas.microsoft.com/office/powerpoint/2012/main" userId="S-1-5-21-2127521184-1604012920-1887927527-2598260" providerId="AD"/>
      </p:ext>
    </p:extLst>
  </p:cmAuthor>
  <p:cmAuthor id="9" name="David Griffith" initials="DG" lastIdx="3" clrIdx="9">
    <p:extLst>
      <p:ext uri="{19B8F6BF-5375-455C-9EA6-DF929625EA0E}">
        <p15:presenceInfo xmlns:p15="http://schemas.microsoft.com/office/powerpoint/2012/main" userId="S-1-5-21-383413107-1061881802-891584314-4667" providerId="AD"/>
      </p:ext>
    </p:extLst>
  </p:cmAuthor>
  <p:cmAuthor id="3" name="Mary Feil-Jacobs" initials="MF" lastIdx="22" clrIdx="3">
    <p:extLst>
      <p:ext uri="{19B8F6BF-5375-455C-9EA6-DF929625EA0E}">
        <p15:presenceInfo xmlns:p15="http://schemas.microsoft.com/office/powerpoint/2012/main" userId="S-1-5-21-2127521184-1604012920-1887927527-65006" providerId="AD"/>
      </p:ext>
    </p:extLst>
  </p:cmAuthor>
  <p:cmAuthor id="10" name="Mark Rhodes" initials="MR" lastIdx="1" clrIdx="10">
    <p:extLst>
      <p:ext uri="{19B8F6BF-5375-455C-9EA6-DF929625EA0E}">
        <p15:presenceInfo xmlns:p15="http://schemas.microsoft.com/office/powerpoint/2012/main" userId="Mark Rhodes" providerId="None"/>
      </p:ext>
    </p:extLst>
  </p:cmAuthor>
  <p:cmAuthor id="4" name="Mitchell Derrey" initials="MD" lastIdx="6" clrIdx="4">
    <p:extLst>
      <p:ext uri="{19B8F6BF-5375-455C-9EA6-DF929625EA0E}">
        <p15:presenceInfo xmlns:p15="http://schemas.microsoft.com/office/powerpoint/2012/main" userId="S-1-5-21-383413107-1061881802-891584314-4851" providerId="AD"/>
      </p:ext>
    </p:extLst>
  </p:cmAuthor>
  <p:cmAuthor id="5" name="Christen Anderson" initials="CA" lastIdx="19" clrIdx="5">
    <p:extLst>
      <p:ext uri="{19B8F6BF-5375-455C-9EA6-DF929625EA0E}">
        <p15:presenceInfo xmlns:p15="http://schemas.microsoft.com/office/powerpoint/2012/main" userId="Christen Anderson" providerId="None"/>
      </p:ext>
    </p:extLst>
  </p:cmAuthor>
  <p:cmAuthor id="6" name="Delaney Freer" initials="DF" lastIdx="16" clrIdx="6">
    <p:extLst>
      <p:ext uri="{19B8F6BF-5375-455C-9EA6-DF929625EA0E}">
        <p15:presenceInfo xmlns:p15="http://schemas.microsoft.com/office/powerpoint/2012/main" userId="4a46fd6c6e3be697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E6E6"/>
    <a:srgbClr val="1E275C"/>
    <a:srgbClr val="494D68"/>
    <a:srgbClr val="1B449A"/>
    <a:srgbClr val="F59120"/>
    <a:srgbClr val="000000"/>
    <a:srgbClr val="1B4499"/>
    <a:srgbClr val="001E60"/>
    <a:srgbClr val="0095C8"/>
    <a:srgbClr val="E1B8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381"/>
    <p:restoredTop sz="94681"/>
  </p:normalViewPr>
  <p:slideViewPr>
    <p:cSldViewPr snapToGrid="0">
      <p:cViewPr varScale="1">
        <p:scale>
          <a:sx n="119" d="100"/>
          <a:sy n="119" d="100"/>
        </p:scale>
        <p:origin x="236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openxmlformats.org/officeDocument/2006/relationships/slide" Target="slides/slide33.xml"/><Relationship Id="rId21" Type="http://schemas.openxmlformats.org/officeDocument/2006/relationships/slide" Target="slides/slide15.xml"/><Relationship Id="rId34" Type="http://schemas.openxmlformats.org/officeDocument/2006/relationships/slide" Target="slides/slide28.xml"/><Relationship Id="rId42" Type="http://schemas.openxmlformats.org/officeDocument/2006/relationships/slide" Target="slides/slide36.xml"/><Relationship Id="rId47" Type="http://schemas.openxmlformats.org/officeDocument/2006/relationships/slide" Target="slides/slide41.xml"/><Relationship Id="rId50" Type="http://schemas.openxmlformats.org/officeDocument/2006/relationships/slide" Target="slides/slide44.xml"/><Relationship Id="rId55" Type="http://schemas.openxmlformats.org/officeDocument/2006/relationships/handoutMaster" Target="handoutMasters/handoutMaster1.xml"/><Relationship Id="rId7" Type="http://schemas.openxmlformats.org/officeDocument/2006/relationships/slide" Target="slides/slide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40" Type="http://schemas.openxmlformats.org/officeDocument/2006/relationships/slide" Target="slides/slide34.xml"/><Relationship Id="rId45" Type="http://schemas.openxmlformats.org/officeDocument/2006/relationships/slide" Target="slides/slide39.xml"/><Relationship Id="rId53" Type="http://schemas.openxmlformats.org/officeDocument/2006/relationships/slide" Target="slides/slide47.xml"/><Relationship Id="rId58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13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slide" Target="slides/slide37.xml"/><Relationship Id="rId48" Type="http://schemas.openxmlformats.org/officeDocument/2006/relationships/slide" Target="slides/slide42.xml"/><Relationship Id="rId56" Type="http://schemas.openxmlformats.org/officeDocument/2006/relationships/commentAuthors" Target="commentAuthors.xml"/><Relationship Id="rId8" Type="http://schemas.openxmlformats.org/officeDocument/2006/relationships/slide" Target="slides/slide2.xml"/><Relationship Id="rId51" Type="http://schemas.openxmlformats.org/officeDocument/2006/relationships/slide" Target="slides/slide45.xml"/><Relationship Id="rId3" Type="http://schemas.openxmlformats.org/officeDocument/2006/relationships/customXml" Target="../customXml/item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46" Type="http://schemas.openxmlformats.org/officeDocument/2006/relationships/slide" Target="slides/slide40.xml"/><Relationship Id="rId59" Type="http://schemas.openxmlformats.org/officeDocument/2006/relationships/theme" Target="theme/theme1.xml"/><Relationship Id="rId20" Type="http://schemas.openxmlformats.org/officeDocument/2006/relationships/slide" Target="slides/slide14.xml"/><Relationship Id="rId41" Type="http://schemas.openxmlformats.org/officeDocument/2006/relationships/slide" Target="slides/slide35.xml"/><Relationship Id="rId54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49" Type="http://schemas.openxmlformats.org/officeDocument/2006/relationships/slide" Target="slides/slide43.xml"/><Relationship Id="rId57" Type="http://schemas.openxmlformats.org/officeDocument/2006/relationships/presProps" Target="presProps.xml"/><Relationship Id="rId10" Type="http://schemas.openxmlformats.org/officeDocument/2006/relationships/slide" Target="slides/slide4.xml"/><Relationship Id="rId31" Type="http://schemas.openxmlformats.org/officeDocument/2006/relationships/slide" Target="slides/slide25.xml"/><Relationship Id="rId44" Type="http://schemas.openxmlformats.org/officeDocument/2006/relationships/slide" Target="slides/slide38.xml"/><Relationship Id="rId52" Type="http://schemas.openxmlformats.org/officeDocument/2006/relationships/slide" Target="slides/slide46.xml"/><Relationship Id="rId6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eader Placeholder 5"/>
          <p:cNvSpPr>
            <a:spLocks noGrp="1"/>
          </p:cNvSpPr>
          <p:nvPr>
            <p:ph type="hdr" sz="quarter"/>
          </p:nvPr>
        </p:nvSpPr>
        <p:spPr>
          <a:xfrm>
            <a:off x="0" y="-11574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CRMUG Summit 2017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58CAF0-866C-41B3-A854-572A2A51FA6A}" type="datetime8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10/22/2025 7:29 AM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3"/>
          </p:nvPr>
        </p:nvSpPr>
        <p:spPr>
          <a:xfrm>
            <a:off x="5783579" y="8685213"/>
            <a:ext cx="1072833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C9E9D6-92A0-482B-A603-C9BA7FFB8190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‹#›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Footer Placeholder 7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5795010" cy="3324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398463" defTabSz="914099" eaLnBrk="0" hangingPunct="0"/>
            <a:r>
              <a:rPr lang="en-US" sz="40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Arial" panose="020B0604020202020204" pitchFamily="34" charset="0"/>
                <a:ea typeface="Segoe UI" pitchFamily="34" charset="0"/>
                <a:cs typeface="Arial" panose="020B0604020202020204" pitchFamily="34" charset="0"/>
              </a:rPr>
              <a:t>© 2017 Dynamic Communities.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904595630"/>
      </p:ext>
    </p:extLst>
  </p:cSld>
  <p:clrMap bg1="lt1" tx1="dk1" bg2="lt2" tx2="dk2" accent1="accent1" accent2="accent2" accent3="accent3" accent4="accent4" accent5="accent5" accent6="accent6" hlink="hlink" folHlink="folHlink"/>
  <p:hf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7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CRMUG Summit 2017</a:t>
            </a:r>
          </a:p>
        </p:txBody>
      </p:sp>
      <p:sp>
        <p:nvSpPr>
          <p:cNvPr id="9" name="Slide Image Placeholder 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11" name="Date Placeholder 10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2058EF5B-311B-4148-8831-2D28534D49CD}" type="datetime8">
              <a:rPr lang="en-US" smtClean="0"/>
              <a:t>10/22/2025 7:28 AM</a:t>
            </a:fld>
            <a:endParaRPr lang="en-US"/>
          </a:p>
        </p:txBody>
      </p:sp>
      <p:sp>
        <p:nvSpPr>
          <p:cNvPr id="12" name="Notes Placeholder 11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5"/>
          </p:nvPr>
        </p:nvSpPr>
        <p:spPr>
          <a:xfrm>
            <a:off x="5909309" y="8685213"/>
            <a:ext cx="947103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4008EB6-D09E-4580-8CD6-DDB14511944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 7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5795010" cy="3324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398463" defTabSz="914099" eaLnBrk="0" hangingPunct="0"/>
            <a:r>
              <a:rPr lang="en-US" sz="40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Arial" panose="020B0604020202020204" pitchFamily="34" charset="0"/>
                <a:ea typeface="Segoe UI" pitchFamily="34" charset="0"/>
                <a:cs typeface="Arial" panose="020B0604020202020204" pitchFamily="34" charset="0"/>
              </a:rPr>
              <a:t>© 2017 Dynamic Communities.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624648265"/>
      </p:ext>
    </p:extLst>
  </p:cSld>
  <p:clrMap bg1="lt1" tx1="dk1" bg2="lt2" tx2="dk2" accent1="accent1" accent2="accent2" accent3="accent3" accent4="accent4" accent5="accent5" accent6="accent6" hlink="hlink" folHlink="folHlink"/>
  <p:hf ftr="0"/>
  <p:notesStyle>
    <a:lvl1pPr marL="0" algn="l" defTabSz="932742" rtl="0" eaLnBrk="1" latinLnBrk="0" hangingPunct="1">
      <a:lnSpc>
        <a:spcPct val="90000"/>
      </a:lnSpc>
      <a:spcAft>
        <a:spcPts val="340"/>
      </a:spcAft>
      <a:defRPr sz="9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217262" indent="-107956" algn="l" defTabSz="932742" rtl="0" eaLnBrk="1" latinLnBrk="0" hangingPunct="1">
      <a:lnSpc>
        <a:spcPct val="90000"/>
      </a:lnSpc>
      <a:spcAft>
        <a:spcPts val="340"/>
      </a:spcAft>
      <a:buFont typeface="Arial" pitchFamily="34" charset="0"/>
      <a:buChar char="•"/>
      <a:defRPr sz="9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334664" indent="-117403" algn="l" defTabSz="932742" rtl="0" eaLnBrk="1" latinLnBrk="0" hangingPunct="1">
      <a:lnSpc>
        <a:spcPct val="90000"/>
      </a:lnSpc>
      <a:spcAft>
        <a:spcPts val="340"/>
      </a:spcAft>
      <a:buFont typeface="Arial" pitchFamily="34" charset="0"/>
      <a:buChar char="•"/>
      <a:defRPr sz="9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492551" indent="-149789" algn="l" defTabSz="932742" rtl="0" eaLnBrk="1" latinLnBrk="0" hangingPunct="1">
      <a:lnSpc>
        <a:spcPct val="90000"/>
      </a:lnSpc>
      <a:spcAft>
        <a:spcPts val="340"/>
      </a:spcAft>
      <a:buFont typeface="Arial" pitchFamily="34" charset="0"/>
      <a:buChar char="•"/>
      <a:defRPr sz="9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627496" indent="-117403" algn="l" defTabSz="932742" rtl="0" eaLnBrk="1" latinLnBrk="0" hangingPunct="1">
      <a:lnSpc>
        <a:spcPct val="90000"/>
      </a:lnSpc>
      <a:spcAft>
        <a:spcPts val="340"/>
      </a:spcAft>
      <a:buFont typeface="Arial" pitchFamily="34" charset="0"/>
      <a:buChar char="•"/>
      <a:defRPr sz="9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331856" algn="l" defTabSz="9327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98226" algn="l" defTabSz="9327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64597" algn="l" defTabSz="9327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730969" algn="l" defTabSz="9327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1.bin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head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3D4114E-5918-B1DB-D683-8740D06335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2153" y="765713"/>
            <a:ext cx="10972484" cy="712249"/>
          </a:xfrm>
          <a:prstGeom prst="rect">
            <a:avLst/>
          </a:prstGeom>
        </p:spPr>
        <p:txBody>
          <a:bodyPr vert="horz" wrap="square" lIns="146304" tIns="91440" rIns="146304" bIns="91440" rtlCol="0" anchor="ctr">
            <a:noAutofit/>
          </a:bodyPr>
          <a:lstStyle>
            <a:lvl1pPr>
              <a:defRPr sz="4400" b="1" i="0" baseline="0">
                <a:solidFill>
                  <a:srgbClr val="1E275C"/>
                </a:solidFill>
                <a:latin typeface="Segoe" panose="020B0502040200020203" pitchFamily="34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067774B5-F68C-1108-7441-1A84E31C50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836" y="1668462"/>
            <a:ext cx="10972485" cy="4190999"/>
          </a:xfrm>
          <a:prstGeom prst="rect">
            <a:avLst/>
          </a:prstGeom>
        </p:spPr>
        <p:txBody>
          <a:bodyPr vert="horz" wrap="square" lIns="146304" tIns="91440" rIns="146304" bIns="91440" rtlCol="0">
            <a:noAutofit/>
          </a:bodyPr>
          <a:lstStyle>
            <a:lvl1pPr>
              <a:defRPr baseline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baseline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baseline="0">
                <a:solidFill>
                  <a:schemeClr val="bg1">
                    <a:lumMod val="50000"/>
                  </a:schemeClr>
                </a:solidFill>
              </a:defRPr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C67BE35-4283-FC22-2DF1-9BAE77625F2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350375" y="302406"/>
            <a:ext cx="3086100" cy="10922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ADF9018-552B-83D7-92A3-76120E4637B5}"/>
              </a:ext>
            </a:extLst>
          </p:cNvPr>
          <p:cNvSpPr/>
          <p:nvPr userDrawn="1"/>
        </p:nvSpPr>
        <p:spPr bwMode="auto">
          <a:xfrm>
            <a:off x="-3" y="0"/>
            <a:ext cx="12436477" cy="357051"/>
          </a:xfrm>
          <a:prstGeom prst="rect">
            <a:avLst/>
          </a:prstGeom>
          <a:solidFill>
            <a:schemeClr val="accent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CFDFF33-C3AC-4360-2256-6D09B51BC89A}"/>
              </a:ext>
            </a:extLst>
          </p:cNvPr>
          <p:cNvSpPr/>
          <p:nvPr userDrawn="1"/>
        </p:nvSpPr>
        <p:spPr bwMode="auto">
          <a:xfrm>
            <a:off x="-3" y="6637474"/>
            <a:ext cx="12436478" cy="357051"/>
          </a:xfrm>
          <a:prstGeom prst="rect">
            <a:avLst/>
          </a:prstGeom>
          <a:solidFill>
            <a:schemeClr val="accent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E7527AD-759C-5A08-98E2-71BD229E8255}"/>
              </a:ext>
            </a:extLst>
          </p:cNvPr>
          <p:cNvCxnSpPr/>
          <p:nvPr userDrawn="1"/>
        </p:nvCxnSpPr>
        <p:spPr>
          <a:xfrm>
            <a:off x="-4" y="385588"/>
            <a:ext cx="12436478" cy="0"/>
          </a:xfrm>
          <a:prstGeom prst="line">
            <a:avLst/>
          </a:prstGeom>
          <a:ln w="53975">
            <a:solidFill>
              <a:srgbClr val="F59120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bject 10">
            <a:extLst>
              <a:ext uri="{FF2B5EF4-FFF2-40B4-BE49-F238E27FC236}">
                <a16:creationId xmlns:a16="http://schemas.microsoft.com/office/drawing/2014/main" id="{C02CC332-457D-2159-182F-CF67A980D719}"/>
              </a:ext>
            </a:extLst>
          </p:cNvPr>
          <p:cNvSpPr txBox="1"/>
          <p:nvPr userDrawn="1"/>
        </p:nvSpPr>
        <p:spPr>
          <a:xfrm>
            <a:off x="9732132" y="6713921"/>
            <a:ext cx="2684147" cy="2000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>
            <a:spAutoFit/>
          </a:bodyPr>
          <a:lstStyle/>
          <a:p>
            <a:pPr indent="12700">
              <a:spcBef>
                <a:spcPts val="100"/>
              </a:spcBef>
              <a:defRPr sz="1300" spc="215">
                <a:solidFill>
                  <a:srgbClr val="3C474C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rPr baseline="0" dirty="0">
                <a:solidFill>
                  <a:schemeClr val="tx1"/>
                </a:solidFill>
              </a:rPr>
              <a:t>@</a:t>
            </a:r>
            <a:r>
              <a:rPr spc="-65" baseline="0" dirty="0">
                <a:solidFill>
                  <a:schemeClr val="tx1"/>
                </a:solidFill>
              </a:rPr>
              <a:t> </a:t>
            </a:r>
            <a:r>
              <a:rPr spc="-50" baseline="0" dirty="0">
                <a:solidFill>
                  <a:schemeClr val="tx1"/>
                </a:solidFill>
              </a:rPr>
              <a:t>202</a:t>
            </a:r>
            <a:r>
              <a:rPr lang="en-US" spc="-50" baseline="0" dirty="0">
                <a:solidFill>
                  <a:schemeClr val="tx1"/>
                </a:solidFill>
              </a:rPr>
              <a:t>5</a:t>
            </a:r>
            <a:r>
              <a:rPr spc="-65" baseline="0" dirty="0">
                <a:solidFill>
                  <a:schemeClr val="tx1"/>
                </a:solidFill>
              </a:rPr>
              <a:t> </a:t>
            </a:r>
            <a:r>
              <a:rPr spc="60" baseline="0" dirty="0">
                <a:solidFill>
                  <a:schemeClr val="tx1"/>
                </a:solidFill>
              </a:rPr>
              <a:t>Dynamic</a:t>
            </a:r>
            <a:r>
              <a:rPr spc="-65" baseline="0" dirty="0">
                <a:solidFill>
                  <a:schemeClr val="tx1"/>
                </a:solidFill>
              </a:rPr>
              <a:t> </a:t>
            </a:r>
            <a:r>
              <a:rPr spc="40" baseline="0" dirty="0">
                <a:solidFill>
                  <a:schemeClr val="tx1"/>
                </a:solidFill>
              </a:rPr>
              <a:t>Communities</a:t>
            </a:r>
          </a:p>
        </p:txBody>
      </p:sp>
    </p:spTree>
    <p:extLst>
      <p:ext uri="{BB962C8B-B14F-4D97-AF65-F5344CB8AC3E}">
        <p14:creationId xmlns:p14="http://schemas.microsoft.com/office/powerpoint/2010/main" val="37888385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03">
          <p15:clr>
            <a:srgbClr val="FBAE40"/>
          </p15:clr>
        </p15:guide>
        <p15:guide id="2" orient="horz" pos="105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8647BE7B-65E1-0320-C8A6-9B9EC05A5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2153" y="765713"/>
            <a:ext cx="10972484" cy="712249"/>
          </a:xfrm>
          <a:prstGeom prst="rect">
            <a:avLst/>
          </a:prstGeom>
        </p:spPr>
        <p:txBody>
          <a:bodyPr vert="horz" wrap="square" lIns="146304" tIns="91440" rIns="146304" bIns="91440" rtlCol="0" anchor="ctr">
            <a:noAutofit/>
          </a:bodyPr>
          <a:lstStyle>
            <a:lvl1pPr>
              <a:defRPr sz="4400" b="1" i="0" baseline="0">
                <a:solidFill>
                  <a:srgbClr val="1E275C"/>
                </a:solidFill>
                <a:latin typeface="Segoe" panose="020B0502040200020203" pitchFamily="34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9389485E-3748-70B7-6A15-7D7BC8C67F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836" y="1668462"/>
            <a:ext cx="10972485" cy="4190999"/>
          </a:xfrm>
          <a:prstGeom prst="rect">
            <a:avLst/>
          </a:prstGeom>
        </p:spPr>
        <p:txBody>
          <a:bodyPr vert="horz" wrap="square" lIns="146304" tIns="91440" rIns="146304" bIns="91440" rtlCol="0">
            <a:noAutofit/>
          </a:bodyPr>
          <a:lstStyle>
            <a:lvl1pPr>
              <a:defRPr baseline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baseline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baseline="0">
                <a:solidFill>
                  <a:schemeClr val="bg1">
                    <a:lumMod val="50000"/>
                  </a:schemeClr>
                </a:solidFill>
              </a:defRPr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A4B2A1F-346F-E426-5FCD-6CE0B300F6A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350375" y="302406"/>
            <a:ext cx="3086100" cy="10922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86251F0-97DC-6218-B185-ECFCDBA57014}"/>
              </a:ext>
            </a:extLst>
          </p:cNvPr>
          <p:cNvSpPr/>
          <p:nvPr userDrawn="1"/>
        </p:nvSpPr>
        <p:spPr bwMode="auto">
          <a:xfrm>
            <a:off x="-3" y="0"/>
            <a:ext cx="12436477" cy="357051"/>
          </a:xfrm>
          <a:prstGeom prst="rect">
            <a:avLst/>
          </a:prstGeom>
          <a:solidFill>
            <a:schemeClr val="accent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DF22EB9-D1CD-40AE-09A4-CD7D374E2567}"/>
              </a:ext>
            </a:extLst>
          </p:cNvPr>
          <p:cNvSpPr/>
          <p:nvPr userDrawn="1"/>
        </p:nvSpPr>
        <p:spPr bwMode="auto">
          <a:xfrm>
            <a:off x="-3" y="6637474"/>
            <a:ext cx="12436478" cy="357051"/>
          </a:xfrm>
          <a:prstGeom prst="rect">
            <a:avLst/>
          </a:prstGeom>
          <a:solidFill>
            <a:schemeClr val="accent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3976A84-16EE-D6CB-5268-1A801CB94C29}"/>
              </a:ext>
            </a:extLst>
          </p:cNvPr>
          <p:cNvCxnSpPr/>
          <p:nvPr userDrawn="1"/>
        </p:nvCxnSpPr>
        <p:spPr>
          <a:xfrm>
            <a:off x="-4" y="385588"/>
            <a:ext cx="12436478" cy="0"/>
          </a:xfrm>
          <a:prstGeom prst="line">
            <a:avLst/>
          </a:prstGeom>
          <a:ln w="53975">
            <a:solidFill>
              <a:srgbClr val="F59120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bject 10">
            <a:extLst>
              <a:ext uri="{FF2B5EF4-FFF2-40B4-BE49-F238E27FC236}">
                <a16:creationId xmlns:a16="http://schemas.microsoft.com/office/drawing/2014/main" id="{E0839425-C7BA-9D40-5A68-DEF9E707DF47}"/>
              </a:ext>
            </a:extLst>
          </p:cNvPr>
          <p:cNvSpPr txBox="1"/>
          <p:nvPr userDrawn="1"/>
        </p:nvSpPr>
        <p:spPr>
          <a:xfrm>
            <a:off x="9732128" y="6712952"/>
            <a:ext cx="2684147" cy="2000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>
            <a:spAutoFit/>
          </a:bodyPr>
          <a:lstStyle/>
          <a:p>
            <a:pPr indent="12700">
              <a:spcBef>
                <a:spcPts val="100"/>
              </a:spcBef>
              <a:defRPr sz="1300" spc="215">
                <a:solidFill>
                  <a:srgbClr val="3C474C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rPr baseline="0" dirty="0">
                <a:solidFill>
                  <a:schemeClr val="tx1"/>
                </a:solidFill>
              </a:rPr>
              <a:t>@</a:t>
            </a:r>
            <a:r>
              <a:rPr spc="-65" baseline="0" dirty="0">
                <a:solidFill>
                  <a:schemeClr val="tx1"/>
                </a:solidFill>
              </a:rPr>
              <a:t> </a:t>
            </a:r>
            <a:r>
              <a:rPr spc="-50" baseline="0" dirty="0">
                <a:solidFill>
                  <a:schemeClr val="tx1"/>
                </a:solidFill>
              </a:rPr>
              <a:t>202</a:t>
            </a:r>
            <a:r>
              <a:rPr lang="en-US" spc="-50" baseline="0" dirty="0">
                <a:solidFill>
                  <a:schemeClr val="tx1"/>
                </a:solidFill>
              </a:rPr>
              <a:t>5</a:t>
            </a:r>
            <a:r>
              <a:rPr spc="-65" baseline="0" dirty="0">
                <a:solidFill>
                  <a:schemeClr val="tx1"/>
                </a:solidFill>
              </a:rPr>
              <a:t> </a:t>
            </a:r>
            <a:r>
              <a:rPr spc="60" baseline="0" dirty="0">
                <a:solidFill>
                  <a:schemeClr val="tx1"/>
                </a:solidFill>
              </a:rPr>
              <a:t>Dynamic</a:t>
            </a:r>
            <a:r>
              <a:rPr spc="-65" baseline="0" dirty="0">
                <a:solidFill>
                  <a:schemeClr val="tx1"/>
                </a:solidFill>
              </a:rPr>
              <a:t> </a:t>
            </a:r>
            <a:r>
              <a:rPr spc="40" baseline="0" dirty="0">
                <a:solidFill>
                  <a:schemeClr val="tx1"/>
                </a:solidFill>
              </a:rPr>
              <a:t>Communities</a:t>
            </a:r>
          </a:p>
        </p:txBody>
      </p:sp>
    </p:spTree>
    <p:extLst>
      <p:ext uri="{BB962C8B-B14F-4D97-AF65-F5344CB8AC3E}">
        <p14:creationId xmlns:p14="http://schemas.microsoft.com/office/powerpoint/2010/main" val="38799184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03">
          <p15:clr>
            <a:srgbClr val="FBAE40"/>
          </p15:clr>
        </p15:guide>
        <p15:guide id="2" orient="horz" pos="105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imary2 with bullet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DAB300-83A5-C8A6-8997-8AA97222B8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2153" y="765713"/>
            <a:ext cx="10972484" cy="712249"/>
          </a:xfrm>
          <a:prstGeom prst="rect">
            <a:avLst/>
          </a:prstGeom>
        </p:spPr>
        <p:txBody>
          <a:bodyPr vert="horz" wrap="square" lIns="146304" tIns="91440" rIns="146304" bIns="91440" rtlCol="0" anchor="ctr">
            <a:noAutofit/>
          </a:bodyPr>
          <a:lstStyle>
            <a:lvl1pPr>
              <a:defRPr sz="4400" b="1" i="0" baseline="0">
                <a:solidFill>
                  <a:srgbClr val="1E275C"/>
                </a:solidFill>
                <a:latin typeface="Segoe" panose="020B0502040200020203" pitchFamily="34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A79A92AF-199F-1976-F0A5-D1F4A01045F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31836" y="1668462"/>
            <a:ext cx="10972485" cy="4190999"/>
          </a:xfrm>
          <a:prstGeom prst="rect">
            <a:avLst/>
          </a:prstGeom>
        </p:spPr>
        <p:txBody>
          <a:bodyPr vert="horz" wrap="square" lIns="146304" tIns="91440" rIns="146304" bIns="91440" rtlCol="0">
            <a:noAutofit/>
          </a:bodyPr>
          <a:lstStyle>
            <a:lvl1pPr>
              <a:defRPr baseline="0">
                <a:solidFill>
                  <a:srgbClr val="000000"/>
                </a:solidFill>
              </a:defRPr>
            </a:lvl1pPr>
            <a:lvl2pPr>
              <a:defRPr baseline="0">
                <a:solidFill>
                  <a:srgbClr val="000000"/>
                </a:solidFill>
              </a:defRPr>
            </a:lvl2pPr>
            <a:lvl3pPr>
              <a:defRPr baseline="0">
                <a:solidFill>
                  <a:srgbClr val="000000"/>
                </a:solidFill>
              </a:defRPr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2698053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ith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1056257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s no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400" b="1" i="0" baseline="0">
                <a:solidFill>
                  <a:srgbClr val="1E275C"/>
                </a:solidFill>
                <a:latin typeface="Segoe" panose="020B0502040200020203" pitchFamily="34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739689" y="1668462"/>
            <a:ext cx="5021348" cy="4191000"/>
          </a:xfrm>
        </p:spPr>
        <p:txBody>
          <a:bodyPr wrap="square">
            <a:no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 baseline="0">
                <a:solidFill>
                  <a:srgbClr val="000000"/>
                </a:solidFill>
              </a:defRPr>
            </a:lvl1pPr>
            <a:lvl2pPr marL="0" indent="0">
              <a:buNone/>
              <a:defRPr sz="2000" baseline="0">
                <a:solidFill>
                  <a:srgbClr val="000000"/>
                </a:solidFill>
              </a:defRPr>
            </a:lvl2pPr>
            <a:lvl3pPr marL="231775" indent="0">
              <a:buNone/>
              <a:tabLst/>
              <a:defRPr sz="2000" baseline="0">
                <a:solidFill>
                  <a:srgbClr val="000000"/>
                </a:solidFill>
              </a:defRPr>
            </a:lvl3pPr>
            <a:lvl4pPr marL="460375" indent="0">
              <a:buNone/>
              <a:defRPr baseline="0">
                <a:solidFill>
                  <a:srgbClr val="000000"/>
                </a:solidFill>
              </a:defRPr>
            </a:lvl4pPr>
            <a:lvl5pPr marL="685800" indent="0">
              <a:buNone/>
              <a:tabLst/>
              <a:defRPr baseline="0">
                <a:solidFill>
                  <a:srgbClr val="000000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218237" y="1668462"/>
            <a:ext cx="5486400" cy="4191000"/>
          </a:xfrm>
        </p:spPr>
        <p:txBody>
          <a:bodyPr wrap="square">
            <a:no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 baseline="0">
                <a:solidFill>
                  <a:srgbClr val="000000"/>
                </a:solidFill>
              </a:defRPr>
            </a:lvl1pPr>
            <a:lvl2pPr marL="0" indent="0">
              <a:buNone/>
              <a:defRPr sz="2000" baseline="0">
                <a:solidFill>
                  <a:srgbClr val="000000"/>
                </a:solidFill>
              </a:defRPr>
            </a:lvl2pPr>
            <a:lvl3pPr marL="231775" indent="0">
              <a:buNone/>
              <a:tabLst/>
              <a:defRPr sz="2000" baseline="0">
                <a:solidFill>
                  <a:srgbClr val="000000"/>
                </a:solidFill>
              </a:defRPr>
            </a:lvl3pPr>
            <a:lvl4pPr marL="460375" indent="0">
              <a:buNone/>
              <a:defRPr baseline="0">
                <a:solidFill>
                  <a:srgbClr val="000000"/>
                </a:solidFill>
              </a:defRPr>
            </a:lvl4pPr>
            <a:lvl5pPr marL="685800" indent="0">
              <a:buNone/>
              <a:tabLst/>
              <a:defRPr baseline="0">
                <a:solidFill>
                  <a:srgbClr val="000000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73977870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31837" y="2125662"/>
            <a:ext cx="7315200" cy="2286000"/>
          </a:xfrm>
          <a:noFill/>
        </p:spPr>
        <p:txBody>
          <a:bodyPr wrap="square" tIns="91440" bIns="91440" anchor="t" anchorCtr="0">
            <a:noAutofit/>
          </a:bodyPr>
          <a:lstStyle>
            <a:lvl1pPr>
              <a:defRPr sz="4400" b="1" i="0" spc="-100" baseline="0">
                <a:solidFill>
                  <a:srgbClr val="1E275C"/>
                </a:solidFill>
                <a:latin typeface="Segoe" panose="020B0502040200020203" pitchFamily="34" charset="77"/>
              </a:defRPr>
            </a:lvl1pPr>
          </a:lstStyle>
          <a:p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27288490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ity with a lake&#10;&#10;Description automatically generated">
            <a:extLst>
              <a:ext uri="{FF2B5EF4-FFF2-40B4-BE49-F238E27FC236}">
                <a16:creationId xmlns:a16="http://schemas.microsoft.com/office/drawing/2014/main" id="{15F83B2B-FB5D-9733-A2DA-257BE74CE60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3487"/>
            <a:ext cx="12442682" cy="6991038"/>
          </a:xfrm>
          <a:prstGeom prst="rect">
            <a:avLst/>
          </a:prstGeom>
        </p:spPr>
      </p:pic>
      <p:sp>
        <p:nvSpPr>
          <p:cNvPr id="4" name="Text Box 3">
            <a:extLst>
              <a:ext uri="{FF2B5EF4-FFF2-40B4-BE49-F238E27FC236}">
                <a16:creationId xmlns:a16="http://schemas.microsoft.com/office/drawing/2014/main" id="{11FC0C72-737D-446E-3EBF-97A33E71CB20}"/>
              </a:ext>
            </a:extLst>
          </p:cNvPr>
          <p:cNvSpPr txBox="1">
            <a:spLocks noChangeArrowheads="1"/>
          </p:cNvSpPr>
          <p:nvPr userDrawn="1"/>
        </p:nvSpPr>
        <p:spPr bwMode="blackWhite">
          <a:xfrm>
            <a:off x="274637" y="6469062"/>
            <a:ext cx="11887199" cy="40318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182880" tIns="146304" rIns="182880" bIns="146304" numCol="1" anchor="t" anchorCtr="0" compatLnSpc="1">
            <a:prstTxWarp prst="textNoShape">
              <a:avLst/>
            </a:prstTxWarp>
            <a:spAutoFit/>
          </a:bodyPr>
          <a:lstStyle/>
          <a:p>
            <a:pPr algn="r" defTabSz="932290" eaLnBrk="0" hangingPunct="0"/>
            <a:r>
              <a:rPr lang="en-US" sz="7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anose="020B0502040204020203" pitchFamily="34" charset="0"/>
                <a:cs typeface="Segoe UI" panose="020B0502040204020203" pitchFamily="34" charset="0"/>
              </a:rPr>
              <a:t>© 2025 Dynamic Communities. All rights reserved. </a:t>
            </a:r>
          </a:p>
        </p:txBody>
      </p:sp>
    </p:spTree>
    <p:extLst>
      <p:ext uri="{BB962C8B-B14F-4D97-AF65-F5344CB8AC3E}">
        <p14:creationId xmlns:p14="http://schemas.microsoft.com/office/powerpoint/2010/main" val="718074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Palm trees in the sky&#10;&#10;Description automatically generated">
            <a:extLst>
              <a:ext uri="{FF2B5EF4-FFF2-40B4-BE49-F238E27FC236}">
                <a16:creationId xmlns:a16="http://schemas.microsoft.com/office/drawing/2014/main" id="{D2425B14-4C37-0700-44FC-5BD08A9796D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50000"/>
          </a:blip>
          <a:srcRect t="5520" b="7562"/>
          <a:stretch/>
        </p:blipFill>
        <p:spPr>
          <a:xfrm>
            <a:off x="-1" y="0"/>
            <a:ext cx="12436475" cy="699452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85488C3-1EA5-3614-1946-6015D751C8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2129" y="1935162"/>
            <a:ext cx="6077634" cy="1351952"/>
          </a:xfrm>
          <a:ln>
            <a:noFill/>
          </a:ln>
        </p:spPr>
        <p:txBody>
          <a:bodyPr/>
          <a:lstStyle>
            <a:lvl1pPr>
              <a:defRPr sz="4400" b="1" i="0" baseline="0">
                <a:solidFill>
                  <a:srgbClr val="1E275C"/>
                </a:solidFill>
                <a:latin typeface="Segoe" panose="020B0502040200020203" pitchFamily="34" charset="77"/>
              </a:defRPr>
            </a:lvl1pPr>
          </a:lstStyle>
          <a:p>
            <a:r>
              <a:rPr lang="en-US"/>
              <a:t>Session Title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5F30869-1BD4-D9D2-CE84-B199E855DE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  <p:sp>
        <p:nvSpPr>
          <p:cNvPr id="8" name="object 9">
            <a:extLst>
              <a:ext uri="{FF2B5EF4-FFF2-40B4-BE49-F238E27FC236}">
                <a16:creationId xmlns:a16="http://schemas.microsoft.com/office/drawing/2014/main" id="{EEE12B02-F83C-EE22-51AA-8DB85C11B023}"/>
              </a:ext>
            </a:extLst>
          </p:cNvPr>
          <p:cNvSpPr txBox="1"/>
          <p:nvPr userDrawn="1"/>
        </p:nvSpPr>
        <p:spPr>
          <a:xfrm>
            <a:off x="466368" y="652823"/>
            <a:ext cx="7316918" cy="738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0" tIns="0" rIns="0" bIns="0">
            <a:spAutoFit/>
          </a:bodyPr>
          <a:lstStyle/>
          <a:p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The largest Microsoft Business Applications </a:t>
            </a:r>
            <a:b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user conference on the planet.</a:t>
            </a:r>
          </a:p>
        </p:txBody>
      </p:sp>
      <p:sp>
        <p:nvSpPr>
          <p:cNvPr id="10" name="object 4">
            <a:extLst>
              <a:ext uri="{FF2B5EF4-FFF2-40B4-BE49-F238E27FC236}">
                <a16:creationId xmlns:a16="http://schemas.microsoft.com/office/drawing/2014/main" id="{B3D165BB-366E-FF38-B8DA-3AF941C1841F}"/>
              </a:ext>
            </a:extLst>
          </p:cNvPr>
          <p:cNvSpPr/>
          <p:nvPr userDrawn="1"/>
        </p:nvSpPr>
        <p:spPr>
          <a:xfrm>
            <a:off x="431123" y="2331509"/>
            <a:ext cx="96228" cy="494787"/>
          </a:xfrm>
          <a:prstGeom prst="rect">
            <a:avLst/>
          </a:prstGeom>
          <a:solidFill>
            <a:srgbClr val="E88C24"/>
          </a:solidFill>
          <a:ln w="12700">
            <a:miter lim="400000"/>
          </a:ln>
        </p:spPr>
        <p:txBody>
          <a:bodyPr lIns="46629" rIns="46629"/>
          <a:lstStyle/>
          <a:p>
            <a:endParaRPr sz="1836"/>
          </a:p>
        </p:txBody>
      </p:sp>
      <p:sp>
        <p:nvSpPr>
          <p:cNvPr id="11" name="object 10">
            <a:extLst>
              <a:ext uri="{FF2B5EF4-FFF2-40B4-BE49-F238E27FC236}">
                <a16:creationId xmlns:a16="http://schemas.microsoft.com/office/drawing/2014/main" id="{8B820B61-2594-56BE-784C-A8565846E223}"/>
              </a:ext>
            </a:extLst>
          </p:cNvPr>
          <p:cNvSpPr txBox="1"/>
          <p:nvPr userDrawn="1"/>
        </p:nvSpPr>
        <p:spPr>
          <a:xfrm>
            <a:off x="9626784" y="6676209"/>
            <a:ext cx="2737970" cy="208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>
            <a:spAutoFit/>
          </a:bodyPr>
          <a:lstStyle/>
          <a:p>
            <a:pPr indent="12953">
              <a:spcBef>
                <a:spcPts val="102"/>
              </a:spcBef>
              <a:defRPr sz="1300" spc="215">
                <a:solidFill>
                  <a:srgbClr val="3C474C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rPr sz="1326" baseline="0" dirty="0">
                <a:solidFill>
                  <a:srgbClr val="1B449A"/>
                </a:solidFill>
              </a:rPr>
              <a:t>@</a:t>
            </a:r>
            <a:r>
              <a:rPr sz="1326" spc="-66" baseline="0" dirty="0">
                <a:solidFill>
                  <a:srgbClr val="1B449A"/>
                </a:solidFill>
              </a:rPr>
              <a:t> </a:t>
            </a:r>
            <a:r>
              <a:rPr sz="1326" spc="-51" baseline="0" dirty="0">
                <a:solidFill>
                  <a:srgbClr val="1B449A"/>
                </a:solidFill>
              </a:rPr>
              <a:t>202</a:t>
            </a:r>
            <a:r>
              <a:rPr lang="en-US" sz="1326" spc="-51" baseline="0" dirty="0">
                <a:solidFill>
                  <a:srgbClr val="1B449A"/>
                </a:solidFill>
              </a:rPr>
              <a:t>5</a:t>
            </a:r>
            <a:r>
              <a:rPr sz="1326" spc="-66" baseline="0" dirty="0">
                <a:solidFill>
                  <a:srgbClr val="1B449A"/>
                </a:solidFill>
              </a:rPr>
              <a:t> </a:t>
            </a:r>
            <a:r>
              <a:rPr sz="1326" spc="61" baseline="0" dirty="0">
                <a:solidFill>
                  <a:srgbClr val="1B449A"/>
                </a:solidFill>
              </a:rPr>
              <a:t>Dynamic</a:t>
            </a:r>
            <a:r>
              <a:rPr sz="1326" spc="-66" baseline="0" dirty="0">
                <a:solidFill>
                  <a:srgbClr val="1B449A"/>
                </a:solidFill>
              </a:rPr>
              <a:t> </a:t>
            </a:r>
            <a:r>
              <a:rPr sz="1326" spc="41" baseline="0" dirty="0">
                <a:solidFill>
                  <a:srgbClr val="1B449A"/>
                </a:solidFill>
              </a:rPr>
              <a:t>Communities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B809A18-CADB-A7A0-34E2-48FA8D75A15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350375" y="214270"/>
            <a:ext cx="3086100" cy="109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0042301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- Multiple Speak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Palm trees in the sky&#10;&#10;Description automatically generated">
            <a:extLst>
              <a:ext uri="{FF2B5EF4-FFF2-40B4-BE49-F238E27FC236}">
                <a16:creationId xmlns:a16="http://schemas.microsoft.com/office/drawing/2014/main" id="{DCF3DCF1-D63C-6E92-54DF-6030DE9F00B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50000"/>
          </a:blip>
          <a:srcRect t="5520" b="7562"/>
          <a:stretch/>
        </p:blipFill>
        <p:spPr>
          <a:xfrm>
            <a:off x="-1" y="0"/>
            <a:ext cx="12436475" cy="6994525"/>
          </a:xfrm>
          <a:prstGeom prst="rect">
            <a:avLst/>
          </a:prstGeom>
        </p:spPr>
      </p:pic>
      <p:sp>
        <p:nvSpPr>
          <p:cNvPr id="2" name="object 4">
            <a:extLst>
              <a:ext uri="{FF2B5EF4-FFF2-40B4-BE49-F238E27FC236}">
                <a16:creationId xmlns:a16="http://schemas.microsoft.com/office/drawing/2014/main" id="{0B28C195-13A6-C9A0-D65F-4B15E26DBBAE}"/>
              </a:ext>
            </a:extLst>
          </p:cNvPr>
          <p:cNvSpPr/>
          <p:nvPr userDrawn="1"/>
        </p:nvSpPr>
        <p:spPr>
          <a:xfrm>
            <a:off x="580899" y="745162"/>
            <a:ext cx="96228" cy="494786"/>
          </a:xfrm>
          <a:prstGeom prst="rect">
            <a:avLst/>
          </a:prstGeom>
          <a:solidFill>
            <a:srgbClr val="E88C24"/>
          </a:solidFill>
          <a:ln w="12700" cap="flat">
            <a:noFill/>
            <a:miter lim="400000"/>
          </a:ln>
          <a:effectLst/>
        </p:spPr>
        <p:txBody>
          <a:bodyPr wrap="square" lIns="46629" tIns="46629" rIns="46629" bIns="46629" numCol="1" anchor="t">
            <a:noAutofit/>
          </a:bodyPr>
          <a:lstStyle/>
          <a:p>
            <a:endParaRPr sz="1836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929FF92-AF0F-BD1E-08DB-3F4D3757DA18}"/>
              </a:ext>
            </a:extLst>
          </p:cNvPr>
          <p:cNvSpPr txBox="1"/>
          <p:nvPr userDrawn="1"/>
        </p:nvSpPr>
        <p:spPr>
          <a:xfrm>
            <a:off x="841490" y="660997"/>
            <a:ext cx="4005134" cy="784757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rmAutofit/>
          </a:bodyPr>
          <a:lstStyle>
            <a:lvl1pPr>
              <a:defRPr sz="4400" b="1">
                <a:solidFill>
                  <a:srgbClr val="273472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>
              <a:defRPr sz="4400" b="1">
                <a:solidFill>
                  <a:srgbClr val="273472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>
              <a:defRPr sz="4400" b="1">
                <a:solidFill>
                  <a:srgbClr val="273472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>
              <a:defRPr sz="4400" b="1">
                <a:solidFill>
                  <a:srgbClr val="273472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>
              <a:defRPr sz="4400" b="1">
                <a:solidFill>
                  <a:srgbClr val="273472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>
              <a:defRPr sz="4400" b="1">
                <a:solidFill>
                  <a:srgbClr val="273472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>
              <a:defRPr sz="4400" b="1">
                <a:solidFill>
                  <a:srgbClr val="273472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>
              <a:defRPr sz="4400" b="1">
                <a:solidFill>
                  <a:srgbClr val="273472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>
              <a:defRPr sz="4400" b="1">
                <a:solidFill>
                  <a:srgbClr val="273472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lvl="0"/>
            <a:r>
              <a:rPr lang="en-US" sz="4080">
                <a:sym typeface="Calibri"/>
              </a:rPr>
              <a:t>Speakers</a:t>
            </a:r>
          </a:p>
        </p:txBody>
      </p:sp>
      <p:sp>
        <p:nvSpPr>
          <p:cNvPr id="4" name="Picture Placeholder 13">
            <a:extLst>
              <a:ext uri="{FF2B5EF4-FFF2-40B4-BE49-F238E27FC236}">
                <a16:creationId xmlns:a16="http://schemas.microsoft.com/office/drawing/2014/main" id="{A611E3E8-9C82-3A94-5AF8-DE0EEC49219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561697" y="1632056"/>
            <a:ext cx="1865471" cy="1865207"/>
          </a:xfrm>
          <a:prstGeom prst="ellipse">
            <a:avLst/>
          </a:prstGeom>
          <a:solidFill>
            <a:srgbClr val="A6ACB7"/>
          </a:solidFill>
          <a:ln w="63500">
            <a:solidFill>
              <a:srgbClr val="FF9300"/>
            </a:solidFill>
          </a:ln>
        </p:spPr>
        <p:txBody>
          <a:bodyPr/>
          <a:lstStyle>
            <a:lvl1pPr marL="0" indent="0" algn="ctr">
              <a:buNone/>
              <a:defRPr sz="1800" baseline="0"/>
            </a:lvl1pPr>
          </a:lstStyle>
          <a:p>
            <a:r>
              <a:rPr lang="en-US"/>
              <a:t>headshot</a:t>
            </a:r>
          </a:p>
        </p:txBody>
      </p:sp>
      <p:sp>
        <p:nvSpPr>
          <p:cNvPr id="5" name="Picture Placeholder 13">
            <a:extLst>
              <a:ext uri="{FF2B5EF4-FFF2-40B4-BE49-F238E27FC236}">
                <a16:creationId xmlns:a16="http://schemas.microsoft.com/office/drawing/2014/main" id="{51F6DAED-041B-09B2-3CC8-48D14D53E1D3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561697" y="4189625"/>
            <a:ext cx="1865471" cy="1865207"/>
          </a:xfrm>
          <a:prstGeom prst="ellipse">
            <a:avLst/>
          </a:prstGeom>
          <a:solidFill>
            <a:srgbClr val="A6ACB7"/>
          </a:solidFill>
          <a:ln w="63500">
            <a:solidFill>
              <a:srgbClr val="FF9300"/>
            </a:solidFill>
          </a:ln>
        </p:spPr>
        <p:txBody>
          <a:bodyPr/>
          <a:lstStyle>
            <a:lvl1pPr marL="0" indent="0" algn="ctr">
              <a:buNone/>
              <a:defRPr sz="1800" baseline="0"/>
            </a:lvl1pPr>
          </a:lstStyle>
          <a:p>
            <a:r>
              <a:rPr lang="en-US"/>
              <a:t>headshot</a:t>
            </a:r>
          </a:p>
        </p:txBody>
      </p:sp>
      <p:sp>
        <p:nvSpPr>
          <p:cNvPr id="6" name="Picture Placeholder 13">
            <a:extLst>
              <a:ext uri="{FF2B5EF4-FFF2-40B4-BE49-F238E27FC236}">
                <a16:creationId xmlns:a16="http://schemas.microsoft.com/office/drawing/2014/main" id="{D59FEECC-FD0F-27C0-892D-391D635CF27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846624" y="1632056"/>
            <a:ext cx="1865471" cy="1865207"/>
          </a:xfrm>
          <a:prstGeom prst="ellipse">
            <a:avLst/>
          </a:prstGeom>
          <a:solidFill>
            <a:srgbClr val="A6ACB7"/>
          </a:solidFill>
          <a:ln w="63500">
            <a:solidFill>
              <a:srgbClr val="FF9300"/>
            </a:solidFill>
          </a:ln>
        </p:spPr>
        <p:txBody>
          <a:bodyPr/>
          <a:lstStyle>
            <a:lvl1pPr marL="0" indent="0" algn="ctr">
              <a:buNone/>
              <a:defRPr sz="1800" baseline="0"/>
            </a:lvl1pPr>
          </a:lstStyle>
          <a:p>
            <a:r>
              <a:rPr lang="en-US"/>
              <a:t>headshot</a:t>
            </a:r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D7F9CB0E-D8D7-269D-46FC-3FE3C0775BDB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846624" y="4189625"/>
            <a:ext cx="1865471" cy="1865207"/>
          </a:xfrm>
          <a:prstGeom prst="ellipse">
            <a:avLst/>
          </a:prstGeom>
          <a:solidFill>
            <a:srgbClr val="A6ACB7"/>
          </a:solidFill>
          <a:ln w="63500">
            <a:solidFill>
              <a:srgbClr val="FF9300"/>
            </a:solidFill>
          </a:ln>
        </p:spPr>
        <p:txBody>
          <a:bodyPr/>
          <a:lstStyle>
            <a:lvl1pPr marL="0" indent="0" algn="ctr">
              <a:buNone/>
              <a:defRPr sz="1800" baseline="0"/>
            </a:lvl1pPr>
          </a:lstStyle>
          <a:p>
            <a:r>
              <a:rPr lang="en-US"/>
              <a:t>headshot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882C320-4955-A70C-46A3-AC36AD81F0D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95791" y="1632056"/>
            <a:ext cx="1980443" cy="1865207"/>
          </a:xfrm>
        </p:spPr>
        <p:txBody>
          <a:bodyPr/>
          <a:lstStyle>
            <a:lvl1pPr>
              <a:defRPr sz="1800" baseline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/>
              <a:t>Name, Title, Company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AA81035F-BFB1-2B4A-D37D-07EA122D7D0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982484" y="1632056"/>
            <a:ext cx="1980443" cy="1865207"/>
          </a:xfrm>
        </p:spPr>
        <p:txBody>
          <a:bodyPr/>
          <a:lstStyle>
            <a:lvl1pPr>
              <a:defRPr sz="1800" baseline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/>
              <a:t>Name, Title, Company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CA8498CA-DC8E-DB42-C9DB-295CBC2AB20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595791" y="4189625"/>
            <a:ext cx="1980443" cy="1865207"/>
          </a:xfrm>
        </p:spPr>
        <p:txBody>
          <a:bodyPr/>
          <a:lstStyle>
            <a:lvl1pPr>
              <a:defRPr sz="1800" baseline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/>
              <a:t>Name, Title, Company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6947CEC6-4DE0-3AD4-99B7-14156074EF5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982484" y="4189625"/>
            <a:ext cx="1980443" cy="1865207"/>
          </a:xfrm>
        </p:spPr>
        <p:txBody>
          <a:bodyPr/>
          <a:lstStyle>
            <a:lvl1pPr>
              <a:defRPr sz="1800" baseline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/>
              <a:t>Name, Title, Company</a:t>
            </a:r>
          </a:p>
        </p:txBody>
      </p:sp>
      <p:sp>
        <p:nvSpPr>
          <p:cNvPr id="15" name="object 10">
            <a:extLst>
              <a:ext uri="{FF2B5EF4-FFF2-40B4-BE49-F238E27FC236}">
                <a16:creationId xmlns:a16="http://schemas.microsoft.com/office/drawing/2014/main" id="{28136842-CD0A-1D81-A51A-FEBC7142305E}"/>
              </a:ext>
            </a:extLst>
          </p:cNvPr>
          <p:cNvSpPr txBox="1"/>
          <p:nvPr userDrawn="1"/>
        </p:nvSpPr>
        <p:spPr>
          <a:xfrm>
            <a:off x="272742" y="6629917"/>
            <a:ext cx="2737970" cy="208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>
            <a:spAutoFit/>
          </a:bodyPr>
          <a:lstStyle/>
          <a:p>
            <a:pPr indent="12953">
              <a:spcBef>
                <a:spcPts val="102"/>
              </a:spcBef>
              <a:defRPr sz="1300" spc="215">
                <a:solidFill>
                  <a:srgbClr val="3C474C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rPr sz="1326" baseline="0" dirty="0">
                <a:solidFill>
                  <a:srgbClr val="1B449A"/>
                </a:solidFill>
              </a:rPr>
              <a:t>@</a:t>
            </a:r>
            <a:r>
              <a:rPr sz="1326" spc="-66" baseline="0" dirty="0">
                <a:solidFill>
                  <a:srgbClr val="1B449A"/>
                </a:solidFill>
              </a:rPr>
              <a:t> </a:t>
            </a:r>
            <a:r>
              <a:rPr sz="1326" spc="-51" baseline="0" dirty="0">
                <a:solidFill>
                  <a:srgbClr val="1B449A"/>
                </a:solidFill>
              </a:rPr>
              <a:t>202</a:t>
            </a:r>
            <a:r>
              <a:rPr lang="en-US" sz="1326" spc="-51" baseline="0" dirty="0">
                <a:solidFill>
                  <a:srgbClr val="1B449A"/>
                </a:solidFill>
              </a:rPr>
              <a:t>5</a:t>
            </a:r>
            <a:r>
              <a:rPr sz="1326" spc="-66" baseline="0" dirty="0">
                <a:solidFill>
                  <a:srgbClr val="1B449A"/>
                </a:solidFill>
              </a:rPr>
              <a:t> </a:t>
            </a:r>
            <a:r>
              <a:rPr sz="1326" spc="61" baseline="0" dirty="0">
                <a:solidFill>
                  <a:srgbClr val="1B449A"/>
                </a:solidFill>
              </a:rPr>
              <a:t>Dynamic</a:t>
            </a:r>
            <a:r>
              <a:rPr sz="1326" spc="-66" baseline="0" dirty="0">
                <a:solidFill>
                  <a:srgbClr val="1B449A"/>
                </a:solidFill>
              </a:rPr>
              <a:t> </a:t>
            </a:r>
            <a:r>
              <a:rPr sz="1326" spc="41" baseline="0" dirty="0">
                <a:solidFill>
                  <a:srgbClr val="1B449A"/>
                </a:solidFill>
              </a:rPr>
              <a:t>Communities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6F06B7A-D76F-8218-DCAA-6EC941C616D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350375" y="214270"/>
            <a:ext cx="3086100" cy="109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3039517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Agend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Palm trees in the sky&#10;&#10;Description automatically generated">
            <a:extLst>
              <a:ext uri="{FF2B5EF4-FFF2-40B4-BE49-F238E27FC236}">
                <a16:creationId xmlns:a16="http://schemas.microsoft.com/office/drawing/2014/main" id="{10B88D82-2B62-3BFB-D841-B76287AC05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50000"/>
          </a:blip>
          <a:srcRect t="5520" b="7562"/>
          <a:stretch/>
        </p:blipFill>
        <p:spPr>
          <a:xfrm>
            <a:off x="-1" y="0"/>
            <a:ext cx="12436475" cy="6994525"/>
          </a:xfrm>
          <a:prstGeom prst="rect">
            <a:avLst/>
          </a:prstGeom>
        </p:spPr>
      </p:pic>
      <p:sp>
        <p:nvSpPr>
          <p:cNvPr id="10" name="object 10">
            <a:extLst>
              <a:ext uri="{FF2B5EF4-FFF2-40B4-BE49-F238E27FC236}">
                <a16:creationId xmlns:a16="http://schemas.microsoft.com/office/drawing/2014/main" id="{AA4E1C05-C18C-5999-ACBA-01155639006B}"/>
              </a:ext>
            </a:extLst>
          </p:cNvPr>
          <p:cNvSpPr txBox="1"/>
          <p:nvPr userDrawn="1"/>
        </p:nvSpPr>
        <p:spPr>
          <a:xfrm>
            <a:off x="9685337" y="6637374"/>
            <a:ext cx="2737970" cy="208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/>
          <a:p>
            <a:pPr indent="12953">
              <a:spcBef>
                <a:spcPts val="102"/>
              </a:spcBef>
              <a:defRPr sz="1300" spc="215">
                <a:solidFill>
                  <a:srgbClr val="3C474C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rPr sz="1326" baseline="0" dirty="0">
                <a:solidFill>
                  <a:srgbClr val="1B449A"/>
                </a:solidFill>
              </a:rPr>
              <a:t>@</a:t>
            </a:r>
            <a:r>
              <a:rPr sz="1326" spc="-66" baseline="0" dirty="0">
                <a:solidFill>
                  <a:srgbClr val="1B449A"/>
                </a:solidFill>
              </a:rPr>
              <a:t> </a:t>
            </a:r>
            <a:r>
              <a:rPr sz="1326" spc="-51" baseline="0" dirty="0">
                <a:solidFill>
                  <a:srgbClr val="1B449A"/>
                </a:solidFill>
              </a:rPr>
              <a:t>202</a:t>
            </a:r>
            <a:r>
              <a:rPr lang="en-US" sz="1326" spc="-51" baseline="0" dirty="0">
                <a:solidFill>
                  <a:srgbClr val="1B449A"/>
                </a:solidFill>
              </a:rPr>
              <a:t>5</a:t>
            </a:r>
            <a:r>
              <a:rPr sz="1326" spc="-66" baseline="0" dirty="0">
                <a:solidFill>
                  <a:srgbClr val="1B449A"/>
                </a:solidFill>
              </a:rPr>
              <a:t> </a:t>
            </a:r>
            <a:r>
              <a:rPr sz="1326" spc="61" baseline="0" dirty="0">
                <a:solidFill>
                  <a:srgbClr val="1B449A"/>
                </a:solidFill>
              </a:rPr>
              <a:t>Dynamic</a:t>
            </a:r>
            <a:r>
              <a:rPr sz="1326" spc="-66" baseline="0" dirty="0">
                <a:solidFill>
                  <a:srgbClr val="1B449A"/>
                </a:solidFill>
              </a:rPr>
              <a:t> </a:t>
            </a:r>
            <a:r>
              <a:rPr sz="1326" spc="41" baseline="0" dirty="0">
                <a:solidFill>
                  <a:srgbClr val="1B449A"/>
                </a:solidFill>
              </a:rPr>
              <a:t>Communities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18FB400-37E7-74B2-ACB9-7ED56CD5FDD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DF96BD7-A0D0-5697-E23A-C8FAF10B28E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350375" y="214270"/>
            <a:ext cx="3086100" cy="109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641108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Palm trees in the sky&#10;&#10;Description automatically generated">
            <a:extLst>
              <a:ext uri="{FF2B5EF4-FFF2-40B4-BE49-F238E27FC236}">
                <a16:creationId xmlns:a16="http://schemas.microsoft.com/office/drawing/2014/main" id="{148695D2-A994-111B-CD2D-283C560C91A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50000"/>
          </a:blip>
          <a:srcRect t="5520" b="7562"/>
          <a:stretch/>
        </p:blipFill>
        <p:spPr>
          <a:xfrm>
            <a:off x="-1" y="0"/>
            <a:ext cx="12436475" cy="6994525"/>
          </a:xfrm>
          <a:prstGeom prst="rect">
            <a:avLst/>
          </a:prstGeom>
        </p:spPr>
      </p:pic>
      <p:sp>
        <p:nvSpPr>
          <p:cNvPr id="9" name="object 10">
            <a:extLst>
              <a:ext uri="{FF2B5EF4-FFF2-40B4-BE49-F238E27FC236}">
                <a16:creationId xmlns:a16="http://schemas.microsoft.com/office/drawing/2014/main" id="{D53E30DB-3424-A7B3-DD4B-ECDCD1F473EA}"/>
              </a:ext>
            </a:extLst>
          </p:cNvPr>
          <p:cNvSpPr txBox="1"/>
          <p:nvPr userDrawn="1"/>
        </p:nvSpPr>
        <p:spPr>
          <a:xfrm>
            <a:off x="9698505" y="6676209"/>
            <a:ext cx="2737970" cy="208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>
            <a:spAutoFit/>
          </a:bodyPr>
          <a:lstStyle/>
          <a:p>
            <a:pPr indent="12953">
              <a:spcBef>
                <a:spcPts val="102"/>
              </a:spcBef>
              <a:defRPr sz="1300" spc="215">
                <a:solidFill>
                  <a:srgbClr val="3C474C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rPr sz="1326" baseline="0" dirty="0">
                <a:solidFill>
                  <a:srgbClr val="1B449A"/>
                </a:solidFill>
              </a:rPr>
              <a:t>@</a:t>
            </a:r>
            <a:r>
              <a:rPr sz="1326" spc="-66" baseline="0" dirty="0">
                <a:solidFill>
                  <a:srgbClr val="1B449A"/>
                </a:solidFill>
              </a:rPr>
              <a:t> </a:t>
            </a:r>
            <a:r>
              <a:rPr sz="1326" spc="-51" baseline="0" dirty="0">
                <a:solidFill>
                  <a:srgbClr val="1B449A"/>
                </a:solidFill>
              </a:rPr>
              <a:t>202</a:t>
            </a:r>
            <a:r>
              <a:rPr lang="en-US" sz="1326" spc="-51" baseline="0" dirty="0">
                <a:solidFill>
                  <a:srgbClr val="1B449A"/>
                </a:solidFill>
              </a:rPr>
              <a:t>5</a:t>
            </a:r>
            <a:r>
              <a:rPr sz="1326" spc="-66" baseline="0" dirty="0">
                <a:solidFill>
                  <a:srgbClr val="1B449A"/>
                </a:solidFill>
              </a:rPr>
              <a:t> </a:t>
            </a:r>
            <a:r>
              <a:rPr sz="1326" spc="61" baseline="0" dirty="0">
                <a:solidFill>
                  <a:srgbClr val="1B449A"/>
                </a:solidFill>
              </a:rPr>
              <a:t>Dynamic</a:t>
            </a:r>
            <a:r>
              <a:rPr sz="1326" spc="-66" baseline="0" dirty="0">
                <a:solidFill>
                  <a:srgbClr val="1B449A"/>
                </a:solidFill>
              </a:rPr>
              <a:t> </a:t>
            </a:r>
            <a:r>
              <a:rPr sz="1326" spc="41" baseline="0" dirty="0">
                <a:solidFill>
                  <a:srgbClr val="1B449A"/>
                </a:solidFill>
              </a:rPr>
              <a:t>Communities</a:t>
            </a:r>
          </a:p>
        </p:txBody>
      </p:sp>
      <p:sp>
        <p:nvSpPr>
          <p:cNvPr id="10" name="object 8">
            <a:extLst>
              <a:ext uri="{FF2B5EF4-FFF2-40B4-BE49-F238E27FC236}">
                <a16:creationId xmlns:a16="http://schemas.microsoft.com/office/drawing/2014/main" id="{28E884E9-8151-D4F3-956D-80BE3F8721D9}"/>
              </a:ext>
            </a:extLst>
          </p:cNvPr>
          <p:cNvSpPr/>
          <p:nvPr userDrawn="1"/>
        </p:nvSpPr>
        <p:spPr>
          <a:xfrm>
            <a:off x="580899" y="2043488"/>
            <a:ext cx="96228" cy="1246050"/>
          </a:xfrm>
          <a:prstGeom prst="rect">
            <a:avLst/>
          </a:prstGeom>
          <a:solidFill>
            <a:srgbClr val="E88C24"/>
          </a:solidFill>
          <a:ln w="12700">
            <a:miter lim="400000"/>
          </a:ln>
        </p:spPr>
        <p:txBody>
          <a:bodyPr lIns="46629" rIns="46629"/>
          <a:lstStyle/>
          <a:p>
            <a:endParaRPr sz="1836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0A10028-72AC-53E2-41A9-93F66C4F0D92}"/>
              </a:ext>
            </a:extLst>
          </p:cNvPr>
          <p:cNvSpPr txBox="1"/>
          <p:nvPr userDrawn="1"/>
        </p:nvSpPr>
        <p:spPr>
          <a:xfrm>
            <a:off x="871322" y="1922300"/>
            <a:ext cx="4656520" cy="1488424"/>
          </a:xfrm>
          <a:prstGeom prst="rect">
            <a:avLst/>
          </a:prstGeom>
          <a:ln w="12700">
            <a:miter lim="400000"/>
          </a:ln>
        </p:spPr>
        <p:txBody>
          <a:bodyPr lIns="0" tIns="0" rIns="0" bIns="0"/>
          <a:lstStyle>
            <a:lvl1pPr lvl="0" indent="12700" eaLnBrk="1" hangingPunct="1">
              <a:spcBef>
                <a:spcPts val="100"/>
              </a:spcBef>
              <a:defRPr sz="4400" b="1" spc="-200">
                <a:solidFill>
                  <a:srgbClr val="273472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>
              <a:defRPr sz="4400" b="1">
                <a:solidFill>
                  <a:srgbClr val="273472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>
              <a:defRPr sz="4400" b="1">
                <a:solidFill>
                  <a:srgbClr val="273472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>
              <a:defRPr sz="4400" b="1">
                <a:solidFill>
                  <a:srgbClr val="273472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>
              <a:defRPr sz="4400" b="1">
                <a:solidFill>
                  <a:srgbClr val="273472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>
              <a:defRPr sz="4400" b="1">
                <a:solidFill>
                  <a:srgbClr val="273472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>
              <a:defRPr sz="4400" b="1">
                <a:solidFill>
                  <a:srgbClr val="273472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>
              <a:defRPr sz="4400" b="1">
                <a:solidFill>
                  <a:srgbClr val="273472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>
              <a:defRPr sz="4400" b="1">
                <a:solidFill>
                  <a:srgbClr val="273472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lvl="0"/>
            <a:r>
              <a:rPr lang="en-US" sz="4488">
                <a:sym typeface="Calibri"/>
              </a:rPr>
              <a:t>Thank you for Attending!</a:t>
            </a:r>
          </a:p>
        </p:txBody>
      </p:sp>
      <p:sp>
        <p:nvSpPr>
          <p:cNvPr id="4" name="object 9">
            <a:extLst>
              <a:ext uri="{FF2B5EF4-FFF2-40B4-BE49-F238E27FC236}">
                <a16:creationId xmlns:a16="http://schemas.microsoft.com/office/drawing/2014/main" id="{E205A04B-C58C-BC42-5E28-9F389C949012}"/>
              </a:ext>
            </a:extLst>
          </p:cNvPr>
          <p:cNvSpPr txBox="1"/>
          <p:nvPr userDrawn="1"/>
        </p:nvSpPr>
        <p:spPr>
          <a:xfrm>
            <a:off x="466368" y="652823"/>
            <a:ext cx="6250118" cy="615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0" tIns="0" rIns="0" bIns="0">
            <a:spAutoFit/>
          </a:bodyPr>
          <a:lstStyle/>
          <a:p>
            <a:r>
              <a:rPr lang="en-US" sz="2000" dirty="0">
                <a:latin typeface="Poppins" panose="00000500000000000000" pitchFamily="2" charset="0"/>
                <a:cs typeface="Poppins" panose="00000500000000000000" pitchFamily="2" charset="0"/>
              </a:rPr>
              <a:t>The largest Microsoft Business Applications </a:t>
            </a:r>
            <a:br>
              <a:rPr lang="en-US" sz="2000" dirty="0"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US" sz="2000" dirty="0">
                <a:latin typeface="Poppins" panose="00000500000000000000" pitchFamily="2" charset="0"/>
                <a:cs typeface="Poppins" panose="00000500000000000000" pitchFamily="2" charset="0"/>
              </a:rPr>
              <a:t>user conference on the planet.</a:t>
            </a:r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0852A0F6-69FE-7925-F6B0-18B7342A4A83}"/>
              </a:ext>
            </a:extLst>
          </p:cNvPr>
          <p:cNvSpPr txBox="1"/>
          <p:nvPr userDrawn="1"/>
        </p:nvSpPr>
        <p:spPr>
          <a:xfrm>
            <a:off x="-75621" y="6607302"/>
            <a:ext cx="5603463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0" tIns="0" rIns="0" bIns="0">
            <a:spAutoFit/>
          </a:bodyPr>
          <a:lstStyle/>
          <a:p>
            <a:pPr marL="0" marR="5181" lvl="0" indent="12953" algn="r" defTabSz="932742" rtl="0" eaLnBrk="1" fontAlgn="auto" latinLnBrk="0" hangingPunct="1">
              <a:lnSpc>
                <a:spcPct val="100000"/>
              </a:lnSpc>
              <a:spcBef>
                <a:spcPts val="306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spc="85">
                <a:solidFill>
                  <a:srgbClr val="252F35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rPr lang="en-US" sz="1800" dirty="0">
                <a:solidFill>
                  <a:srgbClr val="1B449A"/>
                </a:solidFill>
              </a:rPr>
              <a:t>A Dynamics-First, ‘For User, By User’ Event</a:t>
            </a:r>
            <a:r>
              <a:rPr sz="1800" spc="-25" baseline="0" dirty="0">
                <a:solidFill>
                  <a:srgbClr val="1B449A"/>
                </a:solidFill>
              </a:rPr>
              <a:t>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2E8EE19-D4A5-89BF-DC08-BC3CB7FE894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350375" y="214270"/>
            <a:ext cx="3086100" cy="109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8936611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ct 9" hidden="1">
            <a:extLst>
              <a:ext uri="{FF2B5EF4-FFF2-40B4-BE49-F238E27FC236}">
                <a16:creationId xmlns:a16="http://schemas.microsoft.com/office/drawing/2014/main" id="{F5FFCFD5-7549-46DE-99AE-A249D5D5F38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17915521"/>
              </p:ext>
            </p:extLst>
          </p:nvPr>
        </p:nvGraphicFramePr>
        <p:xfrm>
          <a:off x="1620" y="1619"/>
          <a:ext cx="1620" cy="16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83" imgH="384" progId="TCLayout.ActiveDocument.1">
                  <p:embed/>
                </p:oleObj>
              </mc:Choice>
              <mc:Fallback>
                <p:oleObj name="think-cell Slide" r:id="rId4" imgW="383" imgH="384" progId="TCLayout.ActiveDocument.1">
                  <p:embed/>
                  <p:pic>
                    <p:nvPicPr>
                      <p:cNvPr id="10" name="Object 9" hidden="1">
                        <a:extLst>
                          <a:ext uri="{FF2B5EF4-FFF2-40B4-BE49-F238E27FC236}">
                            <a16:creationId xmlns:a16="http://schemas.microsoft.com/office/drawing/2014/main" id="{F5FFCFD5-7549-46DE-99AE-A249D5D5F38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620" y="1619"/>
                        <a:ext cx="1620" cy="16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8" hidden="1">
            <a:extLst>
              <a:ext uri="{FF2B5EF4-FFF2-40B4-BE49-F238E27FC236}">
                <a16:creationId xmlns:a16="http://schemas.microsoft.com/office/drawing/2014/main" id="{BFE13E35-06C7-4AAE-AA3F-972308AF3AED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61933" cy="1619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en-US" sz="4488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8300B4D-EA0D-4DD5-92FE-9AE5CDD9248C}"/>
              </a:ext>
            </a:extLst>
          </p:cNvPr>
          <p:cNvSpPr/>
          <p:nvPr userDrawn="1"/>
        </p:nvSpPr>
        <p:spPr>
          <a:xfrm>
            <a:off x="11465339" y="6649656"/>
            <a:ext cx="453413" cy="344868"/>
          </a:xfrm>
          <a:prstGeom prst="rect">
            <a:avLst/>
          </a:prstGeom>
          <a:solidFill>
            <a:srgbClr val="FBF7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36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D3AD22B-25E4-4680-8484-6D885B9CCEE8}"/>
              </a:ext>
            </a:extLst>
          </p:cNvPr>
          <p:cNvSpPr/>
          <p:nvPr userDrawn="1"/>
        </p:nvSpPr>
        <p:spPr>
          <a:xfrm>
            <a:off x="11465339" y="6442410"/>
            <a:ext cx="453413" cy="453349"/>
          </a:xfrm>
          <a:prstGeom prst="ellipse">
            <a:avLst/>
          </a:prstGeom>
          <a:solidFill>
            <a:srgbClr val="FBF7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36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EED8CC-574A-4170-AB23-424B7F5BDF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5558" y="372394"/>
            <a:ext cx="11285362" cy="13519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8B05A6-6B64-4F04-A952-8081607C02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5558" y="1861968"/>
            <a:ext cx="11285362" cy="4437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798E3A-8CEB-4709-9B49-E0C39D4180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5557" y="6482889"/>
            <a:ext cx="4197310" cy="372394"/>
          </a:xfrm>
        </p:spPr>
        <p:txBody>
          <a:bodyPr/>
          <a:lstStyle>
            <a:lvl1pPr algn="l">
              <a:defRPr/>
            </a:lvl1pPr>
          </a:lstStyle>
          <a:p>
            <a:pPr algn="l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743404-9A57-4735-ACBB-7108D1A42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23172" y="6482889"/>
            <a:ext cx="337747" cy="372394"/>
          </a:xfrm>
        </p:spPr>
        <p:txBody>
          <a:bodyPr lIns="0" tIns="0" rIns="0" bIns="0"/>
          <a:lstStyle>
            <a:lvl1pPr algn="ctr">
              <a:defRPr sz="918" b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fld id="{8D05A9CD-9176-4D89-A414-3BEEE81BBC7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8134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D74D02B-FAC9-3918-9CB5-CE8CE9CC8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F657A-ACF9-4E40-A2DA-3323CFDC064A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6DB6D17-0A99-46F0-7353-6CAB6A9496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2C6C87-2EE8-E13D-5C78-88F5BD5AF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DF7C2-04DF-C149-BAB4-89733FA27B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30488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F4036C-F2D0-E5FA-A9AD-9F13C43C51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54163" y="1144588"/>
            <a:ext cx="9328150" cy="2435225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2027C8-6E77-AA13-28A0-54A3DA880F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54163" y="3673475"/>
            <a:ext cx="9328150" cy="1689100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9838F5-6A95-0D91-ED36-47BEFFF4AB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419FB-D837-7647-AC90-84F19AB974CA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870B45-D55C-7586-BF10-D531E34555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739F54-5652-FD6C-DC9C-258633175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3BB20-E12A-E14B-92E8-05542924BD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6503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9606E4-0255-04C2-05F4-69A58A211C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0542DC-8B03-6107-E71E-9588A48652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E9F7FA-AEA7-B39E-4D04-5645B5FBA0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419FB-D837-7647-AC90-84F19AB974CA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291419-2070-DBE8-4146-4E956DA44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BD1D98-2323-B250-6D61-CA41D4A04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3BB20-E12A-E14B-92E8-05542924BD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9016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030CF9-0706-CA5E-8233-A787752FEA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9313" y="1743075"/>
            <a:ext cx="10725150" cy="2909888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A967A8-44A8-E9A0-067A-424CE94896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9313" y="4681538"/>
            <a:ext cx="10725150" cy="1528762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C0E77A-EC6E-C017-88A8-8DC155321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419FB-D837-7647-AC90-84F19AB974CA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1CE00A-629B-9809-956B-E335D55F67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2B17E4-5C7F-BEF8-1CB1-B96E8750A0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3BB20-E12A-E14B-92E8-05542924BD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68947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0492D2-7BB3-EE30-D85D-6D233270B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D507E3-3070-235F-5D9B-7B41B99459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55663" y="1862138"/>
            <a:ext cx="5286375" cy="4437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498F23-5C78-95FD-0482-21D4DA4F85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4438" y="1862138"/>
            <a:ext cx="5286375" cy="4437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17ACFC-758C-978C-4200-4FDD1300C5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419FB-D837-7647-AC90-84F19AB974CA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7416CE-42F7-3D16-510A-2BAF401EE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FE40FE-5412-F1B7-8745-8D453CC23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3BB20-E12A-E14B-92E8-05542924BD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69981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C6CB6-D887-658C-B7FA-79FCA55655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250" y="373063"/>
            <a:ext cx="10725150" cy="135096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116B04-70DE-2CE1-9DDB-0DB3D69940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57250" y="1714500"/>
            <a:ext cx="5260975" cy="83978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A19F21-136B-62F9-F77B-D07F5D2239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57250" y="2554288"/>
            <a:ext cx="5260975" cy="3759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DB9F4C-216C-D100-87B3-878B003110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96025" y="1714500"/>
            <a:ext cx="5286375" cy="83978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69D0F06-6168-E592-6EE1-0A51222766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96025" y="2554288"/>
            <a:ext cx="5286375" cy="3759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AD48404-402B-BB3A-3C70-8A663BDD78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419FB-D837-7647-AC90-84F19AB974CA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417AAD-C961-8ECB-7C7A-852059609E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A71A1BB-E631-C611-0459-D280C3167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3BB20-E12A-E14B-92E8-05542924BD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4141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66A011-289E-4B8F-1CF9-1CC46C447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62827F9-3D49-C709-70CB-C5FEB4C8BF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419FB-D837-7647-AC90-84F19AB974CA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EE711E-3BAE-C5B5-877C-39686A366C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4BD723-4295-41EC-1F80-779B398E4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3BB20-E12A-E14B-92E8-05542924BD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36476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DF7A1CD-DCA6-9DCC-93A2-D3367DDED7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419FB-D837-7647-AC90-84F19AB974CA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8F2637B-D79E-AF39-64A5-FE4BFCF662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DE2B03-8005-975D-D987-65836D704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3BB20-E12A-E14B-92E8-05542924BD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4148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9E886-43E5-69A2-5BDE-5E08C8C2C8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250" y="466725"/>
            <a:ext cx="4010025" cy="16319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28FB97-A01D-6830-CE18-36081E7A64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6375" y="1006475"/>
            <a:ext cx="6296025" cy="49704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7F96C4-95F9-4732-564F-4371A24B5F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57250" y="2098675"/>
            <a:ext cx="4010025" cy="38877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E2F4A7-65C3-91EA-0380-ECEA5255B3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419FB-D837-7647-AC90-84F19AB974CA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31AB7D-1A55-8DFA-770D-643C0F82FF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811768-80EB-0515-CB18-834166E56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3BB20-E12A-E14B-92E8-05542924BD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7925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60D050-AE94-CF41-9AE3-4152A36F1C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250" y="466725"/>
            <a:ext cx="4010025" cy="16319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A1A4CF3-5678-5504-703C-5F8AB99531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286375" y="1006475"/>
            <a:ext cx="6296025" cy="497046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4D9EB5-A1F8-4DB6-0F7E-6D7A8A381F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57250" y="2098675"/>
            <a:ext cx="4010025" cy="38877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04A06F-D2A9-5DDB-D6F5-301C2AF0A3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419FB-D837-7647-AC90-84F19AB974CA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C49984-990B-61CD-AA48-AC61B9BC2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0EF457-44D0-AFCA-A69C-747942E03D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3BB20-E12A-E14B-92E8-05542924BD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62491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E2AB6-3227-57A3-8413-53E76E794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B50A63-D241-C9E9-41DD-5E2CC350C0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59AA09-52C9-6C3E-BB98-EB6E9216E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419FB-D837-7647-AC90-84F19AB974CA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7B782F-650F-3302-A3CC-99E530736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AC915C-FCAF-91AE-ACBE-36811915C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3BB20-E12A-E14B-92E8-05542924BD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59192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F857E7F-84CF-1B9E-EF2F-B9328A682D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899525" y="373063"/>
            <a:ext cx="2681288" cy="592613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BBB55B-480C-B12D-AFA3-BF5E468CE7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55663" y="373063"/>
            <a:ext cx="7891462" cy="592613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DC5921-0D28-EA8B-4059-D11B21B2E8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419FB-D837-7647-AC90-84F19AB974CA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2A2E97-ECAB-3093-1D38-19D8598EB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A86EFD-7EB8-157E-7837-59BB74941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3BB20-E12A-E14B-92E8-05542924BD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45353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69C52D-7A32-0C55-6FB2-F0247B9192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54163" y="1144588"/>
            <a:ext cx="9328150" cy="2435225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7564D3-A5F1-E105-364A-C71B92B5B5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54163" y="3673475"/>
            <a:ext cx="9328150" cy="1689100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4798087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32153" y="765713"/>
            <a:ext cx="10972484" cy="712249"/>
          </a:xfrm>
          <a:prstGeom prst="rect">
            <a:avLst/>
          </a:prstGeom>
        </p:spPr>
        <p:txBody>
          <a:bodyPr vert="horz" wrap="square" lIns="146304" tIns="91440" rIns="146304" bIns="9144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731836" y="1668462"/>
            <a:ext cx="10972485" cy="4190999"/>
          </a:xfrm>
          <a:prstGeom prst="rect">
            <a:avLst/>
          </a:prstGeom>
        </p:spPr>
        <p:txBody>
          <a:bodyPr vert="horz" wrap="square" lIns="146304" tIns="91440" rIns="146304" bIns="91440" rtlCol="0">
            <a:no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grpSp>
        <p:nvGrpSpPr>
          <p:cNvPr id="5" name="Group 4" hidden="1"/>
          <p:cNvGrpSpPr/>
          <p:nvPr userDrawn="1"/>
        </p:nvGrpSpPr>
        <p:grpSpPr>
          <a:xfrm>
            <a:off x="12619037" y="0"/>
            <a:ext cx="952400" cy="5766965"/>
            <a:chOff x="12618968" y="0"/>
            <a:chExt cx="952400" cy="5766965"/>
          </a:xfrm>
        </p:grpSpPr>
        <p:grpSp>
          <p:nvGrpSpPr>
            <p:cNvPr id="6" name="Group 5"/>
            <p:cNvGrpSpPr/>
            <p:nvPr userDrawn="1"/>
          </p:nvGrpSpPr>
          <p:grpSpPr>
            <a:xfrm rot="5400000">
              <a:off x="11582060" y="1045295"/>
              <a:ext cx="2703053" cy="629235"/>
              <a:chOff x="1586734" y="4543426"/>
              <a:chExt cx="2703053" cy="629235"/>
            </a:xfrm>
          </p:grpSpPr>
          <p:sp>
            <p:nvSpPr>
              <p:cNvPr id="14" name="Rectangle 13"/>
              <p:cNvSpPr/>
              <p:nvPr userDrawn="1"/>
            </p:nvSpPr>
            <p:spPr bwMode="auto">
              <a:xfrm>
                <a:off x="1586734" y="4543428"/>
                <a:ext cx="869930" cy="289766"/>
              </a:xfrm>
              <a:prstGeom prst="rect">
                <a:avLst/>
              </a:prstGeom>
              <a:solidFill>
                <a:schemeClr val="tx2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Dark Blue</a:t>
                </a: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</a:t>
                </a:r>
                <a:r>
                  <a:rPr lang="en-US" sz="500" baseline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0 G:0 B:77</a:t>
                </a:r>
                <a:endParaRPr lang="en-US" sz="50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15" name="Rectangle 14"/>
              <p:cNvSpPr/>
              <p:nvPr userDrawn="1"/>
            </p:nvSpPr>
            <p:spPr bwMode="auto">
              <a:xfrm>
                <a:off x="2505456" y="4543427"/>
                <a:ext cx="869930" cy="28976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Blue</a:t>
                </a: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R:5</a:t>
                </a:r>
                <a:r>
                  <a:rPr lang="en-US" sz="500" baseline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 G:124 B:193</a:t>
                </a:r>
                <a:endParaRPr lang="en-US" sz="50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16" name="Rectangle 15"/>
              <p:cNvSpPr/>
              <p:nvPr userDrawn="1"/>
            </p:nvSpPr>
            <p:spPr bwMode="auto">
              <a:xfrm>
                <a:off x="3419856" y="4543426"/>
                <a:ext cx="869930" cy="289766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>
                    <a:gradFill>
                      <a:gsLst>
                        <a:gs pos="28302">
                          <a:schemeClr val="bg1"/>
                        </a:gs>
                        <a:gs pos="67000">
                          <a:schemeClr val="bg1"/>
                        </a:gs>
                      </a:gsLst>
                      <a:lin ang="5400000" scaled="1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Red</a:t>
                </a: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>
                    <a:gradFill>
                      <a:gsLst>
                        <a:gs pos="28302">
                          <a:schemeClr val="bg1"/>
                        </a:gs>
                        <a:gs pos="67000">
                          <a:schemeClr val="bg1"/>
                        </a:gs>
                      </a:gsLst>
                      <a:lin ang="5400000" scaled="1"/>
                    </a:gradFill>
                    <a:ea typeface="Segoe UI" pitchFamily="34" charset="0"/>
                    <a:cs typeface="Segoe UI" pitchFamily="34" charset="0"/>
                  </a:rPr>
                  <a:t>R:237</a:t>
                </a:r>
                <a:r>
                  <a:rPr lang="en-US" sz="500" baseline="0">
                    <a:gradFill>
                      <a:gsLst>
                        <a:gs pos="28302">
                          <a:schemeClr val="bg1"/>
                        </a:gs>
                        <a:gs pos="67000">
                          <a:schemeClr val="bg1"/>
                        </a:gs>
                      </a:gsLst>
                      <a:lin ang="5400000" scaled="1"/>
                    </a:gradFill>
                    <a:ea typeface="Segoe UI" pitchFamily="34" charset="0"/>
                    <a:cs typeface="Segoe UI" pitchFamily="34" charset="0"/>
                  </a:rPr>
                  <a:t> G:38 B:36</a:t>
                </a:r>
                <a:endParaRPr lang="en-US" sz="500">
                  <a:gradFill>
                    <a:gsLst>
                      <a:gs pos="28302">
                        <a:schemeClr val="bg1"/>
                      </a:gs>
                      <a:gs pos="67000">
                        <a:schemeClr val="bg1"/>
                      </a:gs>
                    </a:gsLst>
                    <a:lin ang="5400000" scaled="1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17" name="Rectangle 16"/>
              <p:cNvSpPr/>
              <p:nvPr userDrawn="1"/>
            </p:nvSpPr>
            <p:spPr bwMode="auto">
              <a:xfrm>
                <a:off x="1586734" y="4882895"/>
                <a:ext cx="869930" cy="289766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>
                    <a:gradFill>
                      <a:gsLst>
                        <a:gs pos="4717">
                          <a:schemeClr val="tx1"/>
                        </a:gs>
                        <a:gs pos="36000">
                          <a:schemeClr val="tx1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Gold</a:t>
                </a: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>
                    <a:gradFill>
                      <a:gsLst>
                        <a:gs pos="4717">
                          <a:schemeClr val="tx1"/>
                        </a:gs>
                        <a:gs pos="36000">
                          <a:schemeClr val="tx1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R:254</a:t>
                </a:r>
                <a:r>
                  <a:rPr lang="en-US" sz="500" baseline="0">
                    <a:gradFill>
                      <a:gsLst>
                        <a:gs pos="4717">
                          <a:schemeClr val="tx1"/>
                        </a:gs>
                        <a:gs pos="36000">
                          <a:schemeClr val="tx1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 G:197 B:35</a:t>
                </a:r>
                <a:endParaRPr lang="en-US" sz="500">
                  <a:gradFill>
                    <a:gsLst>
                      <a:gs pos="4717">
                        <a:schemeClr val="tx1"/>
                      </a:gs>
                      <a:gs pos="36000">
                        <a:schemeClr val="tx1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18" name="Rectangle 17"/>
              <p:cNvSpPr/>
              <p:nvPr userDrawn="1"/>
            </p:nvSpPr>
            <p:spPr bwMode="auto">
              <a:xfrm>
                <a:off x="3419857" y="4882895"/>
                <a:ext cx="869930" cy="289766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>
                    <a:gradFill>
                      <a:gsLst>
                        <a:gs pos="7547">
                          <a:schemeClr val="tx1"/>
                        </a:gs>
                        <a:gs pos="28302">
                          <a:schemeClr val="tx1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Light Green</a:t>
                </a: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>
                    <a:gradFill>
                      <a:gsLst>
                        <a:gs pos="7547">
                          <a:schemeClr val="tx1"/>
                        </a:gs>
                        <a:gs pos="28302">
                          <a:schemeClr val="tx1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</a:t>
                </a:r>
                <a:r>
                  <a:rPr lang="en-US" sz="500" baseline="0">
                    <a:gradFill>
                      <a:gsLst>
                        <a:gs pos="7547">
                          <a:schemeClr val="tx1"/>
                        </a:gs>
                        <a:gs pos="28302">
                          <a:schemeClr val="tx1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186 G:216 B:10</a:t>
                </a:r>
                <a:endParaRPr lang="en-US" sz="500">
                  <a:gradFill>
                    <a:gsLst>
                      <a:gs pos="7547">
                        <a:schemeClr val="tx1"/>
                      </a:gs>
                      <a:gs pos="28302">
                        <a:schemeClr val="tx1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19" name="Rectangle 18"/>
              <p:cNvSpPr/>
              <p:nvPr userDrawn="1"/>
            </p:nvSpPr>
            <p:spPr bwMode="auto">
              <a:xfrm>
                <a:off x="2505456" y="4882895"/>
                <a:ext cx="869930" cy="289766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>
                    <a:gradFill>
                      <a:gsLst>
                        <a:gs pos="76415">
                          <a:schemeClr val="bg1"/>
                        </a:gs>
                        <a:gs pos="52000">
                          <a:schemeClr val="bg1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Teal</a:t>
                </a: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>
                    <a:gradFill>
                      <a:gsLst>
                        <a:gs pos="76415">
                          <a:schemeClr val="bg1"/>
                        </a:gs>
                        <a:gs pos="52000">
                          <a:schemeClr val="bg1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R:0</a:t>
                </a:r>
                <a:r>
                  <a:rPr lang="en-US" sz="500" baseline="0">
                    <a:gradFill>
                      <a:gsLst>
                        <a:gs pos="76415">
                          <a:schemeClr val="bg1"/>
                        </a:gs>
                        <a:gs pos="52000">
                          <a:schemeClr val="bg1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 G:130 B:114</a:t>
                </a:r>
                <a:endParaRPr lang="en-US" sz="500">
                  <a:gradFill>
                    <a:gsLst>
                      <a:gs pos="76415">
                        <a:schemeClr val="bg1"/>
                      </a:gs>
                      <a:gs pos="52000">
                        <a:schemeClr val="bg1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</p:grpSp>
        <p:grpSp>
          <p:nvGrpSpPr>
            <p:cNvPr id="8" name="Group 7"/>
            <p:cNvGrpSpPr/>
            <p:nvPr userDrawn="1"/>
          </p:nvGrpSpPr>
          <p:grpSpPr>
            <a:xfrm rot="5400000">
              <a:off x="11412325" y="4270556"/>
              <a:ext cx="2703052" cy="289766"/>
              <a:chOff x="4476564" y="4543426"/>
              <a:chExt cx="2703052" cy="289766"/>
            </a:xfrm>
          </p:grpSpPr>
          <p:sp>
            <p:nvSpPr>
              <p:cNvPr id="11" name="Rectangle 10"/>
              <p:cNvSpPr/>
              <p:nvPr userDrawn="1"/>
            </p:nvSpPr>
            <p:spPr bwMode="auto">
              <a:xfrm>
                <a:off x="5395286" y="4543426"/>
                <a:ext cx="869930" cy="289766"/>
              </a:xfrm>
              <a:prstGeom prst="rect">
                <a:avLst/>
              </a:prstGeom>
              <a:solidFill>
                <a:srgbClr val="00BCF2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baseline="0">
                    <a:gradFill>
                      <a:gsLst>
                        <a:gs pos="16981">
                          <a:schemeClr val="tx1"/>
                        </a:gs>
                        <a:gs pos="48000">
                          <a:schemeClr val="tx1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Light Blue</a:t>
                </a:r>
              </a:p>
              <a:p>
                <a:pPr lvl="0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baseline="0">
                    <a:gradFill>
                      <a:gsLst>
                        <a:gs pos="16981">
                          <a:schemeClr val="tx1"/>
                        </a:gs>
                        <a:gs pos="48000">
                          <a:schemeClr val="tx1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R:0 G:188 B:242</a:t>
                </a:r>
              </a:p>
            </p:txBody>
          </p:sp>
          <p:sp>
            <p:nvSpPr>
              <p:cNvPr id="12" name="Rectangle 11"/>
              <p:cNvSpPr/>
              <p:nvPr userDrawn="1"/>
            </p:nvSpPr>
            <p:spPr bwMode="auto">
              <a:xfrm>
                <a:off x="6309686" y="4543426"/>
                <a:ext cx="869930" cy="289766"/>
              </a:xfrm>
              <a:prstGeom prst="rect">
                <a:avLst/>
              </a:prstGeom>
              <a:solidFill>
                <a:srgbClr val="004B5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Dark Teal</a:t>
                </a: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R:0</a:t>
                </a:r>
                <a:r>
                  <a:rPr lang="en-US" sz="500" baseline="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 G:75 B:80</a:t>
                </a:r>
              </a:p>
            </p:txBody>
          </p:sp>
          <p:sp>
            <p:nvSpPr>
              <p:cNvPr id="13" name="Rectangle 12"/>
              <p:cNvSpPr/>
              <p:nvPr userDrawn="1"/>
            </p:nvSpPr>
            <p:spPr bwMode="auto">
              <a:xfrm>
                <a:off x="4476564" y="4543426"/>
                <a:ext cx="869930" cy="289766"/>
              </a:xfrm>
              <a:prstGeom prst="rect">
                <a:avLst/>
              </a:prstGeom>
              <a:solidFill>
                <a:srgbClr val="969696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>
                    <a:gradFill>
                      <a:gsLst>
                        <a:gs pos="2830">
                          <a:schemeClr val="bg2">
                            <a:lumMod val="10000"/>
                          </a:schemeClr>
                        </a:gs>
                        <a:gs pos="16981">
                          <a:schemeClr val="bg2">
                            <a:lumMod val="10000"/>
                          </a:schemeClr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Gray</a:t>
                </a: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>
                    <a:gradFill>
                      <a:gsLst>
                        <a:gs pos="2830">
                          <a:schemeClr val="bg2">
                            <a:lumMod val="10000"/>
                          </a:schemeClr>
                        </a:gs>
                        <a:gs pos="16981">
                          <a:schemeClr val="bg2">
                            <a:lumMod val="10000"/>
                          </a:schemeClr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R:150</a:t>
                </a:r>
                <a:r>
                  <a:rPr lang="en-US" sz="500" baseline="0">
                    <a:gradFill>
                      <a:gsLst>
                        <a:gs pos="2830">
                          <a:schemeClr val="bg2">
                            <a:lumMod val="10000"/>
                          </a:schemeClr>
                        </a:gs>
                        <a:gs pos="16981">
                          <a:schemeClr val="bg2">
                            <a:lumMod val="10000"/>
                          </a:schemeClr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 G:150 B:150</a:t>
                </a:r>
                <a:endParaRPr lang="en-US" sz="500">
                  <a:gradFill>
                    <a:gsLst>
                      <a:gs pos="2830">
                        <a:schemeClr val="bg2">
                          <a:lumMod val="10000"/>
                        </a:schemeClr>
                      </a:gs>
                      <a:gs pos="16981">
                        <a:schemeClr val="bg2">
                          <a:lumMod val="10000"/>
                        </a:schemeClr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</p:grpSp>
        <p:sp>
          <p:nvSpPr>
            <p:cNvPr id="9" name="TextBox 8"/>
            <p:cNvSpPr txBox="1"/>
            <p:nvPr userDrawn="1"/>
          </p:nvSpPr>
          <p:spPr>
            <a:xfrm rot="5400000">
              <a:off x="12988035" y="260168"/>
              <a:ext cx="843501" cy="323165"/>
            </a:xfrm>
            <a:prstGeom prst="rect">
              <a:avLst/>
            </a:prstGeom>
            <a:noFill/>
          </p:spPr>
          <p:txBody>
            <a:bodyPr wrap="none" lIns="0" tIns="91440" rIns="182880" bIns="91440" rtlCol="0">
              <a:spAutoFit/>
            </a:bodyPr>
            <a:lstStyle/>
            <a:p>
              <a:pPr>
                <a:lnSpc>
                  <a:spcPct val="90000"/>
                </a:lnSpc>
                <a:spcAft>
                  <a:spcPts val="600"/>
                </a:spcAft>
              </a:pPr>
              <a:r>
                <a:rPr lang="en-US" sz="1000">
                  <a:gradFill>
                    <a:gsLst>
                      <a:gs pos="2917">
                        <a:schemeClr val="tx1"/>
                      </a:gs>
                      <a:gs pos="30000">
                        <a:schemeClr val="tx1"/>
                      </a:gs>
                    </a:gsLst>
                    <a:lin ang="5400000" scaled="0"/>
                  </a:gradFill>
                </a:rPr>
                <a:t>Main colors</a:t>
              </a:r>
            </a:p>
          </p:txBody>
        </p:sp>
        <p:sp>
          <p:nvSpPr>
            <p:cNvPr id="10" name="TextBox 9"/>
            <p:cNvSpPr txBox="1"/>
            <p:nvPr userDrawn="1"/>
          </p:nvSpPr>
          <p:spPr>
            <a:xfrm rot="5400000">
              <a:off x="11742070" y="4230580"/>
              <a:ext cx="2656496" cy="323165"/>
            </a:xfrm>
            <a:prstGeom prst="rect">
              <a:avLst/>
            </a:prstGeom>
            <a:noFill/>
          </p:spPr>
          <p:txBody>
            <a:bodyPr wrap="none" lIns="0" tIns="91440" rIns="182880" bIns="91440" rtlCol="0">
              <a:spAutoFit/>
            </a:bodyPr>
            <a:lstStyle/>
            <a:p>
              <a:pPr>
                <a:lnSpc>
                  <a:spcPct val="90000"/>
                </a:lnSpc>
                <a:spcAft>
                  <a:spcPts val="600"/>
                </a:spcAft>
              </a:pPr>
              <a:r>
                <a:rPr lang="en-US" sz="1000">
                  <a:gradFill>
                    <a:gsLst>
                      <a:gs pos="2917">
                        <a:schemeClr val="tx1"/>
                      </a:gs>
                      <a:gs pos="30000">
                        <a:schemeClr val="tx1"/>
                      </a:gs>
                    </a:gsLst>
                    <a:lin ang="5400000" scaled="0"/>
                  </a:gradFill>
                </a:rPr>
                <a:t>Secondary colors (use only when</a:t>
              </a:r>
              <a:r>
                <a:rPr lang="en-US" sz="1000" baseline="0">
                  <a:gradFill>
                    <a:gsLst>
                      <a:gs pos="2917">
                        <a:schemeClr val="tx1"/>
                      </a:gs>
                      <a:gs pos="30000">
                        <a:schemeClr val="tx1"/>
                      </a:gs>
                    </a:gsLst>
                    <a:lin ang="5400000" scaled="0"/>
                  </a:gradFill>
                </a:rPr>
                <a:t> necessary)</a:t>
              </a:r>
              <a:endParaRPr lang="en-US" sz="100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endParaRPr>
            </a:p>
          </p:txBody>
        </p:sp>
      </p:grpSp>
      <p:pic>
        <p:nvPicPr>
          <p:cNvPr id="21" name="Picture 20">
            <a:extLst>
              <a:ext uri="{FF2B5EF4-FFF2-40B4-BE49-F238E27FC236}">
                <a16:creationId xmlns:a16="http://schemas.microsoft.com/office/drawing/2014/main" id="{B521CD24-D579-6250-9F9D-FD9139D8F712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9350375" y="343643"/>
            <a:ext cx="3086100" cy="1092200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658F9EF9-9A00-C7DD-6B3C-0760A62AD132}"/>
              </a:ext>
            </a:extLst>
          </p:cNvPr>
          <p:cNvSpPr/>
          <p:nvPr userDrawn="1"/>
        </p:nvSpPr>
        <p:spPr bwMode="auto">
          <a:xfrm>
            <a:off x="-3" y="0"/>
            <a:ext cx="12436477" cy="357051"/>
          </a:xfrm>
          <a:prstGeom prst="rect">
            <a:avLst/>
          </a:prstGeom>
          <a:solidFill>
            <a:schemeClr val="accent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249377A-F4E2-F2B6-1291-981F2844CB82}"/>
              </a:ext>
            </a:extLst>
          </p:cNvPr>
          <p:cNvSpPr/>
          <p:nvPr userDrawn="1"/>
        </p:nvSpPr>
        <p:spPr bwMode="auto">
          <a:xfrm>
            <a:off x="-3" y="6637474"/>
            <a:ext cx="12436478" cy="357051"/>
          </a:xfrm>
          <a:prstGeom prst="rect">
            <a:avLst/>
          </a:prstGeom>
          <a:solidFill>
            <a:schemeClr val="accent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AA223CEF-0055-62EC-2EA9-B762EC3CD697}"/>
              </a:ext>
            </a:extLst>
          </p:cNvPr>
          <p:cNvCxnSpPr/>
          <p:nvPr userDrawn="1"/>
        </p:nvCxnSpPr>
        <p:spPr>
          <a:xfrm>
            <a:off x="-4" y="385588"/>
            <a:ext cx="12436478" cy="0"/>
          </a:xfrm>
          <a:prstGeom prst="line">
            <a:avLst/>
          </a:prstGeom>
          <a:ln w="53975">
            <a:solidFill>
              <a:srgbClr val="F59120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object 10">
            <a:extLst>
              <a:ext uri="{FF2B5EF4-FFF2-40B4-BE49-F238E27FC236}">
                <a16:creationId xmlns:a16="http://schemas.microsoft.com/office/drawing/2014/main" id="{FDAC7605-1A2A-2BC3-3AC8-3BD446317472}"/>
              </a:ext>
            </a:extLst>
          </p:cNvPr>
          <p:cNvSpPr txBox="1"/>
          <p:nvPr userDrawn="1"/>
        </p:nvSpPr>
        <p:spPr>
          <a:xfrm>
            <a:off x="9752328" y="6715566"/>
            <a:ext cx="2684147" cy="2000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>
            <a:spAutoFit/>
          </a:bodyPr>
          <a:lstStyle/>
          <a:p>
            <a:pPr indent="12700">
              <a:spcBef>
                <a:spcPts val="100"/>
              </a:spcBef>
              <a:defRPr sz="1300" spc="215">
                <a:solidFill>
                  <a:srgbClr val="3C474C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rPr baseline="0" dirty="0">
                <a:solidFill>
                  <a:schemeClr val="bg1"/>
                </a:solidFill>
              </a:rPr>
              <a:t>@</a:t>
            </a:r>
            <a:r>
              <a:rPr spc="-65" baseline="0" dirty="0">
                <a:solidFill>
                  <a:schemeClr val="bg1"/>
                </a:solidFill>
              </a:rPr>
              <a:t> </a:t>
            </a:r>
            <a:r>
              <a:rPr spc="-50" baseline="0" dirty="0">
                <a:solidFill>
                  <a:schemeClr val="bg1"/>
                </a:solidFill>
              </a:rPr>
              <a:t>202</a:t>
            </a:r>
            <a:r>
              <a:rPr lang="en-US" spc="-50" baseline="0" dirty="0">
                <a:solidFill>
                  <a:schemeClr val="bg1"/>
                </a:solidFill>
              </a:rPr>
              <a:t>5</a:t>
            </a:r>
            <a:r>
              <a:rPr spc="-65" baseline="0" dirty="0">
                <a:solidFill>
                  <a:schemeClr val="bg1"/>
                </a:solidFill>
              </a:rPr>
              <a:t> </a:t>
            </a:r>
            <a:r>
              <a:rPr spc="60" baseline="0" dirty="0">
                <a:solidFill>
                  <a:schemeClr val="bg1"/>
                </a:solidFill>
              </a:rPr>
              <a:t>Dynamic</a:t>
            </a:r>
            <a:r>
              <a:rPr spc="-65" baseline="0" dirty="0">
                <a:solidFill>
                  <a:schemeClr val="bg1"/>
                </a:solidFill>
              </a:rPr>
              <a:t> </a:t>
            </a:r>
            <a:r>
              <a:rPr spc="40" baseline="0" dirty="0">
                <a:solidFill>
                  <a:schemeClr val="bg1"/>
                </a:solidFill>
              </a:rPr>
              <a:t>Communities</a:t>
            </a:r>
          </a:p>
        </p:txBody>
      </p:sp>
    </p:spTree>
    <p:extLst>
      <p:ext uri="{BB962C8B-B14F-4D97-AF65-F5344CB8AC3E}">
        <p14:creationId xmlns:p14="http://schemas.microsoft.com/office/powerpoint/2010/main" val="35884276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05" r:id="rId1"/>
    <p:sldLayoutId id="2147484314" r:id="rId2"/>
    <p:sldLayoutId id="2147484339" r:id="rId3"/>
    <p:sldLayoutId id="2147484295" r:id="rId4"/>
    <p:sldLayoutId id="2147484297" r:id="rId5"/>
    <p:sldLayoutId id="2147484264" r:id="rId6"/>
    <p:sldLayoutId id="2147484337" r:id="rId7"/>
    <p:sldLayoutId id="2147484341" r:id="rId8"/>
    <p:sldLayoutId id="2147484343" r:id="rId9"/>
    <p:sldLayoutId id="2147484365" r:id="rId10"/>
    <p:sldLayoutId id="2147484347" r:id="rId11"/>
    <p:sldLayoutId id="2147484366" r:id="rId12"/>
    <p:sldLayoutId id="2147484367" r:id="rId13"/>
  </p:sldLayoutIdLst>
  <p:transition>
    <p:fade/>
  </p:transition>
  <p:txStyles>
    <p:titleStyle>
      <a:lvl1pPr algn="l" defTabSz="932742" rtl="0" eaLnBrk="1" latinLnBrk="0" hangingPunct="1">
        <a:lnSpc>
          <a:spcPct val="90000"/>
        </a:lnSpc>
        <a:spcBef>
          <a:spcPct val="0"/>
        </a:spcBef>
        <a:buNone/>
        <a:defRPr lang="en-US" sz="4400" b="1" i="0" kern="1200" cap="none" spc="-102" baseline="0" dirty="0" smtClean="0">
          <a:ln w="3175">
            <a:noFill/>
          </a:ln>
          <a:solidFill>
            <a:srgbClr val="1E275C"/>
          </a:solidFill>
          <a:effectLst/>
          <a:latin typeface="Segoe" panose="020B0502040200020203" pitchFamily="34" charset="77"/>
          <a:ea typeface="+mn-ea"/>
          <a:cs typeface="Segoe UI" pitchFamily="34" charset="0"/>
        </a:defRPr>
      </a:lvl1pPr>
    </p:titleStyle>
    <p:bodyStyle>
      <a:lvl1pPr marL="342900" marR="0" indent="-3429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3600" kern="1200" spc="0" baseline="0">
          <a:solidFill>
            <a:srgbClr val="000000"/>
          </a:solidFill>
          <a:latin typeface="+mn-lt"/>
          <a:ea typeface="+mn-ea"/>
          <a:cs typeface="Segoe UI" panose="020B0502040204020203" pitchFamily="34" charset="0"/>
        </a:defRPr>
      </a:lvl1pPr>
      <a:lvl2pPr marL="584200" marR="0" indent="-2413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2800" kern="1200" spc="0" baseline="0">
          <a:solidFill>
            <a:srgbClr val="000000"/>
          </a:solidFill>
          <a:latin typeface="+mn-lt"/>
          <a:ea typeface="+mn-ea"/>
          <a:cs typeface="Segoe UI" panose="020B0502040204020203" pitchFamily="34" charset="0"/>
        </a:defRPr>
      </a:lvl2pPr>
      <a:lvl3pPr marL="8001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2000" kern="1200" spc="0" baseline="0">
          <a:solidFill>
            <a:srgbClr val="000000"/>
          </a:solidFill>
          <a:latin typeface="+mn-lt"/>
          <a:ea typeface="+mn-ea"/>
          <a:cs typeface="Segoe UI" panose="020B0502040204020203" pitchFamily="34" charset="0"/>
        </a:defRPr>
      </a:lvl3pPr>
      <a:lvl4pPr marL="10287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18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Segoe UI" panose="020B0502040204020203" pitchFamily="34" charset="0"/>
        </a:defRPr>
      </a:lvl4pPr>
      <a:lvl5pPr marL="12573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18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Segoe UI" panose="020B0502040204020203" pitchFamily="34" charset="0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87">
          <p15:clr>
            <a:srgbClr val="5ACBF0"/>
          </p15:clr>
        </p15:guide>
        <p15:guide id="2" pos="173">
          <p15:clr>
            <a:srgbClr val="5ACBF0"/>
          </p15:clr>
        </p15:guide>
        <p15:guide id="3" pos="749">
          <p15:clr>
            <a:srgbClr val="5ACBF0"/>
          </p15:clr>
        </p15:guide>
        <p15:guide id="4" pos="1325">
          <p15:clr>
            <a:srgbClr val="5ACBF0"/>
          </p15:clr>
        </p15:guide>
        <p15:guide id="5" pos="1901">
          <p15:clr>
            <a:srgbClr val="5ACBF0"/>
          </p15:clr>
        </p15:guide>
        <p15:guide id="6" pos="2477">
          <p15:clr>
            <a:srgbClr val="5ACBF0"/>
          </p15:clr>
        </p15:guide>
        <p15:guide id="7" pos="3053">
          <p15:clr>
            <a:srgbClr val="5ACBF0"/>
          </p15:clr>
        </p15:guide>
        <p15:guide id="8" pos="3629">
          <p15:clr>
            <a:srgbClr val="5ACBF0"/>
          </p15:clr>
        </p15:guide>
        <p15:guide id="9" pos="4205">
          <p15:clr>
            <a:srgbClr val="5ACBF0"/>
          </p15:clr>
        </p15:guide>
        <p15:guide id="10" pos="4781">
          <p15:clr>
            <a:srgbClr val="5ACBF0"/>
          </p15:clr>
        </p15:guide>
        <p15:guide id="11" pos="5357">
          <p15:clr>
            <a:srgbClr val="5ACBF0"/>
          </p15:clr>
        </p15:guide>
        <p15:guide id="12" pos="5933">
          <p15:clr>
            <a:srgbClr val="5ACBF0"/>
          </p15:clr>
        </p15:guide>
        <p15:guide id="13" pos="6533" userDrawn="1">
          <p15:clr>
            <a:srgbClr val="5ACBF0"/>
          </p15:clr>
        </p15:guide>
        <p15:guide id="14" pos="7085">
          <p15:clr>
            <a:srgbClr val="5ACBF0"/>
          </p15:clr>
        </p15:guide>
        <p15:guide id="15" pos="7661">
          <p15:clr>
            <a:srgbClr val="5ACBF0"/>
          </p15:clr>
        </p15:guide>
        <p15:guide id="16" pos="288">
          <p15:clr>
            <a:srgbClr val="C35EA4"/>
          </p15:clr>
        </p15:guide>
        <p15:guide id="17" pos="7546">
          <p15:clr>
            <a:srgbClr val="C35EA4"/>
          </p15:clr>
        </p15:guide>
        <p15:guide id="18" orient="horz" pos="763">
          <p15:clr>
            <a:srgbClr val="5ACBF0"/>
          </p15:clr>
        </p15:guide>
        <p15:guide id="19" orient="horz" pos="1339">
          <p15:clr>
            <a:srgbClr val="5ACBF0"/>
          </p15:clr>
        </p15:guide>
        <p15:guide id="20" orient="horz" pos="1915">
          <p15:clr>
            <a:srgbClr val="5ACBF0"/>
          </p15:clr>
        </p15:guide>
        <p15:guide id="21" orient="horz" pos="2491">
          <p15:clr>
            <a:srgbClr val="5ACBF0"/>
          </p15:clr>
        </p15:guide>
        <p15:guide id="22" orient="horz" pos="3067">
          <p15:clr>
            <a:srgbClr val="5ACBF0"/>
          </p15:clr>
        </p15:guide>
        <p15:guide id="23" orient="horz" pos="3643">
          <p15:clr>
            <a:srgbClr val="5ACBF0"/>
          </p15:clr>
        </p15:guide>
        <p15:guide id="24" orient="horz" pos="4240" userDrawn="1">
          <p15:clr>
            <a:srgbClr val="5ACBF0"/>
          </p15:clr>
        </p15:guide>
        <p15:guide id="25" orient="horz" pos="302">
          <p15:clr>
            <a:srgbClr val="C35EA4"/>
          </p15:clr>
        </p15:guide>
        <p15:guide id="26" orient="horz" pos="4104">
          <p15:clr>
            <a:srgbClr val="C35EA4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205CEBA-2515-2B2D-E729-A0429CFDE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5663" y="373063"/>
            <a:ext cx="10725150" cy="13509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9E5176-9F35-35F4-9F58-8999CDAD2A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55663" y="1862138"/>
            <a:ext cx="10725150" cy="44370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3DDD3F-B92D-F18C-30AE-AB40DA502B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55663" y="6483350"/>
            <a:ext cx="2797175" cy="3714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1419FB-D837-7647-AC90-84F19AB974CA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A22FAE-66D8-8757-6FC4-9872E71BCA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19563" y="6483350"/>
            <a:ext cx="4197350" cy="3714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2052C6-8BA9-0863-F91D-6A455ABCF8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83638" y="6483350"/>
            <a:ext cx="2797175" cy="3714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03BB20-E12A-E14B-92E8-05542924BD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28301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54" r:id="rId1"/>
    <p:sldLayoutId id="2147484355" r:id="rId2"/>
    <p:sldLayoutId id="2147484356" r:id="rId3"/>
    <p:sldLayoutId id="2147484357" r:id="rId4"/>
    <p:sldLayoutId id="2147484358" r:id="rId5"/>
    <p:sldLayoutId id="2147484359" r:id="rId6"/>
    <p:sldLayoutId id="2147484360" r:id="rId7"/>
    <p:sldLayoutId id="2147484361" r:id="rId8"/>
    <p:sldLayoutId id="2147484362" r:id="rId9"/>
    <p:sldLayoutId id="2147484363" r:id="rId10"/>
    <p:sldLayoutId id="214748436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3D9A7C-1210-A2E3-4936-753F4D448E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5663" y="373063"/>
            <a:ext cx="10725150" cy="13509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00E567-B43C-F191-A69E-49D27BDB92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55663" y="1862138"/>
            <a:ext cx="10725150" cy="44370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544631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52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openxmlformats.org/officeDocument/2006/relationships/image" Target="../media/image11.jpe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tomicax.com/content/odata-experiment-deep-dive-odata-and-how-use-it" TargetMode="External"/><Relationship Id="rId2" Type="http://schemas.openxmlformats.org/officeDocument/2006/relationships/hyperlink" Target="https://azureintegrations.com/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community.dynamics.com/blogs/post/?postid=58b34404-f895-4a1e-abfa-50532847a1d8" TargetMode="External"/><Relationship Id="rId5" Type="http://schemas.openxmlformats.org/officeDocument/2006/relationships/hyperlink" Target="https://learn.microsoft.com/en-us/dynamics365/fin-ops-core/dev-itpro/data-entities/priority-based-throttling" TargetMode="External"/><Relationship Id="rId4" Type="http://schemas.openxmlformats.org/officeDocument/2006/relationships/hyperlink" Target="https://dynamics365musings.com/" TargetMode="Externa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1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e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ity with a lake surrounded by trees&#10;&#10;Description automatically generated">
            <a:extLst>
              <a:ext uri="{FF2B5EF4-FFF2-40B4-BE49-F238E27FC236}">
                <a16:creationId xmlns:a16="http://schemas.microsoft.com/office/drawing/2014/main" id="{ACABE36D-9779-55C1-2EB9-959B34A2DFB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0" y="6321"/>
            <a:ext cx="12447738" cy="6988203"/>
          </a:xfrm>
          <a:prstGeom prst="rect">
            <a:avLst/>
          </a:prstGeom>
        </p:spPr>
      </p:pic>
      <p:pic>
        <p:nvPicPr>
          <p:cNvPr id="17" name="Picture 16" descr="A picture containing font, graphics, graphic design, text&#10;&#10;Description automatically generated">
            <a:extLst>
              <a:ext uri="{FF2B5EF4-FFF2-40B4-BE49-F238E27FC236}">
                <a16:creationId xmlns:a16="http://schemas.microsoft.com/office/drawing/2014/main" id="{DA7104A4-1876-F218-924C-1DBE7991C8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2936" y="854072"/>
            <a:ext cx="7658101" cy="177305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B1F283B-2ED3-34AA-C2A9-C297486AB75C}"/>
              </a:ext>
            </a:extLst>
          </p:cNvPr>
          <p:cNvSpPr txBox="1"/>
          <p:nvPr/>
        </p:nvSpPr>
        <p:spPr>
          <a:xfrm>
            <a:off x="46037" y="5652619"/>
            <a:ext cx="6172200" cy="1081835"/>
          </a:xfrm>
          <a:prstGeom prst="rect">
            <a:avLst/>
          </a:prstGeom>
          <a:noFill/>
        </p:spPr>
        <p:txBody>
          <a:bodyPr wrap="square" lIns="182880" tIns="146304" rIns="182880" bIns="146304" rtlCol="0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800" b="1" dirty="0">
                <a:solidFill>
                  <a:srgbClr val="1B4499"/>
                </a:solidFill>
                <a:latin typeface="Poppins SemiBold" pitchFamily="2" charset="77"/>
                <a:ea typeface="Helvetica Neue Condensed Black" panose="02000503000000020004" pitchFamily="2" charset="0"/>
                <a:cs typeface="Poppins SemiBold" pitchFamily="2" charset="77"/>
              </a:rPr>
              <a:t>Orlando, FL </a:t>
            </a:r>
            <a:br>
              <a:rPr lang="en-US" sz="2800" b="1" dirty="0">
                <a:solidFill>
                  <a:srgbClr val="1B4499"/>
                </a:solidFill>
                <a:latin typeface="Poppins SemiBold" pitchFamily="2" charset="77"/>
                <a:ea typeface="Helvetica Neue Condensed Black" panose="02000503000000020004" pitchFamily="2" charset="0"/>
                <a:cs typeface="Poppins SemiBold" pitchFamily="2" charset="77"/>
              </a:rPr>
            </a:br>
            <a:r>
              <a:rPr lang="en-US" sz="2800" b="1" dirty="0">
                <a:solidFill>
                  <a:srgbClr val="1B4499"/>
                </a:solidFill>
                <a:latin typeface="Poppins SemiBold" pitchFamily="2" charset="77"/>
                <a:ea typeface="Helvetica Neue Condensed Black" panose="02000503000000020004" pitchFamily="2" charset="0"/>
                <a:cs typeface="Poppins SemiBold" pitchFamily="2" charset="77"/>
              </a:rPr>
              <a:t>October 19-23, 2025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A28B35-846E-E9DF-A6FD-4248B8456C2C}"/>
              </a:ext>
            </a:extLst>
          </p:cNvPr>
          <p:cNvSpPr txBox="1"/>
          <p:nvPr/>
        </p:nvSpPr>
        <p:spPr>
          <a:xfrm>
            <a:off x="3397893" y="2645229"/>
            <a:ext cx="7565281" cy="1348061"/>
          </a:xfrm>
          <a:prstGeom prst="rect">
            <a:avLst/>
          </a:prstGeom>
          <a:noFill/>
        </p:spPr>
        <p:txBody>
          <a:bodyPr wrap="square" lIns="182880" tIns="146304" rIns="182880" bIns="146304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3800" dirty="0">
                <a:solidFill>
                  <a:srgbClr val="1B4499"/>
                </a:solidFill>
                <a:latin typeface="segoe ui black"/>
                <a:ea typeface="segoe ui black"/>
                <a:cs typeface="Poppins SemiBold"/>
              </a:rPr>
              <a:t>FINANCE &amp;</a:t>
            </a:r>
            <a:br>
              <a:rPr lang="en-US" sz="3800" dirty="0">
                <a:solidFill>
                  <a:srgbClr val="1B4499"/>
                </a:solidFill>
                <a:latin typeface="segoe ui black"/>
                <a:ea typeface="segoe ui black"/>
                <a:cs typeface="Poppins SemiBold"/>
              </a:rPr>
            </a:br>
            <a:r>
              <a:rPr lang="en-US" sz="3800" dirty="0">
                <a:solidFill>
                  <a:srgbClr val="1B4499"/>
                </a:solidFill>
                <a:latin typeface="segoe ui black"/>
                <a:ea typeface="segoe ui black"/>
                <a:cs typeface="Poppins SemiBold"/>
              </a:rPr>
              <a:t>SUPPLY CHAIN/F&amp;O</a:t>
            </a:r>
          </a:p>
        </p:txBody>
      </p:sp>
      <p:pic>
        <p:nvPicPr>
          <p:cNvPr id="13" name="Picture 12" descr="A blue and white hexagon with text and palm trees&#10;&#10;Description automatically generated">
            <a:extLst>
              <a:ext uri="{FF2B5EF4-FFF2-40B4-BE49-F238E27FC236}">
                <a16:creationId xmlns:a16="http://schemas.microsoft.com/office/drawing/2014/main" id="{ACEDB42A-C09D-ABA5-F585-DB6EB3E563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07630" y="3465086"/>
            <a:ext cx="2998731" cy="3474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06623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 descr="A person wearing glasses smiling&#10;&#10;AI-generated content may be incorrect.">
            <a:extLst>
              <a:ext uri="{FF2B5EF4-FFF2-40B4-BE49-F238E27FC236}">
                <a16:creationId xmlns:a16="http://schemas.microsoft.com/office/drawing/2014/main" id="{E9D3219C-AD6F-9374-A982-109FE272D26D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rcRect/>
          <a:stretch>
            <a:fillRect/>
          </a:stretch>
        </p:blipFill>
        <p:spPr>
          <a:xfrm>
            <a:off x="672229" y="2501239"/>
            <a:ext cx="1865471" cy="1865207"/>
          </a:xfrm>
        </p:spPr>
      </p:pic>
      <p:pic>
        <p:nvPicPr>
          <p:cNvPr id="3" name="Picture Placeholder 2" descr="A person taking a selfie&#10;&#10;AI-generated content may be incorrect.">
            <a:extLst>
              <a:ext uri="{FF2B5EF4-FFF2-40B4-BE49-F238E27FC236}">
                <a16:creationId xmlns:a16="http://schemas.microsoft.com/office/drawing/2014/main" id="{FAFC2013-BDBA-A5F6-499A-7E2CC0523204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t="12500" b="12500"/>
          <a:stretch>
            <a:fillRect/>
          </a:stretch>
        </p:blipFill>
        <p:spPr>
          <a:xfrm>
            <a:off x="5834913" y="2501239"/>
            <a:ext cx="1865471" cy="1865207"/>
          </a:xfrm>
        </p:spPr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D594276-76B8-7CCA-E237-4E89AEDBA85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706323" y="2501240"/>
            <a:ext cx="2970996" cy="1865206"/>
          </a:xfrm>
        </p:spPr>
        <p:txBody>
          <a:bodyPr/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2400" dirty="0">
                <a:solidFill>
                  <a:schemeClr val="tx1"/>
                </a:solidFill>
                <a:latin typeface="segoe ui black"/>
                <a:ea typeface="segoe ui black"/>
                <a:cs typeface="Poppins"/>
              </a:rPr>
              <a:t>Nathan Clouse</a:t>
            </a:r>
          </a:p>
          <a:p>
            <a:pPr marL="0" indent="0" algn="ctr">
              <a:buNone/>
            </a:pPr>
            <a:r>
              <a:rPr lang="en-US" dirty="0">
                <a:latin typeface="segoe ui black"/>
                <a:ea typeface="segoe ui black"/>
                <a:cs typeface="Poppins"/>
              </a:rPr>
              <a:t>Sr. Director</a:t>
            </a:r>
          </a:p>
          <a:p>
            <a:pPr marL="0" indent="0" algn="ctr">
              <a:buNone/>
            </a:pPr>
            <a:r>
              <a:rPr lang="en-US" dirty="0">
                <a:latin typeface="segoe ui black"/>
                <a:ea typeface="segoe ui black"/>
                <a:cs typeface="Poppins"/>
              </a:rPr>
              <a:t>Microsoft MVP &gt;9000x</a:t>
            </a:r>
          </a:p>
          <a:p>
            <a:pPr marL="0" indent="0" algn="ctr">
              <a:buNone/>
            </a:pPr>
            <a:r>
              <a:rPr lang="en-US">
                <a:latin typeface="segoe ui black"/>
                <a:ea typeface="segoe ui black"/>
                <a:cs typeface="Poppins"/>
              </a:rPr>
              <a:t>WineShipping</a:t>
            </a:r>
            <a:br>
              <a:rPr lang="en-US" dirty="0">
                <a:latin typeface="segoe ui black"/>
                <a:ea typeface="segoe ui black"/>
                <a:cs typeface="Poppins"/>
              </a:rPr>
            </a:br>
            <a:r>
              <a:rPr lang="en-US" dirty="0">
                <a:latin typeface="segoe ui black"/>
                <a:ea typeface="segoe ui black"/>
                <a:cs typeface="Poppins"/>
              </a:rPr>
              <a:t>AtomicAX.com</a:t>
            </a:r>
            <a:br>
              <a:rPr lang="en-US" dirty="0">
                <a:latin typeface="segoe ui black"/>
                <a:ea typeface="segoe ui black"/>
                <a:cs typeface="Poppins"/>
              </a:rPr>
            </a:br>
            <a:r>
              <a:rPr lang="en-US" dirty="0">
                <a:latin typeface="segoe ui black"/>
                <a:ea typeface="segoe ui black"/>
                <a:cs typeface="Poppins"/>
              </a:rPr>
              <a:t>Dynamics.fo</a:t>
            </a:r>
          </a:p>
          <a:p>
            <a:endParaRPr lang="en-US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809C059-5999-5B58-FD62-011937E6087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970773" y="2501239"/>
            <a:ext cx="3263284" cy="1920036"/>
          </a:xfrm>
        </p:spPr>
        <p:txBody>
          <a:bodyPr/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2400" dirty="0">
                <a:solidFill>
                  <a:schemeClr val="tx1"/>
                </a:solidFill>
                <a:latin typeface="segoe ui black"/>
                <a:ea typeface="segoe ui black"/>
                <a:cs typeface="Poppins"/>
              </a:rPr>
              <a:t>Beau Schwieso</a:t>
            </a:r>
          </a:p>
          <a:p>
            <a:pPr marL="0" indent="0" algn="ctr">
              <a:buNone/>
            </a:pPr>
            <a:r>
              <a:rPr lang="en-US" dirty="0">
                <a:latin typeface="segoe ui black"/>
                <a:ea typeface="segoe ui black"/>
                <a:cs typeface="Poppins"/>
              </a:rPr>
              <a:t>Chief Operating Officer</a:t>
            </a:r>
          </a:p>
          <a:p>
            <a:pPr marL="0" indent="0" algn="ctr">
              <a:buNone/>
            </a:pPr>
            <a:r>
              <a:rPr lang="en-US" dirty="0">
                <a:latin typeface="segoe ui black"/>
                <a:ea typeface="segoe ui black"/>
                <a:cs typeface="Poppins"/>
              </a:rPr>
              <a:t>Microsoft MVP 2x</a:t>
            </a:r>
          </a:p>
          <a:p>
            <a:pPr marL="0" indent="0" algn="ctr">
              <a:buNone/>
            </a:pPr>
            <a:r>
              <a:rPr lang="en-US" dirty="0">
                <a:latin typeface="segoe ui black"/>
                <a:ea typeface="segoe ui black"/>
                <a:cs typeface="Poppins"/>
              </a:rPr>
              <a:t>Caf2Code</a:t>
            </a:r>
            <a:br>
              <a:rPr lang="en-US" dirty="0">
                <a:latin typeface="segoe ui black"/>
                <a:ea typeface="segoe ui black"/>
                <a:cs typeface="Poppins"/>
              </a:rPr>
            </a:br>
            <a:r>
              <a:rPr lang="en-US" dirty="0">
                <a:latin typeface="segoe ui black"/>
                <a:ea typeface="segoe ui black"/>
                <a:cs typeface="Poppins"/>
              </a:rPr>
              <a:t>DynamicsDad.com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1166450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A9AF1B0-4DAB-4458-0669-0DCD524BE8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7135" y="1809558"/>
            <a:ext cx="10317163" cy="3506020"/>
          </a:xfrm>
          <a:ln>
            <a:noFill/>
          </a:ln>
        </p:spPr>
        <p:txBody>
          <a:bodyPr/>
          <a:lstStyle>
            <a:lvl1pPr>
              <a:defRPr sz="4400"/>
            </a:lvl1pPr>
          </a:lstStyle>
          <a:p>
            <a:r>
              <a:rPr lang="en-US" dirty="0">
                <a:solidFill>
                  <a:srgbClr val="676A6C"/>
                </a:solidFill>
                <a:latin typeface="open sans" panose="020F0502020204030204" pitchFamily="34" charset="0"/>
              </a:rPr>
              <a:t>Integration Overkill: Turbocharging Dynamics F&amp;O with Unstoppable Patterns</a:t>
            </a:r>
            <a:br>
              <a:rPr lang="en-US" dirty="0">
                <a:solidFill>
                  <a:srgbClr val="676A6C"/>
                </a:solidFill>
                <a:latin typeface="open sans" panose="020F0502020204030204" pitchFamily="34" charset="0"/>
              </a:rPr>
            </a:br>
            <a:r>
              <a:rPr lang="en-US" dirty="0">
                <a:solidFill>
                  <a:srgbClr val="676A6C"/>
                </a:solidFill>
                <a:latin typeface="open sans" panose="020F0502020204030204" pitchFamily="34" charset="0"/>
              </a:rPr>
              <a:t>(IOTDF&amp;OWUP)</a:t>
            </a:r>
            <a:endParaRPr lang="en-US" b="1" dirty="0">
              <a:solidFill>
                <a:srgbClr val="1E275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3057114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9363F-7F22-38F1-6189-6AEE1C84B5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527D86-224B-CE4B-1FDF-E447C1AFFB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D92C29-9F2C-8216-B136-247E59FDB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5A9CD-9176-4D89-A414-3BEEE81BBC77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5" name="Picture 4" descr="A picture containing text&#10;&#10;Description automatically generated">
            <a:extLst>
              <a:ext uri="{FF2B5EF4-FFF2-40B4-BE49-F238E27FC236}">
                <a16:creationId xmlns:a16="http://schemas.microsoft.com/office/drawing/2014/main" id="{3095C961-81CE-8C7C-3F10-842240121D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51998" y="-28154"/>
            <a:ext cx="15245043" cy="7050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93479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A33E29E-D8B6-40B2-8AD4-237CEB8B93F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32153" y="765713"/>
            <a:ext cx="10972484" cy="712249"/>
          </a:xfrm>
        </p:spPr>
        <p:txBody>
          <a:bodyPr/>
          <a:lstStyle/>
          <a:p>
            <a:r>
              <a:rPr lang="en-US" b="1"/>
              <a:t>Session Agenda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E706FF3-4088-45A1-B03E-3F45C98C1284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732153" y="1668462"/>
            <a:ext cx="10972484" cy="4191000"/>
          </a:xfrm>
        </p:spPr>
        <p:txBody>
          <a:bodyPr/>
          <a:lstStyle/>
          <a:p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Tools</a:t>
            </a:r>
          </a:p>
          <a:p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Patterns</a:t>
            </a:r>
          </a:p>
          <a:p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Management</a:t>
            </a:r>
          </a:p>
          <a:p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Strategies</a:t>
            </a:r>
          </a:p>
          <a:p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Question</a:t>
            </a:r>
          </a:p>
        </p:txBody>
      </p:sp>
    </p:spTree>
    <p:extLst>
      <p:ext uri="{BB962C8B-B14F-4D97-AF65-F5344CB8AC3E}">
        <p14:creationId xmlns:p14="http://schemas.microsoft.com/office/powerpoint/2010/main" val="1695189376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Freeform 46">
            <a:extLst>
              <a:ext uri="{FF2B5EF4-FFF2-40B4-BE49-F238E27FC236}">
                <a16:creationId xmlns:a16="http://schemas.microsoft.com/office/drawing/2014/main" id="{BFA25F90-40EA-E5D2-266E-CA3901C3834D}"/>
              </a:ext>
            </a:extLst>
          </p:cNvPr>
          <p:cNvSpPr/>
          <p:nvPr/>
        </p:nvSpPr>
        <p:spPr>
          <a:xfrm>
            <a:off x="456395" y="1482503"/>
            <a:ext cx="10125025" cy="732475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Freeform 46">
            <a:extLst>
              <a:ext uri="{FF2B5EF4-FFF2-40B4-BE49-F238E27FC236}">
                <a16:creationId xmlns:a16="http://schemas.microsoft.com/office/drawing/2014/main" id="{85CBFB96-6EED-1521-2EB4-F443CE004CD9}"/>
              </a:ext>
            </a:extLst>
          </p:cNvPr>
          <p:cNvSpPr/>
          <p:nvPr/>
        </p:nvSpPr>
        <p:spPr>
          <a:xfrm>
            <a:off x="477972" y="5253716"/>
            <a:ext cx="7010349" cy="732475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3" name="Freeform 46">
            <a:extLst>
              <a:ext uri="{FF2B5EF4-FFF2-40B4-BE49-F238E27FC236}">
                <a16:creationId xmlns:a16="http://schemas.microsoft.com/office/drawing/2014/main" id="{D465CDDF-D2EB-4C90-DBD9-5781EDEC8C12}"/>
              </a:ext>
            </a:extLst>
          </p:cNvPr>
          <p:cNvSpPr/>
          <p:nvPr/>
        </p:nvSpPr>
        <p:spPr>
          <a:xfrm>
            <a:off x="477972" y="4303756"/>
            <a:ext cx="7504016" cy="732475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5" name="Freeform 46">
            <a:extLst>
              <a:ext uri="{FF2B5EF4-FFF2-40B4-BE49-F238E27FC236}">
                <a16:creationId xmlns:a16="http://schemas.microsoft.com/office/drawing/2014/main" id="{1698966E-1530-1832-4DA9-3628F7D21406}"/>
              </a:ext>
            </a:extLst>
          </p:cNvPr>
          <p:cNvSpPr/>
          <p:nvPr/>
        </p:nvSpPr>
        <p:spPr>
          <a:xfrm>
            <a:off x="477971" y="3353795"/>
            <a:ext cx="8343059" cy="732475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6" name="Freeform 46">
            <a:extLst>
              <a:ext uri="{FF2B5EF4-FFF2-40B4-BE49-F238E27FC236}">
                <a16:creationId xmlns:a16="http://schemas.microsoft.com/office/drawing/2014/main" id="{DCE87985-DB3D-3AF0-42C8-93A3D16E8128}"/>
              </a:ext>
            </a:extLst>
          </p:cNvPr>
          <p:cNvSpPr/>
          <p:nvPr/>
        </p:nvSpPr>
        <p:spPr>
          <a:xfrm>
            <a:off x="477971" y="2403836"/>
            <a:ext cx="9315400" cy="732475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E584E88-C03C-9B3C-A8B7-DB335DF78499}"/>
              </a:ext>
            </a:extLst>
          </p:cNvPr>
          <p:cNvSpPr>
            <a:spLocks noGrp="1"/>
          </p:cNvSpPr>
          <p:nvPr/>
        </p:nvSpPr>
        <p:spPr>
          <a:xfrm>
            <a:off x="313069" y="408668"/>
            <a:ext cx="11381889" cy="8800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>
                <a:solidFill>
                  <a:srgbClr val="9C3C9A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pPr defTabSz="932742"/>
            <a:r>
              <a:rPr lang="da-DK" spc="-100" dirty="0">
                <a:ln w="3175">
                  <a:noFill/>
                </a:ln>
                <a:solidFill>
                  <a:srgbClr val="1E275C"/>
                </a:solidFill>
                <a:latin typeface="Segoe" panose="020B0502040200020203" pitchFamily="34" charset="77"/>
                <a:ea typeface="+mn-ea"/>
                <a:cs typeface="Segoe UI" pitchFamily="34" charset="0"/>
              </a:rPr>
              <a:t>Integration Tools (The Armory)</a:t>
            </a:r>
            <a:endParaRPr lang="en-US" spc="-100" dirty="0">
              <a:ln w="3175">
                <a:noFill/>
              </a:ln>
              <a:solidFill>
                <a:srgbClr val="1E275C"/>
              </a:solidFill>
              <a:latin typeface="Segoe" panose="020B0502040200020203" pitchFamily="34" charset="77"/>
              <a:ea typeface="+mn-ea"/>
              <a:cs typeface="Segoe UI" pitchFamily="34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DF4AAC1-C46B-24DC-74D7-0C6228BFB36C}"/>
              </a:ext>
            </a:extLst>
          </p:cNvPr>
          <p:cNvSpPr/>
          <p:nvPr/>
        </p:nvSpPr>
        <p:spPr>
          <a:xfrm>
            <a:off x="642991" y="1614104"/>
            <a:ext cx="412017" cy="412017"/>
          </a:xfrm>
          <a:prstGeom prst="ellipse">
            <a:avLst/>
          </a:prstGeom>
          <a:solidFill>
            <a:srgbClr val="D01012"/>
          </a:solidFill>
          <a:ln>
            <a:noFill/>
          </a:ln>
          <a:effectLst>
            <a:outerShdw dist="254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0BE3AA7-ACA4-27D6-3690-D7DC19AAF06E}"/>
              </a:ext>
            </a:extLst>
          </p:cNvPr>
          <p:cNvSpPr/>
          <p:nvPr/>
        </p:nvSpPr>
        <p:spPr>
          <a:xfrm>
            <a:off x="642991" y="2573488"/>
            <a:ext cx="412017" cy="412017"/>
          </a:xfrm>
          <a:prstGeom prst="ellipse">
            <a:avLst/>
          </a:prstGeom>
          <a:solidFill>
            <a:srgbClr val="FFD100"/>
          </a:solidFill>
          <a:ln>
            <a:noFill/>
          </a:ln>
          <a:effectLst>
            <a:outerShdw dist="254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C1D6E10-2F5F-D9B3-7D74-CDB3B485EE3F}"/>
              </a:ext>
            </a:extLst>
          </p:cNvPr>
          <p:cNvSpPr/>
          <p:nvPr/>
        </p:nvSpPr>
        <p:spPr>
          <a:xfrm>
            <a:off x="642991" y="3506095"/>
            <a:ext cx="412017" cy="412017"/>
          </a:xfrm>
          <a:prstGeom prst="ellipse">
            <a:avLst/>
          </a:prstGeom>
          <a:solidFill>
            <a:srgbClr val="D01012"/>
          </a:solidFill>
          <a:ln>
            <a:noFill/>
          </a:ln>
          <a:effectLst>
            <a:outerShdw dist="254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949DCF1-A4F5-13DE-00BB-2EDEBC5FE0F8}"/>
              </a:ext>
            </a:extLst>
          </p:cNvPr>
          <p:cNvSpPr/>
          <p:nvPr/>
        </p:nvSpPr>
        <p:spPr>
          <a:xfrm>
            <a:off x="642991" y="4465479"/>
            <a:ext cx="412017" cy="412017"/>
          </a:xfrm>
          <a:prstGeom prst="ellipse">
            <a:avLst/>
          </a:prstGeom>
          <a:solidFill>
            <a:srgbClr val="FFD100"/>
          </a:solidFill>
          <a:ln>
            <a:noFill/>
          </a:ln>
          <a:effectLst>
            <a:outerShdw dist="254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D15440F-E2C7-8FFE-9250-CF379AAB5575}"/>
              </a:ext>
            </a:extLst>
          </p:cNvPr>
          <p:cNvSpPr/>
          <p:nvPr/>
        </p:nvSpPr>
        <p:spPr>
          <a:xfrm>
            <a:off x="642991" y="5410693"/>
            <a:ext cx="412017" cy="412017"/>
          </a:xfrm>
          <a:prstGeom prst="ellipse">
            <a:avLst/>
          </a:prstGeom>
          <a:solidFill>
            <a:srgbClr val="D01012"/>
          </a:solidFill>
          <a:ln>
            <a:noFill/>
          </a:ln>
          <a:effectLst>
            <a:outerShdw dist="254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495A241-CBB8-D184-7E6A-E7B625CC3AEC}"/>
              </a:ext>
            </a:extLst>
          </p:cNvPr>
          <p:cNvGrpSpPr/>
          <p:nvPr/>
        </p:nvGrpSpPr>
        <p:grpSpPr>
          <a:xfrm>
            <a:off x="736190" y="1735100"/>
            <a:ext cx="225619" cy="170025"/>
            <a:chOff x="6594475" y="2308226"/>
            <a:chExt cx="773113" cy="582613"/>
          </a:xfrm>
          <a:effectLst>
            <a:outerShdw dist="25400" dir="2700000" algn="tl" rotWithShape="0">
              <a:prstClr val="black">
                <a:alpha val="20000"/>
              </a:prstClr>
            </a:outerShdw>
          </a:effectLst>
        </p:grpSpPr>
        <p:sp>
          <p:nvSpPr>
            <p:cNvPr id="95" name="Oval 94">
              <a:extLst>
                <a:ext uri="{FF2B5EF4-FFF2-40B4-BE49-F238E27FC236}">
                  <a16:creationId xmlns:a16="http://schemas.microsoft.com/office/drawing/2014/main" id="{DF389495-DECC-D89D-E631-46330DECD6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94475" y="2308226"/>
              <a:ext cx="773113" cy="58261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/>
            </a:p>
          </p:txBody>
        </p:sp>
        <p:sp>
          <p:nvSpPr>
            <p:cNvPr id="96" name="Freeform 110">
              <a:extLst>
                <a:ext uri="{FF2B5EF4-FFF2-40B4-BE49-F238E27FC236}">
                  <a16:creationId xmlns:a16="http://schemas.microsoft.com/office/drawing/2014/main" id="{7476D448-AC2B-A768-0882-6373B4387A0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88150" y="2406651"/>
              <a:ext cx="385763" cy="385763"/>
            </a:xfrm>
            <a:custGeom>
              <a:avLst/>
              <a:gdLst>
                <a:gd name="T0" fmla="*/ 51 w 102"/>
                <a:gd name="T1" fmla="*/ 0 h 102"/>
                <a:gd name="T2" fmla="*/ 28 w 102"/>
                <a:gd name="T3" fmla="*/ 5 h 102"/>
                <a:gd name="T4" fmla="*/ 38 w 102"/>
                <a:gd name="T5" fmla="*/ 21 h 102"/>
                <a:gd name="T6" fmla="*/ 21 w 102"/>
                <a:gd name="T7" fmla="*/ 38 h 102"/>
                <a:gd name="T8" fmla="*/ 5 w 102"/>
                <a:gd name="T9" fmla="*/ 29 h 102"/>
                <a:gd name="T10" fmla="*/ 0 w 102"/>
                <a:gd name="T11" fmla="*/ 51 h 102"/>
                <a:gd name="T12" fmla="*/ 51 w 102"/>
                <a:gd name="T13" fmla="*/ 102 h 102"/>
                <a:gd name="T14" fmla="*/ 102 w 102"/>
                <a:gd name="T15" fmla="*/ 51 h 102"/>
                <a:gd name="T16" fmla="*/ 51 w 102"/>
                <a:gd name="T17" fmla="*/ 0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2" h="102">
                  <a:moveTo>
                    <a:pt x="51" y="0"/>
                  </a:moveTo>
                  <a:cubicBezTo>
                    <a:pt x="43" y="0"/>
                    <a:pt x="35" y="2"/>
                    <a:pt x="28" y="5"/>
                  </a:cubicBezTo>
                  <a:cubicBezTo>
                    <a:pt x="34" y="8"/>
                    <a:pt x="38" y="14"/>
                    <a:pt x="38" y="21"/>
                  </a:cubicBezTo>
                  <a:cubicBezTo>
                    <a:pt x="38" y="31"/>
                    <a:pt x="30" y="38"/>
                    <a:pt x="21" y="38"/>
                  </a:cubicBezTo>
                  <a:cubicBezTo>
                    <a:pt x="14" y="38"/>
                    <a:pt x="8" y="34"/>
                    <a:pt x="5" y="29"/>
                  </a:cubicBezTo>
                  <a:cubicBezTo>
                    <a:pt x="2" y="35"/>
                    <a:pt x="0" y="43"/>
                    <a:pt x="0" y="51"/>
                  </a:cubicBezTo>
                  <a:cubicBezTo>
                    <a:pt x="0" y="79"/>
                    <a:pt x="23" y="102"/>
                    <a:pt x="51" y="102"/>
                  </a:cubicBezTo>
                  <a:cubicBezTo>
                    <a:pt x="79" y="102"/>
                    <a:pt x="102" y="79"/>
                    <a:pt x="102" y="51"/>
                  </a:cubicBezTo>
                  <a:cubicBezTo>
                    <a:pt x="102" y="23"/>
                    <a:pt x="79" y="0"/>
                    <a:pt x="51" y="0"/>
                  </a:cubicBezTo>
                  <a:close/>
                </a:path>
              </a:pathLst>
            </a:custGeom>
            <a:solidFill>
              <a:srgbClr val="21B2D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/>
            </a:p>
          </p:txBody>
        </p:sp>
        <p:sp>
          <p:nvSpPr>
            <p:cNvPr id="97" name="Freeform 111">
              <a:extLst>
                <a:ext uri="{FF2B5EF4-FFF2-40B4-BE49-F238E27FC236}">
                  <a16:creationId xmlns:a16="http://schemas.microsoft.com/office/drawing/2014/main" id="{ED204A30-C766-5D24-952F-3A06E667D802}"/>
                </a:ext>
              </a:extLst>
            </p:cNvPr>
            <p:cNvSpPr>
              <a:spLocks/>
            </p:cNvSpPr>
            <p:nvPr/>
          </p:nvSpPr>
          <p:spPr bwMode="auto">
            <a:xfrm>
              <a:off x="6788150" y="2406651"/>
              <a:ext cx="295275" cy="295275"/>
            </a:xfrm>
            <a:custGeom>
              <a:avLst/>
              <a:gdLst>
                <a:gd name="T0" fmla="*/ 51 w 78"/>
                <a:gd name="T1" fmla="*/ 0 h 78"/>
                <a:gd name="T2" fmla="*/ 28 w 78"/>
                <a:gd name="T3" fmla="*/ 5 h 78"/>
                <a:gd name="T4" fmla="*/ 38 w 78"/>
                <a:gd name="T5" fmla="*/ 21 h 78"/>
                <a:gd name="T6" fmla="*/ 21 w 78"/>
                <a:gd name="T7" fmla="*/ 38 h 78"/>
                <a:gd name="T8" fmla="*/ 5 w 78"/>
                <a:gd name="T9" fmla="*/ 29 h 78"/>
                <a:gd name="T10" fmla="*/ 0 w 78"/>
                <a:gd name="T11" fmla="*/ 51 h 78"/>
                <a:gd name="T12" fmla="*/ 8 w 78"/>
                <a:gd name="T13" fmla="*/ 78 h 78"/>
                <a:gd name="T14" fmla="*/ 78 w 78"/>
                <a:gd name="T15" fmla="*/ 8 h 78"/>
                <a:gd name="T16" fmla="*/ 51 w 78"/>
                <a:gd name="T17" fmla="*/ 0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8" h="78">
                  <a:moveTo>
                    <a:pt x="51" y="0"/>
                  </a:moveTo>
                  <a:cubicBezTo>
                    <a:pt x="43" y="0"/>
                    <a:pt x="35" y="2"/>
                    <a:pt x="28" y="5"/>
                  </a:cubicBezTo>
                  <a:cubicBezTo>
                    <a:pt x="34" y="8"/>
                    <a:pt x="38" y="14"/>
                    <a:pt x="38" y="21"/>
                  </a:cubicBezTo>
                  <a:cubicBezTo>
                    <a:pt x="38" y="31"/>
                    <a:pt x="30" y="38"/>
                    <a:pt x="21" y="38"/>
                  </a:cubicBezTo>
                  <a:cubicBezTo>
                    <a:pt x="14" y="38"/>
                    <a:pt x="8" y="34"/>
                    <a:pt x="5" y="29"/>
                  </a:cubicBezTo>
                  <a:cubicBezTo>
                    <a:pt x="2" y="35"/>
                    <a:pt x="0" y="43"/>
                    <a:pt x="0" y="51"/>
                  </a:cubicBezTo>
                  <a:cubicBezTo>
                    <a:pt x="0" y="61"/>
                    <a:pt x="3" y="70"/>
                    <a:pt x="8" y="78"/>
                  </a:cubicBezTo>
                  <a:cubicBezTo>
                    <a:pt x="78" y="8"/>
                    <a:pt x="78" y="8"/>
                    <a:pt x="78" y="8"/>
                  </a:cubicBezTo>
                  <a:cubicBezTo>
                    <a:pt x="70" y="3"/>
                    <a:pt x="61" y="0"/>
                    <a:pt x="51" y="0"/>
                  </a:cubicBezTo>
                  <a:close/>
                </a:path>
              </a:pathLst>
            </a:custGeom>
            <a:solidFill>
              <a:srgbClr val="40C9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88B951B-422A-8708-C57E-C214B7E08E83}"/>
              </a:ext>
            </a:extLst>
          </p:cNvPr>
          <p:cNvGrpSpPr/>
          <p:nvPr/>
        </p:nvGrpSpPr>
        <p:grpSpPr>
          <a:xfrm>
            <a:off x="731043" y="2690422"/>
            <a:ext cx="235913" cy="178149"/>
            <a:chOff x="10531475" y="5465763"/>
            <a:chExt cx="771525" cy="582613"/>
          </a:xfrm>
          <a:effectLst>
            <a:outerShdw dist="25400" dir="2700000" algn="tl" rotWithShape="0">
              <a:prstClr val="black">
                <a:alpha val="20000"/>
              </a:prstClr>
            </a:outerShdw>
          </a:effectLst>
        </p:grpSpPr>
        <p:sp>
          <p:nvSpPr>
            <p:cNvPr id="87" name="Freeform 265">
              <a:extLst>
                <a:ext uri="{FF2B5EF4-FFF2-40B4-BE49-F238E27FC236}">
                  <a16:creationId xmlns:a16="http://schemas.microsoft.com/office/drawing/2014/main" id="{5A850EC4-521F-1E12-B1A0-ECA11A74A79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31475" y="5465763"/>
              <a:ext cx="771525" cy="582613"/>
            </a:xfrm>
            <a:custGeom>
              <a:avLst/>
              <a:gdLst>
                <a:gd name="T0" fmla="*/ 179 w 204"/>
                <a:gd name="T1" fmla="*/ 0 h 154"/>
                <a:gd name="T2" fmla="*/ 25 w 204"/>
                <a:gd name="T3" fmla="*/ 0 h 154"/>
                <a:gd name="T4" fmla="*/ 0 w 204"/>
                <a:gd name="T5" fmla="*/ 26 h 154"/>
                <a:gd name="T6" fmla="*/ 0 w 204"/>
                <a:gd name="T7" fmla="*/ 147 h 154"/>
                <a:gd name="T8" fmla="*/ 6 w 204"/>
                <a:gd name="T9" fmla="*/ 154 h 154"/>
                <a:gd name="T10" fmla="*/ 198 w 204"/>
                <a:gd name="T11" fmla="*/ 154 h 154"/>
                <a:gd name="T12" fmla="*/ 204 w 204"/>
                <a:gd name="T13" fmla="*/ 147 h 154"/>
                <a:gd name="T14" fmla="*/ 204 w 204"/>
                <a:gd name="T15" fmla="*/ 26 h 154"/>
                <a:gd name="T16" fmla="*/ 179 w 204"/>
                <a:gd name="T17" fmla="*/ 0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04" h="154">
                  <a:moveTo>
                    <a:pt x="179" y="0"/>
                  </a:moveTo>
                  <a:cubicBezTo>
                    <a:pt x="25" y="0"/>
                    <a:pt x="25" y="0"/>
                    <a:pt x="25" y="0"/>
                  </a:cubicBezTo>
                  <a:cubicBezTo>
                    <a:pt x="11" y="0"/>
                    <a:pt x="0" y="12"/>
                    <a:pt x="0" y="26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51"/>
                    <a:pt x="2" y="154"/>
                    <a:pt x="6" y="154"/>
                  </a:cubicBezTo>
                  <a:cubicBezTo>
                    <a:pt x="198" y="154"/>
                    <a:pt x="198" y="154"/>
                    <a:pt x="198" y="154"/>
                  </a:cubicBezTo>
                  <a:cubicBezTo>
                    <a:pt x="202" y="154"/>
                    <a:pt x="204" y="151"/>
                    <a:pt x="204" y="147"/>
                  </a:cubicBezTo>
                  <a:cubicBezTo>
                    <a:pt x="204" y="26"/>
                    <a:pt x="204" y="26"/>
                    <a:pt x="204" y="26"/>
                  </a:cubicBezTo>
                  <a:cubicBezTo>
                    <a:pt x="204" y="12"/>
                    <a:pt x="193" y="0"/>
                    <a:pt x="179" y="0"/>
                  </a:cubicBezTo>
                  <a:close/>
                </a:path>
              </a:pathLst>
            </a:custGeom>
            <a:solidFill>
              <a:srgbClr val="059B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/>
            </a:p>
          </p:txBody>
        </p:sp>
        <p:sp>
          <p:nvSpPr>
            <p:cNvPr id="88" name="Freeform 266">
              <a:extLst>
                <a:ext uri="{FF2B5EF4-FFF2-40B4-BE49-F238E27FC236}">
                  <a16:creationId xmlns:a16="http://schemas.microsoft.com/office/drawing/2014/main" id="{3EFA966D-2D55-D216-EC97-81281EB61F1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31475" y="5465763"/>
              <a:ext cx="525463" cy="530225"/>
            </a:xfrm>
            <a:custGeom>
              <a:avLst/>
              <a:gdLst>
                <a:gd name="T0" fmla="*/ 139 w 139"/>
                <a:gd name="T1" fmla="*/ 0 h 140"/>
                <a:gd name="T2" fmla="*/ 25 w 139"/>
                <a:gd name="T3" fmla="*/ 0 h 140"/>
                <a:gd name="T4" fmla="*/ 0 w 139"/>
                <a:gd name="T5" fmla="*/ 26 h 140"/>
                <a:gd name="T6" fmla="*/ 0 w 139"/>
                <a:gd name="T7" fmla="*/ 140 h 140"/>
                <a:gd name="T8" fmla="*/ 139 w 139"/>
                <a:gd name="T9" fmla="*/ 0 h 1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9" h="140">
                  <a:moveTo>
                    <a:pt x="139" y="0"/>
                  </a:moveTo>
                  <a:cubicBezTo>
                    <a:pt x="25" y="0"/>
                    <a:pt x="25" y="0"/>
                    <a:pt x="25" y="0"/>
                  </a:cubicBezTo>
                  <a:cubicBezTo>
                    <a:pt x="11" y="0"/>
                    <a:pt x="0" y="12"/>
                    <a:pt x="0" y="26"/>
                  </a:cubicBezTo>
                  <a:cubicBezTo>
                    <a:pt x="0" y="140"/>
                    <a:pt x="0" y="140"/>
                    <a:pt x="0" y="140"/>
                  </a:cubicBezTo>
                  <a:lnTo>
                    <a:pt x="139" y="0"/>
                  </a:lnTo>
                  <a:close/>
                </a:path>
              </a:pathLst>
            </a:custGeom>
            <a:solidFill>
              <a:srgbClr val="21B2D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/>
            </a:p>
          </p:txBody>
        </p:sp>
        <p:sp>
          <p:nvSpPr>
            <p:cNvPr id="89" name="Freeform 267">
              <a:extLst>
                <a:ext uri="{FF2B5EF4-FFF2-40B4-BE49-F238E27FC236}">
                  <a16:creationId xmlns:a16="http://schemas.microsoft.com/office/drawing/2014/main" id="{4FC2022C-D5AD-6A9F-7888-FA07D500AAD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31475" y="5465763"/>
              <a:ext cx="771525" cy="147638"/>
            </a:xfrm>
            <a:custGeom>
              <a:avLst/>
              <a:gdLst>
                <a:gd name="T0" fmla="*/ 179 w 204"/>
                <a:gd name="T1" fmla="*/ 0 h 39"/>
                <a:gd name="T2" fmla="*/ 25 w 204"/>
                <a:gd name="T3" fmla="*/ 0 h 39"/>
                <a:gd name="T4" fmla="*/ 0 w 204"/>
                <a:gd name="T5" fmla="*/ 26 h 39"/>
                <a:gd name="T6" fmla="*/ 0 w 204"/>
                <a:gd name="T7" fmla="*/ 39 h 39"/>
                <a:gd name="T8" fmla="*/ 204 w 204"/>
                <a:gd name="T9" fmla="*/ 39 h 39"/>
                <a:gd name="T10" fmla="*/ 204 w 204"/>
                <a:gd name="T11" fmla="*/ 26 h 39"/>
                <a:gd name="T12" fmla="*/ 179 w 204"/>
                <a:gd name="T13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4" h="39">
                  <a:moveTo>
                    <a:pt x="179" y="0"/>
                  </a:moveTo>
                  <a:cubicBezTo>
                    <a:pt x="25" y="0"/>
                    <a:pt x="25" y="0"/>
                    <a:pt x="25" y="0"/>
                  </a:cubicBezTo>
                  <a:cubicBezTo>
                    <a:pt x="11" y="0"/>
                    <a:pt x="0" y="12"/>
                    <a:pt x="0" y="26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204" y="39"/>
                    <a:pt x="204" y="39"/>
                    <a:pt x="204" y="39"/>
                  </a:cubicBezTo>
                  <a:cubicBezTo>
                    <a:pt x="204" y="26"/>
                    <a:pt x="204" y="26"/>
                    <a:pt x="204" y="26"/>
                  </a:cubicBezTo>
                  <a:cubicBezTo>
                    <a:pt x="204" y="12"/>
                    <a:pt x="193" y="0"/>
                    <a:pt x="17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/>
            </a:p>
          </p:txBody>
        </p:sp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9B2E54D9-439B-9FC8-0F70-E070A88FDE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15613" y="5514975"/>
              <a:ext cx="49213" cy="49213"/>
            </a:xfrm>
            <a:prstGeom prst="ellipse">
              <a:avLst/>
            </a:prstGeom>
            <a:solidFill>
              <a:srgbClr val="FA565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/>
            </a:p>
          </p:txBody>
        </p:sp>
        <p:sp>
          <p:nvSpPr>
            <p:cNvPr id="91" name="Oval 90">
              <a:extLst>
                <a:ext uri="{FF2B5EF4-FFF2-40B4-BE49-F238E27FC236}">
                  <a16:creationId xmlns:a16="http://schemas.microsoft.com/office/drawing/2014/main" id="{3084C996-1C4C-EA4A-E205-B601E6A4E4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14038" y="5514975"/>
              <a:ext cx="44450" cy="49213"/>
            </a:xfrm>
            <a:prstGeom prst="ellipse">
              <a:avLst/>
            </a:prstGeom>
            <a:solidFill>
              <a:srgbClr val="F3B60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/>
            </a:p>
          </p:txBody>
        </p:sp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4E718838-33DA-898B-7246-FAFD20FB7A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07700" y="5514975"/>
              <a:ext cx="49213" cy="49213"/>
            </a:xfrm>
            <a:prstGeom prst="ellipse">
              <a:avLst/>
            </a:prstGeom>
            <a:solidFill>
              <a:srgbClr val="4AC3A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/>
            </a:p>
          </p:txBody>
        </p:sp>
        <p:sp>
          <p:nvSpPr>
            <p:cNvPr id="93" name="Freeform 271">
              <a:extLst>
                <a:ext uri="{FF2B5EF4-FFF2-40B4-BE49-F238E27FC236}">
                  <a16:creationId xmlns:a16="http://schemas.microsoft.com/office/drawing/2014/main" id="{F99F5664-3E58-08AE-0630-2D3961238E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26725" y="5757863"/>
              <a:ext cx="582613" cy="290513"/>
            </a:xfrm>
            <a:custGeom>
              <a:avLst/>
              <a:gdLst>
                <a:gd name="T0" fmla="*/ 132 w 154"/>
                <a:gd name="T1" fmla="*/ 61 h 77"/>
                <a:gd name="T2" fmla="*/ 127 w 154"/>
                <a:gd name="T3" fmla="*/ 49 h 77"/>
                <a:gd name="T4" fmla="*/ 138 w 154"/>
                <a:gd name="T5" fmla="*/ 38 h 77"/>
                <a:gd name="T6" fmla="*/ 138 w 154"/>
                <a:gd name="T7" fmla="*/ 29 h 77"/>
                <a:gd name="T8" fmla="*/ 125 w 154"/>
                <a:gd name="T9" fmla="*/ 16 h 77"/>
                <a:gd name="T10" fmla="*/ 115 w 154"/>
                <a:gd name="T11" fmla="*/ 16 h 77"/>
                <a:gd name="T12" fmla="*/ 105 w 154"/>
                <a:gd name="T13" fmla="*/ 26 h 77"/>
                <a:gd name="T14" fmla="*/ 93 w 154"/>
                <a:gd name="T15" fmla="*/ 21 h 77"/>
                <a:gd name="T16" fmla="*/ 93 w 154"/>
                <a:gd name="T17" fmla="*/ 6 h 77"/>
                <a:gd name="T18" fmla="*/ 87 w 154"/>
                <a:gd name="T19" fmla="*/ 0 h 77"/>
                <a:gd name="T20" fmla="*/ 67 w 154"/>
                <a:gd name="T21" fmla="*/ 0 h 77"/>
                <a:gd name="T22" fmla="*/ 61 w 154"/>
                <a:gd name="T23" fmla="*/ 6 h 77"/>
                <a:gd name="T24" fmla="*/ 61 w 154"/>
                <a:gd name="T25" fmla="*/ 21 h 77"/>
                <a:gd name="T26" fmla="*/ 49 w 154"/>
                <a:gd name="T27" fmla="*/ 26 h 77"/>
                <a:gd name="T28" fmla="*/ 39 w 154"/>
                <a:gd name="T29" fmla="*/ 16 h 77"/>
                <a:gd name="T30" fmla="*/ 29 w 154"/>
                <a:gd name="T31" fmla="*/ 16 h 77"/>
                <a:gd name="T32" fmla="*/ 16 w 154"/>
                <a:gd name="T33" fmla="*/ 29 h 77"/>
                <a:gd name="T34" fmla="*/ 16 w 154"/>
                <a:gd name="T35" fmla="*/ 38 h 77"/>
                <a:gd name="T36" fmla="*/ 27 w 154"/>
                <a:gd name="T37" fmla="*/ 49 h 77"/>
                <a:gd name="T38" fmla="*/ 22 w 154"/>
                <a:gd name="T39" fmla="*/ 61 h 77"/>
                <a:gd name="T40" fmla="*/ 7 w 154"/>
                <a:gd name="T41" fmla="*/ 61 h 77"/>
                <a:gd name="T42" fmla="*/ 0 w 154"/>
                <a:gd name="T43" fmla="*/ 67 h 77"/>
                <a:gd name="T44" fmla="*/ 0 w 154"/>
                <a:gd name="T45" fmla="*/ 77 h 77"/>
                <a:gd name="T46" fmla="*/ 154 w 154"/>
                <a:gd name="T47" fmla="*/ 77 h 77"/>
                <a:gd name="T48" fmla="*/ 154 w 154"/>
                <a:gd name="T49" fmla="*/ 67 h 77"/>
                <a:gd name="T50" fmla="*/ 147 w 154"/>
                <a:gd name="T51" fmla="*/ 61 h 77"/>
                <a:gd name="T52" fmla="*/ 132 w 154"/>
                <a:gd name="T53" fmla="*/ 61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54" h="77">
                  <a:moveTo>
                    <a:pt x="132" y="61"/>
                  </a:moveTo>
                  <a:cubicBezTo>
                    <a:pt x="131" y="57"/>
                    <a:pt x="129" y="53"/>
                    <a:pt x="127" y="49"/>
                  </a:cubicBezTo>
                  <a:cubicBezTo>
                    <a:pt x="138" y="38"/>
                    <a:pt x="138" y="38"/>
                    <a:pt x="138" y="38"/>
                  </a:cubicBezTo>
                  <a:cubicBezTo>
                    <a:pt x="141" y="36"/>
                    <a:pt x="141" y="32"/>
                    <a:pt x="138" y="29"/>
                  </a:cubicBezTo>
                  <a:cubicBezTo>
                    <a:pt x="125" y="16"/>
                    <a:pt x="125" y="16"/>
                    <a:pt x="125" y="16"/>
                  </a:cubicBezTo>
                  <a:cubicBezTo>
                    <a:pt x="122" y="13"/>
                    <a:pt x="118" y="13"/>
                    <a:pt x="115" y="16"/>
                  </a:cubicBezTo>
                  <a:cubicBezTo>
                    <a:pt x="105" y="26"/>
                    <a:pt x="105" y="26"/>
                    <a:pt x="105" y="26"/>
                  </a:cubicBezTo>
                  <a:cubicBezTo>
                    <a:pt x="101" y="24"/>
                    <a:pt x="97" y="23"/>
                    <a:pt x="93" y="21"/>
                  </a:cubicBezTo>
                  <a:cubicBezTo>
                    <a:pt x="93" y="6"/>
                    <a:pt x="93" y="6"/>
                    <a:pt x="93" y="6"/>
                  </a:cubicBezTo>
                  <a:cubicBezTo>
                    <a:pt x="93" y="3"/>
                    <a:pt x="90" y="0"/>
                    <a:pt x="87" y="0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4" y="0"/>
                    <a:pt x="61" y="3"/>
                    <a:pt x="61" y="6"/>
                  </a:cubicBezTo>
                  <a:cubicBezTo>
                    <a:pt x="61" y="21"/>
                    <a:pt x="61" y="21"/>
                    <a:pt x="61" y="21"/>
                  </a:cubicBezTo>
                  <a:cubicBezTo>
                    <a:pt x="57" y="23"/>
                    <a:pt x="53" y="24"/>
                    <a:pt x="49" y="26"/>
                  </a:cubicBezTo>
                  <a:cubicBezTo>
                    <a:pt x="39" y="16"/>
                    <a:pt x="39" y="16"/>
                    <a:pt x="39" y="16"/>
                  </a:cubicBezTo>
                  <a:cubicBezTo>
                    <a:pt x="36" y="13"/>
                    <a:pt x="32" y="13"/>
                    <a:pt x="29" y="16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3" y="32"/>
                    <a:pt x="13" y="36"/>
                    <a:pt x="16" y="38"/>
                  </a:cubicBezTo>
                  <a:cubicBezTo>
                    <a:pt x="27" y="49"/>
                    <a:pt x="27" y="49"/>
                    <a:pt x="27" y="49"/>
                  </a:cubicBezTo>
                  <a:cubicBezTo>
                    <a:pt x="25" y="53"/>
                    <a:pt x="23" y="57"/>
                    <a:pt x="22" y="61"/>
                  </a:cubicBezTo>
                  <a:cubicBezTo>
                    <a:pt x="7" y="61"/>
                    <a:pt x="7" y="61"/>
                    <a:pt x="7" y="61"/>
                  </a:cubicBezTo>
                  <a:cubicBezTo>
                    <a:pt x="3" y="61"/>
                    <a:pt x="0" y="64"/>
                    <a:pt x="0" y="67"/>
                  </a:cubicBezTo>
                  <a:cubicBezTo>
                    <a:pt x="0" y="77"/>
                    <a:pt x="0" y="77"/>
                    <a:pt x="0" y="77"/>
                  </a:cubicBezTo>
                  <a:cubicBezTo>
                    <a:pt x="154" y="77"/>
                    <a:pt x="154" y="77"/>
                    <a:pt x="154" y="77"/>
                  </a:cubicBezTo>
                  <a:cubicBezTo>
                    <a:pt x="154" y="67"/>
                    <a:pt x="154" y="67"/>
                    <a:pt x="154" y="67"/>
                  </a:cubicBezTo>
                  <a:cubicBezTo>
                    <a:pt x="154" y="64"/>
                    <a:pt x="151" y="61"/>
                    <a:pt x="147" y="61"/>
                  </a:cubicBezTo>
                  <a:lnTo>
                    <a:pt x="132" y="6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/>
            </a:p>
          </p:txBody>
        </p:sp>
        <p:sp>
          <p:nvSpPr>
            <p:cNvPr id="94" name="Freeform 272">
              <a:extLst>
                <a:ext uri="{FF2B5EF4-FFF2-40B4-BE49-F238E27FC236}">
                  <a16:creationId xmlns:a16="http://schemas.microsoft.com/office/drawing/2014/main" id="{4FAF03A4-BAFA-B942-50EA-F4B68CBD23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74363" y="5900738"/>
              <a:ext cx="287338" cy="147638"/>
            </a:xfrm>
            <a:custGeom>
              <a:avLst/>
              <a:gdLst>
                <a:gd name="T0" fmla="*/ 76 w 76"/>
                <a:gd name="T1" fmla="*/ 39 h 39"/>
                <a:gd name="T2" fmla="*/ 0 w 76"/>
                <a:gd name="T3" fmla="*/ 39 h 39"/>
                <a:gd name="T4" fmla="*/ 38 w 76"/>
                <a:gd name="T5" fmla="*/ 0 h 39"/>
                <a:gd name="T6" fmla="*/ 76 w 76"/>
                <a:gd name="T7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6" h="39">
                  <a:moveTo>
                    <a:pt x="76" y="3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18"/>
                    <a:pt x="17" y="0"/>
                    <a:pt x="38" y="0"/>
                  </a:cubicBezTo>
                  <a:cubicBezTo>
                    <a:pt x="59" y="0"/>
                    <a:pt x="76" y="18"/>
                    <a:pt x="76" y="39"/>
                  </a:cubicBezTo>
                  <a:close/>
                </a:path>
              </a:pathLst>
            </a:custGeom>
            <a:solidFill>
              <a:srgbClr val="40C9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3DC2205-836E-B9FF-CA43-40EFB9E8AD2A}"/>
              </a:ext>
            </a:extLst>
          </p:cNvPr>
          <p:cNvGrpSpPr/>
          <p:nvPr/>
        </p:nvGrpSpPr>
        <p:grpSpPr>
          <a:xfrm>
            <a:off x="743197" y="3606080"/>
            <a:ext cx="211610" cy="212047"/>
            <a:chOff x="1217613" y="2216168"/>
            <a:chExt cx="771525" cy="773120"/>
          </a:xfrm>
          <a:effectLst>
            <a:outerShdw dist="25400" dir="2700000" algn="tl" rotWithShape="0">
              <a:prstClr val="black">
                <a:alpha val="20000"/>
              </a:prstClr>
            </a:outerShdw>
          </a:effectLst>
        </p:grpSpPr>
        <p:sp>
          <p:nvSpPr>
            <p:cNvPr id="67" name="Freeform 159">
              <a:extLst>
                <a:ext uri="{FF2B5EF4-FFF2-40B4-BE49-F238E27FC236}">
                  <a16:creationId xmlns:a16="http://schemas.microsoft.com/office/drawing/2014/main" id="{DD303AA7-5268-56F6-4237-2E81A12F552C}"/>
                </a:ext>
              </a:extLst>
            </p:cNvPr>
            <p:cNvSpPr>
              <a:spLocks/>
            </p:cNvSpPr>
            <p:nvPr/>
          </p:nvSpPr>
          <p:spPr bwMode="auto">
            <a:xfrm>
              <a:off x="1217613" y="2216168"/>
              <a:ext cx="579438" cy="773119"/>
            </a:xfrm>
            <a:custGeom>
              <a:avLst/>
              <a:gdLst>
                <a:gd name="T0" fmla="*/ 0 w 153"/>
                <a:gd name="T1" fmla="*/ 12 h 204"/>
                <a:gd name="T2" fmla="*/ 12 w 153"/>
                <a:gd name="T3" fmla="*/ 0 h 204"/>
                <a:gd name="T4" fmla="*/ 102 w 153"/>
                <a:gd name="T5" fmla="*/ 0 h 204"/>
                <a:gd name="T6" fmla="*/ 153 w 153"/>
                <a:gd name="T7" fmla="*/ 43 h 204"/>
                <a:gd name="T8" fmla="*/ 153 w 153"/>
                <a:gd name="T9" fmla="*/ 192 h 204"/>
                <a:gd name="T10" fmla="*/ 141 w 153"/>
                <a:gd name="T11" fmla="*/ 204 h 204"/>
                <a:gd name="T12" fmla="*/ 12 w 153"/>
                <a:gd name="T13" fmla="*/ 204 h 204"/>
                <a:gd name="T14" fmla="*/ 0 w 153"/>
                <a:gd name="T15" fmla="*/ 192 h 204"/>
                <a:gd name="T16" fmla="*/ 0 w 153"/>
                <a:gd name="T17" fmla="*/ 12 h 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3" h="204">
                  <a:moveTo>
                    <a:pt x="0" y="12"/>
                  </a:moveTo>
                  <a:cubicBezTo>
                    <a:pt x="0" y="5"/>
                    <a:pt x="5" y="0"/>
                    <a:pt x="12" y="0"/>
                  </a:cubicBezTo>
                  <a:cubicBezTo>
                    <a:pt x="102" y="0"/>
                    <a:pt x="102" y="0"/>
                    <a:pt x="102" y="0"/>
                  </a:cubicBezTo>
                  <a:cubicBezTo>
                    <a:pt x="153" y="43"/>
                    <a:pt x="153" y="43"/>
                    <a:pt x="153" y="43"/>
                  </a:cubicBezTo>
                  <a:cubicBezTo>
                    <a:pt x="153" y="192"/>
                    <a:pt x="153" y="192"/>
                    <a:pt x="153" y="192"/>
                  </a:cubicBezTo>
                  <a:cubicBezTo>
                    <a:pt x="153" y="199"/>
                    <a:pt x="148" y="204"/>
                    <a:pt x="141" y="204"/>
                  </a:cubicBezTo>
                  <a:cubicBezTo>
                    <a:pt x="12" y="204"/>
                    <a:pt x="12" y="204"/>
                    <a:pt x="12" y="204"/>
                  </a:cubicBezTo>
                  <a:cubicBezTo>
                    <a:pt x="5" y="204"/>
                    <a:pt x="0" y="199"/>
                    <a:pt x="0" y="192"/>
                  </a:cubicBezTo>
                  <a:lnTo>
                    <a:pt x="0" y="1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/>
            </a:p>
          </p:txBody>
        </p:sp>
        <p:sp>
          <p:nvSpPr>
            <p:cNvPr id="68" name="Freeform 160">
              <a:extLst>
                <a:ext uri="{FF2B5EF4-FFF2-40B4-BE49-F238E27FC236}">
                  <a16:creationId xmlns:a16="http://schemas.microsoft.com/office/drawing/2014/main" id="{076FAB0E-CF31-DF90-85BB-F73012942B46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3376" y="2216168"/>
              <a:ext cx="193675" cy="163514"/>
            </a:xfrm>
            <a:custGeom>
              <a:avLst/>
              <a:gdLst>
                <a:gd name="T0" fmla="*/ 0 w 51"/>
                <a:gd name="T1" fmla="*/ 0 h 43"/>
                <a:gd name="T2" fmla="*/ 0 w 51"/>
                <a:gd name="T3" fmla="*/ 30 h 43"/>
                <a:gd name="T4" fmla="*/ 12 w 51"/>
                <a:gd name="T5" fmla="*/ 43 h 43"/>
                <a:gd name="T6" fmla="*/ 51 w 51"/>
                <a:gd name="T7" fmla="*/ 43 h 43"/>
                <a:gd name="T8" fmla="*/ 0 w 51"/>
                <a:gd name="T9" fmla="*/ 0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43">
                  <a:moveTo>
                    <a:pt x="0" y="0"/>
                  </a:moveTo>
                  <a:cubicBezTo>
                    <a:pt x="0" y="30"/>
                    <a:pt x="0" y="30"/>
                    <a:pt x="0" y="30"/>
                  </a:cubicBezTo>
                  <a:cubicBezTo>
                    <a:pt x="0" y="37"/>
                    <a:pt x="6" y="43"/>
                    <a:pt x="12" y="43"/>
                  </a:cubicBezTo>
                  <a:cubicBezTo>
                    <a:pt x="51" y="43"/>
                    <a:pt x="51" y="43"/>
                    <a:pt x="51" y="4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0F1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/>
            </a:p>
          </p:txBody>
        </p:sp>
        <p:sp>
          <p:nvSpPr>
            <p:cNvPr id="69" name="Freeform 161">
              <a:extLst>
                <a:ext uri="{FF2B5EF4-FFF2-40B4-BE49-F238E27FC236}">
                  <a16:creationId xmlns:a16="http://schemas.microsoft.com/office/drawing/2014/main" id="{23395B9E-BFAF-1931-AB5A-D1EE124B0EAC}"/>
                </a:ext>
              </a:extLst>
            </p:cNvPr>
            <p:cNvSpPr>
              <a:spLocks/>
            </p:cNvSpPr>
            <p:nvPr/>
          </p:nvSpPr>
          <p:spPr bwMode="auto">
            <a:xfrm>
              <a:off x="1868488" y="2311419"/>
              <a:ext cx="120650" cy="593730"/>
            </a:xfrm>
            <a:custGeom>
              <a:avLst/>
              <a:gdLst>
                <a:gd name="T0" fmla="*/ 0 w 76"/>
                <a:gd name="T1" fmla="*/ 81 h 374"/>
                <a:gd name="T2" fmla="*/ 38 w 76"/>
                <a:gd name="T3" fmla="*/ 0 h 374"/>
                <a:gd name="T4" fmla="*/ 76 w 76"/>
                <a:gd name="T5" fmla="*/ 81 h 374"/>
                <a:gd name="T6" fmla="*/ 76 w 76"/>
                <a:gd name="T7" fmla="*/ 374 h 374"/>
                <a:gd name="T8" fmla="*/ 0 w 76"/>
                <a:gd name="T9" fmla="*/ 374 h 374"/>
                <a:gd name="T10" fmla="*/ 0 w 76"/>
                <a:gd name="T11" fmla="*/ 81 h 3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6" h="374">
                  <a:moveTo>
                    <a:pt x="0" y="81"/>
                  </a:moveTo>
                  <a:lnTo>
                    <a:pt x="38" y="0"/>
                  </a:lnTo>
                  <a:lnTo>
                    <a:pt x="76" y="81"/>
                  </a:lnTo>
                  <a:lnTo>
                    <a:pt x="76" y="374"/>
                  </a:lnTo>
                  <a:lnTo>
                    <a:pt x="0" y="374"/>
                  </a:lnTo>
                  <a:lnTo>
                    <a:pt x="0" y="81"/>
                  </a:lnTo>
                  <a:close/>
                </a:path>
              </a:pathLst>
            </a:custGeom>
            <a:solidFill>
              <a:srgbClr val="F4D0A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/>
            </a:p>
          </p:txBody>
        </p:sp>
        <p:sp>
          <p:nvSpPr>
            <p:cNvPr id="70" name="Freeform 162">
              <a:extLst>
                <a:ext uri="{FF2B5EF4-FFF2-40B4-BE49-F238E27FC236}">
                  <a16:creationId xmlns:a16="http://schemas.microsoft.com/office/drawing/2014/main" id="{F23C4D83-23D1-4149-8DD5-6BE4FC579B93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8813" y="2311419"/>
              <a:ext cx="60325" cy="192089"/>
            </a:xfrm>
            <a:custGeom>
              <a:avLst/>
              <a:gdLst>
                <a:gd name="T0" fmla="*/ 38 w 38"/>
                <a:gd name="T1" fmla="*/ 121 h 121"/>
                <a:gd name="T2" fmla="*/ 38 w 38"/>
                <a:gd name="T3" fmla="*/ 81 h 121"/>
                <a:gd name="T4" fmla="*/ 0 w 38"/>
                <a:gd name="T5" fmla="*/ 0 h 121"/>
                <a:gd name="T6" fmla="*/ 0 w 38"/>
                <a:gd name="T7" fmla="*/ 121 h 121"/>
                <a:gd name="T8" fmla="*/ 38 w 38"/>
                <a:gd name="T9" fmla="*/ 121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121">
                  <a:moveTo>
                    <a:pt x="38" y="121"/>
                  </a:moveTo>
                  <a:lnTo>
                    <a:pt x="38" y="81"/>
                  </a:lnTo>
                  <a:lnTo>
                    <a:pt x="0" y="0"/>
                  </a:lnTo>
                  <a:lnTo>
                    <a:pt x="0" y="121"/>
                  </a:lnTo>
                  <a:lnTo>
                    <a:pt x="38" y="121"/>
                  </a:lnTo>
                  <a:close/>
                </a:path>
              </a:pathLst>
            </a:custGeom>
            <a:solidFill>
              <a:srgbClr val="EDBC7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/>
            </a:p>
          </p:txBody>
        </p:sp>
        <p:sp>
          <p:nvSpPr>
            <p:cNvPr id="71" name="Freeform 163">
              <a:extLst>
                <a:ext uri="{FF2B5EF4-FFF2-40B4-BE49-F238E27FC236}">
                  <a16:creationId xmlns:a16="http://schemas.microsoft.com/office/drawing/2014/main" id="{2C245A7A-74B8-C4C2-1F19-F2B76173F2CD}"/>
                </a:ext>
              </a:extLst>
            </p:cNvPr>
            <p:cNvSpPr>
              <a:spLocks/>
            </p:cNvSpPr>
            <p:nvPr/>
          </p:nvSpPr>
          <p:spPr bwMode="auto">
            <a:xfrm>
              <a:off x="1868488" y="2927375"/>
              <a:ext cx="120650" cy="61913"/>
            </a:xfrm>
            <a:custGeom>
              <a:avLst/>
              <a:gdLst>
                <a:gd name="T0" fmla="*/ 32 w 32"/>
                <a:gd name="T1" fmla="*/ 7 h 16"/>
                <a:gd name="T2" fmla="*/ 23 w 32"/>
                <a:gd name="T3" fmla="*/ 16 h 16"/>
                <a:gd name="T4" fmla="*/ 10 w 32"/>
                <a:gd name="T5" fmla="*/ 16 h 16"/>
                <a:gd name="T6" fmla="*/ 0 w 32"/>
                <a:gd name="T7" fmla="*/ 7 h 16"/>
                <a:gd name="T8" fmla="*/ 0 w 32"/>
                <a:gd name="T9" fmla="*/ 0 h 16"/>
                <a:gd name="T10" fmla="*/ 32 w 32"/>
                <a:gd name="T11" fmla="*/ 0 h 16"/>
                <a:gd name="T12" fmla="*/ 32 w 32"/>
                <a:gd name="T13" fmla="*/ 7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" h="16">
                  <a:moveTo>
                    <a:pt x="32" y="7"/>
                  </a:moveTo>
                  <a:cubicBezTo>
                    <a:pt x="32" y="12"/>
                    <a:pt x="28" y="16"/>
                    <a:pt x="23" y="16"/>
                  </a:cubicBezTo>
                  <a:cubicBezTo>
                    <a:pt x="10" y="16"/>
                    <a:pt x="10" y="16"/>
                    <a:pt x="10" y="16"/>
                  </a:cubicBezTo>
                  <a:cubicBezTo>
                    <a:pt x="5" y="16"/>
                    <a:pt x="0" y="12"/>
                    <a:pt x="0" y="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32" y="0"/>
                    <a:pt x="32" y="0"/>
                    <a:pt x="32" y="0"/>
                  </a:cubicBezTo>
                  <a:lnTo>
                    <a:pt x="32" y="7"/>
                  </a:lnTo>
                  <a:close/>
                </a:path>
              </a:pathLst>
            </a:custGeom>
            <a:solidFill>
              <a:srgbClr val="F7939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/>
            </a:p>
          </p:txBody>
        </p:sp>
        <p:sp>
          <p:nvSpPr>
            <p:cNvPr id="72" name="Freeform 164">
              <a:extLst>
                <a:ext uri="{FF2B5EF4-FFF2-40B4-BE49-F238E27FC236}">
                  <a16:creationId xmlns:a16="http://schemas.microsoft.com/office/drawing/2014/main" id="{60EC7DA3-1F66-A18F-9E63-2CF045413161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2726" y="2470171"/>
              <a:ext cx="204788" cy="22225"/>
            </a:xfrm>
            <a:custGeom>
              <a:avLst/>
              <a:gdLst>
                <a:gd name="T0" fmla="*/ 54 w 54"/>
                <a:gd name="T1" fmla="*/ 3 h 6"/>
                <a:gd name="T2" fmla="*/ 51 w 54"/>
                <a:gd name="T3" fmla="*/ 6 h 6"/>
                <a:gd name="T4" fmla="*/ 3 w 54"/>
                <a:gd name="T5" fmla="*/ 6 h 6"/>
                <a:gd name="T6" fmla="*/ 0 w 54"/>
                <a:gd name="T7" fmla="*/ 3 h 6"/>
                <a:gd name="T8" fmla="*/ 3 w 54"/>
                <a:gd name="T9" fmla="*/ 0 h 6"/>
                <a:gd name="T10" fmla="*/ 51 w 54"/>
                <a:gd name="T11" fmla="*/ 0 h 6"/>
                <a:gd name="T12" fmla="*/ 54 w 54"/>
                <a:gd name="T13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6">
                  <a:moveTo>
                    <a:pt x="54" y="3"/>
                  </a:moveTo>
                  <a:cubicBezTo>
                    <a:pt x="54" y="5"/>
                    <a:pt x="53" y="6"/>
                    <a:pt x="51" y="6"/>
                  </a:cubicBezTo>
                  <a:cubicBezTo>
                    <a:pt x="3" y="6"/>
                    <a:pt x="3" y="6"/>
                    <a:pt x="3" y="6"/>
                  </a:cubicBezTo>
                  <a:cubicBezTo>
                    <a:pt x="1" y="6"/>
                    <a:pt x="0" y="5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51" y="0"/>
                    <a:pt x="51" y="0"/>
                    <a:pt x="51" y="0"/>
                  </a:cubicBezTo>
                  <a:cubicBezTo>
                    <a:pt x="53" y="0"/>
                    <a:pt x="54" y="1"/>
                    <a:pt x="54" y="3"/>
                  </a:cubicBezTo>
                  <a:close/>
                </a:path>
              </a:pathLst>
            </a:custGeom>
            <a:solidFill>
              <a:srgbClr val="E2E4E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/>
            </a:p>
          </p:txBody>
        </p:sp>
        <p:sp>
          <p:nvSpPr>
            <p:cNvPr id="73" name="Freeform 165">
              <a:extLst>
                <a:ext uri="{FF2B5EF4-FFF2-40B4-BE49-F238E27FC236}">
                  <a16:creationId xmlns:a16="http://schemas.microsoft.com/office/drawing/2014/main" id="{EE2DA941-DFA4-39A0-1209-914A219B97E9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2726" y="2530496"/>
              <a:ext cx="131763" cy="22225"/>
            </a:xfrm>
            <a:custGeom>
              <a:avLst/>
              <a:gdLst>
                <a:gd name="T0" fmla="*/ 35 w 35"/>
                <a:gd name="T1" fmla="*/ 3 h 6"/>
                <a:gd name="T2" fmla="*/ 32 w 35"/>
                <a:gd name="T3" fmla="*/ 6 h 6"/>
                <a:gd name="T4" fmla="*/ 3 w 35"/>
                <a:gd name="T5" fmla="*/ 6 h 6"/>
                <a:gd name="T6" fmla="*/ 0 w 35"/>
                <a:gd name="T7" fmla="*/ 3 h 6"/>
                <a:gd name="T8" fmla="*/ 3 w 35"/>
                <a:gd name="T9" fmla="*/ 0 h 6"/>
                <a:gd name="T10" fmla="*/ 32 w 35"/>
                <a:gd name="T11" fmla="*/ 0 h 6"/>
                <a:gd name="T12" fmla="*/ 35 w 35"/>
                <a:gd name="T13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5" h="6">
                  <a:moveTo>
                    <a:pt x="35" y="3"/>
                  </a:moveTo>
                  <a:cubicBezTo>
                    <a:pt x="35" y="5"/>
                    <a:pt x="34" y="6"/>
                    <a:pt x="32" y="6"/>
                  </a:cubicBezTo>
                  <a:cubicBezTo>
                    <a:pt x="3" y="6"/>
                    <a:pt x="3" y="6"/>
                    <a:pt x="3" y="6"/>
                  </a:cubicBezTo>
                  <a:cubicBezTo>
                    <a:pt x="1" y="6"/>
                    <a:pt x="0" y="5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4" y="0"/>
                    <a:pt x="35" y="1"/>
                    <a:pt x="35" y="3"/>
                  </a:cubicBezTo>
                  <a:close/>
                </a:path>
              </a:pathLst>
            </a:custGeom>
            <a:solidFill>
              <a:srgbClr val="E2E4E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/>
            </a:p>
          </p:txBody>
        </p:sp>
        <p:sp>
          <p:nvSpPr>
            <p:cNvPr id="74" name="Freeform 166">
              <a:extLst>
                <a:ext uri="{FF2B5EF4-FFF2-40B4-BE49-F238E27FC236}">
                  <a16:creationId xmlns:a16="http://schemas.microsoft.com/office/drawing/2014/main" id="{6760F6ED-2B24-3FDB-3246-615E3DA35213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2726" y="2625747"/>
              <a:ext cx="204788" cy="25400"/>
            </a:xfrm>
            <a:custGeom>
              <a:avLst/>
              <a:gdLst>
                <a:gd name="T0" fmla="*/ 54 w 54"/>
                <a:gd name="T1" fmla="*/ 4 h 7"/>
                <a:gd name="T2" fmla="*/ 51 w 54"/>
                <a:gd name="T3" fmla="*/ 7 h 7"/>
                <a:gd name="T4" fmla="*/ 3 w 54"/>
                <a:gd name="T5" fmla="*/ 7 h 7"/>
                <a:gd name="T6" fmla="*/ 0 w 54"/>
                <a:gd name="T7" fmla="*/ 4 h 7"/>
                <a:gd name="T8" fmla="*/ 3 w 54"/>
                <a:gd name="T9" fmla="*/ 0 h 7"/>
                <a:gd name="T10" fmla="*/ 51 w 54"/>
                <a:gd name="T11" fmla="*/ 0 h 7"/>
                <a:gd name="T12" fmla="*/ 54 w 54"/>
                <a:gd name="T13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7">
                  <a:moveTo>
                    <a:pt x="54" y="4"/>
                  </a:moveTo>
                  <a:cubicBezTo>
                    <a:pt x="54" y="5"/>
                    <a:pt x="53" y="7"/>
                    <a:pt x="51" y="7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1" y="7"/>
                    <a:pt x="0" y="5"/>
                    <a:pt x="0" y="4"/>
                  </a:cubicBezTo>
                  <a:cubicBezTo>
                    <a:pt x="0" y="2"/>
                    <a:pt x="1" y="0"/>
                    <a:pt x="3" y="0"/>
                  </a:cubicBezTo>
                  <a:cubicBezTo>
                    <a:pt x="51" y="0"/>
                    <a:pt x="51" y="0"/>
                    <a:pt x="51" y="0"/>
                  </a:cubicBezTo>
                  <a:cubicBezTo>
                    <a:pt x="53" y="0"/>
                    <a:pt x="54" y="2"/>
                    <a:pt x="54" y="4"/>
                  </a:cubicBezTo>
                  <a:close/>
                </a:path>
              </a:pathLst>
            </a:custGeom>
            <a:solidFill>
              <a:srgbClr val="E2E4E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/>
            </a:p>
          </p:txBody>
        </p:sp>
        <p:sp>
          <p:nvSpPr>
            <p:cNvPr id="75" name="Freeform 167">
              <a:extLst>
                <a:ext uri="{FF2B5EF4-FFF2-40B4-BE49-F238E27FC236}">
                  <a16:creationId xmlns:a16="http://schemas.microsoft.com/office/drawing/2014/main" id="{B99B09AD-8BE3-D15D-629E-DC2E6431DAC4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2726" y="2686072"/>
              <a:ext cx="131763" cy="26988"/>
            </a:xfrm>
            <a:custGeom>
              <a:avLst/>
              <a:gdLst>
                <a:gd name="T0" fmla="*/ 35 w 35"/>
                <a:gd name="T1" fmla="*/ 4 h 7"/>
                <a:gd name="T2" fmla="*/ 32 w 35"/>
                <a:gd name="T3" fmla="*/ 7 h 7"/>
                <a:gd name="T4" fmla="*/ 3 w 35"/>
                <a:gd name="T5" fmla="*/ 7 h 7"/>
                <a:gd name="T6" fmla="*/ 0 w 35"/>
                <a:gd name="T7" fmla="*/ 4 h 7"/>
                <a:gd name="T8" fmla="*/ 3 w 35"/>
                <a:gd name="T9" fmla="*/ 0 h 7"/>
                <a:gd name="T10" fmla="*/ 32 w 35"/>
                <a:gd name="T11" fmla="*/ 0 h 7"/>
                <a:gd name="T12" fmla="*/ 35 w 35"/>
                <a:gd name="T13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5" h="7">
                  <a:moveTo>
                    <a:pt x="35" y="4"/>
                  </a:moveTo>
                  <a:cubicBezTo>
                    <a:pt x="35" y="5"/>
                    <a:pt x="34" y="7"/>
                    <a:pt x="32" y="7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1" y="7"/>
                    <a:pt x="0" y="5"/>
                    <a:pt x="0" y="4"/>
                  </a:cubicBezTo>
                  <a:cubicBezTo>
                    <a:pt x="0" y="2"/>
                    <a:pt x="1" y="0"/>
                    <a:pt x="3" y="0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4" y="0"/>
                    <a:pt x="35" y="2"/>
                    <a:pt x="35" y="4"/>
                  </a:cubicBezTo>
                  <a:close/>
                </a:path>
              </a:pathLst>
            </a:custGeom>
            <a:solidFill>
              <a:srgbClr val="E2E4E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/>
            </a:p>
          </p:txBody>
        </p:sp>
        <p:sp>
          <p:nvSpPr>
            <p:cNvPr id="76" name="Freeform 168">
              <a:extLst>
                <a:ext uri="{FF2B5EF4-FFF2-40B4-BE49-F238E27FC236}">
                  <a16:creationId xmlns:a16="http://schemas.microsoft.com/office/drawing/2014/main" id="{CF4E7837-07B0-53D7-670B-55000659678E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2726" y="2784498"/>
              <a:ext cx="204788" cy="22225"/>
            </a:xfrm>
            <a:custGeom>
              <a:avLst/>
              <a:gdLst>
                <a:gd name="T0" fmla="*/ 54 w 54"/>
                <a:gd name="T1" fmla="*/ 3 h 6"/>
                <a:gd name="T2" fmla="*/ 51 w 54"/>
                <a:gd name="T3" fmla="*/ 6 h 6"/>
                <a:gd name="T4" fmla="*/ 3 w 54"/>
                <a:gd name="T5" fmla="*/ 6 h 6"/>
                <a:gd name="T6" fmla="*/ 0 w 54"/>
                <a:gd name="T7" fmla="*/ 3 h 6"/>
                <a:gd name="T8" fmla="*/ 3 w 54"/>
                <a:gd name="T9" fmla="*/ 0 h 6"/>
                <a:gd name="T10" fmla="*/ 51 w 54"/>
                <a:gd name="T11" fmla="*/ 0 h 6"/>
                <a:gd name="T12" fmla="*/ 54 w 54"/>
                <a:gd name="T13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6">
                  <a:moveTo>
                    <a:pt x="54" y="3"/>
                  </a:moveTo>
                  <a:cubicBezTo>
                    <a:pt x="54" y="5"/>
                    <a:pt x="53" y="6"/>
                    <a:pt x="51" y="6"/>
                  </a:cubicBezTo>
                  <a:cubicBezTo>
                    <a:pt x="3" y="6"/>
                    <a:pt x="3" y="6"/>
                    <a:pt x="3" y="6"/>
                  </a:cubicBezTo>
                  <a:cubicBezTo>
                    <a:pt x="1" y="6"/>
                    <a:pt x="0" y="5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51" y="0"/>
                    <a:pt x="51" y="0"/>
                    <a:pt x="51" y="0"/>
                  </a:cubicBezTo>
                  <a:cubicBezTo>
                    <a:pt x="53" y="0"/>
                    <a:pt x="54" y="1"/>
                    <a:pt x="54" y="3"/>
                  </a:cubicBezTo>
                  <a:close/>
                </a:path>
              </a:pathLst>
            </a:custGeom>
            <a:solidFill>
              <a:srgbClr val="E2E4E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/>
            </a:p>
          </p:txBody>
        </p:sp>
        <p:sp>
          <p:nvSpPr>
            <p:cNvPr id="77" name="Freeform 169">
              <a:extLst>
                <a:ext uri="{FF2B5EF4-FFF2-40B4-BE49-F238E27FC236}">
                  <a16:creationId xmlns:a16="http://schemas.microsoft.com/office/drawing/2014/main" id="{4C3621F7-61DA-DECF-D3B3-915059CE3E53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2726" y="2844824"/>
              <a:ext cx="131763" cy="22225"/>
            </a:xfrm>
            <a:custGeom>
              <a:avLst/>
              <a:gdLst>
                <a:gd name="T0" fmla="*/ 35 w 35"/>
                <a:gd name="T1" fmla="*/ 3 h 6"/>
                <a:gd name="T2" fmla="*/ 32 w 35"/>
                <a:gd name="T3" fmla="*/ 6 h 6"/>
                <a:gd name="T4" fmla="*/ 3 w 35"/>
                <a:gd name="T5" fmla="*/ 6 h 6"/>
                <a:gd name="T6" fmla="*/ 0 w 35"/>
                <a:gd name="T7" fmla="*/ 3 h 6"/>
                <a:gd name="T8" fmla="*/ 3 w 35"/>
                <a:gd name="T9" fmla="*/ 0 h 6"/>
                <a:gd name="T10" fmla="*/ 32 w 35"/>
                <a:gd name="T11" fmla="*/ 0 h 6"/>
                <a:gd name="T12" fmla="*/ 35 w 35"/>
                <a:gd name="T13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5" h="6">
                  <a:moveTo>
                    <a:pt x="35" y="3"/>
                  </a:moveTo>
                  <a:cubicBezTo>
                    <a:pt x="35" y="5"/>
                    <a:pt x="34" y="6"/>
                    <a:pt x="32" y="6"/>
                  </a:cubicBezTo>
                  <a:cubicBezTo>
                    <a:pt x="3" y="6"/>
                    <a:pt x="3" y="6"/>
                    <a:pt x="3" y="6"/>
                  </a:cubicBezTo>
                  <a:cubicBezTo>
                    <a:pt x="1" y="6"/>
                    <a:pt x="0" y="5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4" y="0"/>
                    <a:pt x="35" y="1"/>
                    <a:pt x="35" y="3"/>
                  </a:cubicBezTo>
                  <a:close/>
                </a:path>
              </a:pathLst>
            </a:custGeom>
            <a:solidFill>
              <a:srgbClr val="E2E4E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/>
            </a:p>
          </p:txBody>
        </p:sp>
        <p:sp>
          <p:nvSpPr>
            <p:cNvPr id="78" name="Freeform 170">
              <a:extLst>
                <a:ext uri="{FF2B5EF4-FFF2-40B4-BE49-F238E27FC236}">
                  <a16:creationId xmlns:a16="http://schemas.microsoft.com/office/drawing/2014/main" id="{835AC5F1-6111-8DE4-35E9-087243C93106}"/>
                </a:ext>
              </a:extLst>
            </p:cNvPr>
            <p:cNvSpPr>
              <a:spLocks/>
            </p:cNvSpPr>
            <p:nvPr/>
          </p:nvSpPr>
          <p:spPr bwMode="auto">
            <a:xfrm>
              <a:off x="1312863" y="2462233"/>
              <a:ext cx="123825" cy="101601"/>
            </a:xfrm>
            <a:custGeom>
              <a:avLst/>
              <a:gdLst>
                <a:gd name="T0" fmla="*/ 13 w 33"/>
                <a:gd name="T1" fmla="*/ 27 h 27"/>
                <a:gd name="T2" fmla="*/ 1 w 33"/>
                <a:gd name="T3" fmla="*/ 15 h 27"/>
                <a:gd name="T4" fmla="*/ 1 w 33"/>
                <a:gd name="T5" fmla="*/ 11 h 27"/>
                <a:gd name="T6" fmla="*/ 6 w 33"/>
                <a:gd name="T7" fmla="*/ 11 h 27"/>
                <a:gd name="T8" fmla="*/ 13 w 33"/>
                <a:gd name="T9" fmla="*/ 18 h 27"/>
                <a:gd name="T10" fmla="*/ 27 w 33"/>
                <a:gd name="T11" fmla="*/ 1 h 27"/>
                <a:gd name="T12" fmla="*/ 31 w 33"/>
                <a:gd name="T13" fmla="*/ 1 h 27"/>
                <a:gd name="T14" fmla="*/ 31 w 33"/>
                <a:gd name="T15" fmla="*/ 6 h 27"/>
                <a:gd name="T16" fmla="*/ 13 w 33"/>
                <a:gd name="T17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3" h="27">
                  <a:moveTo>
                    <a:pt x="13" y="27"/>
                  </a:moveTo>
                  <a:cubicBezTo>
                    <a:pt x="1" y="15"/>
                    <a:pt x="1" y="15"/>
                    <a:pt x="1" y="15"/>
                  </a:cubicBezTo>
                  <a:cubicBezTo>
                    <a:pt x="0" y="14"/>
                    <a:pt x="0" y="12"/>
                    <a:pt x="1" y="11"/>
                  </a:cubicBezTo>
                  <a:cubicBezTo>
                    <a:pt x="2" y="10"/>
                    <a:pt x="4" y="10"/>
                    <a:pt x="6" y="11"/>
                  </a:cubicBezTo>
                  <a:cubicBezTo>
                    <a:pt x="13" y="18"/>
                    <a:pt x="13" y="18"/>
                    <a:pt x="13" y="18"/>
                  </a:cubicBezTo>
                  <a:cubicBezTo>
                    <a:pt x="27" y="1"/>
                    <a:pt x="27" y="1"/>
                    <a:pt x="27" y="1"/>
                  </a:cubicBezTo>
                  <a:cubicBezTo>
                    <a:pt x="28" y="0"/>
                    <a:pt x="30" y="0"/>
                    <a:pt x="31" y="1"/>
                  </a:cubicBezTo>
                  <a:cubicBezTo>
                    <a:pt x="32" y="2"/>
                    <a:pt x="33" y="4"/>
                    <a:pt x="31" y="6"/>
                  </a:cubicBezTo>
                  <a:lnTo>
                    <a:pt x="13" y="27"/>
                  </a:lnTo>
                  <a:close/>
                </a:path>
              </a:pathLst>
            </a:custGeom>
            <a:solidFill>
              <a:srgbClr val="17B19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/>
            </a:p>
          </p:txBody>
        </p:sp>
        <p:sp>
          <p:nvSpPr>
            <p:cNvPr id="79" name="Freeform 171">
              <a:extLst>
                <a:ext uri="{FF2B5EF4-FFF2-40B4-BE49-F238E27FC236}">
                  <a16:creationId xmlns:a16="http://schemas.microsoft.com/office/drawing/2014/main" id="{EA318762-C1FE-606C-0C74-1B6197473133}"/>
                </a:ext>
              </a:extLst>
            </p:cNvPr>
            <p:cNvSpPr>
              <a:spLocks/>
            </p:cNvSpPr>
            <p:nvPr/>
          </p:nvSpPr>
          <p:spPr bwMode="auto">
            <a:xfrm>
              <a:off x="1312863" y="2617809"/>
              <a:ext cx="123825" cy="106363"/>
            </a:xfrm>
            <a:custGeom>
              <a:avLst/>
              <a:gdLst>
                <a:gd name="T0" fmla="*/ 13 w 33"/>
                <a:gd name="T1" fmla="*/ 28 h 28"/>
                <a:gd name="T2" fmla="*/ 1 w 33"/>
                <a:gd name="T3" fmla="*/ 16 h 28"/>
                <a:gd name="T4" fmla="*/ 1 w 33"/>
                <a:gd name="T5" fmla="*/ 11 h 28"/>
                <a:gd name="T6" fmla="*/ 6 w 33"/>
                <a:gd name="T7" fmla="*/ 11 h 28"/>
                <a:gd name="T8" fmla="*/ 13 w 33"/>
                <a:gd name="T9" fmla="*/ 19 h 28"/>
                <a:gd name="T10" fmla="*/ 27 w 33"/>
                <a:gd name="T11" fmla="*/ 2 h 28"/>
                <a:gd name="T12" fmla="*/ 31 w 33"/>
                <a:gd name="T13" fmla="*/ 2 h 28"/>
                <a:gd name="T14" fmla="*/ 31 w 33"/>
                <a:gd name="T15" fmla="*/ 6 h 28"/>
                <a:gd name="T16" fmla="*/ 13 w 33"/>
                <a:gd name="T17" fmla="*/ 28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3" h="28">
                  <a:moveTo>
                    <a:pt x="13" y="28"/>
                  </a:moveTo>
                  <a:cubicBezTo>
                    <a:pt x="1" y="16"/>
                    <a:pt x="1" y="16"/>
                    <a:pt x="1" y="16"/>
                  </a:cubicBezTo>
                  <a:cubicBezTo>
                    <a:pt x="0" y="15"/>
                    <a:pt x="0" y="13"/>
                    <a:pt x="1" y="11"/>
                  </a:cubicBezTo>
                  <a:cubicBezTo>
                    <a:pt x="2" y="10"/>
                    <a:pt x="4" y="10"/>
                    <a:pt x="6" y="11"/>
                  </a:cubicBezTo>
                  <a:cubicBezTo>
                    <a:pt x="13" y="19"/>
                    <a:pt x="13" y="19"/>
                    <a:pt x="13" y="19"/>
                  </a:cubicBezTo>
                  <a:cubicBezTo>
                    <a:pt x="27" y="2"/>
                    <a:pt x="27" y="2"/>
                    <a:pt x="27" y="2"/>
                  </a:cubicBezTo>
                  <a:cubicBezTo>
                    <a:pt x="28" y="1"/>
                    <a:pt x="30" y="0"/>
                    <a:pt x="31" y="2"/>
                  </a:cubicBezTo>
                  <a:cubicBezTo>
                    <a:pt x="32" y="3"/>
                    <a:pt x="33" y="5"/>
                    <a:pt x="31" y="6"/>
                  </a:cubicBezTo>
                  <a:lnTo>
                    <a:pt x="13" y="28"/>
                  </a:lnTo>
                  <a:close/>
                </a:path>
              </a:pathLst>
            </a:custGeom>
            <a:solidFill>
              <a:srgbClr val="17B19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/>
            </a:p>
          </p:txBody>
        </p:sp>
        <p:sp>
          <p:nvSpPr>
            <p:cNvPr id="80" name="Freeform 172">
              <a:extLst>
                <a:ext uri="{FF2B5EF4-FFF2-40B4-BE49-F238E27FC236}">
                  <a16:creationId xmlns:a16="http://schemas.microsoft.com/office/drawing/2014/main" id="{D8751862-BDAB-CE21-4A09-B1D7FBE66375}"/>
                </a:ext>
              </a:extLst>
            </p:cNvPr>
            <p:cNvSpPr>
              <a:spLocks/>
            </p:cNvSpPr>
            <p:nvPr/>
          </p:nvSpPr>
          <p:spPr bwMode="auto">
            <a:xfrm>
              <a:off x="1312863" y="2776561"/>
              <a:ext cx="123825" cy="106363"/>
            </a:xfrm>
            <a:custGeom>
              <a:avLst/>
              <a:gdLst>
                <a:gd name="T0" fmla="*/ 13 w 33"/>
                <a:gd name="T1" fmla="*/ 28 h 28"/>
                <a:gd name="T2" fmla="*/ 1 w 33"/>
                <a:gd name="T3" fmla="*/ 16 h 28"/>
                <a:gd name="T4" fmla="*/ 1 w 33"/>
                <a:gd name="T5" fmla="*/ 11 h 28"/>
                <a:gd name="T6" fmla="*/ 6 w 33"/>
                <a:gd name="T7" fmla="*/ 11 h 28"/>
                <a:gd name="T8" fmla="*/ 13 w 33"/>
                <a:gd name="T9" fmla="*/ 18 h 28"/>
                <a:gd name="T10" fmla="*/ 27 w 33"/>
                <a:gd name="T11" fmla="*/ 2 h 28"/>
                <a:gd name="T12" fmla="*/ 31 w 33"/>
                <a:gd name="T13" fmla="*/ 1 h 28"/>
                <a:gd name="T14" fmla="*/ 31 w 33"/>
                <a:gd name="T15" fmla="*/ 6 h 28"/>
                <a:gd name="T16" fmla="*/ 13 w 33"/>
                <a:gd name="T17" fmla="*/ 28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3" h="28">
                  <a:moveTo>
                    <a:pt x="13" y="28"/>
                  </a:moveTo>
                  <a:cubicBezTo>
                    <a:pt x="1" y="16"/>
                    <a:pt x="1" y="16"/>
                    <a:pt x="1" y="16"/>
                  </a:cubicBezTo>
                  <a:cubicBezTo>
                    <a:pt x="0" y="14"/>
                    <a:pt x="0" y="12"/>
                    <a:pt x="1" y="11"/>
                  </a:cubicBezTo>
                  <a:cubicBezTo>
                    <a:pt x="2" y="10"/>
                    <a:pt x="4" y="10"/>
                    <a:pt x="6" y="11"/>
                  </a:cubicBezTo>
                  <a:cubicBezTo>
                    <a:pt x="13" y="18"/>
                    <a:pt x="13" y="18"/>
                    <a:pt x="13" y="18"/>
                  </a:cubicBezTo>
                  <a:cubicBezTo>
                    <a:pt x="27" y="2"/>
                    <a:pt x="27" y="2"/>
                    <a:pt x="27" y="2"/>
                  </a:cubicBezTo>
                  <a:cubicBezTo>
                    <a:pt x="28" y="0"/>
                    <a:pt x="30" y="0"/>
                    <a:pt x="31" y="1"/>
                  </a:cubicBezTo>
                  <a:cubicBezTo>
                    <a:pt x="32" y="2"/>
                    <a:pt x="33" y="4"/>
                    <a:pt x="31" y="6"/>
                  </a:cubicBezTo>
                  <a:lnTo>
                    <a:pt x="13" y="28"/>
                  </a:lnTo>
                  <a:close/>
                </a:path>
              </a:pathLst>
            </a:custGeom>
            <a:solidFill>
              <a:srgbClr val="17B19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/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A14ED514-E9EE-107A-308D-E6739BE6C7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68488" y="2894037"/>
              <a:ext cx="120650" cy="33338"/>
            </a:xfrm>
            <a:prstGeom prst="rect">
              <a:avLst/>
            </a:prstGeom>
            <a:solidFill>
              <a:srgbClr val="FACB1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/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681BB068-9074-8AE6-E3BF-63804A9DE5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68488" y="2905149"/>
              <a:ext cx="60325" cy="22225"/>
            </a:xfrm>
            <a:prstGeom prst="rect">
              <a:avLst/>
            </a:prstGeom>
            <a:solidFill>
              <a:srgbClr val="FBE1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/>
            </a:p>
          </p:txBody>
        </p:sp>
        <p:sp>
          <p:nvSpPr>
            <p:cNvPr id="83" name="Freeform 175">
              <a:extLst>
                <a:ext uri="{FF2B5EF4-FFF2-40B4-BE49-F238E27FC236}">
                  <a16:creationId xmlns:a16="http://schemas.microsoft.com/office/drawing/2014/main" id="{6DF02467-95F0-EE44-29AC-7F76C98E8518}"/>
                </a:ext>
              </a:extLst>
            </p:cNvPr>
            <p:cNvSpPr>
              <a:spLocks/>
            </p:cNvSpPr>
            <p:nvPr/>
          </p:nvSpPr>
          <p:spPr bwMode="auto">
            <a:xfrm>
              <a:off x="1909763" y="2311419"/>
              <a:ext cx="41275" cy="60326"/>
            </a:xfrm>
            <a:custGeom>
              <a:avLst/>
              <a:gdLst>
                <a:gd name="T0" fmla="*/ 5 w 11"/>
                <a:gd name="T1" fmla="*/ 0 h 16"/>
                <a:gd name="T2" fmla="*/ 0 w 11"/>
                <a:gd name="T3" fmla="*/ 13 h 16"/>
                <a:gd name="T4" fmla="*/ 5 w 11"/>
                <a:gd name="T5" fmla="*/ 16 h 16"/>
                <a:gd name="T6" fmla="*/ 11 w 11"/>
                <a:gd name="T7" fmla="*/ 13 h 16"/>
                <a:gd name="T8" fmla="*/ 5 w 11"/>
                <a:gd name="T9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16">
                  <a:moveTo>
                    <a:pt x="5" y="0"/>
                  </a:moveTo>
                  <a:cubicBezTo>
                    <a:pt x="0" y="13"/>
                    <a:pt x="0" y="13"/>
                    <a:pt x="0" y="13"/>
                  </a:cubicBezTo>
                  <a:cubicBezTo>
                    <a:pt x="1" y="15"/>
                    <a:pt x="3" y="16"/>
                    <a:pt x="5" y="16"/>
                  </a:cubicBezTo>
                  <a:cubicBezTo>
                    <a:pt x="8" y="16"/>
                    <a:pt x="10" y="15"/>
                    <a:pt x="11" y="13"/>
                  </a:cubicBezTo>
                  <a:lnTo>
                    <a:pt x="5" y="0"/>
                  </a:lnTo>
                  <a:close/>
                </a:path>
              </a:pathLst>
            </a:custGeom>
            <a:solidFill>
              <a:srgbClr val="3E3E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/>
            </a:p>
          </p:txBody>
        </p:sp>
        <p:sp>
          <p:nvSpPr>
            <p:cNvPr id="84" name="Freeform 176">
              <a:extLst>
                <a:ext uri="{FF2B5EF4-FFF2-40B4-BE49-F238E27FC236}">
                  <a16:creationId xmlns:a16="http://schemas.microsoft.com/office/drawing/2014/main" id="{A0B63756-7687-C7E8-8E07-D5061B20DFD2}"/>
                </a:ext>
              </a:extLst>
            </p:cNvPr>
            <p:cNvSpPr>
              <a:spLocks/>
            </p:cNvSpPr>
            <p:nvPr/>
          </p:nvSpPr>
          <p:spPr bwMode="auto">
            <a:xfrm>
              <a:off x="1868488" y="2432070"/>
              <a:ext cx="120650" cy="473079"/>
            </a:xfrm>
            <a:custGeom>
              <a:avLst/>
              <a:gdLst>
                <a:gd name="T0" fmla="*/ 24 w 32"/>
                <a:gd name="T1" fmla="*/ 7 h 125"/>
                <a:gd name="T2" fmla="*/ 17 w 32"/>
                <a:gd name="T3" fmla="*/ 1 h 125"/>
                <a:gd name="T4" fmla="*/ 16 w 32"/>
                <a:gd name="T5" fmla="*/ 1 h 125"/>
                <a:gd name="T6" fmla="*/ 8 w 32"/>
                <a:gd name="T7" fmla="*/ 7 h 125"/>
                <a:gd name="T8" fmla="*/ 1 w 32"/>
                <a:gd name="T9" fmla="*/ 2 h 125"/>
                <a:gd name="T10" fmla="*/ 0 w 32"/>
                <a:gd name="T11" fmla="*/ 2 h 125"/>
                <a:gd name="T12" fmla="*/ 0 w 32"/>
                <a:gd name="T13" fmla="*/ 125 h 125"/>
                <a:gd name="T14" fmla="*/ 32 w 32"/>
                <a:gd name="T15" fmla="*/ 125 h 125"/>
                <a:gd name="T16" fmla="*/ 32 w 32"/>
                <a:gd name="T17" fmla="*/ 2 h 125"/>
                <a:gd name="T18" fmla="*/ 32 w 32"/>
                <a:gd name="T19" fmla="*/ 2 h 125"/>
                <a:gd name="T20" fmla="*/ 24 w 32"/>
                <a:gd name="T21" fmla="*/ 7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2" h="125">
                  <a:moveTo>
                    <a:pt x="24" y="7"/>
                  </a:moveTo>
                  <a:cubicBezTo>
                    <a:pt x="21" y="7"/>
                    <a:pt x="18" y="4"/>
                    <a:pt x="17" y="1"/>
                  </a:cubicBezTo>
                  <a:cubicBezTo>
                    <a:pt x="17" y="0"/>
                    <a:pt x="16" y="0"/>
                    <a:pt x="16" y="1"/>
                  </a:cubicBezTo>
                  <a:cubicBezTo>
                    <a:pt x="15" y="4"/>
                    <a:pt x="12" y="7"/>
                    <a:pt x="8" y="7"/>
                  </a:cubicBezTo>
                  <a:cubicBezTo>
                    <a:pt x="5" y="7"/>
                    <a:pt x="2" y="5"/>
                    <a:pt x="1" y="2"/>
                  </a:cubicBezTo>
                  <a:cubicBezTo>
                    <a:pt x="1" y="1"/>
                    <a:pt x="0" y="1"/>
                    <a:pt x="0" y="2"/>
                  </a:cubicBezTo>
                  <a:cubicBezTo>
                    <a:pt x="0" y="125"/>
                    <a:pt x="0" y="125"/>
                    <a:pt x="0" y="125"/>
                  </a:cubicBezTo>
                  <a:cubicBezTo>
                    <a:pt x="32" y="125"/>
                    <a:pt x="32" y="125"/>
                    <a:pt x="32" y="125"/>
                  </a:cubicBezTo>
                  <a:cubicBezTo>
                    <a:pt x="32" y="2"/>
                    <a:pt x="32" y="2"/>
                    <a:pt x="32" y="2"/>
                  </a:cubicBezTo>
                  <a:cubicBezTo>
                    <a:pt x="32" y="1"/>
                    <a:pt x="32" y="1"/>
                    <a:pt x="32" y="2"/>
                  </a:cubicBezTo>
                  <a:cubicBezTo>
                    <a:pt x="31" y="5"/>
                    <a:pt x="28" y="7"/>
                    <a:pt x="24" y="7"/>
                  </a:cubicBezTo>
                  <a:close/>
                </a:path>
              </a:pathLst>
            </a:custGeom>
            <a:solidFill>
              <a:srgbClr val="0484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/>
            </a:p>
          </p:txBody>
        </p:sp>
        <p:sp>
          <p:nvSpPr>
            <p:cNvPr id="85" name="Freeform 177">
              <a:extLst>
                <a:ext uri="{FF2B5EF4-FFF2-40B4-BE49-F238E27FC236}">
                  <a16:creationId xmlns:a16="http://schemas.microsoft.com/office/drawing/2014/main" id="{C803A354-8371-9153-B962-1FCFF472B209}"/>
                </a:ext>
              </a:extLst>
            </p:cNvPr>
            <p:cNvSpPr>
              <a:spLocks/>
            </p:cNvSpPr>
            <p:nvPr/>
          </p:nvSpPr>
          <p:spPr bwMode="auto">
            <a:xfrm>
              <a:off x="1868488" y="2432070"/>
              <a:ext cx="60325" cy="473079"/>
            </a:xfrm>
            <a:custGeom>
              <a:avLst/>
              <a:gdLst>
                <a:gd name="T0" fmla="*/ 0 w 16"/>
                <a:gd name="T1" fmla="*/ 125 h 125"/>
                <a:gd name="T2" fmla="*/ 0 w 16"/>
                <a:gd name="T3" fmla="*/ 2 h 125"/>
                <a:gd name="T4" fmla="*/ 1 w 16"/>
                <a:gd name="T5" fmla="*/ 2 h 125"/>
                <a:gd name="T6" fmla="*/ 8 w 16"/>
                <a:gd name="T7" fmla="*/ 7 h 125"/>
                <a:gd name="T8" fmla="*/ 16 w 16"/>
                <a:gd name="T9" fmla="*/ 1 h 125"/>
                <a:gd name="T10" fmla="*/ 16 w 16"/>
                <a:gd name="T11" fmla="*/ 1 h 125"/>
                <a:gd name="T12" fmla="*/ 16 w 16"/>
                <a:gd name="T13" fmla="*/ 125 h 125"/>
                <a:gd name="T14" fmla="*/ 0 w 16"/>
                <a:gd name="T15" fmla="*/ 125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6" h="125">
                  <a:moveTo>
                    <a:pt x="0" y="125"/>
                  </a:moveTo>
                  <a:cubicBezTo>
                    <a:pt x="0" y="2"/>
                    <a:pt x="0" y="2"/>
                    <a:pt x="0" y="2"/>
                  </a:cubicBezTo>
                  <a:cubicBezTo>
                    <a:pt x="0" y="1"/>
                    <a:pt x="1" y="1"/>
                    <a:pt x="1" y="2"/>
                  </a:cubicBezTo>
                  <a:cubicBezTo>
                    <a:pt x="2" y="5"/>
                    <a:pt x="5" y="7"/>
                    <a:pt x="8" y="7"/>
                  </a:cubicBezTo>
                  <a:cubicBezTo>
                    <a:pt x="12" y="7"/>
                    <a:pt x="15" y="4"/>
                    <a:pt x="16" y="1"/>
                  </a:cubicBezTo>
                  <a:cubicBezTo>
                    <a:pt x="16" y="0"/>
                    <a:pt x="16" y="0"/>
                    <a:pt x="16" y="1"/>
                  </a:cubicBezTo>
                  <a:cubicBezTo>
                    <a:pt x="16" y="125"/>
                    <a:pt x="16" y="125"/>
                    <a:pt x="16" y="125"/>
                  </a:cubicBezTo>
                  <a:lnTo>
                    <a:pt x="0" y="125"/>
                  </a:lnTo>
                  <a:close/>
                </a:path>
              </a:pathLst>
            </a:custGeom>
            <a:solidFill>
              <a:srgbClr val="21B2D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/>
            </a:p>
          </p:txBody>
        </p:sp>
        <p:sp>
          <p:nvSpPr>
            <p:cNvPr id="86" name="Freeform 178">
              <a:extLst>
                <a:ext uri="{FF2B5EF4-FFF2-40B4-BE49-F238E27FC236}">
                  <a16:creationId xmlns:a16="http://schemas.microsoft.com/office/drawing/2014/main" id="{50922E3B-6DC0-8435-3CB2-8BE065FFED44}"/>
                </a:ext>
              </a:extLst>
            </p:cNvPr>
            <p:cNvSpPr>
              <a:spLocks/>
            </p:cNvSpPr>
            <p:nvPr/>
          </p:nvSpPr>
          <p:spPr bwMode="auto">
            <a:xfrm>
              <a:off x="1868488" y="2927375"/>
              <a:ext cx="60325" cy="61913"/>
            </a:xfrm>
            <a:custGeom>
              <a:avLst/>
              <a:gdLst>
                <a:gd name="T0" fmla="*/ 0 w 16"/>
                <a:gd name="T1" fmla="*/ 0 h 16"/>
                <a:gd name="T2" fmla="*/ 0 w 16"/>
                <a:gd name="T3" fmla="*/ 7 h 16"/>
                <a:gd name="T4" fmla="*/ 10 w 16"/>
                <a:gd name="T5" fmla="*/ 16 h 16"/>
                <a:gd name="T6" fmla="*/ 16 w 16"/>
                <a:gd name="T7" fmla="*/ 16 h 16"/>
                <a:gd name="T8" fmla="*/ 16 w 16"/>
                <a:gd name="T9" fmla="*/ 0 h 16"/>
                <a:gd name="T10" fmla="*/ 0 w 16"/>
                <a:gd name="T11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" h="16">
                  <a:moveTo>
                    <a:pt x="0" y="0"/>
                  </a:moveTo>
                  <a:cubicBezTo>
                    <a:pt x="0" y="7"/>
                    <a:pt x="0" y="7"/>
                    <a:pt x="0" y="7"/>
                  </a:cubicBezTo>
                  <a:cubicBezTo>
                    <a:pt x="0" y="12"/>
                    <a:pt x="5" y="16"/>
                    <a:pt x="10" y="16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6" y="0"/>
                    <a:pt x="16" y="0"/>
                    <a:pt x="16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7B4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F2DA1A4-821C-5F02-4D2F-D3D10B0A9987}"/>
              </a:ext>
            </a:extLst>
          </p:cNvPr>
          <p:cNvGrpSpPr/>
          <p:nvPr/>
        </p:nvGrpSpPr>
        <p:grpSpPr>
          <a:xfrm>
            <a:off x="747369" y="4569859"/>
            <a:ext cx="203261" cy="203263"/>
            <a:chOff x="6773863" y="639763"/>
            <a:chExt cx="771525" cy="771526"/>
          </a:xfrm>
          <a:effectLst>
            <a:outerShdw dist="25400" dir="2700000" algn="tl" rotWithShape="0">
              <a:prstClr val="black">
                <a:alpha val="20000"/>
              </a:prstClr>
            </a:outerShdw>
          </a:effectLst>
        </p:grpSpPr>
        <p:sp>
          <p:nvSpPr>
            <p:cNvPr id="49" name="Freeform 54">
              <a:extLst>
                <a:ext uri="{FF2B5EF4-FFF2-40B4-BE49-F238E27FC236}">
                  <a16:creationId xmlns:a16="http://schemas.microsoft.com/office/drawing/2014/main" id="{402E9F8C-F82B-1BC9-3ACA-01D4441803D3}"/>
                </a:ext>
              </a:extLst>
            </p:cNvPr>
            <p:cNvSpPr>
              <a:spLocks/>
            </p:cNvSpPr>
            <p:nvPr/>
          </p:nvSpPr>
          <p:spPr bwMode="auto">
            <a:xfrm>
              <a:off x="6773863" y="684213"/>
              <a:ext cx="771525" cy="147638"/>
            </a:xfrm>
            <a:custGeom>
              <a:avLst/>
              <a:gdLst>
                <a:gd name="T0" fmla="*/ 204 w 204"/>
                <a:gd name="T1" fmla="*/ 39 h 39"/>
                <a:gd name="T2" fmla="*/ 0 w 204"/>
                <a:gd name="T3" fmla="*/ 39 h 39"/>
                <a:gd name="T4" fmla="*/ 0 w 204"/>
                <a:gd name="T5" fmla="*/ 20 h 39"/>
                <a:gd name="T6" fmla="*/ 19 w 204"/>
                <a:gd name="T7" fmla="*/ 0 h 39"/>
                <a:gd name="T8" fmla="*/ 185 w 204"/>
                <a:gd name="T9" fmla="*/ 0 h 39"/>
                <a:gd name="T10" fmla="*/ 204 w 204"/>
                <a:gd name="T11" fmla="*/ 20 h 39"/>
                <a:gd name="T12" fmla="*/ 204 w 204"/>
                <a:gd name="T13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4" h="39">
                  <a:moveTo>
                    <a:pt x="204" y="3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0" y="9"/>
                    <a:pt x="8" y="0"/>
                    <a:pt x="19" y="0"/>
                  </a:cubicBezTo>
                  <a:cubicBezTo>
                    <a:pt x="185" y="0"/>
                    <a:pt x="185" y="0"/>
                    <a:pt x="185" y="0"/>
                  </a:cubicBezTo>
                  <a:cubicBezTo>
                    <a:pt x="196" y="0"/>
                    <a:pt x="204" y="9"/>
                    <a:pt x="204" y="20"/>
                  </a:cubicBezTo>
                  <a:lnTo>
                    <a:pt x="204" y="39"/>
                  </a:lnTo>
                  <a:close/>
                </a:path>
              </a:pathLst>
            </a:custGeom>
            <a:solidFill>
              <a:srgbClr val="DF2C2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/>
            </a:p>
          </p:txBody>
        </p:sp>
        <p:sp>
          <p:nvSpPr>
            <p:cNvPr id="50" name="Freeform 55">
              <a:extLst>
                <a:ext uri="{FF2B5EF4-FFF2-40B4-BE49-F238E27FC236}">
                  <a16:creationId xmlns:a16="http://schemas.microsoft.com/office/drawing/2014/main" id="{09295359-EB3D-4101-6E64-8AF5AA29AA8F}"/>
                </a:ext>
              </a:extLst>
            </p:cNvPr>
            <p:cNvSpPr>
              <a:spLocks/>
            </p:cNvSpPr>
            <p:nvPr/>
          </p:nvSpPr>
          <p:spPr bwMode="auto">
            <a:xfrm>
              <a:off x="6773863" y="684213"/>
              <a:ext cx="355600" cy="147638"/>
            </a:xfrm>
            <a:custGeom>
              <a:avLst/>
              <a:gdLst>
                <a:gd name="T0" fmla="*/ 94 w 94"/>
                <a:gd name="T1" fmla="*/ 0 h 39"/>
                <a:gd name="T2" fmla="*/ 19 w 94"/>
                <a:gd name="T3" fmla="*/ 0 h 39"/>
                <a:gd name="T4" fmla="*/ 0 w 94"/>
                <a:gd name="T5" fmla="*/ 20 h 39"/>
                <a:gd name="T6" fmla="*/ 0 w 94"/>
                <a:gd name="T7" fmla="*/ 39 h 39"/>
                <a:gd name="T8" fmla="*/ 55 w 94"/>
                <a:gd name="T9" fmla="*/ 39 h 39"/>
                <a:gd name="T10" fmla="*/ 94 w 94"/>
                <a:gd name="T11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4" h="39">
                  <a:moveTo>
                    <a:pt x="94" y="0"/>
                  </a:moveTo>
                  <a:cubicBezTo>
                    <a:pt x="19" y="0"/>
                    <a:pt x="19" y="0"/>
                    <a:pt x="19" y="0"/>
                  </a:cubicBezTo>
                  <a:cubicBezTo>
                    <a:pt x="8" y="0"/>
                    <a:pt x="0" y="9"/>
                    <a:pt x="0" y="2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55" y="39"/>
                    <a:pt x="55" y="39"/>
                    <a:pt x="55" y="39"/>
                  </a:cubicBezTo>
                  <a:lnTo>
                    <a:pt x="94" y="0"/>
                  </a:lnTo>
                  <a:close/>
                </a:path>
              </a:pathLst>
            </a:custGeom>
            <a:solidFill>
              <a:srgbClr val="FA565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/>
            </a:p>
          </p:txBody>
        </p:sp>
        <p:sp>
          <p:nvSpPr>
            <p:cNvPr id="51" name="Freeform 56">
              <a:extLst>
                <a:ext uri="{FF2B5EF4-FFF2-40B4-BE49-F238E27FC236}">
                  <a16:creationId xmlns:a16="http://schemas.microsoft.com/office/drawing/2014/main" id="{02FEFFCF-0536-3174-995E-EF7D329D7026}"/>
                </a:ext>
              </a:extLst>
            </p:cNvPr>
            <p:cNvSpPr>
              <a:spLocks/>
            </p:cNvSpPr>
            <p:nvPr/>
          </p:nvSpPr>
          <p:spPr bwMode="auto">
            <a:xfrm>
              <a:off x="6773863" y="831851"/>
              <a:ext cx="771525" cy="579438"/>
            </a:xfrm>
            <a:custGeom>
              <a:avLst/>
              <a:gdLst>
                <a:gd name="T0" fmla="*/ 204 w 204"/>
                <a:gd name="T1" fmla="*/ 134 h 153"/>
                <a:gd name="T2" fmla="*/ 185 w 204"/>
                <a:gd name="T3" fmla="*/ 153 h 153"/>
                <a:gd name="T4" fmla="*/ 19 w 204"/>
                <a:gd name="T5" fmla="*/ 153 h 153"/>
                <a:gd name="T6" fmla="*/ 0 w 204"/>
                <a:gd name="T7" fmla="*/ 134 h 153"/>
                <a:gd name="T8" fmla="*/ 0 w 204"/>
                <a:gd name="T9" fmla="*/ 0 h 153"/>
                <a:gd name="T10" fmla="*/ 204 w 204"/>
                <a:gd name="T11" fmla="*/ 0 h 153"/>
                <a:gd name="T12" fmla="*/ 204 w 204"/>
                <a:gd name="T13" fmla="*/ 134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4" h="153">
                  <a:moveTo>
                    <a:pt x="204" y="134"/>
                  </a:moveTo>
                  <a:cubicBezTo>
                    <a:pt x="204" y="145"/>
                    <a:pt x="196" y="153"/>
                    <a:pt x="185" y="153"/>
                  </a:cubicBezTo>
                  <a:cubicBezTo>
                    <a:pt x="19" y="153"/>
                    <a:pt x="19" y="153"/>
                    <a:pt x="19" y="153"/>
                  </a:cubicBezTo>
                  <a:cubicBezTo>
                    <a:pt x="8" y="153"/>
                    <a:pt x="0" y="145"/>
                    <a:pt x="0" y="13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04" y="0"/>
                    <a:pt x="204" y="0"/>
                    <a:pt x="204" y="0"/>
                  </a:cubicBezTo>
                  <a:lnTo>
                    <a:pt x="204" y="13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5530C0E0-0085-0ACB-95E8-4086FE6E20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38976" y="927101"/>
              <a:ext cx="120650" cy="109538"/>
            </a:xfrm>
            <a:prstGeom prst="rect">
              <a:avLst/>
            </a:prstGeom>
            <a:solidFill>
              <a:srgbClr val="40C9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/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BA5EE2CF-A8C3-BB50-24B6-7AC99BDB65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27863" y="1063626"/>
              <a:ext cx="120650" cy="104775"/>
            </a:xfrm>
            <a:prstGeom prst="rect">
              <a:avLst/>
            </a:prstGeom>
            <a:solidFill>
              <a:srgbClr val="C9F2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DA820172-9290-55D7-6B35-773D030B76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0738" y="1063626"/>
              <a:ext cx="122238" cy="104775"/>
            </a:xfrm>
            <a:prstGeom prst="rect">
              <a:avLst/>
            </a:prstGeom>
            <a:solidFill>
              <a:srgbClr val="C9F2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94908D0E-0D81-2F31-3BC1-AFD97ED11B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69113" y="927101"/>
              <a:ext cx="131763" cy="109538"/>
            </a:xfrm>
            <a:prstGeom prst="rect">
              <a:avLst/>
            </a:prstGeom>
            <a:solidFill>
              <a:srgbClr val="C9F2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1E6DFA57-BDB6-0E24-66CA-E4527BE742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0738" y="927101"/>
              <a:ext cx="122238" cy="109538"/>
            </a:xfrm>
            <a:prstGeom prst="rect">
              <a:avLst/>
            </a:prstGeom>
            <a:solidFill>
              <a:srgbClr val="C9F2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B7FED61B-86A9-DC8E-A6F2-8042CD57CA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0738" y="1195388"/>
              <a:ext cx="122238" cy="120650"/>
            </a:xfrm>
            <a:prstGeom prst="rect">
              <a:avLst/>
            </a:prstGeom>
            <a:solidFill>
              <a:srgbClr val="40C9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87F3D17D-0D9D-2389-783C-FF9FAC70C8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18376" y="1063626"/>
              <a:ext cx="120650" cy="104775"/>
            </a:xfrm>
            <a:prstGeom prst="rect">
              <a:avLst/>
            </a:prstGeom>
            <a:solidFill>
              <a:srgbClr val="C9F2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1F3A0617-73C3-D579-8C7E-880F18792E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18376" y="927101"/>
              <a:ext cx="120650" cy="109538"/>
            </a:xfrm>
            <a:prstGeom prst="rect">
              <a:avLst/>
            </a:prstGeom>
            <a:solidFill>
              <a:srgbClr val="C9F2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203C5905-79E2-11E3-9237-59F6897C13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18376" y="1195388"/>
              <a:ext cx="120650" cy="120650"/>
            </a:xfrm>
            <a:prstGeom prst="rect">
              <a:avLst/>
            </a:prstGeom>
            <a:solidFill>
              <a:srgbClr val="C9F2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4739C586-C369-59C2-7F4F-660C6360BD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69113" y="1063626"/>
              <a:ext cx="131763" cy="104775"/>
            </a:xfrm>
            <a:prstGeom prst="rect">
              <a:avLst/>
            </a:prstGeom>
            <a:solidFill>
              <a:srgbClr val="C9F2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/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D2FCB374-DA4B-43B9-1C78-D2D1D7223F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69113" y="1195388"/>
              <a:ext cx="131763" cy="120650"/>
            </a:xfrm>
            <a:prstGeom prst="rect">
              <a:avLst/>
            </a:prstGeom>
            <a:solidFill>
              <a:srgbClr val="C9F2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EA753410-7776-8258-B108-661ECE6EA2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27863" y="1195388"/>
              <a:ext cx="120650" cy="120650"/>
            </a:xfrm>
            <a:prstGeom prst="rect">
              <a:avLst/>
            </a:prstGeom>
            <a:solidFill>
              <a:srgbClr val="C9F2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/>
            </a:p>
          </p:txBody>
        </p:sp>
        <p:sp>
          <p:nvSpPr>
            <p:cNvPr id="64" name="Freeform 69">
              <a:extLst>
                <a:ext uri="{FF2B5EF4-FFF2-40B4-BE49-F238E27FC236}">
                  <a16:creationId xmlns:a16="http://schemas.microsoft.com/office/drawing/2014/main" id="{54FB70B5-C05D-950F-338F-38DF280E9610}"/>
                </a:ext>
              </a:extLst>
            </p:cNvPr>
            <p:cNvSpPr>
              <a:spLocks/>
            </p:cNvSpPr>
            <p:nvPr/>
          </p:nvSpPr>
          <p:spPr bwMode="auto">
            <a:xfrm>
              <a:off x="6869113" y="639763"/>
              <a:ext cx="71438" cy="142875"/>
            </a:xfrm>
            <a:custGeom>
              <a:avLst/>
              <a:gdLst>
                <a:gd name="T0" fmla="*/ 19 w 19"/>
                <a:gd name="T1" fmla="*/ 28 h 38"/>
                <a:gd name="T2" fmla="*/ 10 w 19"/>
                <a:gd name="T3" fmla="*/ 38 h 38"/>
                <a:gd name="T4" fmla="*/ 0 w 19"/>
                <a:gd name="T5" fmla="*/ 28 h 38"/>
                <a:gd name="T6" fmla="*/ 0 w 19"/>
                <a:gd name="T7" fmla="*/ 9 h 38"/>
                <a:gd name="T8" fmla="*/ 10 w 19"/>
                <a:gd name="T9" fmla="*/ 0 h 38"/>
                <a:gd name="T10" fmla="*/ 19 w 19"/>
                <a:gd name="T11" fmla="*/ 9 h 38"/>
                <a:gd name="T12" fmla="*/ 19 w 19"/>
                <a:gd name="T13" fmla="*/ 28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" h="38">
                  <a:moveTo>
                    <a:pt x="19" y="28"/>
                  </a:moveTo>
                  <a:cubicBezTo>
                    <a:pt x="19" y="34"/>
                    <a:pt x="15" y="38"/>
                    <a:pt x="10" y="38"/>
                  </a:cubicBezTo>
                  <a:cubicBezTo>
                    <a:pt x="5" y="38"/>
                    <a:pt x="0" y="34"/>
                    <a:pt x="0" y="28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4"/>
                    <a:pt x="5" y="0"/>
                    <a:pt x="10" y="0"/>
                  </a:cubicBezTo>
                  <a:cubicBezTo>
                    <a:pt x="15" y="0"/>
                    <a:pt x="19" y="4"/>
                    <a:pt x="19" y="9"/>
                  </a:cubicBezTo>
                  <a:lnTo>
                    <a:pt x="19" y="28"/>
                  </a:lnTo>
                  <a:close/>
                </a:path>
              </a:pathLst>
            </a:custGeom>
            <a:solidFill>
              <a:srgbClr val="3E3E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/>
            </a:p>
          </p:txBody>
        </p:sp>
        <p:sp>
          <p:nvSpPr>
            <p:cNvPr id="65" name="Freeform 70">
              <a:extLst>
                <a:ext uri="{FF2B5EF4-FFF2-40B4-BE49-F238E27FC236}">
                  <a16:creationId xmlns:a16="http://schemas.microsoft.com/office/drawing/2014/main" id="{F02347FA-86D5-23B1-8012-9BBAD5E083D2}"/>
                </a:ext>
              </a:extLst>
            </p:cNvPr>
            <p:cNvSpPr>
              <a:spLocks/>
            </p:cNvSpPr>
            <p:nvPr/>
          </p:nvSpPr>
          <p:spPr bwMode="auto">
            <a:xfrm>
              <a:off x="7378701" y="639763"/>
              <a:ext cx="73025" cy="142875"/>
            </a:xfrm>
            <a:custGeom>
              <a:avLst/>
              <a:gdLst>
                <a:gd name="T0" fmla="*/ 19 w 19"/>
                <a:gd name="T1" fmla="*/ 28 h 38"/>
                <a:gd name="T2" fmla="*/ 9 w 19"/>
                <a:gd name="T3" fmla="*/ 38 h 38"/>
                <a:gd name="T4" fmla="*/ 0 w 19"/>
                <a:gd name="T5" fmla="*/ 28 h 38"/>
                <a:gd name="T6" fmla="*/ 0 w 19"/>
                <a:gd name="T7" fmla="*/ 9 h 38"/>
                <a:gd name="T8" fmla="*/ 9 w 19"/>
                <a:gd name="T9" fmla="*/ 0 h 38"/>
                <a:gd name="T10" fmla="*/ 19 w 19"/>
                <a:gd name="T11" fmla="*/ 9 h 38"/>
                <a:gd name="T12" fmla="*/ 19 w 19"/>
                <a:gd name="T13" fmla="*/ 28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" h="38">
                  <a:moveTo>
                    <a:pt x="19" y="28"/>
                  </a:moveTo>
                  <a:cubicBezTo>
                    <a:pt x="19" y="34"/>
                    <a:pt x="14" y="38"/>
                    <a:pt x="9" y="38"/>
                  </a:cubicBezTo>
                  <a:cubicBezTo>
                    <a:pt x="4" y="38"/>
                    <a:pt x="0" y="34"/>
                    <a:pt x="0" y="28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14" y="0"/>
                    <a:pt x="19" y="4"/>
                    <a:pt x="19" y="9"/>
                  </a:cubicBezTo>
                  <a:lnTo>
                    <a:pt x="19" y="28"/>
                  </a:lnTo>
                  <a:close/>
                </a:path>
              </a:pathLst>
            </a:custGeom>
            <a:solidFill>
              <a:srgbClr val="3E3E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/>
            </a:p>
          </p:txBody>
        </p:sp>
        <p:sp>
          <p:nvSpPr>
            <p:cNvPr id="66" name="Freeform 71">
              <a:extLst>
                <a:ext uri="{FF2B5EF4-FFF2-40B4-BE49-F238E27FC236}">
                  <a16:creationId xmlns:a16="http://schemas.microsoft.com/office/drawing/2014/main" id="{527790E7-0F0E-0BD8-303E-3C22071F9AF6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1526" y="639763"/>
              <a:ext cx="76200" cy="142875"/>
            </a:xfrm>
            <a:custGeom>
              <a:avLst/>
              <a:gdLst>
                <a:gd name="T0" fmla="*/ 20 w 20"/>
                <a:gd name="T1" fmla="*/ 28 h 38"/>
                <a:gd name="T2" fmla="*/ 10 w 20"/>
                <a:gd name="T3" fmla="*/ 38 h 38"/>
                <a:gd name="T4" fmla="*/ 0 w 20"/>
                <a:gd name="T5" fmla="*/ 28 h 38"/>
                <a:gd name="T6" fmla="*/ 0 w 20"/>
                <a:gd name="T7" fmla="*/ 9 h 38"/>
                <a:gd name="T8" fmla="*/ 10 w 20"/>
                <a:gd name="T9" fmla="*/ 0 h 38"/>
                <a:gd name="T10" fmla="*/ 20 w 20"/>
                <a:gd name="T11" fmla="*/ 9 h 38"/>
                <a:gd name="T12" fmla="*/ 20 w 20"/>
                <a:gd name="T13" fmla="*/ 28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" h="38">
                  <a:moveTo>
                    <a:pt x="20" y="28"/>
                  </a:moveTo>
                  <a:cubicBezTo>
                    <a:pt x="20" y="34"/>
                    <a:pt x="15" y="38"/>
                    <a:pt x="10" y="38"/>
                  </a:cubicBezTo>
                  <a:cubicBezTo>
                    <a:pt x="5" y="38"/>
                    <a:pt x="0" y="34"/>
                    <a:pt x="0" y="28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4"/>
                    <a:pt x="5" y="0"/>
                    <a:pt x="10" y="0"/>
                  </a:cubicBezTo>
                  <a:cubicBezTo>
                    <a:pt x="15" y="0"/>
                    <a:pt x="20" y="4"/>
                    <a:pt x="20" y="9"/>
                  </a:cubicBezTo>
                  <a:lnTo>
                    <a:pt x="20" y="28"/>
                  </a:lnTo>
                  <a:close/>
                </a:path>
              </a:pathLst>
            </a:custGeom>
            <a:solidFill>
              <a:srgbClr val="3E3E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2CEAC3A-468A-206A-7F24-A7C55F8036B8}"/>
              </a:ext>
            </a:extLst>
          </p:cNvPr>
          <p:cNvGrpSpPr/>
          <p:nvPr/>
        </p:nvGrpSpPr>
        <p:grpSpPr>
          <a:xfrm>
            <a:off x="771824" y="5493222"/>
            <a:ext cx="154350" cy="246959"/>
            <a:chOff x="3175001" y="2228851"/>
            <a:chExt cx="484188" cy="774700"/>
          </a:xfrm>
          <a:effectLst>
            <a:outerShdw dist="25400" dir="2700000" algn="tl" rotWithShape="0">
              <a:prstClr val="black">
                <a:alpha val="20000"/>
              </a:prstClr>
            </a:outerShdw>
          </a:effectLst>
        </p:grpSpPr>
        <p:sp>
          <p:nvSpPr>
            <p:cNvPr id="34" name="Freeform 111">
              <a:extLst>
                <a:ext uri="{FF2B5EF4-FFF2-40B4-BE49-F238E27FC236}">
                  <a16:creationId xmlns:a16="http://schemas.microsoft.com/office/drawing/2014/main" id="{11FB7C5D-2D64-EAAA-9C96-7A608AECBE10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5001" y="2228851"/>
              <a:ext cx="484188" cy="774700"/>
            </a:xfrm>
            <a:custGeom>
              <a:avLst/>
              <a:gdLst>
                <a:gd name="T0" fmla="*/ 0 w 128"/>
                <a:gd name="T1" fmla="*/ 13 h 205"/>
                <a:gd name="T2" fmla="*/ 13 w 128"/>
                <a:gd name="T3" fmla="*/ 0 h 205"/>
                <a:gd name="T4" fmla="*/ 115 w 128"/>
                <a:gd name="T5" fmla="*/ 0 h 205"/>
                <a:gd name="T6" fmla="*/ 128 w 128"/>
                <a:gd name="T7" fmla="*/ 13 h 205"/>
                <a:gd name="T8" fmla="*/ 128 w 128"/>
                <a:gd name="T9" fmla="*/ 192 h 205"/>
                <a:gd name="T10" fmla="*/ 115 w 128"/>
                <a:gd name="T11" fmla="*/ 205 h 205"/>
                <a:gd name="T12" fmla="*/ 13 w 128"/>
                <a:gd name="T13" fmla="*/ 205 h 205"/>
                <a:gd name="T14" fmla="*/ 0 w 128"/>
                <a:gd name="T15" fmla="*/ 192 h 205"/>
                <a:gd name="T16" fmla="*/ 0 w 128"/>
                <a:gd name="T17" fmla="*/ 13 h 2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8" h="205">
                  <a:moveTo>
                    <a:pt x="0" y="13"/>
                  </a:moveTo>
                  <a:cubicBezTo>
                    <a:pt x="0" y="6"/>
                    <a:pt x="6" y="0"/>
                    <a:pt x="13" y="0"/>
                  </a:cubicBezTo>
                  <a:cubicBezTo>
                    <a:pt x="115" y="0"/>
                    <a:pt x="115" y="0"/>
                    <a:pt x="115" y="0"/>
                  </a:cubicBezTo>
                  <a:cubicBezTo>
                    <a:pt x="122" y="0"/>
                    <a:pt x="128" y="6"/>
                    <a:pt x="128" y="13"/>
                  </a:cubicBezTo>
                  <a:cubicBezTo>
                    <a:pt x="128" y="192"/>
                    <a:pt x="128" y="192"/>
                    <a:pt x="128" y="192"/>
                  </a:cubicBezTo>
                  <a:cubicBezTo>
                    <a:pt x="128" y="199"/>
                    <a:pt x="122" y="205"/>
                    <a:pt x="115" y="205"/>
                  </a:cubicBezTo>
                  <a:cubicBezTo>
                    <a:pt x="13" y="205"/>
                    <a:pt x="13" y="205"/>
                    <a:pt x="13" y="205"/>
                  </a:cubicBezTo>
                  <a:cubicBezTo>
                    <a:pt x="6" y="205"/>
                    <a:pt x="0" y="199"/>
                    <a:pt x="0" y="192"/>
                  </a:cubicBezTo>
                  <a:lnTo>
                    <a:pt x="0" y="1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/>
            </a:p>
          </p:txBody>
        </p:sp>
        <p:sp>
          <p:nvSpPr>
            <p:cNvPr id="35" name="Freeform 112">
              <a:extLst>
                <a:ext uri="{FF2B5EF4-FFF2-40B4-BE49-F238E27FC236}">
                  <a16:creationId xmlns:a16="http://schemas.microsoft.com/office/drawing/2014/main" id="{CFEB0C2F-D08A-9379-54E0-A9746A25D8B3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4213" y="2278063"/>
              <a:ext cx="385763" cy="676275"/>
            </a:xfrm>
            <a:custGeom>
              <a:avLst/>
              <a:gdLst>
                <a:gd name="T0" fmla="*/ 0 w 102"/>
                <a:gd name="T1" fmla="*/ 172 h 179"/>
                <a:gd name="T2" fmla="*/ 6 w 102"/>
                <a:gd name="T3" fmla="*/ 179 h 179"/>
                <a:gd name="T4" fmla="*/ 96 w 102"/>
                <a:gd name="T5" fmla="*/ 179 h 179"/>
                <a:gd name="T6" fmla="*/ 102 w 102"/>
                <a:gd name="T7" fmla="*/ 172 h 179"/>
                <a:gd name="T8" fmla="*/ 102 w 102"/>
                <a:gd name="T9" fmla="*/ 6 h 179"/>
                <a:gd name="T10" fmla="*/ 96 w 102"/>
                <a:gd name="T11" fmla="*/ 0 h 179"/>
                <a:gd name="T12" fmla="*/ 6 w 102"/>
                <a:gd name="T13" fmla="*/ 0 h 179"/>
                <a:gd name="T14" fmla="*/ 0 w 102"/>
                <a:gd name="T15" fmla="*/ 6 h 179"/>
                <a:gd name="T16" fmla="*/ 0 w 102"/>
                <a:gd name="T17" fmla="*/ 172 h 1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2" h="179">
                  <a:moveTo>
                    <a:pt x="0" y="172"/>
                  </a:moveTo>
                  <a:cubicBezTo>
                    <a:pt x="0" y="176"/>
                    <a:pt x="3" y="179"/>
                    <a:pt x="6" y="179"/>
                  </a:cubicBezTo>
                  <a:cubicBezTo>
                    <a:pt x="96" y="179"/>
                    <a:pt x="96" y="179"/>
                    <a:pt x="96" y="179"/>
                  </a:cubicBezTo>
                  <a:cubicBezTo>
                    <a:pt x="99" y="179"/>
                    <a:pt x="102" y="176"/>
                    <a:pt x="102" y="172"/>
                  </a:cubicBezTo>
                  <a:cubicBezTo>
                    <a:pt x="102" y="6"/>
                    <a:pt x="102" y="6"/>
                    <a:pt x="102" y="6"/>
                  </a:cubicBezTo>
                  <a:cubicBezTo>
                    <a:pt x="102" y="2"/>
                    <a:pt x="99" y="0"/>
                    <a:pt x="96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3" y="0"/>
                    <a:pt x="0" y="2"/>
                    <a:pt x="0" y="6"/>
                  </a:cubicBezTo>
                  <a:lnTo>
                    <a:pt x="0" y="172"/>
                  </a:lnTo>
                  <a:close/>
                </a:path>
              </a:pathLst>
            </a:custGeom>
            <a:solidFill>
              <a:srgbClr val="3E3E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/>
            </a:p>
          </p:txBody>
        </p:sp>
        <p:sp>
          <p:nvSpPr>
            <p:cNvPr id="36" name="Freeform 113">
              <a:extLst>
                <a:ext uri="{FF2B5EF4-FFF2-40B4-BE49-F238E27FC236}">
                  <a16:creationId xmlns:a16="http://schemas.microsoft.com/office/drawing/2014/main" id="{D8219189-94E1-15D5-3D13-AC9230C496FC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7876" y="2278063"/>
              <a:ext cx="196850" cy="46038"/>
            </a:xfrm>
            <a:custGeom>
              <a:avLst/>
              <a:gdLst>
                <a:gd name="T0" fmla="*/ 0 w 124"/>
                <a:gd name="T1" fmla="*/ 0 h 29"/>
                <a:gd name="T2" fmla="*/ 31 w 124"/>
                <a:gd name="T3" fmla="*/ 29 h 29"/>
                <a:gd name="T4" fmla="*/ 93 w 124"/>
                <a:gd name="T5" fmla="*/ 29 h 29"/>
                <a:gd name="T6" fmla="*/ 124 w 124"/>
                <a:gd name="T7" fmla="*/ 0 h 29"/>
                <a:gd name="T8" fmla="*/ 0 w 124"/>
                <a:gd name="T9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4" h="29">
                  <a:moveTo>
                    <a:pt x="0" y="0"/>
                  </a:moveTo>
                  <a:lnTo>
                    <a:pt x="31" y="29"/>
                  </a:lnTo>
                  <a:lnTo>
                    <a:pt x="93" y="29"/>
                  </a:lnTo>
                  <a:lnTo>
                    <a:pt x="1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5C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C261AB46-7E17-8CC6-CFFC-0A57066EE6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73426" y="2373313"/>
              <a:ext cx="93663" cy="96838"/>
            </a:xfrm>
            <a:prstGeom prst="rect">
              <a:avLst/>
            </a:prstGeom>
            <a:solidFill>
              <a:srgbClr val="FBE1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EAB343C7-A7EF-CD64-8750-6793EE861C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7088" y="2373313"/>
              <a:ext cx="98425" cy="96838"/>
            </a:xfrm>
            <a:prstGeom prst="rect">
              <a:avLst/>
            </a:prstGeom>
            <a:solidFill>
              <a:srgbClr val="4AC3A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44F08B5A-463F-5C0A-5D93-5D2DA9D6EA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65513" y="2373313"/>
              <a:ext cx="95250" cy="96838"/>
            </a:xfrm>
            <a:prstGeom prst="rect">
              <a:avLst/>
            </a:prstGeom>
            <a:solidFill>
              <a:srgbClr val="F991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476D432C-C415-F45B-BACB-C9CDF0B3F7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73426" y="2470151"/>
              <a:ext cx="142875" cy="95250"/>
            </a:xfrm>
            <a:prstGeom prst="rect">
              <a:avLst/>
            </a:prstGeom>
            <a:solidFill>
              <a:srgbClr val="40C9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2BB321B4-C89F-2BAB-C030-ED75CB0BB6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6301" y="2470151"/>
              <a:ext cx="144463" cy="95250"/>
            </a:xfrm>
            <a:prstGeom prst="rect">
              <a:avLst/>
            </a:prstGeom>
            <a:solidFill>
              <a:srgbClr val="FA565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99BFE541-6C9D-61B3-3A4E-B6B24D93FA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73426" y="2565401"/>
              <a:ext cx="142875" cy="147638"/>
            </a:xfrm>
            <a:prstGeom prst="rect">
              <a:avLst/>
            </a:prstGeom>
            <a:solidFill>
              <a:srgbClr val="4AC3A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AF58CEDB-75C9-BE20-63BA-9CEBC8DCA3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6301" y="2565401"/>
              <a:ext cx="71438" cy="76200"/>
            </a:xfrm>
            <a:prstGeom prst="rect">
              <a:avLst/>
            </a:prstGeom>
            <a:solidFill>
              <a:srgbClr val="F991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B5549471-C542-72E9-222F-3E64839C6C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6301" y="2641601"/>
              <a:ext cx="71438" cy="71438"/>
            </a:xfrm>
            <a:prstGeom prst="rect">
              <a:avLst/>
            </a:prstGeom>
            <a:solidFill>
              <a:srgbClr val="FBE1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90E1B5BF-38D4-DA0A-D8F4-DB2951AEFB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87738" y="2565401"/>
              <a:ext cx="73025" cy="76200"/>
            </a:xfrm>
            <a:prstGeom prst="rect">
              <a:avLst/>
            </a:prstGeom>
            <a:solidFill>
              <a:srgbClr val="40C9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CBD1660E-A1A5-A810-AB69-78F7C49821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87738" y="2641601"/>
              <a:ext cx="73025" cy="71438"/>
            </a:xfrm>
            <a:prstGeom prst="rect">
              <a:avLst/>
            </a:prstGeom>
            <a:solidFill>
              <a:srgbClr val="F991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AD26F41F-5E8A-E108-B2F4-86C9394556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73426" y="2713038"/>
              <a:ext cx="287338" cy="93663"/>
            </a:xfrm>
            <a:prstGeom prst="rect">
              <a:avLst/>
            </a:prstGeom>
            <a:solidFill>
              <a:srgbClr val="FA565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23BBCD28-F322-4B1A-1302-8D30AE2641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94076" y="2855913"/>
              <a:ext cx="46038" cy="49213"/>
            </a:xfrm>
            <a:prstGeom prst="rect">
              <a:avLst/>
            </a:prstGeom>
            <a:solidFill>
              <a:srgbClr val="B6BC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/>
            </a:p>
          </p:txBody>
        </p:sp>
      </p:grpSp>
      <p:sp>
        <p:nvSpPr>
          <p:cNvPr id="18" name="Title 1">
            <a:extLst>
              <a:ext uri="{FF2B5EF4-FFF2-40B4-BE49-F238E27FC236}">
                <a16:creationId xmlns:a16="http://schemas.microsoft.com/office/drawing/2014/main" id="{67499403-0E51-B8D8-7463-DF35BF0C7D83}"/>
              </a:ext>
            </a:extLst>
          </p:cNvPr>
          <p:cNvSpPr txBox="1">
            <a:spLocks/>
          </p:cNvSpPr>
          <p:nvPr/>
        </p:nvSpPr>
        <p:spPr>
          <a:xfrm>
            <a:off x="1212022" y="1564464"/>
            <a:ext cx="1324257" cy="511296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Aft>
                <a:spcPts val="1200"/>
              </a:spcAft>
            </a:pPr>
            <a:r>
              <a:rPr 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Data Events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115CF9B0-7B00-84D7-D7C7-6AA962E2B770}"/>
              </a:ext>
            </a:extLst>
          </p:cNvPr>
          <p:cNvSpPr txBox="1">
            <a:spLocks/>
          </p:cNvSpPr>
          <p:nvPr/>
        </p:nvSpPr>
        <p:spPr>
          <a:xfrm>
            <a:off x="1212022" y="2514425"/>
            <a:ext cx="1324257" cy="511296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Aft>
                <a:spcPts val="1200"/>
              </a:spcAft>
            </a:pPr>
            <a:r>
              <a:rPr 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Business Events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7FB732EE-6768-8A36-B644-EB9D6EE23DDF}"/>
              </a:ext>
            </a:extLst>
          </p:cNvPr>
          <p:cNvSpPr txBox="1">
            <a:spLocks/>
          </p:cNvSpPr>
          <p:nvPr/>
        </p:nvSpPr>
        <p:spPr>
          <a:xfrm>
            <a:off x="1212022" y="3464384"/>
            <a:ext cx="1324257" cy="511296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Aft>
                <a:spcPts val="1200"/>
              </a:spcAft>
            </a:pPr>
            <a:r>
              <a:rPr 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Virtual Entities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187F43CA-314E-DFC7-DEB1-75C3DB58BFB6}"/>
              </a:ext>
            </a:extLst>
          </p:cNvPr>
          <p:cNvSpPr txBox="1">
            <a:spLocks/>
          </p:cNvSpPr>
          <p:nvPr/>
        </p:nvSpPr>
        <p:spPr>
          <a:xfrm>
            <a:off x="1212022" y="4414345"/>
            <a:ext cx="1324257" cy="511296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Aft>
                <a:spcPts val="1200"/>
              </a:spcAft>
            </a:pPr>
            <a:r>
              <a:rPr 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Dual Write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5941C630-3530-EF99-1AE1-AD6BFBFBFF9D}"/>
              </a:ext>
            </a:extLst>
          </p:cNvPr>
          <p:cNvSpPr txBox="1">
            <a:spLocks/>
          </p:cNvSpPr>
          <p:nvPr/>
        </p:nvSpPr>
        <p:spPr>
          <a:xfrm>
            <a:off x="1212022" y="5364305"/>
            <a:ext cx="1414427" cy="511296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Aft>
                <a:spcPts val="1200"/>
              </a:spcAft>
            </a:pPr>
            <a:r>
              <a:rPr 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Custom Services</a:t>
            </a: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23D6CC2B-44C2-AF75-8326-311AAF50786A}"/>
              </a:ext>
            </a:extLst>
          </p:cNvPr>
          <p:cNvSpPr txBox="1">
            <a:spLocks/>
          </p:cNvSpPr>
          <p:nvPr/>
        </p:nvSpPr>
        <p:spPr>
          <a:xfrm>
            <a:off x="2755072" y="1564464"/>
            <a:ext cx="6408828" cy="511296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Aft>
                <a:spcPts val="1200"/>
              </a:spcAft>
            </a:pPr>
            <a:r>
              <a:rPr 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Often used to handle changes in data such as creations, updates, or deletions. These events can trigger integrations or workflows.</a:t>
            </a: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EFD93F9F-0CA3-D884-8D18-FA6797B937D3}"/>
              </a:ext>
            </a:extLst>
          </p:cNvPr>
          <p:cNvSpPr txBox="1">
            <a:spLocks/>
          </p:cNvSpPr>
          <p:nvPr/>
        </p:nvSpPr>
        <p:spPr>
          <a:xfrm>
            <a:off x="2755072" y="2514425"/>
            <a:ext cx="5714209" cy="511296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Aft>
                <a:spcPts val="1200"/>
              </a:spcAft>
            </a:pPr>
            <a:r>
              <a:rPr 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These are high-level events that are triggered by business processes or operations, like completing a purchase order or updating a status.</a:t>
            </a:r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8B7C3E62-A38B-27B9-A079-3B3004B9695B}"/>
              </a:ext>
            </a:extLst>
          </p:cNvPr>
          <p:cNvSpPr txBox="1">
            <a:spLocks/>
          </p:cNvSpPr>
          <p:nvPr/>
        </p:nvSpPr>
        <p:spPr>
          <a:xfrm>
            <a:off x="2755072" y="3426223"/>
            <a:ext cx="4924021" cy="621885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Aft>
                <a:spcPts val="1200"/>
              </a:spcAft>
            </a:pPr>
            <a:r>
              <a:rPr 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Virtual entities represent data not stored in the local database but viewed and managed as if they were within the system through external integrations.</a:t>
            </a:r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903D8B21-9F83-DB5F-982F-BB73D290134E}"/>
              </a:ext>
            </a:extLst>
          </p:cNvPr>
          <p:cNvSpPr txBox="1">
            <a:spLocks/>
          </p:cNvSpPr>
          <p:nvPr/>
        </p:nvSpPr>
        <p:spPr>
          <a:xfrm>
            <a:off x="2755072" y="4384979"/>
            <a:ext cx="4026918" cy="511296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Aft>
                <a:spcPts val="1200"/>
              </a:spcAft>
            </a:pPr>
            <a:r>
              <a:rPr 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 near-real-time data integration pattern between Dynamics 365 applications and Dynamics 365 Finance and Operations. 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0A20F189-D3AA-E997-7F26-0C2F55943D49}"/>
              </a:ext>
            </a:extLst>
          </p:cNvPr>
          <p:cNvSpPr txBox="1">
            <a:spLocks/>
          </p:cNvSpPr>
          <p:nvPr/>
        </p:nvSpPr>
        <p:spPr>
          <a:xfrm>
            <a:off x="2755073" y="5364305"/>
            <a:ext cx="3369692" cy="511296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Aft>
                <a:spcPts val="1200"/>
              </a:spcAft>
            </a:pPr>
            <a:r>
              <a:rPr 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Custom-built services or APIs that cater to specific business needs, extending the capabilities of existing systems.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6CBDF7D-B220-D97E-0409-F149A0C3E039}"/>
              </a:ext>
            </a:extLst>
          </p:cNvPr>
          <p:cNvCxnSpPr>
            <a:cxnSpLocks/>
          </p:cNvCxnSpPr>
          <p:nvPr/>
        </p:nvCxnSpPr>
        <p:spPr>
          <a:xfrm>
            <a:off x="2626449" y="1599132"/>
            <a:ext cx="0" cy="44196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D91CDCDD-5AEA-0C81-5ADE-B62465BCCB20}"/>
              </a:ext>
            </a:extLst>
          </p:cNvPr>
          <p:cNvCxnSpPr>
            <a:cxnSpLocks/>
          </p:cNvCxnSpPr>
          <p:nvPr/>
        </p:nvCxnSpPr>
        <p:spPr>
          <a:xfrm>
            <a:off x="2626449" y="2549093"/>
            <a:ext cx="0" cy="44196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D45D516B-65B9-F9F5-D4E3-73FD1208AE90}"/>
              </a:ext>
            </a:extLst>
          </p:cNvPr>
          <p:cNvCxnSpPr>
            <a:cxnSpLocks/>
          </p:cNvCxnSpPr>
          <p:nvPr/>
        </p:nvCxnSpPr>
        <p:spPr>
          <a:xfrm>
            <a:off x="2626449" y="3499052"/>
            <a:ext cx="0" cy="44196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81AC0FB0-A9EE-CC3B-BF8C-01D1B504FD81}"/>
              </a:ext>
            </a:extLst>
          </p:cNvPr>
          <p:cNvCxnSpPr>
            <a:cxnSpLocks/>
          </p:cNvCxnSpPr>
          <p:nvPr/>
        </p:nvCxnSpPr>
        <p:spPr>
          <a:xfrm>
            <a:off x="2626449" y="4449013"/>
            <a:ext cx="0" cy="44196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146AE050-4594-F7CC-B856-240AD106C9E1}"/>
              </a:ext>
            </a:extLst>
          </p:cNvPr>
          <p:cNvCxnSpPr>
            <a:cxnSpLocks/>
          </p:cNvCxnSpPr>
          <p:nvPr/>
        </p:nvCxnSpPr>
        <p:spPr>
          <a:xfrm>
            <a:off x="2626449" y="5398973"/>
            <a:ext cx="0" cy="44196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Picture 32">
            <a:extLst>
              <a:ext uri="{FF2B5EF4-FFF2-40B4-BE49-F238E27FC236}">
                <a16:creationId xmlns:a16="http://schemas.microsoft.com/office/drawing/2014/main" id="{E8869BA8-35E9-F939-6AF1-858619B29C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57410" y="6075185"/>
            <a:ext cx="501650" cy="501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16277559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331071-ED61-C300-367A-E7F6D13C3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46">
            <a:extLst>
              <a:ext uri="{FF2B5EF4-FFF2-40B4-BE49-F238E27FC236}">
                <a16:creationId xmlns:a16="http://schemas.microsoft.com/office/drawing/2014/main" id="{8BEE118C-B4FA-0CAE-0950-CC440B78550C}"/>
              </a:ext>
            </a:extLst>
          </p:cNvPr>
          <p:cNvSpPr/>
          <p:nvPr/>
        </p:nvSpPr>
        <p:spPr>
          <a:xfrm>
            <a:off x="780849" y="888007"/>
            <a:ext cx="8353721" cy="4449489"/>
          </a:xfrm>
          <a:prstGeom prst="roundRect">
            <a:avLst>
              <a:gd name="adj" fmla="val 703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C9DFAC5E-8505-B884-ED3D-94E28EB9E571}"/>
              </a:ext>
            </a:extLst>
          </p:cNvPr>
          <p:cNvSpPr/>
          <p:nvPr/>
        </p:nvSpPr>
        <p:spPr>
          <a:xfrm>
            <a:off x="1215363" y="452774"/>
            <a:ext cx="1175537" cy="1175537"/>
          </a:xfrm>
          <a:prstGeom prst="ellipse">
            <a:avLst/>
          </a:prstGeom>
          <a:solidFill>
            <a:srgbClr val="D0101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39DDCEA9-F824-0784-78E5-E81E1575D006}"/>
              </a:ext>
            </a:extLst>
          </p:cNvPr>
          <p:cNvSpPr/>
          <p:nvPr/>
        </p:nvSpPr>
        <p:spPr>
          <a:xfrm>
            <a:off x="1435461" y="675585"/>
            <a:ext cx="729915" cy="729915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dist="635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F5E18257-5A71-EAC5-62B8-D79A9CAF3453}"/>
              </a:ext>
            </a:extLst>
          </p:cNvPr>
          <p:cNvSpPr>
            <a:spLocks noGrp="1"/>
          </p:cNvSpPr>
          <p:nvPr/>
        </p:nvSpPr>
        <p:spPr>
          <a:xfrm>
            <a:off x="110886" y="685755"/>
            <a:ext cx="10515600" cy="1325563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0" kern="1200">
                <a:solidFill>
                  <a:srgbClr val="9C3C9A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 b="1" dirty="0">
                <a:solidFill>
                  <a:srgbClr val="1E275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Data Events</a:t>
            </a:r>
          </a:p>
        </p:txBody>
      </p:sp>
      <p:sp>
        <p:nvSpPr>
          <p:cNvPr id="31" name="Slide Number Placeholder 5">
            <a:extLst>
              <a:ext uri="{FF2B5EF4-FFF2-40B4-BE49-F238E27FC236}">
                <a16:creationId xmlns:a16="http://schemas.microsoft.com/office/drawing/2014/main" id="{00B5E439-D3B7-9FCA-AD0D-36B927AE05B2}"/>
              </a:ext>
            </a:extLst>
          </p:cNvPr>
          <p:cNvSpPr>
            <a:spLocks noGrp="1"/>
          </p:cNvSpPr>
          <p:nvPr/>
        </p:nvSpPr>
        <p:spPr>
          <a:xfrm>
            <a:off x="11971099" y="6040101"/>
            <a:ext cx="33178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9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D05A9CD-9176-4D89-A414-3BEEE81BBC77}" type="slidenum">
              <a:rPr lang="en-US" smtClean="0"/>
              <a:pPr/>
              <a:t>7</a:t>
            </a:fld>
            <a:endParaRPr lang="en-US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5382E9BF-A825-7551-0A3B-C22BEF488CB7}"/>
              </a:ext>
            </a:extLst>
          </p:cNvPr>
          <p:cNvGrpSpPr/>
          <p:nvPr/>
        </p:nvGrpSpPr>
        <p:grpSpPr>
          <a:xfrm>
            <a:off x="1606138" y="856550"/>
            <a:ext cx="388560" cy="367985"/>
            <a:chOff x="2805113" y="2247901"/>
            <a:chExt cx="779462" cy="738188"/>
          </a:xfrm>
          <a:effectLst>
            <a:outerShdw dist="63500" dir="2700000" algn="tl" rotWithShape="0">
              <a:prstClr val="black">
                <a:alpha val="20000"/>
              </a:prstClr>
            </a:outerShdw>
          </a:effectLst>
        </p:grpSpPr>
        <p:sp>
          <p:nvSpPr>
            <p:cNvPr id="35" name="Freeform 78">
              <a:extLst>
                <a:ext uri="{FF2B5EF4-FFF2-40B4-BE49-F238E27FC236}">
                  <a16:creationId xmlns:a16="http://schemas.microsoft.com/office/drawing/2014/main" id="{64E95615-575E-9D0A-8226-5E53D70373F6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6725" y="2247901"/>
              <a:ext cx="577850" cy="738188"/>
            </a:xfrm>
            <a:custGeom>
              <a:avLst/>
              <a:gdLst>
                <a:gd name="T0" fmla="*/ 115 w 153"/>
                <a:gd name="T1" fmla="*/ 0 h 195"/>
                <a:gd name="T2" fmla="*/ 6 w 153"/>
                <a:gd name="T3" fmla="*/ 0 h 195"/>
                <a:gd name="T4" fmla="*/ 0 w 153"/>
                <a:gd name="T5" fmla="*/ 7 h 195"/>
                <a:gd name="T6" fmla="*/ 0 w 153"/>
                <a:gd name="T7" fmla="*/ 195 h 195"/>
                <a:gd name="T8" fmla="*/ 153 w 153"/>
                <a:gd name="T9" fmla="*/ 195 h 195"/>
                <a:gd name="T10" fmla="*/ 153 w 153"/>
                <a:gd name="T11" fmla="*/ 39 h 195"/>
                <a:gd name="T12" fmla="*/ 115 w 153"/>
                <a:gd name="T13" fmla="*/ 0 h 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3" h="195">
                  <a:moveTo>
                    <a:pt x="115" y="0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3" y="0"/>
                    <a:pt x="0" y="3"/>
                    <a:pt x="0" y="7"/>
                  </a:cubicBezTo>
                  <a:cubicBezTo>
                    <a:pt x="0" y="195"/>
                    <a:pt x="0" y="195"/>
                    <a:pt x="0" y="195"/>
                  </a:cubicBezTo>
                  <a:cubicBezTo>
                    <a:pt x="153" y="195"/>
                    <a:pt x="153" y="195"/>
                    <a:pt x="153" y="195"/>
                  </a:cubicBezTo>
                  <a:cubicBezTo>
                    <a:pt x="153" y="39"/>
                    <a:pt x="153" y="39"/>
                    <a:pt x="153" y="39"/>
                  </a:cubicBezTo>
                  <a:lnTo>
                    <a:pt x="11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/>
            </a:p>
          </p:txBody>
        </p:sp>
        <p:sp>
          <p:nvSpPr>
            <p:cNvPr id="36" name="Freeform 79">
              <a:extLst>
                <a:ext uri="{FF2B5EF4-FFF2-40B4-BE49-F238E27FC236}">
                  <a16:creationId xmlns:a16="http://schemas.microsoft.com/office/drawing/2014/main" id="{EBB326F7-41C4-A8A0-BE7D-23517CD17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1700" y="2247901"/>
              <a:ext cx="142875" cy="147638"/>
            </a:xfrm>
            <a:custGeom>
              <a:avLst/>
              <a:gdLst>
                <a:gd name="T0" fmla="*/ 0 w 90"/>
                <a:gd name="T1" fmla="*/ 0 h 93"/>
                <a:gd name="T2" fmla="*/ 0 w 90"/>
                <a:gd name="T3" fmla="*/ 93 h 93"/>
                <a:gd name="T4" fmla="*/ 90 w 90"/>
                <a:gd name="T5" fmla="*/ 93 h 93"/>
                <a:gd name="T6" fmla="*/ 0 w 90"/>
                <a:gd name="T7" fmla="*/ 0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0" h="93">
                  <a:moveTo>
                    <a:pt x="0" y="0"/>
                  </a:moveTo>
                  <a:lnTo>
                    <a:pt x="0" y="93"/>
                  </a:lnTo>
                  <a:lnTo>
                    <a:pt x="90" y="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2E4E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/>
            </a:p>
          </p:txBody>
        </p:sp>
        <p:sp>
          <p:nvSpPr>
            <p:cNvPr id="37" name="Freeform 80">
              <a:extLst>
                <a:ext uri="{FF2B5EF4-FFF2-40B4-BE49-F238E27FC236}">
                  <a16:creationId xmlns:a16="http://schemas.microsoft.com/office/drawing/2014/main" id="{7F68C0CF-8B2A-397F-7445-F4FB51F1F8D2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0388" y="2419351"/>
              <a:ext cx="242888" cy="22225"/>
            </a:xfrm>
            <a:custGeom>
              <a:avLst/>
              <a:gdLst>
                <a:gd name="T0" fmla="*/ 64 w 64"/>
                <a:gd name="T1" fmla="*/ 3 h 6"/>
                <a:gd name="T2" fmla="*/ 61 w 64"/>
                <a:gd name="T3" fmla="*/ 6 h 6"/>
                <a:gd name="T4" fmla="*/ 4 w 64"/>
                <a:gd name="T5" fmla="*/ 6 h 6"/>
                <a:gd name="T6" fmla="*/ 0 w 64"/>
                <a:gd name="T7" fmla="*/ 3 h 6"/>
                <a:gd name="T8" fmla="*/ 4 w 64"/>
                <a:gd name="T9" fmla="*/ 0 h 6"/>
                <a:gd name="T10" fmla="*/ 61 w 64"/>
                <a:gd name="T11" fmla="*/ 0 h 6"/>
                <a:gd name="T12" fmla="*/ 64 w 64"/>
                <a:gd name="T13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4" h="6">
                  <a:moveTo>
                    <a:pt x="64" y="3"/>
                  </a:moveTo>
                  <a:cubicBezTo>
                    <a:pt x="64" y="5"/>
                    <a:pt x="63" y="6"/>
                    <a:pt x="61" y="6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2" y="6"/>
                    <a:pt x="0" y="5"/>
                    <a:pt x="0" y="3"/>
                  </a:cubicBezTo>
                  <a:cubicBezTo>
                    <a:pt x="0" y="1"/>
                    <a:pt x="2" y="0"/>
                    <a:pt x="4" y="0"/>
                  </a:cubicBezTo>
                  <a:cubicBezTo>
                    <a:pt x="61" y="0"/>
                    <a:pt x="61" y="0"/>
                    <a:pt x="61" y="0"/>
                  </a:cubicBezTo>
                  <a:cubicBezTo>
                    <a:pt x="63" y="0"/>
                    <a:pt x="64" y="1"/>
                    <a:pt x="64" y="3"/>
                  </a:cubicBezTo>
                  <a:close/>
                </a:path>
              </a:pathLst>
            </a:custGeom>
            <a:solidFill>
              <a:srgbClr val="E2E4E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/>
            </a:p>
          </p:txBody>
        </p:sp>
        <p:sp>
          <p:nvSpPr>
            <p:cNvPr id="38" name="Freeform 81">
              <a:extLst>
                <a:ext uri="{FF2B5EF4-FFF2-40B4-BE49-F238E27FC236}">
                  <a16:creationId xmlns:a16="http://schemas.microsoft.com/office/drawing/2014/main" id="{D3D29470-4932-A17E-E1EB-638BF11736F9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0388" y="2516188"/>
              <a:ext cx="390525" cy="23813"/>
            </a:xfrm>
            <a:custGeom>
              <a:avLst/>
              <a:gdLst>
                <a:gd name="T0" fmla="*/ 103 w 103"/>
                <a:gd name="T1" fmla="*/ 3 h 6"/>
                <a:gd name="T2" fmla="*/ 100 w 103"/>
                <a:gd name="T3" fmla="*/ 6 h 6"/>
                <a:gd name="T4" fmla="*/ 4 w 103"/>
                <a:gd name="T5" fmla="*/ 6 h 6"/>
                <a:gd name="T6" fmla="*/ 0 w 103"/>
                <a:gd name="T7" fmla="*/ 3 h 6"/>
                <a:gd name="T8" fmla="*/ 4 w 103"/>
                <a:gd name="T9" fmla="*/ 0 h 6"/>
                <a:gd name="T10" fmla="*/ 100 w 103"/>
                <a:gd name="T11" fmla="*/ 0 h 6"/>
                <a:gd name="T12" fmla="*/ 103 w 103"/>
                <a:gd name="T13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3" h="6">
                  <a:moveTo>
                    <a:pt x="103" y="3"/>
                  </a:moveTo>
                  <a:cubicBezTo>
                    <a:pt x="103" y="5"/>
                    <a:pt x="101" y="6"/>
                    <a:pt x="100" y="6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2" y="6"/>
                    <a:pt x="0" y="5"/>
                    <a:pt x="0" y="3"/>
                  </a:cubicBezTo>
                  <a:cubicBezTo>
                    <a:pt x="0" y="1"/>
                    <a:pt x="2" y="0"/>
                    <a:pt x="4" y="0"/>
                  </a:cubicBezTo>
                  <a:cubicBezTo>
                    <a:pt x="100" y="0"/>
                    <a:pt x="100" y="0"/>
                    <a:pt x="100" y="0"/>
                  </a:cubicBezTo>
                  <a:cubicBezTo>
                    <a:pt x="101" y="0"/>
                    <a:pt x="103" y="1"/>
                    <a:pt x="103" y="3"/>
                  </a:cubicBezTo>
                  <a:close/>
                </a:path>
              </a:pathLst>
            </a:custGeom>
            <a:solidFill>
              <a:srgbClr val="E2E4E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/>
            </a:p>
          </p:txBody>
        </p:sp>
        <p:sp>
          <p:nvSpPr>
            <p:cNvPr id="39" name="Freeform 82">
              <a:extLst>
                <a:ext uri="{FF2B5EF4-FFF2-40B4-BE49-F238E27FC236}">
                  <a16:creationId xmlns:a16="http://schemas.microsoft.com/office/drawing/2014/main" id="{5C1DE046-599A-781B-005C-8F0302A78E73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0388" y="2611438"/>
              <a:ext cx="390525" cy="26988"/>
            </a:xfrm>
            <a:custGeom>
              <a:avLst/>
              <a:gdLst>
                <a:gd name="T0" fmla="*/ 103 w 103"/>
                <a:gd name="T1" fmla="*/ 3 h 7"/>
                <a:gd name="T2" fmla="*/ 100 w 103"/>
                <a:gd name="T3" fmla="*/ 7 h 7"/>
                <a:gd name="T4" fmla="*/ 4 w 103"/>
                <a:gd name="T5" fmla="*/ 7 h 7"/>
                <a:gd name="T6" fmla="*/ 0 w 103"/>
                <a:gd name="T7" fmla="*/ 3 h 7"/>
                <a:gd name="T8" fmla="*/ 4 w 103"/>
                <a:gd name="T9" fmla="*/ 0 h 7"/>
                <a:gd name="T10" fmla="*/ 100 w 103"/>
                <a:gd name="T11" fmla="*/ 0 h 7"/>
                <a:gd name="T12" fmla="*/ 103 w 103"/>
                <a:gd name="T13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3" h="7">
                  <a:moveTo>
                    <a:pt x="103" y="3"/>
                  </a:moveTo>
                  <a:cubicBezTo>
                    <a:pt x="103" y="5"/>
                    <a:pt x="101" y="7"/>
                    <a:pt x="100" y="7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2" y="7"/>
                    <a:pt x="0" y="5"/>
                    <a:pt x="0" y="3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100" y="0"/>
                    <a:pt x="100" y="0"/>
                    <a:pt x="100" y="0"/>
                  </a:cubicBezTo>
                  <a:cubicBezTo>
                    <a:pt x="101" y="0"/>
                    <a:pt x="103" y="2"/>
                    <a:pt x="103" y="3"/>
                  </a:cubicBezTo>
                  <a:close/>
                </a:path>
              </a:pathLst>
            </a:custGeom>
            <a:solidFill>
              <a:srgbClr val="E2E4E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/>
            </a:p>
          </p:txBody>
        </p:sp>
        <p:sp>
          <p:nvSpPr>
            <p:cNvPr id="40" name="Freeform 83">
              <a:extLst>
                <a:ext uri="{FF2B5EF4-FFF2-40B4-BE49-F238E27FC236}">
                  <a16:creationId xmlns:a16="http://schemas.microsoft.com/office/drawing/2014/main" id="{BFC7AF04-294D-5D1E-6CC6-46C7C8752E68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0388" y="2709863"/>
              <a:ext cx="390525" cy="22225"/>
            </a:xfrm>
            <a:custGeom>
              <a:avLst/>
              <a:gdLst>
                <a:gd name="T0" fmla="*/ 103 w 103"/>
                <a:gd name="T1" fmla="*/ 3 h 6"/>
                <a:gd name="T2" fmla="*/ 100 w 103"/>
                <a:gd name="T3" fmla="*/ 6 h 6"/>
                <a:gd name="T4" fmla="*/ 4 w 103"/>
                <a:gd name="T5" fmla="*/ 6 h 6"/>
                <a:gd name="T6" fmla="*/ 0 w 103"/>
                <a:gd name="T7" fmla="*/ 3 h 6"/>
                <a:gd name="T8" fmla="*/ 4 w 103"/>
                <a:gd name="T9" fmla="*/ 0 h 6"/>
                <a:gd name="T10" fmla="*/ 100 w 103"/>
                <a:gd name="T11" fmla="*/ 0 h 6"/>
                <a:gd name="T12" fmla="*/ 103 w 103"/>
                <a:gd name="T13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3" h="6">
                  <a:moveTo>
                    <a:pt x="103" y="3"/>
                  </a:moveTo>
                  <a:cubicBezTo>
                    <a:pt x="103" y="5"/>
                    <a:pt x="101" y="6"/>
                    <a:pt x="100" y="6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2" y="6"/>
                    <a:pt x="0" y="5"/>
                    <a:pt x="0" y="3"/>
                  </a:cubicBezTo>
                  <a:cubicBezTo>
                    <a:pt x="0" y="1"/>
                    <a:pt x="2" y="0"/>
                    <a:pt x="4" y="0"/>
                  </a:cubicBezTo>
                  <a:cubicBezTo>
                    <a:pt x="100" y="0"/>
                    <a:pt x="100" y="0"/>
                    <a:pt x="100" y="0"/>
                  </a:cubicBezTo>
                  <a:cubicBezTo>
                    <a:pt x="101" y="0"/>
                    <a:pt x="103" y="1"/>
                    <a:pt x="103" y="3"/>
                  </a:cubicBezTo>
                  <a:close/>
                </a:path>
              </a:pathLst>
            </a:custGeom>
            <a:solidFill>
              <a:srgbClr val="E2E4E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/>
            </a:p>
          </p:txBody>
        </p:sp>
        <p:sp>
          <p:nvSpPr>
            <p:cNvPr id="41" name="Freeform 84">
              <a:extLst>
                <a:ext uri="{FF2B5EF4-FFF2-40B4-BE49-F238E27FC236}">
                  <a16:creationId xmlns:a16="http://schemas.microsoft.com/office/drawing/2014/main" id="{BF1D6FA6-B6FA-F104-9D52-0242C0A1B8B5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5113" y="2338388"/>
              <a:ext cx="530225" cy="530225"/>
            </a:xfrm>
            <a:custGeom>
              <a:avLst/>
              <a:gdLst>
                <a:gd name="T0" fmla="*/ 131 w 140"/>
                <a:gd name="T1" fmla="*/ 90 h 140"/>
                <a:gd name="T2" fmla="*/ 51 w 140"/>
                <a:gd name="T3" fmla="*/ 11 h 140"/>
                <a:gd name="T4" fmla="*/ 49 w 140"/>
                <a:gd name="T5" fmla="*/ 9 h 140"/>
                <a:gd name="T6" fmla="*/ 11 w 140"/>
                <a:gd name="T7" fmla="*/ 11 h 140"/>
                <a:gd name="T8" fmla="*/ 11 w 140"/>
                <a:gd name="T9" fmla="*/ 11 h 140"/>
                <a:gd name="T10" fmla="*/ 9 w 140"/>
                <a:gd name="T11" fmla="*/ 49 h 140"/>
                <a:gd name="T12" fmla="*/ 11 w 140"/>
                <a:gd name="T13" fmla="*/ 52 h 140"/>
                <a:gd name="T14" fmla="*/ 90 w 140"/>
                <a:gd name="T15" fmla="*/ 131 h 140"/>
                <a:gd name="T16" fmla="*/ 122 w 140"/>
                <a:gd name="T17" fmla="*/ 140 h 140"/>
                <a:gd name="T18" fmla="*/ 129 w 140"/>
                <a:gd name="T19" fmla="*/ 129 h 140"/>
                <a:gd name="T20" fmla="*/ 140 w 140"/>
                <a:gd name="T21" fmla="*/ 122 h 140"/>
                <a:gd name="T22" fmla="*/ 131 w 140"/>
                <a:gd name="T23" fmla="*/ 90 h 1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40" h="140">
                  <a:moveTo>
                    <a:pt x="131" y="90"/>
                  </a:moveTo>
                  <a:cubicBezTo>
                    <a:pt x="51" y="11"/>
                    <a:pt x="51" y="11"/>
                    <a:pt x="51" y="11"/>
                  </a:cubicBezTo>
                  <a:cubicBezTo>
                    <a:pt x="51" y="10"/>
                    <a:pt x="50" y="10"/>
                    <a:pt x="49" y="9"/>
                  </a:cubicBezTo>
                  <a:cubicBezTo>
                    <a:pt x="38" y="0"/>
                    <a:pt x="22" y="0"/>
                    <a:pt x="11" y="11"/>
                  </a:cubicBezTo>
                  <a:cubicBezTo>
                    <a:pt x="11" y="11"/>
                    <a:pt x="11" y="11"/>
                    <a:pt x="11" y="11"/>
                  </a:cubicBezTo>
                  <a:cubicBezTo>
                    <a:pt x="0" y="22"/>
                    <a:pt x="0" y="38"/>
                    <a:pt x="9" y="49"/>
                  </a:cubicBezTo>
                  <a:cubicBezTo>
                    <a:pt x="9" y="50"/>
                    <a:pt x="10" y="51"/>
                    <a:pt x="11" y="52"/>
                  </a:cubicBezTo>
                  <a:cubicBezTo>
                    <a:pt x="90" y="131"/>
                    <a:pt x="90" y="131"/>
                    <a:pt x="90" y="131"/>
                  </a:cubicBezTo>
                  <a:cubicBezTo>
                    <a:pt x="122" y="140"/>
                    <a:pt x="122" y="140"/>
                    <a:pt x="122" y="140"/>
                  </a:cubicBezTo>
                  <a:cubicBezTo>
                    <a:pt x="123" y="136"/>
                    <a:pt x="125" y="132"/>
                    <a:pt x="129" y="129"/>
                  </a:cubicBezTo>
                  <a:cubicBezTo>
                    <a:pt x="132" y="126"/>
                    <a:pt x="136" y="123"/>
                    <a:pt x="140" y="122"/>
                  </a:cubicBezTo>
                  <a:lnTo>
                    <a:pt x="131" y="90"/>
                  </a:lnTo>
                  <a:close/>
                </a:path>
              </a:pathLst>
            </a:custGeom>
            <a:solidFill>
              <a:srgbClr val="F4D0A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/>
            </a:p>
          </p:txBody>
        </p:sp>
        <p:sp>
          <p:nvSpPr>
            <p:cNvPr id="42" name="Freeform 85">
              <a:extLst>
                <a:ext uri="{FF2B5EF4-FFF2-40B4-BE49-F238E27FC236}">
                  <a16:creationId xmlns:a16="http://schemas.microsoft.com/office/drawing/2014/main" id="{CDA50887-3E64-B482-FD40-98149E45DA6B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5113" y="2338388"/>
              <a:ext cx="185738" cy="185738"/>
            </a:xfrm>
            <a:custGeom>
              <a:avLst/>
              <a:gdLst>
                <a:gd name="T0" fmla="*/ 49 w 49"/>
                <a:gd name="T1" fmla="*/ 9 h 49"/>
                <a:gd name="T2" fmla="*/ 9 w 49"/>
                <a:gd name="T3" fmla="*/ 49 h 49"/>
                <a:gd name="T4" fmla="*/ 11 w 49"/>
                <a:gd name="T5" fmla="*/ 11 h 49"/>
                <a:gd name="T6" fmla="*/ 11 w 49"/>
                <a:gd name="T7" fmla="*/ 11 h 49"/>
                <a:gd name="T8" fmla="*/ 49 w 49"/>
                <a:gd name="T9" fmla="*/ 9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9" h="49">
                  <a:moveTo>
                    <a:pt x="49" y="9"/>
                  </a:moveTo>
                  <a:cubicBezTo>
                    <a:pt x="9" y="49"/>
                    <a:pt x="9" y="49"/>
                    <a:pt x="9" y="49"/>
                  </a:cubicBezTo>
                  <a:cubicBezTo>
                    <a:pt x="0" y="38"/>
                    <a:pt x="0" y="22"/>
                    <a:pt x="11" y="11"/>
                  </a:cubicBezTo>
                  <a:cubicBezTo>
                    <a:pt x="11" y="11"/>
                    <a:pt x="11" y="11"/>
                    <a:pt x="11" y="11"/>
                  </a:cubicBezTo>
                  <a:cubicBezTo>
                    <a:pt x="22" y="0"/>
                    <a:pt x="38" y="0"/>
                    <a:pt x="49" y="9"/>
                  </a:cubicBezTo>
                  <a:close/>
                </a:path>
              </a:pathLst>
            </a:custGeom>
            <a:solidFill>
              <a:srgbClr val="F7B4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/>
            </a:p>
          </p:txBody>
        </p:sp>
        <p:sp>
          <p:nvSpPr>
            <p:cNvPr id="43" name="Freeform 86">
              <a:extLst>
                <a:ext uri="{FF2B5EF4-FFF2-40B4-BE49-F238E27FC236}">
                  <a16:creationId xmlns:a16="http://schemas.microsoft.com/office/drawing/2014/main" id="{B75B0E4B-4A0A-E107-23EF-F93C446A2A77}"/>
                </a:ext>
              </a:extLst>
            </p:cNvPr>
            <p:cNvSpPr>
              <a:spLocks/>
            </p:cNvSpPr>
            <p:nvPr/>
          </p:nvSpPr>
          <p:spPr bwMode="auto">
            <a:xfrm>
              <a:off x="3267075" y="2800351"/>
              <a:ext cx="90488" cy="90488"/>
            </a:xfrm>
            <a:custGeom>
              <a:avLst/>
              <a:gdLst>
                <a:gd name="T0" fmla="*/ 18 w 24"/>
                <a:gd name="T1" fmla="*/ 0 h 24"/>
                <a:gd name="T2" fmla="*/ 24 w 24"/>
                <a:gd name="T3" fmla="*/ 21 h 24"/>
                <a:gd name="T4" fmla="*/ 20 w 24"/>
                <a:gd name="T5" fmla="*/ 24 h 24"/>
                <a:gd name="T6" fmla="*/ 0 w 24"/>
                <a:gd name="T7" fmla="*/ 18 h 24"/>
                <a:gd name="T8" fmla="*/ 7 w 24"/>
                <a:gd name="T9" fmla="*/ 7 h 24"/>
                <a:gd name="T10" fmla="*/ 18 w 24"/>
                <a:gd name="T11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" h="24">
                  <a:moveTo>
                    <a:pt x="18" y="0"/>
                  </a:moveTo>
                  <a:cubicBezTo>
                    <a:pt x="24" y="21"/>
                    <a:pt x="24" y="21"/>
                    <a:pt x="24" y="21"/>
                  </a:cubicBezTo>
                  <a:cubicBezTo>
                    <a:pt x="24" y="23"/>
                    <a:pt x="22" y="24"/>
                    <a:pt x="20" y="24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1" y="14"/>
                    <a:pt x="3" y="10"/>
                    <a:pt x="7" y="7"/>
                  </a:cubicBezTo>
                  <a:cubicBezTo>
                    <a:pt x="10" y="4"/>
                    <a:pt x="14" y="1"/>
                    <a:pt x="18" y="0"/>
                  </a:cubicBezTo>
                  <a:close/>
                </a:path>
              </a:pathLst>
            </a:custGeom>
            <a:solidFill>
              <a:srgbClr val="3E3E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/>
            </a:p>
          </p:txBody>
        </p:sp>
        <p:sp>
          <p:nvSpPr>
            <p:cNvPr id="44" name="Freeform 87">
              <a:extLst>
                <a:ext uri="{FF2B5EF4-FFF2-40B4-BE49-F238E27FC236}">
                  <a16:creationId xmlns:a16="http://schemas.microsoft.com/office/drawing/2014/main" id="{799CBD3E-BE2C-33DC-C5FB-9CC8AD9742C3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7025" y="2403476"/>
              <a:ext cx="434975" cy="427038"/>
            </a:xfrm>
            <a:custGeom>
              <a:avLst/>
              <a:gdLst>
                <a:gd name="T0" fmla="*/ 114 w 115"/>
                <a:gd name="T1" fmla="*/ 73 h 113"/>
                <a:gd name="T2" fmla="*/ 41 w 115"/>
                <a:gd name="T3" fmla="*/ 0 h 113"/>
                <a:gd name="T4" fmla="*/ 0 w 115"/>
                <a:gd name="T5" fmla="*/ 40 h 113"/>
                <a:gd name="T6" fmla="*/ 0 w 115"/>
                <a:gd name="T7" fmla="*/ 40 h 113"/>
                <a:gd name="T8" fmla="*/ 73 w 115"/>
                <a:gd name="T9" fmla="*/ 113 h 113"/>
                <a:gd name="T10" fmla="*/ 73 w 115"/>
                <a:gd name="T11" fmla="*/ 113 h 113"/>
                <a:gd name="T12" fmla="*/ 76 w 115"/>
                <a:gd name="T13" fmla="*/ 95 h 113"/>
                <a:gd name="T14" fmla="*/ 94 w 115"/>
                <a:gd name="T15" fmla="*/ 94 h 113"/>
                <a:gd name="T16" fmla="*/ 94 w 115"/>
                <a:gd name="T17" fmla="*/ 93 h 113"/>
                <a:gd name="T18" fmla="*/ 94 w 115"/>
                <a:gd name="T19" fmla="*/ 93 h 113"/>
                <a:gd name="T20" fmla="*/ 96 w 115"/>
                <a:gd name="T21" fmla="*/ 74 h 113"/>
                <a:gd name="T22" fmla="*/ 114 w 115"/>
                <a:gd name="T23" fmla="*/ 73 h 113"/>
                <a:gd name="T24" fmla="*/ 114 w 115"/>
                <a:gd name="T25" fmla="*/ 73 h 113"/>
                <a:gd name="T26" fmla="*/ 114 w 115"/>
                <a:gd name="T27" fmla="*/ 73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15" h="113">
                  <a:moveTo>
                    <a:pt x="114" y="73"/>
                  </a:moveTo>
                  <a:cubicBezTo>
                    <a:pt x="108" y="67"/>
                    <a:pt x="41" y="0"/>
                    <a:pt x="41" y="0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0" y="40"/>
                    <a:pt x="64" y="104"/>
                    <a:pt x="73" y="113"/>
                  </a:cubicBezTo>
                  <a:cubicBezTo>
                    <a:pt x="73" y="113"/>
                    <a:pt x="73" y="113"/>
                    <a:pt x="73" y="113"/>
                  </a:cubicBezTo>
                  <a:cubicBezTo>
                    <a:pt x="70" y="108"/>
                    <a:pt x="71" y="100"/>
                    <a:pt x="76" y="95"/>
                  </a:cubicBezTo>
                  <a:cubicBezTo>
                    <a:pt x="81" y="90"/>
                    <a:pt x="89" y="90"/>
                    <a:pt x="94" y="94"/>
                  </a:cubicBezTo>
                  <a:cubicBezTo>
                    <a:pt x="94" y="94"/>
                    <a:pt x="94" y="94"/>
                    <a:pt x="94" y="93"/>
                  </a:cubicBezTo>
                  <a:cubicBezTo>
                    <a:pt x="94" y="93"/>
                    <a:pt x="94" y="93"/>
                    <a:pt x="94" y="93"/>
                  </a:cubicBezTo>
                  <a:cubicBezTo>
                    <a:pt x="90" y="88"/>
                    <a:pt x="90" y="80"/>
                    <a:pt x="96" y="74"/>
                  </a:cubicBezTo>
                  <a:cubicBezTo>
                    <a:pt x="101" y="69"/>
                    <a:pt x="109" y="69"/>
                    <a:pt x="114" y="73"/>
                  </a:cubicBezTo>
                  <a:cubicBezTo>
                    <a:pt x="114" y="73"/>
                    <a:pt x="114" y="73"/>
                    <a:pt x="114" y="73"/>
                  </a:cubicBezTo>
                  <a:cubicBezTo>
                    <a:pt x="115" y="73"/>
                    <a:pt x="115" y="73"/>
                    <a:pt x="114" y="73"/>
                  </a:cubicBezTo>
                  <a:close/>
                </a:path>
              </a:pathLst>
            </a:custGeom>
            <a:solidFill>
              <a:srgbClr val="DF2C2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/>
            </a:p>
          </p:txBody>
        </p:sp>
        <p:sp>
          <p:nvSpPr>
            <p:cNvPr id="45" name="Freeform 88">
              <a:extLst>
                <a:ext uri="{FF2B5EF4-FFF2-40B4-BE49-F238E27FC236}">
                  <a16:creationId xmlns:a16="http://schemas.microsoft.com/office/drawing/2014/main" id="{62137E23-BBB7-C889-CC58-19E0C27662C2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0038" y="2373313"/>
              <a:ext cx="180975" cy="180975"/>
            </a:xfrm>
            <a:custGeom>
              <a:avLst/>
              <a:gdLst>
                <a:gd name="T0" fmla="*/ 17 w 114"/>
                <a:gd name="T1" fmla="*/ 114 h 114"/>
                <a:gd name="T2" fmla="*/ 0 w 114"/>
                <a:gd name="T3" fmla="*/ 98 h 114"/>
                <a:gd name="T4" fmla="*/ 95 w 114"/>
                <a:gd name="T5" fmla="*/ 0 h 114"/>
                <a:gd name="T6" fmla="*/ 114 w 114"/>
                <a:gd name="T7" fmla="*/ 19 h 114"/>
                <a:gd name="T8" fmla="*/ 17 w 114"/>
                <a:gd name="T9" fmla="*/ 114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4" h="114">
                  <a:moveTo>
                    <a:pt x="17" y="114"/>
                  </a:moveTo>
                  <a:lnTo>
                    <a:pt x="0" y="98"/>
                  </a:lnTo>
                  <a:lnTo>
                    <a:pt x="95" y="0"/>
                  </a:lnTo>
                  <a:lnTo>
                    <a:pt x="114" y="19"/>
                  </a:lnTo>
                  <a:lnTo>
                    <a:pt x="17" y="114"/>
                  </a:lnTo>
                  <a:close/>
                </a:path>
              </a:pathLst>
            </a:custGeom>
            <a:solidFill>
              <a:srgbClr val="FACB1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/>
            </a:p>
          </p:txBody>
        </p:sp>
        <p:sp>
          <p:nvSpPr>
            <p:cNvPr id="46" name="Freeform 89">
              <a:extLst>
                <a:ext uri="{FF2B5EF4-FFF2-40B4-BE49-F238E27FC236}">
                  <a16:creationId xmlns:a16="http://schemas.microsoft.com/office/drawing/2014/main" id="{CFED1987-66BC-1328-8786-364943673976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7025" y="2479676"/>
              <a:ext cx="355600" cy="350838"/>
            </a:xfrm>
            <a:custGeom>
              <a:avLst/>
              <a:gdLst>
                <a:gd name="T0" fmla="*/ 0 w 94"/>
                <a:gd name="T1" fmla="*/ 20 h 93"/>
                <a:gd name="T2" fmla="*/ 73 w 94"/>
                <a:gd name="T3" fmla="*/ 93 h 93"/>
                <a:gd name="T4" fmla="*/ 73 w 94"/>
                <a:gd name="T5" fmla="*/ 93 h 93"/>
                <a:gd name="T6" fmla="*/ 76 w 94"/>
                <a:gd name="T7" fmla="*/ 75 h 93"/>
                <a:gd name="T8" fmla="*/ 94 w 94"/>
                <a:gd name="T9" fmla="*/ 74 h 93"/>
                <a:gd name="T10" fmla="*/ 94 w 94"/>
                <a:gd name="T11" fmla="*/ 73 h 93"/>
                <a:gd name="T12" fmla="*/ 21 w 94"/>
                <a:gd name="T13" fmla="*/ 0 h 93"/>
                <a:gd name="T14" fmla="*/ 0 w 94"/>
                <a:gd name="T15" fmla="*/ 20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4" h="93">
                  <a:moveTo>
                    <a:pt x="0" y="20"/>
                  </a:moveTo>
                  <a:cubicBezTo>
                    <a:pt x="0" y="20"/>
                    <a:pt x="64" y="84"/>
                    <a:pt x="73" y="93"/>
                  </a:cubicBezTo>
                  <a:cubicBezTo>
                    <a:pt x="73" y="93"/>
                    <a:pt x="73" y="93"/>
                    <a:pt x="73" y="93"/>
                  </a:cubicBezTo>
                  <a:cubicBezTo>
                    <a:pt x="70" y="88"/>
                    <a:pt x="71" y="80"/>
                    <a:pt x="76" y="75"/>
                  </a:cubicBezTo>
                  <a:cubicBezTo>
                    <a:pt x="81" y="70"/>
                    <a:pt x="89" y="70"/>
                    <a:pt x="94" y="74"/>
                  </a:cubicBezTo>
                  <a:cubicBezTo>
                    <a:pt x="94" y="74"/>
                    <a:pt x="94" y="73"/>
                    <a:pt x="94" y="73"/>
                  </a:cubicBezTo>
                  <a:cubicBezTo>
                    <a:pt x="21" y="0"/>
                    <a:pt x="21" y="0"/>
                    <a:pt x="21" y="0"/>
                  </a:cubicBezTo>
                  <a:lnTo>
                    <a:pt x="0" y="20"/>
                  </a:lnTo>
                  <a:close/>
                </a:path>
              </a:pathLst>
            </a:custGeom>
            <a:solidFill>
              <a:srgbClr val="FA565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/>
            </a:p>
          </p:txBody>
        </p:sp>
      </p:grpSp>
      <p:sp>
        <p:nvSpPr>
          <p:cNvPr id="33" name="Title 1">
            <a:extLst>
              <a:ext uri="{FF2B5EF4-FFF2-40B4-BE49-F238E27FC236}">
                <a16:creationId xmlns:a16="http://schemas.microsoft.com/office/drawing/2014/main" id="{4784C8F2-F2CE-AB83-0397-7E883C7DE406}"/>
              </a:ext>
            </a:extLst>
          </p:cNvPr>
          <p:cNvSpPr txBox="1">
            <a:spLocks/>
          </p:cNvSpPr>
          <p:nvPr/>
        </p:nvSpPr>
        <p:spPr>
          <a:xfrm>
            <a:off x="1215363" y="2042775"/>
            <a:ext cx="4303725" cy="232992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Aft>
                <a:spcPts val="1200"/>
              </a:spcAft>
            </a:pPr>
            <a:r>
              <a:rPr lang="en-US" sz="24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Data events are events that are based on changes to data in finance and operations apps.</a:t>
            </a:r>
          </a:p>
          <a:p>
            <a:pPr>
              <a:lnSpc>
                <a:spcPct val="100000"/>
              </a:lnSpc>
              <a:spcAft>
                <a:spcPts val="1200"/>
              </a:spcAft>
            </a:pPr>
            <a:endParaRPr lang="en-US" sz="2400" i="1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lang="en-US" sz="24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Create, update, and delete (CUD) events can be enabled for each entity</a:t>
            </a:r>
          </a:p>
          <a:p>
            <a:pPr>
              <a:lnSpc>
                <a:spcPct val="100000"/>
              </a:lnSpc>
              <a:spcAft>
                <a:spcPts val="1200"/>
              </a:spcAft>
            </a:pPr>
            <a:endParaRPr lang="en-US" sz="2400" i="1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473F42D2-B0E5-1E70-A24B-D4A79C31D4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23938" y="6040101"/>
            <a:ext cx="501650" cy="501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54134714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431F2C-9B88-621B-1CD6-E5470879F0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46">
            <a:extLst>
              <a:ext uri="{FF2B5EF4-FFF2-40B4-BE49-F238E27FC236}">
                <a16:creationId xmlns:a16="http://schemas.microsoft.com/office/drawing/2014/main" id="{805BF0DA-2FCB-7E3E-1A61-FA4ADDBF424A}"/>
              </a:ext>
            </a:extLst>
          </p:cNvPr>
          <p:cNvSpPr/>
          <p:nvPr/>
        </p:nvSpPr>
        <p:spPr>
          <a:xfrm>
            <a:off x="445868" y="888007"/>
            <a:ext cx="9069600" cy="4449489"/>
          </a:xfrm>
          <a:prstGeom prst="roundRect">
            <a:avLst>
              <a:gd name="adj" fmla="val 703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60ED1DF-7D65-3E37-3554-3608FA0C223C}"/>
              </a:ext>
            </a:extLst>
          </p:cNvPr>
          <p:cNvSpPr/>
          <p:nvPr/>
        </p:nvSpPr>
        <p:spPr>
          <a:xfrm>
            <a:off x="880382" y="452774"/>
            <a:ext cx="1175537" cy="1175537"/>
          </a:xfrm>
          <a:prstGeom prst="ellipse">
            <a:avLst/>
          </a:prstGeom>
          <a:solidFill>
            <a:srgbClr val="D0101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A7583FB-5924-9E8B-E836-AD98D42AA5B9}"/>
              </a:ext>
            </a:extLst>
          </p:cNvPr>
          <p:cNvSpPr/>
          <p:nvPr/>
        </p:nvSpPr>
        <p:spPr>
          <a:xfrm>
            <a:off x="1100480" y="675585"/>
            <a:ext cx="729915" cy="729915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dist="635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97449B50-953F-5E5E-3396-9A633490C2D4}"/>
              </a:ext>
            </a:extLst>
          </p:cNvPr>
          <p:cNvSpPr>
            <a:spLocks noGrp="1"/>
          </p:cNvSpPr>
          <p:nvPr/>
        </p:nvSpPr>
        <p:spPr>
          <a:xfrm>
            <a:off x="500259" y="664881"/>
            <a:ext cx="10515600" cy="1325563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0" kern="1200">
                <a:solidFill>
                  <a:srgbClr val="9C3C9A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 b="1" dirty="0">
                <a:solidFill>
                  <a:srgbClr val="1E275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Business Events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0FFB53EF-3F09-4160-9FBF-9316CA1C4B3E}"/>
              </a:ext>
            </a:extLst>
          </p:cNvPr>
          <p:cNvSpPr>
            <a:spLocks noGrp="1"/>
          </p:cNvSpPr>
          <p:nvPr/>
        </p:nvSpPr>
        <p:spPr>
          <a:xfrm>
            <a:off x="11636118" y="6040101"/>
            <a:ext cx="33178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9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D05A9CD-9176-4D89-A414-3BEEE81BBC77}" type="slidenum">
              <a:rPr lang="en-US" smtClean="0"/>
              <a:pPr/>
              <a:t>8</a:t>
            </a:fld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8DE93B8-E29C-6A5A-7ABB-A23A910CED4F}"/>
              </a:ext>
            </a:extLst>
          </p:cNvPr>
          <p:cNvGrpSpPr/>
          <p:nvPr/>
        </p:nvGrpSpPr>
        <p:grpSpPr>
          <a:xfrm>
            <a:off x="1271157" y="856550"/>
            <a:ext cx="388560" cy="367985"/>
            <a:chOff x="2805113" y="2247901"/>
            <a:chExt cx="779462" cy="738188"/>
          </a:xfrm>
          <a:effectLst>
            <a:outerShdw dist="63500" dir="2700000" algn="tl" rotWithShape="0">
              <a:prstClr val="black">
                <a:alpha val="20000"/>
              </a:prstClr>
            </a:outerShdw>
          </a:effectLst>
        </p:grpSpPr>
        <p:sp>
          <p:nvSpPr>
            <p:cNvPr id="15" name="Freeform 78">
              <a:extLst>
                <a:ext uri="{FF2B5EF4-FFF2-40B4-BE49-F238E27FC236}">
                  <a16:creationId xmlns:a16="http://schemas.microsoft.com/office/drawing/2014/main" id="{755B0F65-CAB8-2CD4-EC1C-31FEC59AAC05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6725" y="2247901"/>
              <a:ext cx="577850" cy="738188"/>
            </a:xfrm>
            <a:custGeom>
              <a:avLst/>
              <a:gdLst>
                <a:gd name="T0" fmla="*/ 115 w 153"/>
                <a:gd name="T1" fmla="*/ 0 h 195"/>
                <a:gd name="T2" fmla="*/ 6 w 153"/>
                <a:gd name="T3" fmla="*/ 0 h 195"/>
                <a:gd name="T4" fmla="*/ 0 w 153"/>
                <a:gd name="T5" fmla="*/ 7 h 195"/>
                <a:gd name="T6" fmla="*/ 0 w 153"/>
                <a:gd name="T7" fmla="*/ 195 h 195"/>
                <a:gd name="T8" fmla="*/ 153 w 153"/>
                <a:gd name="T9" fmla="*/ 195 h 195"/>
                <a:gd name="T10" fmla="*/ 153 w 153"/>
                <a:gd name="T11" fmla="*/ 39 h 195"/>
                <a:gd name="T12" fmla="*/ 115 w 153"/>
                <a:gd name="T13" fmla="*/ 0 h 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3" h="195">
                  <a:moveTo>
                    <a:pt x="115" y="0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3" y="0"/>
                    <a:pt x="0" y="3"/>
                    <a:pt x="0" y="7"/>
                  </a:cubicBezTo>
                  <a:cubicBezTo>
                    <a:pt x="0" y="195"/>
                    <a:pt x="0" y="195"/>
                    <a:pt x="0" y="195"/>
                  </a:cubicBezTo>
                  <a:cubicBezTo>
                    <a:pt x="153" y="195"/>
                    <a:pt x="153" y="195"/>
                    <a:pt x="153" y="195"/>
                  </a:cubicBezTo>
                  <a:cubicBezTo>
                    <a:pt x="153" y="39"/>
                    <a:pt x="153" y="39"/>
                    <a:pt x="153" y="39"/>
                  </a:cubicBezTo>
                  <a:lnTo>
                    <a:pt x="11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/>
            </a:p>
          </p:txBody>
        </p:sp>
        <p:sp>
          <p:nvSpPr>
            <p:cNvPr id="16" name="Freeform 79">
              <a:extLst>
                <a:ext uri="{FF2B5EF4-FFF2-40B4-BE49-F238E27FC236}">
                  <a16:creationId xmlns:a16="http://schemas.microsoft.com/office/drawing/2014/main" id="{4A96337E-DF0E-E824-8A6B-F7CA55C862AA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1700" y="2247901"/>
              <a:ext cx="142875" cy="147638"/>
            </a:xfrm>
            <a:custGeom>
              <a:avLst/>
              <a:gdLst>
                <a:gd name="T0" fmla="*/ 0 w 90"/>
                <a:gd name="T1" fmla="*/ 0 h 93"/>
                <a:gd name="T2" fmla="*/ 0 w 90"/>
                <a:gd name="T3" fmla="*/ 93 h 93"/>
                <a:gd name="T4" fmla="*/ 90 w 90"/>
                <a:gd name="T5" fmla="*/ 93 h 93"/>
                <a:gd name="T6" fmla="*/ 0 w 90"/>
                <a:gd name="T7" fmla="*/ 0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0" h="93">
                  <a:moveTo>
                    <a:pt x="0" y="0"/>
                  </a:moveTo>
                  <a:lnTo>
                    <a:pt x="0" y="93"/>
                  </a:lnTo>
                  <a:lnTo>
                    <a:pt x="90" y="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2E4E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/>
            </a:p>
          </p:txBody>
        </p:sp>
        <p:sp>
          <p:nvSpPr>
            <p:cNvPr id="17" name="Freeform 80">
              <a:extLst>
                <a:ext uri="{FF2B5EF4-FFF2-40B4-BE49-F238E27FC236}">
                  <a16:creationId xmlns:a16="http://schemas.microsoft.com/office/drawing/2014/main" id="{C50F853F-25ED-86E5-509E-DB722C54DF55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0388" y="2419351"/>
              <a:ext cx="242888" cy="22225"/>
            </a:xfrm>
            <a:custGeom>
              <a:avLst/>
              <a:gdLst>
                <a:gd name="T0" fmla="*/ 64 w 64"/>
                <a:gd name="T1" fmla="*/ 3 h 6"/>
                <a:gd name="T2" fmla="*/ 61 w 64"/>
                <a:gd name="T3" fmla="*/ 6 h 6"/>
                <a:gd name="T4" fmla="*/ 4 w 64"/>
                <a:gd name="T5" fmla="*/ 6 h 6"/>
                <a:gd name="T6" fmla="*/ 0 w 64"/>
                <a:gd name="T7" fmla="*/ 3 h 6"/>
                <a:gd name="T8" fmla="*/ 4 w 64"/>
                <a:gd name="T9" fmla="*/ 0 h 6"/>
                <a:gd name="T10" fmla="*/ 61 w 64"/>
                <a:gd name="T11" fmla="*/ 0 h 6"/>
                <a:gd name="T12" fmla="*/ 64 w 64"/>
                <a:gd name="T13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4" h="6">
                  <a:moveTo>
                    <a:pt x="64" y="3"/>
                  </a:moveTo>
                  <a:cubicBezTo>
                    <a:pt x="64" y="5"/>
                    <a:pt x="63" y="6"/>
                    <a:pt x="61" y="6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2" y="6"/>
                    <a:pt x="0" y="5"/>
                    <a:pt x="0" y="3"/>
                  </a:cubicBezTo>
                  <a:cubicBezTo>
                    <a:pt x="0" y="1"/>
                    <a:pt x="2" y="0"/>
                    <a:pt x="4" y="0"/>
                  </a:cubicBezTo>
                  <a:cubicBezTo>
                    <a:pt x="61" y="0"/>
                    <a:pt x="61" y="0"/>
                    <a:pt x="61" y="0"/>
                  </a:cubicBezTo>
                  <a:cubicBezTo>
                    <a:pt x="63" y="0"/>
                    <a:pt x="64" y="1"/>
                    <a:pt x="64" y="3"/>
                  </a:cubicBezTo>
                  <a:close/>
                </a:path>
              </a:pathLst>
            </a:custGeom>
            <a:solidFill>
              <a:srgbClr val="E2E4E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/>
            </a:p>
          </p:txBody>
        </p:sp>
        <p:sp>
          <p:nvSpPr>
            <p:cNvPr id="18" name="Freeform 81">
              <a:extLst>
                <a:ext uri="{FF2B5EF4-FFF2-40B4-BE49-F238E27FC236}">
                  <a16:creationId xmlns:a16="http://schemas.microsoft.com/office/drawing/2014/main" id="{E51C5720-D274-6A42-0E8A-3C4511F4863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0388" y="2516188"/>
              <a:ext cx="390525" cy="23813"/>
            </a:xfrm>
            <a:custGeom>
              <a:avLst/>
              <a:gdLst>
                <a:gd name="T0" fmla="*/ 103 w 103"/>
                <a:gd name="T1" fmla="*/ 3 h 6"/>
                <a:gd name="T2" fmla="*/ 100 w 103"/>
                <a:gd name="T3" fmla="*/ 6 h 6"/>
                <a:gd name="T4" fmla="*/ 4 w 103"/>
                <a:gd name="T5" fmla="*/ 6 h 6"/>
                <a:gd name="T6" fmla="*/ 0 w 103"/>
                <a:gd name="T7" fmla="*/ 3 h 6"/>
                <a:gd name="T8" fmla="*/ 4 w 103"/>
                <a:gd name="T9" fmla="*/ 0 h 6"/>
                <a:gd name="T10" fmla="*/ 100 w 103"/>
                <a:gd name="T11" fmla="*/ 0 h 6"/>
                <a:gd name="T12" fmla="*/ 103 w 103"/>
                <a:gd name="T13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3" h="6">
                  <a:moveTo>
                    <a:pt x="103" y="3"/>
                  </a:moveTo>
                  <a:cubicBezTo>
                    <a:pt x="103" y="5"/>
                    <a:pt x="101" y="6"/>
                    <a:pt x="100" y="6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2" y="6"/>
                    <a:pt x="0" y="5"/>
                    <a:pt x="0" y="3"/>
                  </a:cubicBezTo>
                  <a:cubicBezTo>
                    <a:pt x="0" y="1"/>
                    <a:pt x="2" y="0"/>
                    <a:pt x="4" y="0"/>
                  </a:cubicBezTo>
                  <a:cubicBezTo>
                    <a:pt x="100" y="0"/>
                    <a:pt x="100" y="0"/>
                    <a:pt x="100" y="0"/>
                  </a:cubicBezTo>
                  <a:cubicBezTo>
                    <a:pt x="101" y="0"/>
                    <a:pt x="103" y="1"/>
                    <a:pt x="103" y="3"/>
                  </a:cubicBezTo>
                  <a:close/>
                </a:path>
              </a:pathLst>
            </a:custGeom>
            <a:solidFill>
              <a:srgbClr val="E2E4E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/>
            </a:p>
          </p:txBody>
        </p:sp>
        <p:sp>
          <p:nvSpPr>
            <p:cNvPr id="19" name="Freeform 82">
              <a:extLst>
                <a:ext uri="{FF2B5EF4-FFF2-40B4-BE49-F238E27FC236}">
                  <a16:creationId xmlns:a16="http://schemas.microsoft.com/office/drawing/2014/main" id="{BA8AD056-3E24-92EB-6CDB-148FB0F54D77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0388" y="2611438"/>
              <a:ext cx="390525" cy="26988"/>
            </a:xfrm>
            <a:custGeom>
              <a:avLst/>
              <a:gdLst>
                <a:gd name="T0" fmla="*/ 103 w 103"/>
                <a:gd name="T1" fmla="*/ 3 h 7"/>
                <a:gd name="T2" fmla="*/ 100 w 103"/>
                <a:gd name="T3" fmla="*/ 7 h 7"/>
                <a:gd name="T4" fmla="*/ 4 w 103"/>
                <a:gd name="T5" fmla="*/ 7 h 7"/>
                <a:gd name="T6" fmla="*/ 0 w 103"/>
                <a:gd name="T7" fmla="*/ 3 h 7"/>
                <a:gd name="T8" fmla="*/ 4 w 103"/>
                <a:gd name="T9" fmla="*/ 0 h 7"/>
                <a:gd name="T10" fmla="*/ 100 w 103"/>
                <a:gd name="T11" fmla="*/ 0 h 7"/>
                <a:gd name="T12" fmla="*/ 103 w 103"/>
                <a:gd name="T13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3" h="7">
                  <a:moveTo>
                    <a:pt x="103" y="3"/>
                  </a:moveTo>
                  <a:cubicBezTo>
                    <a:pt x="103" y="5"/>
                    <a:pt x="101" y="7"/>
                    <a:pt x="100" y="7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2" y="7"/>
                    <a:pt x="0" y="5"/>
                    <a:pt x="0" y="3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100" y="0"/>
                    <a:pt x="100" y="0"/>
                    <a:pt x="100" y="0"/>
                  </a:cubicBezTo>
                  <a:cubicBezTo>
                    <a:pt x="101" y="0"/>
                    <a:pt x="103" y="2"/>
                    <a:pt x="103" y="3"/>
                  </a:cubicBezTo>
                  <a:close/>
                </a:path>
              </a:pathLst>
            </a:custGeom>
            <a:solidFill>
              <a:srgbClr val="E2E4E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/>
            </a:p>
          </p:txBody>
        </p:sp>
        <p:sp>
          <p:nvSpPr>
            <p:cNvPr id="20" name="Freeform 83">
              <a:extLst>
                <a:ext uri="{FF2B5EF4-FFF2-40B4-BE49-F238E27FC236}">
                  <a16:creationId xmlns:a16="http://schemas.microsoft.com/office/drawing/2014/main" id="{C4561648-1557-F552-C2F6-EC56048F7AA5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0388" y="2709863"/>
              <a:ext cx="390525" cy="22225"/>
            </a:xfrm>
            <a:custGeom>
              <a:avLst/>
              <a:gdLst>
                <a:gd name="T0" fmla="*/ 103 w 103"/>
                <a:gd name="T1" fmla="*/ 3 h 6"/>
                <a:gd name="T2" fmla="*/ 100 w 103"/>
                <a:gd name="T3" fmla="*/ 6 h 6"/>
                <a:gd name="T4" fmla="*/ 4 w 103"/>
                <a:gd name="T5" fmla="*/ 6 h 6"/>
                <a:gd name="T6" fmla="*/ 0 w 103"/>
                <a:gd name="T7" fmla="*/ 3 h 6"/>
                <a:gd name="T8" fmla="*/ 4 w 103"/>
                <a:gd name="T9" fmla="*/ 0 h 6"/>
                <a:gd name="T10" fmla="*/ 100 w 103"/>
                <a:gd name="T11" fmla="*/ 0 h 6"/>
                <a:gd name="T12" fmla="*/ 103 w 103"/>
                <a:gd name="T13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3" h="6">
                  <a:moveTo>
                    <a:pt x="103" y="3"/>
                  </a:moveTo>
                  <a:cubicBezTo>
                    <a:pt x="103" y="5"/>
                    <a:pt x="101" y="6"/>
                    <a:pt x="100" y="6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2" y="6"/>
                    <a:pt x="0" y="5"/>
                    <a:pt x="0" y="3"/>
                  </a:cubicBezTo>
                  <a:cubicBezTo>
                    <a:pt x="0" y="1"/>
                    <a:pt x="2" y="0"/>
                    <a:pt x="4" y="0"/>
                  </a:cubicBezTo>
                  <a:cubicBezTo>
                    <a:pt x="100" y="0"/>
                    <a:pt x="100" y="0"/>
                    <a:pt x="100" y="0"/>
                  </a:cubicBezTo>
                  <a:cubicBezTo>
                    <a:pt x="101" y="0"/>
                    <a:pt x="103" y="1"/>
                    <a:pt x="103" y="3"/>
                  </a:cubicBezTo>
                  <a:close/>
                </a:path>
              </a:pathLst>
            </a:custGeom>
            <a:solidFill>
              <a:srgbClr val="E2E4E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/>
            </a:p>
          </p:txBody>
        </p:sp>
        <p:sp>
          <p:nvSpPr>
            <p:cNvPr id="21" name="Freeform 84">
              <a:extLst>
                <a:ext uri="{FF2B5EF4-FFF2-40B4-BE49-F238E27FC236}">
                  <a16:creationId xmlns:a16="http://schemas.microsoft.com/office/drawing/2014/main" id="{0D838492-8ED9-799C-CBA5-98AB46C23812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5113" y="2338388"/>
              <a:ext cx="530225" cy="530225"/>
            </a:xfrm>
            <a:custGeom>
              <a:avLst/>
              <a:gdLst>
                <a:gd name="T0" fmla="*/ 131 w 140"/>
                <a:gd name="T1" fmla="*/ 90 h 140"/>
                <a:gd name="T2" fmla="*/ 51 w 140"/>
                <a:gd name="T3" fmla="*/ 11 h 140"/>
                <a:gd name="T4" fmla="*/ 49 w 140"/>
                <a:gd name="T5" fmla="*/ 9 h 140"/>
                <a:gd name="T6" fmla="*/ 11 w 140"/>
                <a:gd name="T7" fmla="*/ 11 h 140"/>
                <a:gd name="T8" fmla="*/ 11 w 140"/>
                <a:gd name="T9" fmla="*/ 11 h 140"/>
                <a:gd name="T10" fmla="*/ 9 w 140"/>
                <a:gd name="T11" fmla="*/ 49 h 140"/>
                <a:gd name="T12" fmla="*/ 11 w 140"/>
                <a:gd name="T13" fmla="*/ 52 h 140"/>
                <a:gd name="T14" fmla="*/ 90 w 140"/>
                <a:gd name="T15" fmla="*/ 131 h 140"/>
                <a:gd name="T16" fmla="*/ 122 w 140"/>
                <a:gd name="T17" fmla="*/ 140 h 140"/>
                <a:gd name="T18" fmla="*/ 129 w 140"/>
                <a:gd name="T19" fmla="*/ 129 h 140"/>
                <a:gd name="T20" fmla="*/ 140 w 140"/>
                <a:gd name="T21" fmla="*/ 122 h 140"/>
                <a:gd name="T22" fmla="*/ 131 w 140"/>
                <a:gd name="T23" fmla="*/ 90 h 1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40" h="140">
                  <a:moveTo>
                    <a:pt x="131" y="90"/>
                  </a:moveTo>
                  <a:cubicBezTo>
                    <a:pt x="51" y="11"/>
                    <a:pt x="51" y="11"/>
                    <a:pt x="51" y="11"/>
                  </a:cubicBezTo>
                  <a:cubicBezTo>
                    <a:pt x="51" y="10"/>
                    <a:pt x="50" y="10"/>
                    <a:pt x="49" y="9"/>
                  </a:cubicBezTo>
                  <a:cubicBezTo>
                    <a:pt x="38" y="0"/>
                    <a:pt x="22" y="0"/>
                    <a:pt x="11" y="11"/>
                  </a:cubicBezTo>
                  <a:cubicBezTo>
                    <a:pt x="11" y="11"/>
                    <a:pt x="11" y="11"/>
                    <a:pt x="11" y="11"/>
                  </a:cubicBezTo>
                  <a:cubicBezTo>
                    <a:pt x="0" y="22"/>
                    <a:pt x="0" y="38"/>
                    <a:pt x="9" y="49"/>
                  </a:cubicBezTo>
                  <a:cubicBezTo>
                    <a:pt x="9" y="50"/>
                    <a:pt x="10" y="51"/>
                    <a:pt x="11" y="52"/>
                  </a:cubicBezTo>
                  <a:cubicBezTo>
                    <a:pt x="90" y="131"/>
                    <a:pt x="90" y="131"/>
                    <a:pt x="90" y="131"/>
                  </a:cubicBezTo>
                  <a:cubicBezTo>
                    <a:pt x="122" y="140"/>
                    <a:pt x="122" y="140"/>
                    <a:pt x="122" y="140"/>
                  </a:cubicBezTo>
                  <a:cubicBezTo>
                    <a:pt x="123" y="136"/>
                    <a:pt x="125" y="132"/>
                    <a:pt x="129" y="129"/>
                  </a:cubicBezTo>
                  <a:cubicBezTo>
                    <a:pt x="132" y="126"/>
                    <a:pt x="136" y="123"/>
                    <a:pt x="140" y="122"/>
                  </a:cubicBezTo>
                  <a:lnTo>
                    <a:pt x="131" y="90"/>
                  </a:lnTo>
                  <a:close/>
                </a:path>
              </a:pathLst>
            </a:custGeom>
            <a:solidFill>
              <a:srgbClr val="F4D0A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/>
            </a:p>
          </p:txBody>
        </p:sp>
        <p:sp>
          <p:nvSpPr>
            <p:cNvPr id="22" name="Freeform 85">
              <a:extLst>
                <a:ext uri="{FF2B5EF4-FFF2-40B4-BE49-F238E27FC236}">
                  <a16:creationId xmlns:a16="http://schemas.microsoft.com/office/drawing/2014/main" id="{14C6B342-867F-B552-4D66-DF8AACE84D2E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5113" y="2338388"/>
              <a:ext cx="185738" cy="185738"/>
            </a:xfrm>
            <a:custGeom>
              <a:avLst/>
              <a:gdLst>
                <a:gd name="T0" fmla="*/ 49 w 49"/>
                <a:gd name="T1" fmla="*/ 9 h 49"/>
                <a:gd name="T2" fmla="*/ 9 w 49"/>
                <a:gd name="T3" fmla="*/ 49 h 49"/>
                <a:gd name="T4" fmla="*/ 11 w 49"/>
                <a:gd name="T5" fmla="*/ 11 h 49"/>
                <a:gd name="T6" fmla="*/ 11 w 49"/>
                <a:gd name="T7" fmla="*/ 11 h 49"/>
                <a:gd name="T8" fmla="*/ 49 w 49"/>
                <a:gd name="T9" fmla="*/ 9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9" h="49">
                  <a:moveTo>
                    <a:pt x="49" y="9"/>
                  </a:moveTo>
                  <a:cubicBezTo>
                    <a:pt x="9" y="49"/>
                    <a:pt x="9" y="49"/>
                    <a:pt x="9" y="49"/>
                  </a:cubicBezTo>
                  <a:cubicBezTo>
                    <a:pt x="0" y="38"/>
                    <a:pt x="0" y="22"/>
                    <a:pt x="11" y="11"/>
                  </a:cubicBezTo>
                  <a:cubicBezTo>
                    <a:pt x="11" y="11"/>
                    <a:pt x="11" y="11"/>
                    <a:pt x="11" y="11"/>
                  </a:cubicBezTo>
                  <a:cubicBezTo>
                    <a:pt x="22" y="0"/>
                    <a:pt x="38" y="0"/>
                    <a:pt x="49" y="9"/>
                  </a:cubicBezTo>
                  <a:close/>
                </a:path>
              </a:pathLst>
            </a:custGeom>
            <a:solidFill>
              <a:srgbClr val="F7B4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/>
            </a:p>
          </p:txBody>
        </p:sp>
        <p:sp>
          <p:nvSpPr>
            <p:cNvPr id="23" name="Freeform 86">
              <a:extLst>
                <a:ext uri="{FF2B5EF4-FFF2-40B4-BE49-F238E27FC236}">
                  <a16:creationId xmlns:a16="http://schemas.microsoft.com/office/drawing/2014/main" id="{986BB650-CEC0-8E34-CB2A-47271D7FA787}"/>
                </a:ext>
              </a:extLst>
            </p:cNvPr>
            <p:cNvSpPr>
              <a:spLocks/>
            </p:cNvSpPr>
            <p:nvPr/>
          </p:nvSpPr>
          <p:spPr bwMode="auto">
            <a:xfrm>
              <a:off x="3267075" y="2800351"/>
              <a:ext cx="90488" cy="90488"/>
            </a:xfrm>
            <a:custGeom>
              <a:avLst/>
              <a:gdLst>
                <a:gd name="T0" fmla="*/ 18 w 24"/>
                <a:gd name="T1" fmla="*/ 0 h 24"/>
                <a:gd name="T2" fmla="*/ 24 w 24"/>
                <a:gd name="T3" fmla="*/ 21 h 24"/>
                <a:gd name="T4" fmla="*/ 20 w 24"/>
                <a:gd name="T5" fmla="*/ 24 h 24"/>
                <a:gd name="T6" fmla="*/ 0 w 24"/>
                <a:gd name="T7" fmla="*/ 18 h 24"/>
                <a:gd name="T8" fmla="*/ 7 w 24"/>
                <a:gd name="T9" fmla="*/ 7 h 24"/>
                <a:gd name="T10" fmla="*/ 18 w 24"/>
                <a:gd name="T11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" h="24">
                  <a:moveTo>
                    <a:pt x="18" y="0"/>
                  </a:moveTo>
                  <a:cubicBezTo>
                    <a:pt x="24" y="21"/>
                    <a:pt x="24" y="21"/>
                    <a:pt x="24" y="21"/>
                  </a:cubicBezTo>
                  <a:cubicBezTo>
                    <a:pt x="24" y="23"/>
                    <a:pt x="22" y="24"/>
                    <a:pt x="20" y="24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1" y="14"/>
                    <a:pt x="3" y="10"/>
                    <a:pt x="7" y="7"/>
                  </a:cubicBezTo>
                  <a:cubicBezTo>
                    <a:pt x="10" y="4"/>
                    <a:pt x="14" y="1"/>
                    <a:pt x="18" y="0"/>
                  </a:cubicBezTo>
                  <a:close/>
                </a:path>
              </a:pathLst>
            </a:custGeom>
            <a:solidFill>
              <a:srgbClr val="3E3E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/>
            </a:p>
          </p:txBody>
        </p:sp>
        <p:sp>
          <p:nvSpPr>
            <p:cNvPr id="24" name="Freeform 87">
              <a:extLst>
                <a:ext uri="{FF2B5EF4-FFF2-40B4-BE49-F238E27FC236}">
                  <a16:creationId xmlns:a16="http://schemas.microsoft.com/office/drawing/2014/main" id="{43CE3A6A-8749-7560-7453-2D6F0BCAD172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7025" y="2403476"/>
              <a:ext cx="434975" cy="427038"/>
            </a:xfrm>
            <a:custGeom>
              <a:avLst/>
              <a:gdLst>
                <a:gd name="T0" fmla="*/ 114 w 115"/>
                <a:gd name="T1" fmla="*/ 73 h 113"/>
                <a:gd name="T2" fmla="*/ 41 w 115"/>
                <a:gd name="T3" fmla="*/ 0 h 113"/>
                <a:gd name="T4" fmla="*/ 0 w 115"/>
                <a:gd name="T5" fmla="*/ 40 h 113"/>
                <a:gd name="T6" fmla="*/ 0 w 115"/>
                <a:gd name="T7" fmla="*/ 40 h 113"/>
                <a:gd name="T8" fmla="*/ 73 w 115"/>
                <a:gd name="T9" fmla="*/ 113 h 113"/>
                <a:gd name="T10" fmla="*/ 73 w 115"/>
                <a:gd name="T11" fmla="*/ 113 h 113"/>
                <a:gd name="T12" fmla="*/ 76 w 115"/>
                <a:gd name="T13" fmla="*/ 95 h 113"/>
                <a:gd name="T14" fmla="*/ 94 w 115"/>
                <a:gd name="T15" fmla="*/ 94 h 113"/>
                <a:gd name="T16" fmla="*/ 94 w 115"/>
                <a:gd name="T17" fmla="*/ 93 h 113"/>
                <a:gd name="T18" fmla="*/ 94 w 115"/>
                <a:gd name="T19" fmla="*/ 93 h 113"/>
                <a:gd name="T20" fmla="*/ 96 w 115"/>
                <a:gd name="T21" fmla="*/ 74 h 113"/>
                <a:gd name="T22" fmla="*/ 114 w 115"/>
                <a:gd name="T23" fmla="*/ 73 h 113"/>
                <a:gd name="T24" fmla="*/ 114 w 115"/>
                <a:gd name="T25" fmla="*/ 73 h 113"/>
                <a:gd name="T26" fmla="*/ 114 w 115"/>
                <a:gd name="T27" fmla="*/ 73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15" h="113">
                  <a:moveTo>
                    <a:pt x="114" y="73"/>
                  </a:moveTo>
                  <a:cubicBezTo>
                    <a:pt x="108" y="67"/>
                    <a:pt x="41" y="0"/>
                    <a:pt x="41" y="0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0" y="40"/>
                    <a:pt x="64" y="104"/>
                    <a:pt x="73" y="113"/>
                  </a:cubicBezTo>
                  <a:cubicBezTo>
                    <a:pt x="73" y="113"/>
                    <a:pt x="73" y="113"/>
                    <a:pt x="73" y="113"/>
                  </a:cubicBezTo>
                  <a:cubicBezTo>
                    <a:pt x="70" y="108"/>
                    <a:pt x="71" y="100"/>
                    <a:pt x="76" y="95"/>
                  </a:cubicBezTo>
                  <a:cubicBezTo>
                    <a:pt x="81" y="90"/>
                    <a:pt x="89" y="90"/>
                    <a:pt x="94" y="94"/>
                  </a:cubicBezTo>
                  <a:cubicBezTo>
                    <a:pt x="94" y="94"/>
                    <a:pt x="94" y="94"/>
                    <a:pt x="94" y="93"/>
                  </a:cubicBezTo>
                  <a:cubicBezTo>
                    <a:pt x="94" y="93"/>
                    <a:pt x="94" y="93"/>
                    <a:pt x="94" y="93"/>
                  </a:cubicBezTo>
                  <a:cubicBezTo>
                    <a:pt x="90" y="88"/>
                    <a:pt x="90" y="80"/>
                    <a:pt x="96" y="74"/>
                  </a:cubicBezTo>
                  <a:cubicBezTo>
                    <a:pt x="101" y="69"/>
                    <a:pt x="109" y="69"/>
                    <a:pt x="114" y="73"/>
                  </a:cubicBezTo>
                  <a:cubicBezTo>
                    <a:pt x="114" y="73"/>
                    <a:pt x="114" y="73"/>
                    <a:pt x="114" y="73"/>
                  </a:cubicBezTo>
                  <a:cubicBezTo>
                    <a:pt x="115" y="73"/>
                    <a:pt x="115" y="73"/>
                    <a:pt x="114" y="73"/>
                  </a:cubicBezTo>
                  <a:close/>
                </a:path>
              </a:pathLst>
            </a:custGeom>
            <a:solidFill>
              <a:srgbClr val="DF2C2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/>
            </a:p>
          </p:txBody>
        </p:sp>
        <p:sp>
          <p:nvSpPr>
            <p:cNvPr id="25" name="Freeform 88">
              <a:extLst>
                <a:ext uri="{FF2B5EF4-FFF2-40B4-BE49-F238E27FC236}">
                  <a16:creationId xmlns:a16="http://schemas.microsoft.com/office/drawing/2014/main" id="{F4B18C41-5540-D2DB-0B18-E7F9555FC1AD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0038" y="2373313"/>
              <a:ext cx="180975" cy="180975"/>
            </a:xfrm>
            <a:custGeom>
              <a:avLst/>
              <a:gdLst>
                <a:gd name="T0" fmla="*/ 17 w 114"/>
                <a:gd name="T1" fmla="*/ 114 h 114"/>
                <a:gd name="T2" fmla="*/ 0 w 114"/>
                <a:gd name="T3" fmla="*/ 98 h 114"/>
                <a:gd name="T4" fmla="*/ 95 w 114"/>
                <a:gd name="T5" fmla="*/ 0 h 114"/>
                <a:gd name="T6" fmla="*/ 114 w 114"/>
                <a:gd name="T7" fmla="*/ 19 h 114"/>
                <a:gd name="T8" fmla="*/ 17 w 114"/>
                <a:gd name="T9" fmla="*/ 114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4" h="114">
                  <a:moveTo>
                    <a:pt x="17" y="114"/>
                  </a:moveTo>
                  <a:lnTo>
                    <a:pt x="0" y="98"/>
                  </a:lnTo>
                  <a:lnTo>
                    <a:pt x="95" y="0"/>
                  </a:lnTo>
                  <a:lnTo>
                    <a:pt x="114" y="19"/>
                  </a:lnTo>
                  <a:lnTo>
                    <a:pt x="17" y="114"/>
                  </a:lnTo>
                  <a:close/>
                </a:path>
              </a:pathLst>
            </a:custGeom>
            <a:solidFill>
              <a:srgbClr val="FACB1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/>
            </a:p>
          </p:txBody>
        </p:sp>
        <p:sp>
          <p:nvSpPr>
            <p:cNvPr id="26" name="Freeform 89">
              <a:extLst>
                <a:ext uri="{FF2B5EF4-FFF2-40B4-BE49-F238E27FC236}">
                  <a16:creationId xmlns:a16="http://schemas.microsoft.com/office/drawing/2014/main" id="{D512EE14-173B-A62F-E7E5-8433F9A45ABE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7025" y="2479676"/>
              <a:ext cx="355600" cy="350838"/>
            </a:xfrm>
            <a:custGeom>
              <a:avLst/>
              <a:gdLst>
                <a:gd name="T0" fmla="*/ 0 w 94"/>
                <a:gd name="T1" fmla="*/ 20 h 93"/>
                <a:gd name="T2" fmla="*/ 73 w 94"/>
                <a:gd name="T3" fmla="*/ 93 h 93"/>
                <a:gd name="T4" fmla="*/ 73 w 94"/>
                <a:gd name="T5" fmla="*/ 93 h 93"/>
                <a:gd name="T6" fmla="*/ 76 w 94"/>
                <a:gd name="T7" fmla="*/ 75 h 93"/>
                <a:gd name="T8" fmla="*/ 94 w 94"/>
                <a:gd name="T9" fmla="*/ 74 h 93"/>
                <a:gd name="T10" fmla="*/ 94 w 94"/>
                <a:gd name="T11" fmla="*/ 73 h 93"/>
                <a:gd name="T12" fmla="*/ 21 w 94"/>
                <a:gd name="T13" fmla="*/ 0 h 93"/>
                <a:gd name="T14" fmla="*/ 0 w 94"/>
                <a:gd name="T15" fmla="*/ 20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4" h="93">
                  <a:moveTo>
                    <a:pt x="0" y="20"/>
                  </a:moveTo>
                  <a:cubicBezTo>
                    <a:pt x="0" y="20"/>
                    <a:pt x="64" y="84"/>
                    <a:pt x="73" y="93"/>
                  </a:cubicBezTo>
                  <a:cubicBezTo>
                    <a:pt x="73" y="93"/>
                    <a:pt x="73" y="93"/>
                    <a:pt x="73" y="93"/>
                  </a:cubicBezTo>
                  <a:cubicBezTo>
                    <a:pt x="70" y="88"/>
                    <a:pt x="71" y="80"/>
                    <a:pt x="76" y="75"/>
                  </a:cubicBezTo>
                  <a:cubicBezTo>
                    <a:pt x="81" y="70"/>
                    <a:pt x="89" y="70"/>
                    <a:pt x="94" y="74"/>
                  </a:cubicBezTo>
                  <a:cubicBezTo>
                    <a:pt x="94" y="74"/>
                    <a:pt x="94" y="73"/>
                    <a:pt x="94" y="73"/>
                  </a:cubicBezTo>
                  <a:cubicBezTo>
                    <a:pt x="21" y="0"/>
                    <a:pt x="21" y="0"/>
                    <a:pt x="21" y="0"/>
                  </a:cubicBezTo>
                  <a:lnTo>
                    <a:pt x="0" y="20"/>
                  </a:lnTo>
                  <a:close/>
                </a:path>
              </a:pathLst>
            </a:custGeom>
            <a:solidFill>
              <a:srgbClr val="FA565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/>
            </a:p>
          </p:txBody>
        </p:sp>
      </p:grpSp>
      <p:sp>
        <p:nvSpPr>
          <p:cNvPr id="13" name="Title 1">
            <a:extLst>
              <a:ext uri="{FF2B5EF4-FFF2-40B4-BE49-F238E27FC236}">
                <a16:creationId xmlns:a16="http://schemas.microsoft.com/office/drawing/2014/main" id="{C45966AB-0A8D-927A-0194-599B7885AEED}"/>
              </a:ext>
            </a:extLst>
          </p:cNvPr>
          <p:cNvSpPr txBox="1">
            <a:spLocks/>
          </p:cNvSpPr>
          <p:nvPr/>
        </p:nvSpPr>
        <p:spPr>
          <a:xfrm>
            <a:off x="837850" y="1975046"/>
            <a:ext cx="4303725" cy="326016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Aft>
                <a:spcPts val="1200"/>
              </a:spcAft>
            </a:pPr>
            <a:r>
              <a:rPr lang="en-US" sz="2400" i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Business events occur when a business process is run.</a:t>
            </a:r>
          </a:p>
          <a:p>
            <a:pPr>
              <a:lnSpc>
                <a:spcPct val="100000"/>
              </a:lnSpc>
              <a:spcAft>
                <a:spcPts val="1200"/>
              </a:spcAft>
            </a:pPr>
            <a:endParaRPr lang="en-US" sz="2400" i="1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lang="en-US" sz="2400" i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Systems can perform business actions in response to the business events.</a:t>
            </a:r>
          </a:p>
          <a:p>
            <a:pPr>
              <a:lnSpc>
                <a:spcPct val="100000"/>
              </a:lnSpc>
              <a:spcAft>
                <a:spcPts val="1200"/>
              </a:spcAft>
            </a:pPr>
            <a:endParaRPr lang="en-US" sz="2400" i="1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2FE66E9-CFF4-5466-A7FC-6E00467B92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02011" y="6090342"/>
            <a:ext cx="501650" cy="501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96199517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FDBAE5-EC05-EFD0-7096-EEA43BC46A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D7F7F236-9548-7B82-EDAA-F36D8CC72BEC}"/>
              </a:ext>
            </a:extLst>
          </p:cNvPr>
          <p:cNvSpPr>
            <a:spLocks noGrp="1"/>
          </p:cNvSpPr>
          <p:nvPr/>
        </p:nvSpPr>
        <p:spPr>
          <a:xfrm>
            <a:off x="554433" y="90463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0" kern="1200">
                <a:solidFill>
                  <a:srgbClr val="9C3C9A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 sz="440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Data Event (DE) vs Business Event (BE)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Slide Number Placeholder 3">
            <a:extLst>
              <a:ext uri="{FF2B5EF4-FFF2-40B4-BE49-F238E27FC236}">
                <a16:creationId xmlns:a16="http://schemas.microsoft.com/office/drawing/2014/main" id="{A8C68075-1968-2202-316E-C5359C52CB9C}"/>
              </a:ext>
            </a:extLst>
          </p:cNvPr>
          <p:cNvSpPr>
            <a:spLocks noGrp="1"/>
          </p:cNvSpPr>
          <p:nvPr/>
        </p:nvSpPr>
        <p:spPr>
          <a:xfrm>
            <a:off x="11707121" y="6306695"/>
            <a:ext cx="3317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D05A9CD-9176-4D89-A414-3BEEE81BBC77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13" name="Freeform 46">
            <a:extLst>
              <a:ext uri="{FF2B5EF4-FFF2-40B4-BE49-F238E27FC236}">
                <a16:creationId xmlns:a16="http://schemas.microsoft.com/office/drawing/2014/main" id="{DACF442D-2E4C-6781-AA00-7792C9E84A93}"/>
              </a:ext>
            </a:extLst>
          </p:cNvPr>
          <p:cNvSpPr/>
          <p:nvPr/>
        </p:nvSpPr>
        <p:spPr>
          <a:xfrm>
            <a:off x="324624" y="2363799"/>
            <a:ext cx="2647042" cy="3978275"/>
          </a:xfrm>
          <a:prstGeom prst="roundRect">
            <a:avLst>
              <a:gd name="adj" fmla="val 3858"/>
            </a:avLst>
          </a:prstGeom>
          <a:solidFill>
            <a:srgbClr val="FFD1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4" name="Freeform 46">
            <a:extLst>
              <a:ext uri="{FF2B5EF4-FFF2-40B4-BE49-F238E27FC236}">
                <a16:creationId xmlns:a16="http://schemas.microsoft.com/office/drawing/2014/main" id="{542592EE-29F1-7CB6-003D-C83CFC91E832}"/>
              </a:ext>
            </a:extLst>
          </p:cNvPr>
          <p:cNvSpPr/>
          <p:nvPr/>
        </p:nvSpPr>
        <p:spPr>
          <a:xfrm>
            <a:off x="3165191" y="2363799"/>
            <a:ext cx="2647042" cy="3978275"/>
          </a:xfrm>
          <a:prstGeom prst="roundRect">
            <a:avLst>
              <a:gd name="adj" fmla="val 3858"/>
            </a:avLst>
          </a:prstGeom>
          <a:solidFill>
            <a:srgbClr val="FFD1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5" name="Freeform 46">
            <a:extLst>
              <a:ext uri="{FF2B5EF4-FFF2-40B4-BE49-F238E27FC236}">
                <a16:creationId xmlns:a16="http://schemas.microsoft.com/office/drawing/2014/main" id="{7D21A89E-8268-9826-3E50-06AD6E259EAB}"/>
              </a:ext>
            </a:extLst>
          </p:cNvPr>
          <p:cNvSpPr/>
          <p:nvPr/>
        </p:nvSpPr>
        <p:spPr>
          <a:xfrm>
            <a:off x="6005758" y="2363799"/>
            <a:ext cx="2647042" cy="3978275"/>
          </a:xfrm>
          <a:prstGeom prst="roundRect">
            <a:avLst>
              <a:gd name="adj" fmla="val 4406"/>
            </a:avLst>
          </a:prstGeom>
          <a:solidFill>
            <a:srgbClr val="FFD1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6" name="Freeform 46">
            <a:extLst>
              <a:ext uri="{FF2B5EF4-FFF2-40B4-BE49-F238E27FC236}">
                <a16:creationId xmlns:a16="http://schemas.microsoft.com/office/drawing/2014/main" id="{0B22B903-12B2-8044-DB02-00AD30E55B05}"/>
              </a:ext>
            </a:extLst>
          </p:cNvPr>
          <p:cNvSpPr/>
          <p:nvPr/>
        </p:nvSpPr>
        <p:spPr>
          <a:xfrm>
            <a:off x="8846324" y="2363799"/>
            <a:ext cx="2647042" cy="3978275"/>
          </a:xfrm>
          <a:prstGeom prst="roundRect">
            <a:avLst>
              <a:gd name="adj" fmla="val 3858"/>
            </a:avLst>
          </a:prstGeom>
          <a:solidFill>
            <a:srgbClr val="FFD1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8D660FD6-5231-863A-CCFC-E8EADC2ED2A3}"/>
              </a:ext>
            </a:extLst>
          </p:cNvPr>
          <p:cNvSpPr txBox="1">
            <a:spLocks/>
          </p:cNvSpPr>
          <p:nvPr/>
        </p:nvSpPr>
        <p:spPr>
          <a:xfrm>
            <a:off x="511949" y="4338279"/>
            <a:ext cx="2261753" cy="833716"/>
          </a:xfrm>
          <a:prstGeom prst="rect">
            <a:avLst/>
          </a:prstGeom>
          <a:noFill/>
        </p:spPr>
        <p:txBody>
          <a:bodyPr vert="horz" lIns="0" tIns="72000" rIns="0" bIns="72000" rtlCol="0" anchor="t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  <a:spcAft>
                <a:spcPts val="1200"/>
              </a:spcAft>
            </a:pPr>
            <a:r>
              <a:rPr lang="en-US" sz="20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Result? Triggers an integration call.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31F3003A-B317-F8CA-B587-27844778CA85}"/>
              </a:ext>
            </a:extLst>
          </p:cNvPr>
          <p:cNvSpPr txBox="1">
            <a:spLocks/>
          </p:cNvSpPr>
          <p:nvPr/>
        </p:nvSpPr>
        <p:spPr>
          <a:xfrm>
            <a:off x="3357836" y="4338279"/>
            <a:ext cx="2261753" cy="833716"/>
          </a:xfrm>
          <a:prstGeom prst="rect">
            <a:avLst/>
          </a:prstGeom>
          <a:noFill/>
        </p:spPr>
        <p:txBody>
          <a:bodyPr vert="horz" lIns="0" tIns="72000" rIns="0" bIns="72000" rtlCol="0" anchor="t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  <a:spcAft>
                <a:spcPts val="1200"/>
              </a:spcAft>
            </a:pPr>
            <a:r>
              <a:rPr lang="en-US" sz="20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Result? Triggers an integration call.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0B015954-0962-9A82-4C35-CB35A37E45E9}"/>
              </a:ext>
            </a:extLst>
          </p:cNvPr>
          <p:cNvSpPr txBox="1">
            <a:spLocks/>
          </p:cNvSpPr>
          <p:nvPr/>
        </p:nvSpPr>
        <p:spPr>
          <a:xfrm>
            <a:off x="6198403" y="4338279"/>
            <a:ext cx="2261753" cy="833716"/>
          </a:xfrm>
          <a:prstGeom prst="rect">
            <a:avLst/>
          </a:prstGeom>
          <a:noFill/>
        </p:spPr>
        <p:txBody>
          <a:bodyPr vert="horz" lIns="0" tIns="72000" rIns="0" bIns="72000" rtlCol="0" anchor="t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  <a:spcAft>
                <a:spcPts val="1200"/>
              </a:spcAft>
            </a:pPr>
            <a:r>
              <a:rPr lang="en-US" sz="2000" i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Result? Triggers an integration call.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5B261ED6-A127-827C-FB46-1D30560E57DB}"/>
              </a:ext>
            </a:extLst>
          </p:cNvPr>
          <p:cNvSpPr txBox="1">
            <a:spLocks/>
          </p:cNvSpPr>
          <p:nvPr/>
        </p:nvSpPr>
        <p:spPr>
          <a:xfrm>
            <a:off x="9038969" y="4338279"/>
            <a:ext cx="2261753" cy="833716"/>
          </a:xfrm>
          <a:prstGeom prst="rect">
            <a:avLst/>
          </a:prstGeom>
          <a:noFill/>
        </p:spPr>
        <p:txBody>
          <a:bodyPr vert="horz" lIns="0" tIns="72000" rIns="0" bIns="72000" rtlCol="0" anchor="t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  <a:spcAft>
                <a:spcPts val="1200"/>
              </a:spcAft>
            </a:pPr>
            <a:r>
              <a:rPr lang="en-US" sz="2000" i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Result? Triggers an integration call.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A169DF3C-8038-2EB1-B1F6-BDE97E6990EA}"/>
              </a:ext>
            </a:extLst>
          </p:cNvPr>
          <p:cNvSpPr txBox="1">
            <a:spLocks/>
          </p:cNvSpPr>
          <p:nvPr/>
        </p:nvSpPr>
        <p:spPr>
          <a:xfrm>
            <a:off x="1937108" y="2052725"/>
            <a:ext cx="2261758" cy="511296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  <a:spcAft>
                <a:spcPts val="1200"/>
              </a:spcAft>
            </a:pPr>
            <a:r>
              <a:rPr lang="en-US" sz="1800" b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Data Event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D6952E35-1136-8367-641E-908B90015ECE}"/>
              </a:ext>
            </a:extLst>
          </p:cNvPr>
          <p:cNvSpPr txBox="1">
            <a:spLocks/>
          </p:cNvSpPr>
          <p:nvPr/>
        </p:nvSpPr>
        <p:spPr>
          <a:xfrm>
            <a:off x="7618683" y="2049350"/>
            <a:ext cx="2261758" cy="511296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  <a:spcAft>
                <a:spcPts val="1200"/>
              </a:spcAft>
            </a:pPr>
            <a:r>
              <a:rPr lang="en-US" sz="1800" b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Business Event</a:t>
            </a: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4CB850FC-4399-1002-9BA5-B1F7B49111A4}"/>
              </a:ext>
            </a:extLst>
          </p:cNvPr>
          <p:cNvSpPr txBox="1">
            <a:spLocks/>
          </p:cNvSpPr>
          <p:nvPr/>
        </p:nvSpPr>
        <p:spPr>
          <a:xfrm>
            <a:off x="511949" y="2751041"/>
            <a:ext cx="2386325" cy="136003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  <a:spcAft>
                <a:spcPts val="1200"/>
              </a:spcAft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Creates a record in </a:t>
            </a:r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VendPurchOrderJour</a:t>
            </a:r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F595DF81-5E34-4B7E-13A5-2BBCC58A2E6A}"/>
              </a:ext>
            </a:extLst>
          </p:cNvPr>
          <p:cNvSpPr txBox="1">
            <a:spLocks/>
          </p:cNvSpPr>
          <p:nvPr/>
        </p:nvSpPr>
        <p:spPr>
          <a:xfrm>
            <a:off x="3357836" y="2751041"/>
            <a:ext cx="2379890" cy="136003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  <a:spcAft>
                <a:spcPts val="1200"/>
              </a:spcAft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Create a </a:t>
            </a:r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VendPackingSlipJour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record</a:t>
            </a:r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D63C9D2C-B096-44D1-1043-C17901AA534A}"/>
              </a:ext>
            </a:extLst>
          </p:cNvPr>
          <p:cNvSpPr txBox="1">
            <a:spLocks/>
          </p:cNvSpPr>
          <p:nvPr/>
        </p:nvSpPr>
        <p:spPr>
          <a:xfrm>
            <a:off x="6198403" y="2751041"/>
            <a:ext cx="2261753" cy="136003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  <a:spcAft>
                <a:spcPts val="1200"/>
              </a:spcAft>
            </a:pPr>
            <a:r>
              <a:rPr lang="en-US" sz="200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Post a confirmation for a Purchase Order.</a:t>
            </a:r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AA9CF481-DB0D-07DD-637A-9DA0603E49E6}"/>
              </a:ext>
            </a:extLst>
          </p:cNvPr>
          <p:cNvSpPr txBox="1">
            <a:spLocks/>
          </p:cNvSpPr>
          <p:nvPr/>
        </p:nvSpPr>
        <p:spPr>
          <a:xfrm>
            <a:off x="9038969" y="2751041"/>
            <a:ext cx="2261753" cy="136003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  <a:spcAft>
                <a:spcPts val="1200"/>
              </a:spcAft>
            </a:pPr>
            <a:r>
              <a:rPr lang="en-US" sz="200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Post a Product Receipt Journal.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DBA5AB1F-D565-6E3A-742E-616ED7E88FCE}"/>
              </a:ext>
            </a:extLst>
          </p:cNvPr>
          <p:cNvCxnSpPr>
            <a:cxnSpLocks/>
          </p:cNvCxnSpPr>
          <p:nvPr/>
        </p:nvCxnSpPr>
        <p:spPr>
          <a:xfrm>
            <a:off x="519990" y="4207648"/>
            <a:ext cx="2256311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B239F5BA-0F01-A9AC-216E-6F4A32E37836}"/>
              </a:ext>
            </a:extLst>
          </p:cNvPr>
          <p:cNvCxnSpPr>
            <a:cxnSpLocks/>
          </p:cNvCxnSpPr>
          <p:nvPr/>
        </p:nvCxnSpPr>
        <p:spPr>
          <a:xfrm>
            <a:off x="3360557" y="4207648"/>
            <a:ext cx="2256311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ACE2E7CC-E9DF-2770-DBAF-D9D44B91E68E}"/>
              </a:ext>
            </a:extLst>
          </p:cNvPr>
          <p:cNvCxnSpPr>
            <a:cxnSpLocks/>
          </p:cNvCxnSpPr>
          <p:nvPr/>
        </p:nvCxnSpPr>
        <p:spPr>
          <a:xfrm>
            <a:off x="6201124" y="4207648"/>
            <a:ext cx="2256311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35AE63D7-14A7-C4E2-1997-E1414A51E46A}"/>
              </a:ext>
            </a:extLst>
          </p:cNvPr>
          <p:cNvCxnSpPr>
            <a:cxnSpLocks/>
          </p:cNvCxnSpPr>
          <p:nvPr/>
        </p:nvCxnSpPr>
        <p:spPr>
          <a:xfrm>
            <a:off x="9041690" y="4207648"/>
            <a:ext cx="2256311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" name="Picture 30">
            <a:extLst>
              <a:ext uri="{FF2B5EF4-FFF2-40B4-BE49-F238E27FC236}">
                <a16:creationId xmlns:a16="http://schemas.microsoft.com/office/drawing/2014/main" id="{E84AE35D-E1C0-B7CB-C1E7-CDAA5DCCBD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31265" y="6095680"/>
            <a:ext cx="501650" cy="501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27082678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5B5E97-23B7-1DB6-A01D-3AE148BB1D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0024BAB-0B98-1857-B080-139F8D0B7752}"/>
              </a:ext>
            </a:extLst>
          </p:cNvPr>
          <p:cNvSpPr>
            <a:spLocks noGrp="1"/>
          </p:cNvSpPr>
          <p:nvPr/>
        </p:nvSpPr>
        <p:spPr>
          <a:xfrm>
            <a:off x="839175" y="1718736"/>
            <a:ext cx="10515600" cy="42298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i="0" kern="1200">
                <a:solidFill>
                  <a:srgbClr val="ED3F7B"/>
                </a:solidFill>
                <a:latin typeface="Open Sans SemiBold" pitchFamily="2" charset="0"/>
                <a:ea typeface="Open Sans SemiBold" pitchFamily="2" charset="0"/>
                <a:cs typeface="Open Sans SemiBold" pitchFamily="2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b="1" dirty="0">
                <a:solidFill>
                  <a:srgbClr val="1B449A"/>
                </a:solidFill>
              </a:rPr>
              <a:t>Data Events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dirty="0"/>
              <a:t>Regularly monitor integration endpoints to ensure timely data handling.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dirty="0"/>
              <a:t>Optimize data structures and filters to avoid unnecessary data loads.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dirty="0"/>
              <a:t>Use asynchronous processing wherever possible to enhance system responsiveness.</a:t>
            </a:r>
          </a:p>
          <a:p>
            <a:pPr algn="l"/>
            <a:endParaRPr lang="en-GB" b="1" dirty="0">
              <a:solidFill>
                <a:srgbClr val="1B449A"/>
              </a:solidFill>
            </a:endParaRPr>
          </a:p>
          <a:p>
            <a:pPr algn="l"/>
            <a:r>
              <a:rPr lang="en-GB" b="1" dirty="0">
                <a:solidFill>
                  <a:srgbClr val="1B449A"/>
                </a:solidFill>
              </a:rPr>
              <a:t>Business Events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dirty="0"/>
              <a:t>Clearly define business rules and conditions to trigger events accurately.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dirty="0"/>
              <a:t>Maintain version control and update documentation to manage changes in business logic.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dirty="0"/>
              <a:t>Implement robust error handling and retry mechanisms for critical integrations.</a:t>
            </a: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4B9B8C69-EDBC-B981-B343-42A9EE751815}"/>
              </a:ext>
            </a:extLst>
          </p:cNvPr>
          <p:cNvSpPr>
            <a:spLocks noGrp="1"/>
          </p:cNvSpPr>
          <p:nvPr/>
        </p:nvSpPr>
        <p:spPr>
          <a:xfrm>
            <a:off x="11942901" y="6135753"/>
            <a:ext cx="3317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D05A9CD-9176-4D89-A414-3BEEE81BBC77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9" name="Rectángulo redondeado 14">
            <a:extLst>
              <a:ext uri="{FF2B5EF4-FFF2-40B4-BE49-F238E27FC236}">
                <a16:creationId xmlns:a16="http://schemas.microsoft.com/office/drawing/2014/main" id="{285E75E7-E451-7080-409C-844793FF5F91}"/>
              </a:ext>
            </a:extLst>
          </p:cNvPr>
          <p:cNvSpPr/>
          <p:nvPr/>
        </p:nvSpPr>
        <p:spPr>
          <a:xfrm>
            <a:off x="214448" y="176252"/>
            <a:ext cx="9444878" cy="1214125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>
            <a:noFill/>
          </a:ln>
          <a:effectLst>
            <a:outerShdw dist="635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0" name="Rectángulo 12">
            <a:extLst>
              <a:ext uri="{FF2B5EF4-FFF2-40B4-BE49-F238E27FC236}">
                <a16:creationId xmlns:a16="http://schemas.microsoft.com/office/drawing/2014/main" id="{2531F3BB-118F-7C6C-AE0D-5EBB1A611AE8}"/>
              </a:ext>
            </a:extLst>
          </p:cNvPr>
          <p:cNvSpPr/>
          <p:nvPr/>
        </p:nvSpPr>
        <p:spPr>
          <a:xfrm>
            <a:off x="683859" y="356969"/>
            <a:ext cx="7415414" cy="769441"/>
          </a:xfrm>
          <a:prstGeom prst="rect">
            <a:avLst/>
          </a:prstGeom>
        </p:spPr>
        <p:txBody>
          <a:bodyPr wrap="square" lIns="0" rIns="0" anchor="b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400" b="1" dirty="0">
                <a:solidFill>
                  <a:srgbClr val="1E275C"/>
                </a:solidFill>
                <a:latin typeface="Segoe UI" panose="020B0502040204020203" pitchFamily="34" charset="0"/>
                <a:ea typeface="Source Sans Pro Black" panose="020B0803030403020204" pitchFamily="34" charset="0"/>
                <a:cs typeface="Segoe UI" panose="020B0502040204020203" pitchFamily="34" charset="0"/>
              </a:rPr>
              <a:t>DE vs BE – Best Practices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D81C83E-7B06-540E-FC30-E53C6C7477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95740" y="6135753"/>
            <a:ext cx="501650" cy="501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07057554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0CB51C-97D5-1847-4382-F5C2752DB8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B35E699-560B-81AE-022D-29D4F17897FC}"/>
              </a:ext>
            </a:extLst>
          </p:cNvPr>
          <p:cNvSpPr>
            <a:spLocks noGrp="1"/>
          </p:cNvSpPr>
          <p:nvPr/>
        </p:nvSpPr>
        <p:spPr>
          <a:xfrm>
            <a:off x="645307" y="1840687"/>
            <a:ext cx="10515600" cy="43691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i="0" kern="1200">
                <a:solidFill>
                  <a:srgbClr val="ED3F7B"/>
                </a:solidFill>
                <a:latin typeface="Open Sans SemiBold" pitchFamily="2" charset="0"/>
                <a:ea typeface="Open Sans SemiBold" pitchFamily="2" charset="0"/>
                <a:cs typeface="Open Sans SemiBold" pitchFamily="2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dirty="0">
                <a:solidFill>
                  <a:srgbClr val="1B449A"/>
                </a:solidFill>
              </a:rPr>
              <a:t>Data Events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Best suited where real-time processing is not critical.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Potential impact on performance when dealing with large datasets; batching and timing of data synchronization is crucial.</a:t>
            </a:r>
            <a:endParaRPr lang="en-GB" dirty="0"/>
          </a:p>
          <a:p>
            <a:pPr algn="l"/>
            <a:endParaRPr lang="en-GB" dirty="0">
              <a:solidFill>
                <a:srgbClr val="1B449A"/>
              </a:solidFill>
            </a:endParaRPr>
          </a:p>
          <a:p>
            <a:pPr algn="l"/>
            <a:r>
              <a:rPr lang="en-GB" dirty="0">
                <a:solidFill>
                  <a:srgbClr val="1B449A"/>
                </a:solidFill>
              </a:rPr>
              <a:t>Business Events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Ideal for operations where immediate system response is required based on business conditions.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Requires careful management to prevent overloading the system with frequent, concurrent business event triggers.</a:t>
            </a:r>
          </a:p>
          <a:p>
            <a:pPr lvl="1"/>
            <a:endParaRPr lang="en-GB" dirty="0"/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0EBFB284-CD1C-6A82-DB53-457E824CE7D5}"/>
              </a:ext>
            </a:extLst>
          </p:cNvPr>
          <p:cNvSpPr>
            <a:spLocks noGrp="1"/>
          </p:cNvSpPr>
          <p:nvPr/>
        </p:nvSpPr>
        <p:spPr>
          <a:xfrm>
            <a:off x="11673670" y="6466726"/>
            <a:ext cx="3317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D05A9CD-9176-4D89-A414-3BEEE81BBC77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9" name="Rectángulo redondeado 14">
            <a:extLst>
              <a:ext uri="{FF2B5EF4-FFF2-40B4-BE49-F238E27FC236}">
                <a16:creationId xmlns:a16="http://schemas.microsoft.com/office/drawing/2014/main" id="{BEB772FE-D717-7221-449D-4F0CAE7FCD1D}"/>
              </a:ext>
            </a:extLst>
          </p:cNvPr>
          <p:cNvSpPr/>
          <p:nvPr/>
        </p:nvSpPr>
        <p:spPr>
          <a:xfrm>
            <a:off x="20580" y="326355"/>
            <a:ext cx="9444878" cy="1214125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>
            <a:noFill/>
          </a:ln>
          <a:effectLst>
            <a:outerShdw dist="635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0" name="Rectángulo 12">
            <a:extLst>
              <a:ext uri="{FF2B5EF4-FFF2-40B4-BE49-F238E27FC236}">
                <a16:creationId xmlns:a16="http://schemas.microsoft.com/office/drawing/2014/main" id="{B6397FB0-E1E2-4281-E913-352BF5C6951B}"/>
              </a:ext>
            </a:extLst>
          </p:cNvPr>
          <p:cNvSpPr/>
          <p:nvPr/>
        </p:nvSpPr>
        <p:spPr>
          <a:xfrm>
            <a:off x="221420" y="507072"/>
            <a:ext cx="9244037" cy="769441"/>
          </a:xfrm>
          <a:prstGeom prst="rect">
            <a:avLst/>
          </a:prstGeom>
        </p:spPr>
        <p:txBody>
          <a:bodyPr wrap="square" lIns="0" rIns="0" anchor="b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400" b="1" dirty="0">
                <a:solidFill>
                  <a:srgbClr val="1E275C"/>
                </a:solidFill>
                <a:latin typeface="Segoe UI" panose="020B0502040204020203" pitchFamily="34" charset="0"/>
                <a:ea typeface="Source Sans Pro Black" panose="020B0803030403020204" pitchFamily="34" charset="0"/>
                <a:cs typeface="Segoe UI" panose="020B0502040204020203" pitchFamily="34" charset="0"/>
              </a:rPr>
              <a:t>DE vs BE – Perf Considerations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D051ADD-DFAE-6B9D-87F2-30136AAC84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39563" y="6089913"/>
            <a:ext cx="501650" cy="501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81599039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D4F629-541E-6069-FCC0-B9778DA490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F35C7F1-3E7B-B58E-6940-96707692A65E}"/>
              </a:ext>
            </a:extLst>
          </p:cNvPr>
          <p:cNvSpPr>
            <a:spLocks noGrp="1"/>
          </p:cNvSpPr>
          <p:nvPr/>
        </p:nvSpPr>
        <p:spPr>
          <a:xfrm>
            <a:off x="645307" y="1840687"/>
            <a:ext cx="10515600" cy="383160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i="0" kern="1200">
                <a:solidFill>
                  <a:srgbClr val="ED3F7B"/>
                </a:solidFill>
                <a:latin typeface="Open Sans SemiBold" pitchFamily="2" charset="0"/>
                <a:ea typeface="Open Sans SemiBold" pitchFamily="2" charset="0"/>
                <a:cs typeface="Open Sans SemiBold" pitchFamily="2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b="1" dirty="0">
                <a:solidFill>
                  <a:srgbClr val="1B449A"/>
                </a:solidFill>
              </a:rPr>
              <a:t>When to use Data Events</a:t>
            </a:r>
            <a:endParaRPr lang="en-US" dirty="0">
              <a:solidFill>
                <a:srgbClr val="1B449A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Use when data changes need to be captured systematically without immediate action on the system’s operations.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Suitable for background data syncing, logging, and integration with external systems that do not require instant updates.</a:t>
            </a:r>
          </a:p>
          <a:p>
            <a:pPr algn="l"/>
            <a:endParaRPr lang="en-US" b="1" dirty="0">
              <a:solidFill>
                <a:srgbClr val="1B449A"/>
              </a:solidFill>
            </a:endParaRPr>
          </a:p>
          <a:p>
            <a:pPr algn="l"/>
            <a:r>
              <a:rPr lang="en-US" b="1" dirty="0">
                <a:solidFill>
                  <a:srgbClr val="1B449A"/>
                </a:solidFill>
              </a:rPr>
              <a:t>When to use Business Events</a:t>
            </a:r>
            <a:endParaRPr lang="en-US" dirty="0">
              <a:solidFill>
                <a:srgbClr val="1B449A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Use when specific business actions require immediate follow-up activities or integrations, such as approvals or workflow transitions.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Essential for operations where business logic dictates immediate system responses to maintain process integrity.</a:t>
            </a: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BA2539CB-31C2-4583-6BBD-4AAE4F251EB0}"/>
              </a:ext>
            </a:extLst>
          </p:cNvPr>
          <p:cNvSpPr>
            <a:spLocks noGrp="1"/>
          </p:cNvSpPr>
          <p:nvPr/>
        </p:nvSpPr>
        <p:spPr>
          <a:xfrm>
            <a:off x="11965072" y="6125083"/>
            <a:ext cx="3317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D05A9CD-9176-4D89-A414-3BEEE81BBC77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9" name="Rectángulo redondeado 14">
            <a:extLst>
              <a:ext uri="{FF2B5EF4-FFF2-40B4-BE49-F238E27FC236}">
                <a16:creationId xmlns:a16="http://schemas.microsoft.com/office/drawing/2014/main" id="{A9BA7204-6175-22F9-3425-8D135ABBD24F}"/>
              </a:ext>
            </a:extLst>
          </p:cNvPr>
          <p:cNvSpPr/>
          <p:nvPr/>
        </p:nvSpPr>
        <p:spPr>
          <a:xfrm>
            <a:off x="20580" y="326355"/>
            <a:ext cx="9444878" cy="1214125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>
            <a:noFill/>
          </a:ln>
          <a:effectLst>
            <a:outerShdw dist="635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0" name="Rectángulo 12">
            <a:extLst>
              <a:ext uri="{FF2B5EF4-FFF2-40B4-BE49-F238E27FC236}">
                <a16:creationId xmlns:a16="http://schemas.microsoft.com/office/drawing/2014/main" id="{AD780CF3-6466-7B08-4F02-CCB6E0C74523}"/>
              </a:ext>
            </a:extLst>
          </p:cNvPr>
          <p:cNvSpPr/>
          <p:nvPr/>
        </p:nvSpPr>
        <p:spPr>
          <a:xfrm>
            <a:off x="489991" y="507072"/>
            <a:ext cx="7415414" cy="769441"/>
          </a:xfrm>
          <a:prstGeom prst="rect">
            <a:avLst/>
          </a:prstGeom>
        </p:spPr>
        <p:txBody>
          <a:bodyPr wrap="square" lIns="0" rIns="0" anchor="b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400" b="1" dirty="0">
                <a:solidFill>
                  <a:srgbClr val="1E275C"/>
                </a:solidFill>
                <a:latin typeface="Segoe UI" panose="020B0502040204020203" pitchFamily="34" charset="0"/>
                <a:ea typeface="Source Sans Pro Black" panose="020B0803030403020204" pitchFamily="34" charset="0"/>
                <a:cs typeface="Segoe UI" panose="020B0502040204020203" pitchFamily="34" charset="0"/>
              </a:rPr>
              <a:t>DE vs BE – Decision Factors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DB7A35B-5AAE-99D7-E4EF-3B02ED50BA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17911" y="6125083"/>
            <a:ext cx="501650" cy="501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95758136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86E513-0D58-A71F-75AE-2112091BA1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46">
            <a:extLst>
              <a:ext uri="{FF2B5EF4-FFF2-40B4-BE49-F238E27FC236}">
                <a16:creationId xmlns:a16="http://schemas.microsoft.com/office/drawing/2014/main" id="{782D7E71-245D-C4B1-94B9-4C87CA9DAF02}"/>
              </a:ext>
            </a:extLst>
          </p:cNvPr>
          <p:cNvSpPr/>
          <p:nvPr/>
        </p:nvSpPr>
        <p:spPr>
          <a:xfrm>
            <a:off x="564718" y="812686"/>
            <a:ext cx="8769459" cy="4650298"/>
          </a:xfrm>
          <a:prstGeom prst="roundRect">
            <a:avLst>
              <a:gd name="adj" fmla="val 703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8094A3D-4FBF-D097-84A1-773965CF1B99}"/>
              </a:ext>
            </a:extLst>
          </p:cNvPr>
          <p:cNvSpPr/>
          <p:nvPr/>
        </p:nvSpPr>
        <p:spPr>
          <a:xfrm>
            <a:off x="999232" y="385951"/>
            <a:ext cx="1175537" cy="1175537"/>
          </a:xfrm>
          <a:prstGeom prst="ellipse">
            <a:avLst/>
          </a:prstGeom>
          <a:solidFill>
            <a:srgbClr val="D0101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88F75A5-F4A9-B9F9-16BE-736151E79535}"/>
              </a:ext>
            </a:extLst>
          </p:cNvPr>
          <p:cNvSpPr/>
          <p:nvPr/>
        </p:nvSpPr>
        <p:spPr>
          <a:xfrm>
            <a:off x="1219330" y="608762"/>
            <a:ext cx="729915" cy="729915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dist="635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F2ACADF9-83B9-C5A2-BED2-F1128AE23E7F}"/>
              </a:ext>
            </a:extLst>
          </p:cNvPr>
          <p:cNvSpPr>
            <a:spLocks noGrp="1"/>
          </p:cNvSpPr>
          <p:nvPr/>
        </p:nvSpPr>
        <p:spPr>
          <a:xfrm>
            <a:off x="327019" y="617753"/>
            <a:ext cx="10515600" cy="1325563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0" kern="1200">
                <a:solidFill>
                  <a:srgbClr val="9C3C9A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 b="1" dirty="0">
                <a:solidFill>
                  <a:srgbClr val="1E275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Virtual Entities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6CF28680-55AC-5A85-3334-A4389E61CF01}"/>
              </a:ext>
            </a:extLst>
          </p:cNvPr>
          <p:cNvSpPr>
            <a:spLocks noGrp="1"/>
          </p:cNvSpPr>
          <p:nvPr/>
        </p:nvSpPr>
        <p:spPr>
          <a:xfrm>
            <a:off x="11754968" y="6106924"/>
            <a:ext cx="33178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9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D05A9CD-9176-4D89-A414-3BEEE81BBC77}" type="slidenum">
              <a:rPr lang="en-US" smtClean="0"/>
              <a:pPr/>
              <a:t>13</a:t>
            </a:fld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94B29B0C-3263-FFE0-95A9-970CA13B1596}"/>
              </a:ext>
            </a:extLst>
          </p:cNvPr>
          <p:cNvGrpSpPr/>
          <p:nvPr/>
        </p:nvGrpSpPr>
        <p:grpSpPr>
          <a:xfrm>
            <a:off x="1390007" y="789727"/>
            <a:ext cx="388560" cy="367985"/>
            <a:chOff x="2805113" y="2247901"/>
            <a:chExt cx="779462" cy="738188"/>
          </a:xfrm>
          <a:effectLst>
            <a:outerShdw dist="63500" dir="2700000" algn="tl" rotWithShape="0">
              <a:prstClr val="black">
                <a:alpha val="20000"/>
              </a:prstClr>
            </a:outerShdw>
          </a:effectLst>
        </p:grpSpPr>
        <p:sp>
          <p:nvSpPr>
            <p:cNvPr id="15" name="Freeform 78">
              <a:extLst>
                <a:ext uri="{FF2B5EF4-FFF2-40B4-BE49-F238E27FC236}">
                  <a16:creationId xmlns:a16="http://schemas.microsoft.com/office/drawing/2014/main" id="{18D66187-011C-3724-2E67-0FE7B8385FC1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6725" y="2247901"/>
              <a:ext cx="577850" cy="738188"/>
            </a:xfrm>
            <a:custGeom>
              <a:avLst/>
              <a:gdLst>
                <a:gd name="T0" fmla="*/ 115 w 153"/>
                <a:gd name="T1" fmla="*/ 0 h 195"/>
                <a:gd name="T2" fmla="*/ 6 w 153"/>
                <a:gd name="T3" fmla="*/ 0 h 195"/>
                <a:gd name="T4" fmla="*/ 0 w 153"/>
                <a:gd name="T5" fmla="*/ 7 h 195"/>
                <a:gd name="T6" fmla="*/ 0 w 153"/>
                <a:gd name="T7" fmla="*/ 195 h 195"/>
                <a:gd name="T8" fmla="*/ 153 w 153"/>
                <a:gd name="T9" fmla="*/ 195 h 195"/>
                <a:gd name="T10" fmla="*/ 153 w 153"/>
                <a:gd name="T11" fmla="*/ 39 h 195"/>
                <a:gd name="T12" fmla="*/ 115 w 153"/>
                <a:gd name="T13" fmla="*/ 0 h 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3" h="195">
                  <a:moveTo>
                    <a:pt x="115" y="0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3" y="0"/>
                    <a:pt x="0" y="3"/>
                    <a:pt x="0" y="7"/>
                  </a:cubicBezTo>
                  <a:cubicBezTo>
                    <a:pt x="0" y="195"/>
                    <a:pt x="0" y="195"/>
                    <a:pt x="0" y="195"/>
                  </a:cubicBezTo>
                  <a:cubicBezTo>
                    <a:pt x="153" y="195"/>
                    <a:pt x="153" y="195"/>
                    <a:pt x="153" y="195"/>
                  </a:cubicBezTo>
                  <a:cubicBezTo>
                    <a:pt x="153" y="39"/>
                    <a:pt x="153" y="39"/>
                    <a:pt x="153" y="39"/>
                  </a:cubicBezTo>
                  <a:lnTo>
                    <a:pt x="11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/>
            </a:p>
          </p:txBody>
        </p:sp>
        <p:sp>
          <p:nvSpPr>
            <p:cNvPr id="16" name="Freeform 79">
              <a:extLst>
                <a:ext uri="{FF2B5EF4-FFF2-40B4-BE49-F238E27FC236}">
                  <a16:creationId xmlns:a16="http://schemas.microsoft.com/office/drawing/2014/main" id="{C442A77A-546F-9746-FF23-021E534FE413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1700" y="2247901"/>
              <a:ext cx="142875" cy="147638"/>
            </a:xfrm>
            <a:custGeom>
              <a:avLst/>
              <a:gdLst>
                <a:gd name="T0" fmla="*/ 0 w 90"/>
                <a:gd name="T1" fmla="*/ 0 h 93"/>
                <a:gd name="T2" fmla="*/ 0 w 90"/>
                <a:gd name="T3" fmla="*/ 93 h 93"/>
                <a:gd name="T4" fmla="*/ 90 w 90"/>
                <a:gd name="T5" fmla="*/ 93 h 93"/>
                <a:gd name="T6" fmla="*/ 0 w 90"/>
                <a:gd name="T7" fmla="*/ 0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0" h="93">
                  <a:moveTo>
                    <a:pt x="0" y="0"/>
                  </a:moveTo>
                  <a:lnTo>
                    <a:pt x="0" y="93"/>
                  </a:lnTo>
                  <a:lnTo>
                    <a:pt x="90" y="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2E4E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/>
            </a:p>
          </p:txBody>
        </p:sp>
        <p:sp>
          <p:nvSpPr>
            <p:cNvPr id="17" name="Freeform 80">
              <a:extLst>
                <a:ext uri="{FF2B5EF4-FFF2-40B4-BE49-F238E27FC236}">
                  <a16:creationId xmlns:a16="http://schemas.microsoft.com/office/drawing/2014/main" id="{59017E78-A251-21F0-0FBF-299FF65B368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0388" y="2419351"/>
              <a:ext cx="242888" cy="22225"/>
            </a:xfrm>
            <a:custGeom>
              <a:avLst/>
              <a:gdLst>
                <a:gd name="T0" fmla="*/ 64 w 64"/>
                <a:gd name="T1" fmla="*/ 3 h 6"/>
                <a:gd name="T2" fmla="*/ 61 w 64"/>
                <a:gd name="T3" fmla="*/ 6 h 6"/>
                <a:gd name="T4" fmla="*/ 4 w 64"/>
                <a:gd name="T5" fmla="*/ 6 h 6"/>
                <a:gd name="T6" fmla="*/ 0 w 64"/>
                <a:gd name="T7" fmla="*/ 3 h 6"/>
                <a:gd name="T8" fmla="*/ 4 w 64"/>
                <a:gd name="T9" fmla="*/ 0 h 6"/>
                <a:gd name="T10" fmla="*/ 61 w 64"/>
                <a:gd name="T11" fmla="*/ 0 h 6"/>
                <a:gd name="T12" fmla="*/ 64 w 64"/>
                <a:gd name="T13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4" h="6">
                  <a:moveTo>
                    <a:pt x="64" y="3"/>
                  </a:moveTo>
                  <a:cubicBezTo>
                    <a:pt x="64" y="5"/>
                    <a:pt x="63" y="6"/>
                    <a:pt x="61" y="6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2" y="6"/>
                    <a:pt x="0" y="5"/>
                    <a:pt x="0" y="3"/>
                  </a:cubicBezTo>
                  <a:cubicBezTo>
                    <a:pt x="0" y="1"/>
                    <a:pt x="2" y="0"/>
                    <a:pt x="4" y="0"/>
                  </a:cubicBezTo>
                  <a:cubicBezTo>
                    <a:pt x="61" y="0"/>
                    <a:pt x="61" y="0"/>
                    <a:pt x="61" y="0"/>
                  </a:cubicBezTo>
                  <a:cubicBezTo>
                    <a:pt x="63" y="0"/>
                    <a:pt x="64" y="1"/>
                    <a:pt x="64" y="3"/>
                  </a:cubicBezTo>
                  <a:close/>
                </a:path>
              </a:pathLst>
            </a:custGeom>
            <a:solidFill>
              <a:srgbClr val="E2E4E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/>
            </a:p>
          </p:txBody>
        </p:sp>
        <p:sp>
          <p:nvSpPr>
            <p:cNvPr id="18" name="Freeform 81">
              <a:extLst>
                <a:ext uri="{FF2B5EF4-FFF2-40B4-BE49-F238E27FC236}">
                  <a16:creationId xmlns:a16="http://schemas.microsoft.com/office/drawing/2014/main" id="{7A13477E-8A83-0D3E-6739-8CF8E13A1909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0388" y="2516188"/>
              <a:ext cx="390525" cy="23813"/>
            </a:xfrm>
            <a:custGeom>
              <a:avLst/>
              <a:gdLst>
                <a:gd name="T0" fmla="*/ 103 w 103"/>
                <a:gd name="T1" fmla="*/ 3 h 6"/>
                <a:gd name="T2" fmla="*/ 100 w 103"/>
                <a:gd name="T3" fmla="*/ 6 h 6"/>
                <a:gd name="T4" fmla="*/ 4 w 103"/>
                <a:gd name="T5" fmla="*/ 6 h 6"/>
                <a:gd name="T6" fmla="*/ 0 w 103"/>
                <a:gd name="T7" fmla="*/ 3 h 6"/>
                <a:gd name="T8" fmla="*/ 4 w 103"/>
                <a:gd name="T9" fmla="*/ 0 h 6"/>
                <a:gd name="T10" fmla="*/ 100 w 103"/>
                <a:gd name="T11" fmla="*/ 0 h 6"/>
                <a:gd name="T12" fmla="*/ 103 w 103"/>
                <a:gd name="T13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3" h="6">
                  <a:moveTo>
                    <a:pt x="103" y="3"/>
                  </a:moveTo>
                  <a:cubicBezTo>
                    <a:pt x="103" y="5"/>
                    <a:pt x="101" y="6"/>
                    <a:pt x="100" y="6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2" y="6"/>
                    <a:pt x="0" y="5"/>
                    <a:pt x="0" y="3"/>
                  </a:cubicBezTo>
                  <a:cubicBezTo>
                    <a:pt x="0" y="1"/>
                    <a:pt x="2" y="0"/>
                    <a:pt x="4" y="0"/>
                  </a:cubicBezTo>
                  <a:cubicBezTo>
                    <a:pt x="100" y="0"/>
                    <a:pt x="100" y="0"/>
                    <a:pt x="100" y="0"/>
                  </a:cubicBezTo>
                  <a:cubicBezTo>
                    <a:pt x="101" y="0"/>
                    <a:pt x="103" y="1"/>
                    <a:pt x="103" y="3"/>
                  </a:cubicBezTo>
                  <a:close/>
                </a:path>
              </a:pathLst>
            </a:custGeom>
            <a:solidFill>
              <a:srgbClr val="E2E4E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/>
            </a:p>
          </p:txBody>
        </p:sp>
        <p:sp>
          <p:nvSpPr>
            <p:cNvPr id="19" name="Freeform 82">
              <a:extLst>
                <a:ext uri="{FF2B5EF4-FFF2-40B4-BE49-F238E27FC236}">
                  <a16:creationId xmlns:a16="http://schemas.microsoft.com/office/drawing/2014/main" id="{FF15D7F0-4A35-0E93-83FC-DBD20C94E9B8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0388" y="2611438"/>
              <a:ext cx="390525" cy="26988"/>
            </a:xfrm>
            <a:custGeom>
              <a:avLst/>
              <a:gdLst>
                <a:gd name="T0" fmla="*/ 103 w 103"/>
                <a:gd name="T1" fmla="*/ 3 h 7"/>
                <a:gd name="T2" fmla="*/ 100 w 103"/>
                <a:gd name="T3" fmla="*/ 7 h 7"/>
                <a:gd name="T4" fmla="*/ 4 w 103"/>
                <a:gd name="T5" fmla="*/ 7 h 7"/>
                <a:gd name="T6" fmla="*/ 0 w 103"/>
                <a:gd name="T7" fmla="*/ 3 h 7"/>
                <a:gd name="T8" fmla="*/ 4 w 103"/>
                <a:gd name="T9" fmla="*/ 0 h 7"/>
                <a:gd name="T10" fmla="*/ 100 w 103"/>
                <a:gd name="T11" fmla="*/ 0 h 7"/>
                <a:gd name="T12" fmla="*/ 103 w 103"/>
                <a:gd name="T13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3" h="7">
                  <a:moveTo>
                    <a:pt x="103" y="3"/>
                  </a:moveTo>
                  <a:cubicBezTo>
                    <a:pt x="103" y="5"/>
                    <a:pt x="101" y="7"/>
                    <a:pt x="100" y="7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2" y="7"/>
                    <a:pt x="0" y="5"/>
                    <a:pt x="0" y="3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100" y="0"/>
                    <a:pt x="100" y="0"/>
                    <a:pt x="100" y="0"/>
                  </a:cubicBezTo>
                  <a:cubicBezTo>
                    <a:pt x="101" y="0"/>
                    <a:pt x="103" y="2"/>
                    <a:pt x="103" y="3"/>
                  </a:cubicBezTo>
                  <a:close/>
                </a:path>
              </a:pathLst>
            </a:custGeom>
            <a:solidFill>
              <a:srgbClr val="E2E4E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/>
            </a:p>
          </p:txBody>
        </p:sp>
        <p:sp>
          <p:nvSpPr>
            <p:cNvPr id="20" name="Freeform 83">
              <a:extLst>
                <a:ext uri="{FF2B5EF4-FFF2-40B4-BE49-F238E27FC236}">
                  <a16:creationId xmlns:a16="http://schemas.microsoft.com/office/drawing/2014/main" id="{4E2CCF94-94B8-FA5E-194D-B2DEB10F4E82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0388" y="2709863"/>
              <a:ext cx="390525" cy="22225"/>
            </a:xfrm>
            <a:custGeom>
              <a:avLst/>
              <a:gdLst>
                <a:gd name="T0" fmla="*/ 103 w 103"/>
                <a:gd name="T1" fmla="*/ 3 h 6"/>
                <a:gd name="T2" fmla="*/ 100 w 103"/>
                <a:gd name="T3" fmla="*/ 6 h 6"/>
                <a:gd name="T4" fmla="*/ 4 w 103"/>
                <a:gd name="T5" fmla="*/ 6 h 6"/>
                <a:gd name="T6" fmla="*/ 0 w 103"/>
                <a:gd name="T7" fmla="*/ 3 h 6"/>
                <a:gd name="T8" fmla="*/ 4 w 103"/>
                <a:gd name="T9" fmla="*/ 0 h 6"/>
                <a:gd name="T10" fmla="*/ 100 w 103"/>
                <a:gd name="T11" fmla="*/ 0 h 6"/>
                <a:gd name="T12" fmla="*/ 103 w 103"/>
                <a:gd name="T13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3" h="6">
                  <a:moveTo>
                    <a:pt x="103" y="3"/>
                  </a:moveTo>
                  <a:cubicBezTo>
                    <a:pt x="103" y="5"/>
                    <a:pt x="101" y="6"/>
                    <a:pt x="100" y="6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2" y="6"/>
                    <a:pt x="0" y="5"/>
                    <a:pt x="0" y="3"/>
                  </a:cubicBezTo>
                  <a:cubicBezTo>
                    <a:pt x="0" y="1"/>
                    <a:pt x="2" y="0"/>
                    <a:pt x="4" y="0"/>
                  </a:cubicBezTo>
                  <a:cubicBezTo>
                    <a:pt x="100" y="0"/>
                    <a:pt x="100" y="0"/>
                    <a:pt x="100" y="0"/>
                  </a:cubicBezTo>
                  <a:cubicBezTo>
                    <a:pt x="101" y="0"/>
                    <a:pt x="103" y="1"/>
                    <a:pt x="103" y="3"/>
                  </a:cubicBezTo>
                  <a:close/>
                </a:path>
              </a:pathLst>
            </a:custGeom>
            <a:solidFill>
              <a:srgbClr val="E2E4E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/>
            </a:p>
          </p:txBody>
        </p:sp>
        <p:sp>
          <p:nvSpPr>
            <p:cNvPr id="21" name="Freeform 84">
              <a:extLst>
                <a:ext uri="{FF2B5EF4-FFF2-40B4-BE49-F238E27FC236}">
                  <a16:creationId xmlns:a16="http://schemas.microsoft.com/office/drawing/2014/main" id="{F9737085-AA9C-5584-7E70-B143753D6E4F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5113" y="2338388"/>
              <a:ext cx="530225" cy="530225"/>
            </a:xfrm>
            <a:custGeom>
              <a:avLst/>
              <a:gdLst>
                <a:gd name="T0" fmla="*/ 131 w 140"/>
                <a:gd name="T1" fmla="*/ 90 h 140"/>
                <a:gd name="T2" fmla="*/ 51 w 140"/>
                <a:gd name="T3" fmla="*/ 11 h 140"/>
                <a:gd name="T4" fmla="*/ 49 w 140"/>
                <a:gd name="T5" fmla="*/ 9 h 140"/>
                <a:gd name="T6" fmla="*/ 11 w 140"/>
                <a:gd name="T7" fmla="*/ 11 h 140"/>
                <a:gd name="T8" fmla="*/ 11 w 140"/>
                <a:gd name="T9" fmla="*/ 11 h 140"/>
                <a:gd name="T10" fmla="*/ 9 w 140"/>
                <a:gd name="T11" fmla="*/ 49 h 140"/>
                <a:gd name="T12" fmla="*/ 11 w 140"/>
                <a:gd name="T13" fmla="*/ 52 h 140"/>
                <a:gd name="T14" fmla="*/ 90 w 140"/>
                <a:gd name="T15" fmla="*/ 131 h 140"/>
                <a:gd name="T16" fmla="*/ 122 w 140"/>
                <a:gd name="T17" fmla="*/ 140 h 140"/>
                <a:gd name="T18" fmla="*/ 129 w 140"/>
                <a:gd name="T19" fmla="*/ 129 h 140"/>
                <a:gd name="T20" fmla="*/ 140 w 140"/>
                <a:gd name="T21" fmla="*/ 122 h 140"/>
                <a:gd name="T22" fmla="*/ 131 w 140"/>
                <a:gd name="T23" fmla="*/ 90 h 1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40" h="140">
                  <a:moveTo>
                    <a:pt x="131" y="90"/>
                  </a:moveTo>
                  <a:cubicBezTo>
                    <a:pt x="51" y="11"/>
                    <a:pt x="51" y="11"/>
                    <a:pt x="51" y="11"/>
                  </a:cubicBezTo>
                  <a:cubicBezTo>
                    <a:pt x="51" y="10"/>
                    <a:pt x="50" y="10"/>
                    <a:pt x="49" y="9"/>
                  </a:cubicBezTo>
                  <a:cubicBezTo>
                    <a:pt x="38" y="0"/>
                    <a:pt x="22" y="0"/>
                    <a:pt x="11" y="11"/>
                  </a:cubicBezTo>
                  <a:cubicBezTo>
                    <a:pt x="11" y="11"/>
                    <a:pt x="11" y="11"/>
                    <a:pt x="11" y="11"/>
                  </a:cubicBezTo>
                  <a:cubicBezTo>
                    <a:pt x="0" y="22"/>
                    <a:pt x="0" y="38"/>
                    <a:pt x="9" y="49"/>
                  </a:cubicBezTo>
                  <a:cubicBezTo>
                    <a:pt x="9" y="50"/>
                    <a:pt x="10" y="51"/>
                    <a:pt x="11" y="52"/>
                  </a:cubicBezTo>
                  <a:cubicBezTo>
                    <a:pt x="90" y="131"/>
                    <a:pt x="90" y="131"/>
                    <a:pt x="90" y="131"/>
                  </a:cubicBezTo>
                  <a:cubicBezTo>
                    <a:pt x="122" y="140"/>
                    <a:pt x="122" y="140"/>
                    <a:pt x="122" y="140"/>
                  </a:cubicBezTo>
                  <a:cubicBezTo>
                    <a:pt x="123" y="136"/>
                    <a:pt x="125" y="132"/>
                    <a:pt x="129" y="129"/>
                  </a:cubicBezTo>
                  <a:cubicBezTo>
                    <a:pt x="132" y="126"/>
                    <a:pt x="136" y="123"/>
                    <a:pt x="140" y="122"/>
                  </a:cubicBezTo>
                  <a:lnTo>
                    <a:pt x="131" y="90"/>
                  </a:lnTo>
                  <a:close/>
                </a:path>
              </a:pathLst>
            </a:custGeom>
            <a:solidFill>
              <a:srgbClr val="F4D0A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/>
            </a:p>
          </p:txBody>
        </p:sp>
        <p:sp>
          <p:nvSpPr>
            <p:cNvPr id="22" name="Freeform 85">
              <a:extLst>
                <a:ext uri="{FF2B5EF4-FFF2-40B4-BE49-F238E27FC236}">
                  <a16:creationId xmlns:a16="http://schemas.microsoft.com/office/drawing/2014/main" id="{C99FD794-BB71-B4E9-89C3-5F525337C02B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5113" y="2338388"/>
              <a:ext cx="185738" cy="185738"/>
            </a:xfrm>
            <a:custGeom>
              <a:avLst/>
              <a:gdLst>
                <a:gd name="T0" fmla="*/ 49 w 49"/>
                <a:gd name="T1" fmla="*/ 9 h 49"/>
                <a:gd name="T2" fmla="*/ 9 w 49"/>
                <a:gd name="T3" fmla="*/ 49 h 49"/>
                <a:gd name="T4" fmla="*/ 11 w 49"/>
                <a:gd name="T5" fmla="*/ 11 h 49"/>
                <a:gd name="T6" fmla="*/ 11 w 49"/>
                <a:gd name="T7" fmla="*/ 11 h 49"/>
                <a:gd name="T8" fmla="*/ 49 w 49"/>
                <a:gd name="T9" fmla="*/ 9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9" h="49">
                  <a:moveTo>
                    <a:pt x="49" y="9"/>
                  </a:moveTo>
                  <a:cubicBezTo>
                    <a:pt x="9" y="49"/>
                    <a:pt x="9" y="49"/>
                    <a:pt x="9" y="49"/>
                  </a:cubicBezTo>
                  <a:cubicBezTo>
                    <a:pt x="0" y="38"/>
                    <a:pt x="0" y="22"/>
                    <a:pt x="11" y="11"/>
                  </a:cubicBezTo>
                  <a:cubicBezTo>
                    <a:pt x="11" y="11"/>
                    <a:pt x="11" y="11"/>
                    <a:pt x="11" y="11"/>
                  </a:cubicBezTo>
                  <a:cubicBezTo>
                    <a:pt x="22" y="0"/>
                    <a:pt x="38" y="0"/>
                    <a:pt x="49" y="9"/>
                  </a:cubicBezTo>
                  <a:close/>
                </a:path>
              </a:pathLst>
            </a:custGeom>
            <a:solidFill>
              <a:srgbClr val="F7B4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/>
            </a:p>
          </p:txBody>
        </p:sp>
        <p:sp>
          <p:nvSpPr>
            <p:cNvPr id="23" name="Freeform 86">
              <a:extLst>
                <a:ext uri="{FF2B5EF4-FFF2-40B4-BE49-F238E27FC236}">
                  <a16:creationId xmlns:a16="http://schemas.microsoft.com/office/drawing/2014/main" id="{964AEF69-9824-35CA-4EF6-0BA4A9ED451B}"/>
                </a:ext>
              </a:extLst>
            </p:cNvPr>
            <p:cNvSpPr>
              <a:spLocks/>
            </p:cNvSpPr>
            <p:nvPr/>
          </p:nvSpPr>
          <p:spPr bwMode="auto">
            <a:xfrm>
              <a:off x="3267075" y="2800351"/>
              <a:ext cx="90488" cy="90488"/>
            </a:xfrm>
            <a:custGeom>
              <a:avLst/>
              <a:gdLst>
                <a:gd name="T0" fmla="*/ 18 w 24"/>
                <a:gd name="T1" fmla="*/ 0 h 24"/>
                <a:gd name="T2" fmla="*/ 24 w 24"/>
                <a:gd name="T3" fmla="*/ 21 h 24"/>
                <a:gd name="T4" fmla="*/ 20 w 24"/>
                <a:gd name="T5" fmla="*/ 24 h 24"/>
                <a:gd name="T6" fmla="*/ 0 w 24"/>
                <a:gd name="T7" fmla="*/ 18 h 24"/>
                <a:gd name="T8" fmla="*/ 7 w 24"/>
                <a:gd name="T9" fmla="*/ 7 h 24"/>
                <a:gd name="T10" fmla="*/ 18 w 24"/>
                <a:gd name="T11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" h="24">
                  <a:moveTo>
                    <a:pt x="18" y="0"/>
                  </a:moveTo>
                  <a:cubicBezTo>
                    <a:pt x="24" y="21"/>
                    <a:pt x="24" y="21"/>
                    <a:pt x="24" y="21"/>
                  </a:cubicBezTo>
                  <a:cubicBezTo>
                    <a:pt x="24" y="23"/>
                    <a:pt x="22" y="24"/>
                    <a:pt x="20" y="24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1" y="14"/>
                    <a:pt x="3" y="10"/>
                    <a:pt x="7" y="7"/>
                  </a:cubicBezTo>
                  <a:cubicBezTo>
                    <a:pt x="10" y="4"/>
                    <a:pt x="14" y="1"/>
                    <a:pt x="18" y="0"/>
                  </a:cubicBezTo>
                  <a:close/>
                </a:path>
              </a:pathLst>
            </a:custGeom>
            <a:solidFill>
              <a:srgbClr val="3E3E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/>
            </a:p>
          </p:txBody>
        </p:sp>
        <p:sp>
          <p:nvSpPr>
            <p:cNvPr id="24" name="Freeform 87">
              <a:extLst>
                <a:ext uri="{FF2B5EF4-FFF2-40B4-BE49-F238E27FC236}">
                  <a16:creationId xmlns:a16="http://schemas.microsoft.com/office/drawing/2014/main" id="{4EC197D1-3224-8CFB-6DBD-B2CA2D621804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7025" y="2403476"/>
              <a:ext cx="434975" cy="427038"/>
            </a:xfrm>
            <a:custGeom>
              <a:avLst/>
              <a:gdLst>
                <a:gd name="T0" fmla="*/ 114 w 115"/>
                <a:gd name="T1" fmla="*/ 73 h 113"/>
                <a:gd name="T2" fmla="*/ 41 w 115"/>
                <a:gd name="T3" fmla="*/ 0 h 113"/>
                <a:gd name="T4" fmla="*/ 0 w 115"/>
                <a:gd name="T5" fmla="*/ 40 h 113"/>
                <a:gd name="T6" fmla="*/ 0 w 115"/>
                <a:gd name="T7" fmla="*/ 40 h 113"/>
                <a:gd name="T8" fmla="*/ 73 w 115"/>
                <a:gd name="T9" fmla="*/ 113 h 113"/>
                <a:gd name="T10" fmla="*/ 73 w 115"/>
                <a:gd name="T11" fmla="*/ 113 h 113"/>
                <a:gd name="T12" fmla="*/ 76 w 115"/>
                <a:gd name="T13" fmla="*/ 95 h 113"/>
                <a:gd name="T14" fmla="*/ 94 w 115"/>
                <a:gd name="T15" fmla="*/ 94 h 113"/>
                <a:gd name="T16" fmla="*/ 94 w 115"/>
                <a:gd name="T17" fmla="*/ 93 h 113"/>
                <a:gd name="T18" fmla="*/ 94 w 115"/>
                <a:gd name="T19" fmla="*/ 93 h 113"/>
                <a:gd name="T20" fmla="*/ 96 w 115"/>
                <a:gd name="T21" fmla="*/ 74 h 113"/>
                <a:gd name="T22" fmla="*/ 114 w 115"/>
                <a:gd name="T23" fmla="*/ 73 h 113"/>
                <a:gd name="T24" fmla="*/ 114 w 115"/>
                <a:gd name="T25" fmla="*/ 73 h 113"/>
                <a:gd name="T26" fmla="*/ 114 w 115"/>
                <a:gd name="T27" fmla="*/ 73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15" h="113">
                  <a:moveTo>
                    <a:pt x="114" y="73"/>
                  </a:moveTo>
                  <a:cubicBezTo>
                    <a:pt x="108" y="67"/>
                    <a:pt x="41" y="0"/>
                    <a:pt x="41" y="0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0" y="40"/>
                    <a:pt x="64" y="104"/>
                    <a:pt x="73" y="113"/>
                  </a:cubicBezTo>
                  <a:cubicBezTo>
                    <a:pt x="73" y="113"/>
                    <a:pt x="73" y="113"/>
                    <a:pt x="73" y="113"/>
                  </a:cubicBezTo>
                  <a:cubicBezTo>
                    <a:pt x="70" y="108"/>
                    <a:pt x="71" y="100"/>
                    <a:pt x="76" y="95"/>
                  </a:cubicBezTo>
                  <a:cubicBezTo>
                    <a:pt x="81" y="90"/>
                    <a:pt x="89" y="90"/>
                    <a:pt x="94" y="94"/>
                  </a:cubicBezTo>
                  <a:cubicBezTo>
                    <a:pt x="94" y="94"/>
                    <a:pt x="94" y="94"/>
                    <a:pt x="94" y="93"/>
                  </a:cubicBezTo>
                  <a:cubicBezTo>
                    <a:pt x="94" y="93"/>
                    <a:pt x="94" y="93"/>
                    <a:pt x="94" y="93"/>
                  </a:cubicBezTo>
                  <a:cubicBezTo>
                    <a:pt x="90" y="88"/>
                    <a:pt x="90" y="80"/>
                    <a:pt x="96" y="74"/>
                  </a:cubicBezTo>
                  <a:cubicBezTo>
                    <a:pt x="101" y="69"/>
                    <a:pt x="109" y="69"/>
                    <a:pt x="114" y="73"/>
                  </a:cubicBezTo>
                  <a:cubicBezTo>
                    <a:pt x="114" y="73"/>
                    <a:pt x="114" y="73"/>
                    <a:pt x="114" y="73"/>
                  </a:cubicBezTo>
                  <a:cubicBezTo>
                    <a:pt x="115" y="73"/>
                    <a:pt x="115" y="73"/>
                    <a:pt x="114" y="73"/>
                  </a:cubicBezTo>
                  <a:close/>
                </a:path>
              </a:pathLst>
            </a:custGeom>
            <a:solidFill>
              <a:srgbClr val="DF2C2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/>
            </a:p>
          </p:txBody>
        </p:sp>
        <p:sp>
          <p:nvSpPr>
            <p:cNvPr id="25" name="Freeform 88">
              <a:extLst>
                <a:ext uri="{FF2B5EF4-FFF2-40B4-BE49-F238E27FC236}">
                  <a16:creationId xmlns:a16="http://schemas.microsoft.com/office/drawing/2014/main" id="{96076DB0-A70F-014C-CA3D-789EB1F35E43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0038" y="2373313"/>
              <a:ext cx="180975" cy="180975"/>
            </a:xfrm>
            <a:custGeom>
              <a:avLst/>
              <a:gdLst>
                <a:gd name="T0" fmla="*/ 17 w 114"/>
                <a:gd name="T1" fmla="*/ 114 h 114"/>
                <a:gd name="T2" fmla="*/ 0 w 114"/>
                <a:gd name="T3" fmla="*/ 98 h 114"/>
                <a:gd name="T4" fmla="*/ 95 w 114"/>
                <a:gd name="T5" fmla="*/ 0 h 114"/>
                <a:gd name="T6" fmla="*/ 114 w 114"/>
                <a:gd name="T7" fmla="*/ 19 h 114"/>
                <a:gd name="T8" fmla="*/ 17 w 114"/>
                <a:gd name="T9" fmla="*/ 114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4" h="114">
                  <a:moveTo>
                    <a:pt x="17" y="114"/>
                  </a:moveTo>
                  <a:lnTo>
                    <a:pt x="0" y="98"/>
                  </a:lnTo>
                  <a:lnTo>
                    <a:pt x="95" y="0"/>
                  </a:lnTo>
                  <a:lnTo>
                    <a:pt x="114" y="19"/>
                  </a:lnTo>
                  <a:lnTo>
                    <a:pt x="17" y="114"/>
                  </a:lnTo>
                  <a:close/>
                </a:path>
              </a:pathLst>
            </a:custGeom>
            <a:solidFill>
              <a:srgbClr val="FACB1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/>
            </a:p>
          </p:txBody>
        </p:sp>
        <p:sp>
          <p:nvSpPr>
            <p:cNvPr id="26" name="Freeform 89">
              <a:extLst>
                <a:ext uri="{FF2B5EF4-FFF2-40B4-BE49-F238E27FC236}">
                  <a16:creationId xmlns:a16="http://schemas.microsoft.com/office/drawing/2014/main" id="{8B31BE0E-A969-98C0-9DAD-488B52155F6C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7025" y="2479676"/>
              <a:ext cx="355600" cy="350838"/>
            </a:xfrm>
            <a:custGeom>
              <a:avLst/>
              <a:gdLst>
                <a:gd name="T0" fmla="*/ 0 w 94"/>
                <a:gd name="T1" fmla="*/ 20 h 93"/>
                <a:gd name="T2" fmla="*/ 73 w 94"/>
                <a:gd name="T3" fmla="*/ 93 h 93"/>
                <a:gd name="T4" fmla="*/ 73 w 94"/>
                <a:gd name="T5" fmla="*/ 93 h 93"/>
                <a:gd name="T6" fmla="*/ 76 w 94"/>
                <a:gd name="T7" fmla="*/ 75 h 93"/>
                <a:gd name="T8" fmla="*/ 94 w 94"/>
                <a:gd name="T9" fmla="*/ 74 h 93"/>
                <a:gd name="T10" fmla="*/ 94 w 94"/>
                <a:gd name="T11" fmla="*/ 73 h 93"/>
                <a:gd name="T12" fmla="*/ 21 w 94"/>
                <a:gd name="T13" fmla="*/ 0 h 93"/>
                <a:gd name="T14" fmla="*/ 0 w 94"/>
                <a:gd name="T15" fmla="*/ 20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4" h="93">
                  <a:moveTo>
                    <a:pt x="0" y="20"/>
                  </a:moveTo>
                  <a:cubicBezTo>
                    <a:pt x="0" y="20"/>
                    <a:pt x="64" y="84"/>
                    <a:pt x="73" y="93"/>
                  </a:cubicBezTo>
                  <a:cubicBezTo>
                    <a:pt x="73" y="93"/>
                    <a:pt x="73" y="93"/>
                    <a:pt x="73" y="93"/>
                  </a:cubicBezTo>
                  <a:cubicBezTo>
                    <a:pt x="70" y="88"/>
                    <a:pt x="71" y="80"/>
                    <a:pt x="76" y="75"/>
                  </a:cubicBezTo>
                  <a:cubicBezTo>
                    <a:pt x="81" y="70"/>
                    <a:pt x="89" y="70"/>
                    <a:pt x="94" y="74"/>
                  </a:cubicBezTo>
                  <a:cubicBezTo>
                    <a:pt x="94" y="74"/>
                    <a:pt x="94" y="73"/>
                    <a:pt x="94" y="73"/>
                  </a:cubicBezTo>
                  <a:cubicBezTo>
                    <a:pt x="21" y="0"/>
                    <a:pt x="21" y="0"/>
                    <a:pt x="21" y="0"/>
                  </a:cubicBezTo>
                  <a:lnTo>
                    <a:pt x="0" y="20"/>
                  </a:lnTo>
                  <a:close/>
                </a:path>
              </a:pathLst>
            </a:custGeom>
            <a:solidFill>
              <a:srgbClr val="FA565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/>
            </a:p>
          </p:txBody>
        </p:sp>
      </p:grpSp>
      <p:sp>
        <p:nvSpPr>
          <p:cNvPr id="13" name="Title 1">
            <a:extLst>
              <a:ext uri="{FF2B5EF4-FFF2-40B4-BE49-F238E27FC236}">
                <a16:creationId xmlns:a16="http://schemas.microsoft.com/office/drawing/2014/main" id="{110D595A-73FE-AE0B-7BE8-6B7262976C24}"/>
              </a:ext>
            </a:extLst>
          </p:cNvPr>
          <p:cNvSpPr txBox="1">
            <a:spLocks/>
          </p:cNvSpPr>
          <p:nvPr/>
        </p:nvSpPr>
        <p:spPr>
          <a:xfrm>
            <a:off x="983078" y="1722007"/>
            <a:ext cx="5447562" cy="353254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Aft>
                <a:spcPts val="1200"/>
              </a:spcAft>
            </a:pPr>
            <a:r>
              <a:rPr lang="en-US" sz="2400" i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F&amp;O apps are a virtual data source in Dataverse, and enable full create, read, update, and delete (CRUD) operations from Dataverse.</a:t>
            </a:r>
          </a:p>
          <a:p>
            <a:pPr>
              <a:lnSpc>
                <a:spcPct val="100000"/>
              </a:lnSpc>
              <a:spcAft>
                <a:spcPts val="1200"/>
              </a:spcAft>
            </a:pPr>
            <a:endParaRPr lang="en-US" sz="2400" i="1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lang="en-US" sz="2400" b="1" i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Tip: </a:t>
            </a:r>
            <a:r>
              <a:rPr lang="en-US" sz="2400" i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All Open Data Protocol (OData) entities in finance and operations apps are available as virtual entities in Dataverse</a:t>
            </a:r>
          </a:p>
          <a:p>
            <a:pPr>
              <a:lnSpc>
                <a:spcPct val="100000"/>
              </a:lnSpc>
              <a:spcAft>
                <a:spcPts val="1200"/>
              </a:spcAft>
            </a:pPr>
            <a:endParaRPr lang="en-US" sz="2400" i="1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9C0C09C-F527-C9CC-1B15-26231905D0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07807" y="6106924"/>
            <a:ext cx="501650" cy="501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83166975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58FF43-88AE-5B41-8605-C081075CEF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2A6C380-34B1-11AC-AA85-A41A774DC7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061" y="114158"/>
            <a:ext cx="11065566" cy="67662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E2C6426-882F-7CC5-7E13-ED98B805F3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25602" y="6130315"/>
            <a:ext cx="501650" cy="501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82425601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FFB1C8-02B8-A485-19BC-B75E702D6E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46">
            <a:extLst>
              <a:ext uri="{FF2B5EF4-FFF2-40B4-BE49-F238E27FC236}">
                <a16:creationId xmlns:a16="http://schemas.microsoft.com/office/drawing/2014/main" id="{808E5864-D3D3-0BF3-C2AA-F06E8788E5BF}"/>
              </a:ext>
            </a:extLst>
          </p:cNvPr>
          <p:cNvSpPr/>
          <p:nvPr/>
        </p:nvSpPr>
        <p:spPr>
          <a:xfrm>
            <a:off x="467446" y="1234212"/>
            <a:ext cx="8241920" cy="4605702"/>
          </a:xfrm>
          <a:prstGeom prst="roundRect">
            <a:avLst>
              <a:gd name="adj" fmla="val 703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85803C1-287C-4FD8-A9F5-15B70E87EBEE}"/>
              </a:ext>
            </a:extLst>
          </p:cNvPr>
          <p:cNvSpPr/>
          <p:nvPr/>
        </p:nvSpPr>
        <p:spPr>
          <a:xfrm>
            <a:off x="901960" y="955191"/>
            <a:ext cx="1175537" cy="1175537"/>
          </a:xfrm>
          <a:prstGeom prst="ellipse">
            <a:avLst/>
          </a:prstGeom>
          <a:solidFill>
            <a:srgbClr val="D0101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7665EAE-154F-6DD8-1426-65648333E160}"/>
              </a:ext>
            </a:extLst>
          </p:cNvPr>
          <p:cNvSpPr/>
          <p:nvPr/>
        </p:nvSpPr>
        <p:spPr>
          <a:xfrm>
            <a:off x="1122058" y="1178002"/>
            <a:ext cx="729915" cy="729915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dist="635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33DDFE53-745B-1598-4477-AB194F99A31C}"/>
              </a:ext>
            </a:extLst>
          </p:cNvPr>
          <p:cNvSpPr>
            <a:spLocks noGrp="1"/>
          </p:cNvSpPr>
          <p:nvPr/>
        </p:nvSpPr>
        <p:spPr>
          <a:xfrm>
            <a:off x="8356" y="1084186"/>
            <a:ext cx="10515600" cy="1325563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0" kern="1200">
                <a:solidFill>
                  <a:srgbClr val="9C3C9A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 b="1" dirty="0">
                <a:solidFill>
                  <a:srgbClr val="1E275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Dual Write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E96A1400-8F0A-23D7-A3D5-6EC0C6B09C8C}"/>
              </a:ext>
            </a:extLst>
          </p:cNvPr>
          <p:cNvSpPr>
            <a:spLocks noGrp="1"/>
          </p:cNvSpPr>
          <p:nvPr/>
        </p:nvSpPr>
        <p:spPr>
          <a:xfrm>
            <a:off x="11954122" y="6040101"/>
            <a:ext cx="33178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9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D05A9CD-9176-4D89-A414-3BEEE81BBC77}" type="slidenum">
              <a:rPr lang="en-US" smtClean="0"/>
              <a:pPr/>
              <a:t>15</a:t>
            </a:fld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AD483FB-8952-7E43-4AB8-E417370F853C}"/>
              </a:ext>
            </a:extLst>
          </p:cNvPr>
          <p:cNvGrpSpPr/>
          <p:nvPr/>
        </p:nvGrpSpPr>
        <p:grpSpPr>
          <a:xfrm>
            <a:off x="1292735" y="1358967"/>
            <a:ext cx="388560" cy="367985"/>
            <a:chOff x="2805113" y="2247901"/>
            <a:chExt cx="779462" cy="738188"/>
          </a:xfrm>
          <a:effectLst>
            <a:outerShdw dist="63500" dir="2700000" algn="tl" rotWithShape="0">
              <a:prstClr val="black">
                <a:alpha val="20000"/>
              </a:prstClr>
            </a:outerShdw>
          </a:effectLst>
        </p:grpSpPr>
        <p:sp>
          <p:nvSpPr>
            <p:cNvPr id="15" name="Freeform 78">
              <a:extLst>
                <a:ext uri="{FF2B5EF4-FFF2-40B4-BE49-F238E27FC236}">
                  <a16:creationId xmlns:a16="http://schemas.microsoft.com/office/drawing/2014/main" id="{8E520707-6514-5C2F-9448-0807D1890A01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6725" y="2247901"/>
              <a:ext cx="577850" cy="738188"/>
            </a:xfrm>
            <a:custGeom>
              <a:avLst/>
              <a:gdLst>
                <a:gd name="T0" fmla="*/ 115 w 153"/>
                <a:gd name="T1" fmla="*/ 0 h 195"/>
                <a:gd name="T2" fmla="*/ 6 w 153"/>
                <a:gd name="T3" fmla="*/ 0 h 195"/>
                <a:gd name="T4" fmla="*/ 0 w 153"/>
                <a:gd name="T5" fmla="*/ 7 h 195"/>
                <a:gd name="T6" fmla="*/ 0 w 153"/>
                <a:gd name="T7" fmla="*/ 195 h 195"/>
                <a:gd name="T8" fmla="*/ 153 w 153"/>
                <a:gd name="T9" fmla="*/ 195 h 195"/>
                <a:gd name="T10" fmla="*/ 153 w 153"/>
                <a:gd name="T11" fmla="*/ 39 h 195"/>
                <a:gd name="T12" fmla="*/ 115 w 153"/>
                <a:gd name="T13" fmla="*/ 0 h 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3" h="195">
                  <a:moveTo>
                    <a:pt x="115" y="0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3" y="0"/>
                    <a:pt x="0" y="3"/>
                    <a:pt x="0" y="7"/>
                  </a:cubicBezTo>
                  <a:cubicBezTo>
                    <a:pt x="0" y="195"/>
                    <a:pt x="0" y="195"/>
                    <a:pt x="0" y="195"/>
                  </a:cubicBezTo>
                  <a:cubicBezTo>
                    <a:pt x="153" y="195"/>
                    <a:pt x="153" y="195"/>
                    <a:pt x="153" y="195"/>
                  </a:cubicBezTo>
                  <a:cubicBezTo>
                    <a:pt x="153" y="39"/>
                    <a:pt x="153" y="39"/>
                    <a:pt x="153" y="39"/>
                  </a:cubicBezTo>
                  <a:lnTo>
                    <a:pt x="11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/>
            </a:p>
          </p:txBody>
        </p:sp>
        <p:sp>
          <p:nvSpPr>
            <p:cNvPr id="16" name="Freeform 79">
              <a:extLst>
                <a:ext uri="{FF2B5EF4-FFF2-40B4-BE49-F238E27FC236}">
                  <a16:creationId xmlns:a16="http://schemas.microsoft.com/office/drawing/2014/main" id="{1556AD1B-47D9-9534-6EDC-993CEAEF2C58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1700" y="2247901"/>
              <a:ext cx="142875" cy="147638"/>
            </a:xfrm>
            <a:custGeom>
              <a:avLst/>
              <a:gdLst>
                <a:gd name="T0" fmla="*/ 0 w 90"/>
                <a:gd name="T1" fmla="*/ 0 h 93"/>
                <a:gd name="T2" fmla="*/ 0 w 90"/>
                <a:gd name="T3" fmla="*/ 93 h 93"/>
                <a:gd name="T4" fmla="*/ 90 w 90"/>
                <a:gd name="T5" fmla="*/ 93 h 93"/>
                <a:gd name="T6" fmla="*/ 0 w 90"/>
                <a:gd name="T7" fmla="*/ 0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0" h="93">
                  <a:moveTo>
                    <a:pt x="0" y="0"/>
                  </a:moveTo>
                  <a:lnTo>
                    <a:pt x="0" y="93"/>
                  </a:lnTo>
                  <a:lnTo>
                    <a:pt x="90" y="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2E4E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/>
            </a:p>
          </p:txBody>
        </p:sp>
        <p:sp>
          <p:nvSpPr>
            <p:cNvPr id="17" name="Freeform 80">
              <a:extLst>
                <a:ext uri="{FF2B5EF4-FFF2-40B4-BE49-F238E27FC236}">
                  <a16:creationId xmlns:a16="http://schemas.microsoft.com/office/drawing/2014/main" id="{D3695142-2DBA-F1FB-120F-FC3EFDDF7B88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0388" y="2419351"/>
              <a:ext cx="242888" cy="22225"/>
            </a:xfrm>
            <a:custGeom>
              <a:avLst/>
              <a:gdLst>
                <a:gd name="T0" fmla="*/ 64 w 64"/>
                <a:gd name="T1" fmla="*/ 3 h 6"/>
                <a:gd name="T2" fmla="*/ 61 w 64"/>
                <a:gd name="T3" fmla="*/ 6 h 6"/>
                <a:gd name="T4" fmla="*/ 4 w 64"/>
                <a:gd name="T5" fmla="*/ 6 h 6"/>
                <a:gd name="T6" fmla="*/ 0 w 64"/>
                <a:gd name="T7" fmla="*/ 3 h 6"/>
                <a:gd name="T8" fmla="*/ 4 w 64"/>
                <a:gd name="T9" fmla="*/ 0 h 6"/>
                <a:gd name="T10" fmla="*/ 61 w 64"/>
                <a:gd name="T11" fmla="*/ 0 h 6"/>
                <a:gd name="T12" fmla="*/ 64 w 64"/>
                <a:gd name="T13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4" h="6">
                  <a:moveTo>
                    <a:pt x="64" y="3"/>
                  </a:moveTo>
                  <a:cubicBezTo>
                    <a:pt x="64" y="5"/>
                    <a:pt x="63" y="6"/>
                    <a:pt x="61" y="6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2" y="6"/>
                    <a:pt x="0" y="5"/>
                    <a:pt x="0" y="3"/>
                  </a:cubicBezTo>
                  <a:cubicBezTo>
                    <a:pt x="0" y="1"/>
                    <a:pt x="2" y="0"/>
                    <a:pt x="4" y="0"/>
                  </a:cubicBezTo>
                  <a:cubicBezTo>
                    <a:pt x="61" y="0"/>
                    <a:pt x="61" y="0"/>
                    <a:pt x="61" y="0"/>
                  </a:cubicBezTo>
                  <a:cubicBezTo>
                    <a:pt x="63" y="0"/>
                    <a:pt x="64" y="1"/>
                    <a:pt x="64" y="3"/>
                  </a:cubicBezTo>
                  <a:close/>
                </a:path>
              </a:pathLst>
            </a:custGeom>
            <a:solidFill>
              <a:srgbClr val="E2E4E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/>
            </a:p>
          </p:txBody>
        </p:sp>
        <p:sp>
          <p:nvSpPr>
            <p:cNvPr id="18" name="Freeform 81">
              <a:extLst>
                <a:ext uri="{FF2B5EF4-FFF2-40B4-BE49-F238E27FC236}">
                  <a16:creationId xmlns:a16="http://schemas.microsoft.com/office/drawing/2014/main" id="{BE2967B9-FE3F-0E69-AB80-5603D98A7991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0388" y="2516188"/>
              <a:ext cx="390525" cy="23813"/>
            </a:xfrm>
            <a:custGeom>
              <a:avLst/>
              <a:gdLst>
                <a:gd name="T0" fmla="*/ 103 w 103"/>
                <a:gd name="T1" fmla="*/ 3 h 6"/>
                <a:gd name="T2" fmla="*/ 100 w 103"/>
                <a:gd name="T3" fmla="*/ 6 h 6"/>
                <a:gd name="T4" fmla="*/ 4 w 103"/>
                <a:gd name="T5" fmla="*/ 6 h 6"/>
                <a:gd name="T6" fmla="*/ 0 w 103"/>
                <a:gd name="T7" fmla="*/ 3 h 6"/>
                <a:gd name="T8" fmla="*/ 4 w 103"/>
                <a:gd name="T9" fmla="*/ 0 h 6"/>
                <a:gd name="T10" fmla="*/ 100 w 103"/>
                <a:gd name="T11" fmla="*/ 0 h 6"/>
                <a:gd name="T12" fmla="*/ 103 w 103"/>
                <a:gd name="T13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3" h="6">
                  <a:moveTo>
                    <a:pt x="103" y="3"/>
                  </a:moveTo>
                  <a:cubicBezTo>
                    <a:pt x="103" y="5"/>
                    <a:pt x="101" y="6"/>
                    <a:pt x="100" y="6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2" y="6"/>
                    <a:pt x="0" y="5"/>
                    <a:pt x="0" y="3"/>
                  </a:cubicBezTo>
                  <a:cubicBezTo>
                    <a:pt x="0" y="1"/>
                    <a:pt x="2" y="0"/>
                    <a:pt x="4" y="0"/>
                  </a:cubicBezTo>
                  <a:cubicBezTo>
                    <a:pt x="100" y="0"/>
                    <a:pt x="100" y="0"/>
                    <a:pt x="100" y="0"/>
                  </a:cubicBezTo>
                  <a:cubicBezTo>
                    <a:pt x="101" y="0"/>
                    <a:pt x="103" y="1"/>
                    <a:pt x="103" y="3"/>
                  </a:cubicBezTo>
                  <a:close/>
                </a:path>
              </a:pathLst>
            </a:custGeom>
            <a:solidFill>
              <a:srgbClr val="E2E4E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/>
            </a:p>
          </p:txBody>
        </p:sp>
        <p:sp>
          <p:nvSpPr>
            <p:cNvPr id="19" name="Freeform 82">
              <a:extLst>
                <a:ext uri="{FF2B5EF4-FFF2-40B4-BE49-F238E27FC236}">
                  <a16:creationId xmlns:a16="http://schemas.microsoft.com/office/drawing/2014/main" id="{43F15E25-182A-C94F-BD02-E65A76D39C4F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0388" y="2611438"/>
              <a:ext cx="390525" cy="26988"/>
            </a:xfrm>
            <a:custGeom>
              <a:avLst/>
              <a:gdLst>
                <a:gd name="T0" fmla="*/ 103 w 103"/>
                <a:gd name="T1" fmla="*/ 3 h 7"/>
                <a:gd name="T2" fmla="*/ 100 w 103"/>
                <a:gd name="T3" fmla="*/ 7 h 7"/>
                <a:gd name="T4" fmla="*/ 4 w 103"/>
                <a:gd name="T5" fmla="*/ 7 h 7"/>
                <a:gd name="T6" fmla="*/ 0 w 103"/>
                <a:gd name="T7" fmla="*/ 3 h 7"/>
                <a:gd name="T8" fmla="*/ 4 w 103"/>
                <a:gd name="T9" fmla="*/ 0 h 7"/>
                <a:gd name="T10" fmla="*/ 100 w 103"/>
                <a:gd name="T11" fmla="*/ 0 h 7"/>
                <a:gd name="T12" fmla="*/ 103 w 103"/>
                <a:gd name="T13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3" h="7">
                  <a:moveTo>
                    <a:pt x="103" y="3"/>
                  </a:moveTo>
                  <a:cubicBezTo>
                    <a:pt x="103" y="5"/>
                    <a:pt x="101" y="7"/>
                    <a:pt x="100" y="7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2" y="7"/>
                    <a:pt x="0" y="5"/>
                    <a:pt x="0" y="3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100" y="0"/>
                    <a:pt x="100" y="0"/>
                    <a:pt x="100" y="0"/>
                  </a:cubicBezTo>
                  <a:cubicBezTo>
                    <a:pt x="101" y="0"/>
                    <a:pt x="103" y="2"/>
                    <a:pt x="103" y="3"/>
                  </a:cubicBezTo>
                  <a:close/>
                </a:path>
              </a:pathLst>
            </a:custGeom>
            <a:solidFill>
              <a:srgbClr val="E2E4E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/>
            </a:p>
          </p:txBody>
        </p:sp>
        <p:sp>
          <p:nvSpPr>
            <p:cNvPr id="20" name="Freeform 83">
              <a:extLst>
                <a:ext uri="{FF2B5EF4-FFF2-40B4-BE49-F238E27FC236}">
                  <a16:creationId xmlns:a16="http://schemas.microsoft.com/office/drawing/2014/main" id="{2FD16B5D-18D2-6397-4B9C-3CF67323511F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0388" y="2709863"/>
              <a:ext cx="390525" cy="22225"/>
            </a:xfrm>
            <a:custGeom>
              <a:avLst/>
              <a:gdLst>
                <a:gd name="T0" fmla="*/ 103 w 103"/>
                <a:gd name="T1" fmla="*/ 3 h 6"/>
                <a:gd name="T2" fmla="*/ 100 w 103"/>
                <a:gd name="T3" fmla="*/ 6 h 6"/>
                <a:gd name="T4" fmla="*/ 4 w 103"/>
                <a:gd name="T5" fmla="*/ 6 h 6"/>
                <a:gd name="T6" fmla="*/ 0 w 103"/>
                <a:gd name="T7" fmla="*/ 3 h 6"/>
                <a:gd name="T8" fmla="*/ 4 w 103"/>
                <a:gd name="T9" fmla="*/ 0 h 6"/>
                <a:gd name="T10" fmla="*/ 100 w 103"/>
                <a:gd name="T11" fmla="*/ 0 h 6"/>
                <a:gd name="T12" fmla="*/ 103 w 103"/>
                <a:gd name="T13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3" h="6">
                  <a:moveTo>
                    <a:pt x="103" y="3"/>
                  </a:moveTo>
                  <a:cubicBezTo>
                    <a:pt x="103" y="5"/>
                    <a:pt x="101" y="6"/>
                    <a:pt x="100" y="6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2" y="6"/>
                    <a:pt x="0" y="5"/>
                    <a:pt x="0" y="3"/>
                  </a:cubicBezTo>
                  <a:cubicBezTo>
                    <a:pt x="0" y="1"/>
                    <a:pt x="2" y="0"/>
                    <a:pt x="4" y="0"/>
                  </a:cubicBezTo>
                  <a:cubicBezTo>
                    <a:pt x="100" y="0"/>
                    <a:pt x="100" y="0"/>
                    <a:pt x="100" y="0"/>
                  </a:cubicBezTo>
                  <a:cubicBezTo>
                    <a:pt x="101" y="0"/>
                    <a:pt x="103" y="1"/>
                    <a:pt x="103" y="3"/>
                  </a:cubicBezTo>
                  <a:close/>
                </a:path>
              </a:pathLst>
            </a:custGeom>
            <a:solidFill>
              <a:srgbClr val="E2E4E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/>
            </a:p>
          </p:txBody>
        </p:sp>
        <p:sp>
          <p:nvSpPr>
            <p:cNvPr id="21" name="Freeform 84">
              <a:extLst>
                <a:ext uri="{FF2B5EF4-FFF2-40B4-BE49-F238E27FC236}">
                  <a16:creationId xmlns:a16="http://schemas.microsoft.com/office/drawing/2014/main" id="{A2AEC904-AA5B-1C39-715D-5689829D7353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5113" y="2338388"/>
              <a:ext cx="530225" cy="530225"/>
            </a:xfrm>
            <a:custGeom>
              <a:avLst/>
              <a:gdLst>
                <a:gd name="T0" fmla="*/ 131 w 140"/>
                <a:gd name="T1" fmla="*/ 90 h 140"/>
                <a:gd name="T2" fmla="*/ 51 w 140"/>
                <a:gd name="T3" fmla="*/ 11 h 140"/>
                <a:gd name="T4" fmla="*/ 49 w 140"/>
                <a:gd name="T5" fmla="*/ 9 h 140"/>
                <a:gd name="T6" fmla="*/ 11 w 140"/>
                <a:gd name="T7" fmla="*/ 11 h 140"/>
                <a:gd name="T8" fmla="*/ 11 w 140"/>
                <a:gd name="T9" fmla="*/ 11 h 140"/>
                <a:gd name="T10" fmla="*/ 9 w 140"/>
                <a:gd name="T11" fmla="*/ 49 h 140"/>
                <a:gd name="T12" fmla="*/ 11 w 140"/>
                <a:gd name="T13" fmla="*/ 52 h 140"/>
                <a:gd name="T14" fmla="*/ 90 w 140"/>
                <a:gd name="T15" fmla="*/ 131 h 140"/>
                <a:gd name="T16" fmla="*/ 122 w 140"/>
                <a:gd name="T17" fmla="*/ 140 h 140"/>
                <a:gd name="T18" fmla="*/ 129 w 140"/>
                <a:gd name="T19" fmla="*/ 129 h 140"/>
                <a:gd name="T20" fmla="*/ 140 w 140"/>
                <a:gd name="T21" fmla="*/ 122 h 140"/>
                <a:gd name="T22" fmla="*/ 131 w 140"/>
                <a:gd name="T23" fmla="*/ 90 h 1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40" h="140">
                  <a:moveTo>
                    <a:pt x="131" y="90"/>
                  </a:moveTo>
                  <a:cubicBezTo>
                    <a:pt x="51" y="11"/>
                    <a:pt x="51" y="11"/>
                    <a:pt x="51" y="11"/>
                  </a:cubicBezTo>
                  <a:cubicBezTo>
                    <a:pt x="51" y="10"/>
                    <a:pt x="50" y="10"/>
                    <a:pt x="49" y="9"/>
                  </a:cubicBezTo>
                  <a:cubicBezTo>
                    <a:pt x="38" y="0"/>
                    <a:pt x="22" y="0"/>
                    <a:pt x="11" y="11"/>
                  </a:cubicBezTo>
                  <a:cubicBezTo>
                    <a:pt x="11" y="11"/>
                    <a:pt x="11" y="11"/>
                    <a:pt x="11" y="11"/>
                  </a:cubicBezTo>
                  <a:cubicBezTo>
                    <a:pt x="0" y="22"/>
                    <a:pt x="0" y="38"/>
                    <a:pt x="9" y="49"/>
                  </a:cubicBezTo>
                  <a:cubicBezTo>
                    <a:pt x="9" y="50"/>
                    <a:pt x="10" y="51"/>
                    <a:pt x="11" y="52"/>
                  </a:cubicBezTo>
                  <a:cubicBezTo>
                    <a:pt x="90" y="131"/>
                    <a:pt x="90" y="131"/>
                    <a:pt x="90" y="131"/>
                  </a:cubicBezTo>
                  <a:cubicBezTo>
                    <a:pt x="122" y="140"/>
                    <a:pt x="122" y="140"/>
                    <a:pt x="122" y="140"/>
                  </a:cubicBezTo>
                  <a:cubicBezTo>
                    <a:pt x="123" y="136"/>
                    <a:pt x="125" y="132"/>
                    <a:pt x="129" y="129"/>
                  </a:cubicBezTo>
                  <a:cubicBezTo>
                    <a:pt x="132" y="126"/>
                    <a:pt x="136" y="123"/>
                    <a:pt x="140" y="122"/>
                  </a:cubicBezTo>
                  <a:lnTo>
                    <a:pt x="131" y="90"/>
                  </a:lnTo>
                  <a:close/>
                </a:path>
              </a:pathLst>
            </a:custGeom>
            <a:solidFill>
              <a:srgbClr val="F4D0A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/>
            </a:p>
          </p:txBody>
        </p:sp>
        <p:sp>
          <p:nvSpPr>
            <p:cNvPr id="22" name="Freeform 85">
              <a:extLst>
                <a:ext uri="{FF2B5EF4-FFF2-40B4-BE49-F238E27FC236}">
                  <a16:creationId xmlns:a16="http://schemas.microsoft.com/office/drawing/2014/main" id="{16741A67-52D2-4113-728D-922531177411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5113" y="2338388"/>
              <a:ext cx="185738" cy="185738"/>
            </a:xfrm>
            <a:custGeom>
              <a:avLst/>
              <a:gdLst>
                <a:gd name="T0" fmla="*/ 49 w 49"/>
                <a:gd name="T1" fmla="*/ 9 h 49"/>
                <a:gd name="T2" fmla="*/ 9 w 49"/>
                <a:gd name="T3" fmla="*/ 49 h 49"/>
                <a:gd name="T4" fmla="*/ 11 w 49"/>
                <a:gd name="T5" fmla="*/ 11 h 49"/>
                <a:gd name="T6" fmla="*/ 11 w 49"/>
                <a:gd name="T7" fmla="*/ 11 h 49"/>
                <a:gd name="T8" fmla="*/ 49 w 49"/>
                <a:gd name="T9" fmla="*/ 9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9" h="49">
                  <a:moveTo>
                    <a:pt x="49" y="9"/>
                  </a:moveTo>
                  <a:cubicBezTo>
                    <a:pt x="9" y="49"/>
                    <a:pt x="9" y="49"/>
                    <a:pt x="9" y="49"/>
                  </a:cubicBezTo>
                  <a:cubicBezTo>
                    <a:pt x="0" y="38"/>
                    <a:pt x="0" y="22"/>
                    <a:pt x="11" y="11"/>
                  </a:cubicBezTo>
                  <a:cubicBezTo>
                    <a:pt x="11" y="11"/>
                    <a:pt x="11" y="11"/>
                    <a:pt x="11" y="11"/>
                  </a:cubicBezTo>
                  <a:cubicBezTo>
                    <a:pt x="22" y="0"/>
                    <a:pt x="38" y="0"/>
                    <a:pt x="49" y="9"/>
                  </a:cubicBezTo>
                  <a:close/>
                </a:path>
              </a:pathLst>
            </a:custGeom>
            <a:solidFill>
              <a:srgbClr val="F7B4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/>
            </a:p>
          </p:txBody>
        </p:sp>
        <p:sp>
          <p:nvSpPr>
            <p:cNvPr id="23" name="Freeform 86">
              <a:extLst>
                <a:ext uri="{FF2B5EF4-FFF2-40B4-BE49-F238E27FC236}">
                  <a16:creationId xmlns:a16="http://schemas.microsoft.com/office/drawing/2014/main" id="{79453106-0C1B-88F7-A301-F50FD48A92D8}"/>
                </a:ext>
              </a:extLst>
            </p:cNvPr>
            <p:cNvSpPr>
              <a:spLocks/>
            </p:cNvSpPr>
            <p:nvPr/>
          </p:nvSpPr>
          <p:spPr bwMode="auto">
            <a:xfrm>
              <a:off x="3267075" y="2800351"/>
              <a:ext cx="90488" cy="90488"/>
            </a:xfrm>
            <a:custGeom>
              <a:avLst/>
              <a:gdLst>
                <a:gd name="T0" fmla="*/ 18 w 24"/>
                <a:gd name="T1" fmla="*/ 0 h 24"/>
                <a:gd name="T2" fmla="*/ 24 w 24"/>
                <a:gd name="T3" fmla="*/ 21 h 24"/>
                <a:gd name="T4" fmla="*/ 20 w 24"/>
                <a:gd name="T5" fmla="*/ 24 h 24"/>
                <a:gd name="T6" fmla="*/ 0 w 24"/>
                <a:gd name="T7" fmla="*/ 18 h 24"/>
                <a:gd name="T8" fmla="*/ 7 w 24"/>
                <a:gd name="T9" fmla="*/ 7 h 24"/>
                <a:gd name="T10" fmla="*/ 18 w 24"/>
                <a:gd name="T11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" h="24">
                  <a:moveTo>
                    <a:pt x="18" y="0"/>
                  </a:moveTo>
                  <a:cubicBezTo>
                    <a:pt x="24" y="21"/>
                    <a:pt x="24" y="21"/>
                    <a:pt x="24" y="21"/>
                  </a:cubicBezTo>
                  <a:cubicBezTo>
                    <a:pt x="24" y="23"/>
                    <a:pt x="22" y="24"/>
                    <a:pt x="20" y="24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1" y="14"/>
                    <a:pt x="3" y="10"/>
                    <a:pt x="7" y="7"/>
                  </a:cubicBezTo>
                  <a:cubicBezTo>
                    <a:pt x="10" y="4"/>
                    <a:pt x="14" y="1"/>
                    <a:pt x="18" y="0"/>
                  </a:cubicBezTo>
                  <a:close/>
                </a:path>
              </a:pathLst>
            </a:custGeom>
            <a:solidFill>
              <a:srgbClr val="3E3E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/>
            </a:p>
          </p:txBody>
        </p:sp>
        <p:sp>
          <p:nvSpPr>
            <p:cNvPr id="24" name="Freeform 87">
              <a:extLst>
                <a:ext uri="{FF2B5EF4-FFF2-40B4-BE49-F238E27FC236}">
                  <a16:creationId xmlns:a16="http://schemas.microsoft.com/office/drawing/2014/main" id="{1315D361-CA7E-709F-3242-64DE5922BDF6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7025" y="2403476"/>
              <a:ext cx="434975" cy="427038"/>
            </a:xfrm>
            <a:custGeom>
              <a:avLst/>
              <a:gdLst>
                <a:gd name="T0" fmla="*/ 114 w 115"/>
                <a:gd name="T1" fmla="*/ 73 h 113"/>
                <a:gd name="T2" fmla="*/ 41 w 115"/>
                <a:gd name="T3" fmla="*/ 0 h 113"/>
                <a:gd name="T4" fmla="*/ 0 w 115"/>
                <a:gd name="T5" fmla="*/ 40 h 113"/>
                <a:gd name="T6" fmla="*/ 0 w 115"/>
                <a:gd name="T7" fmla="*/ 40 h 113"/>
                <a:gd name="T8" fmla="*/ 73 w 115"/>
                <a:gd name="T9" fmla="*/ 113 h 113"/>
                <a:gd name="T10" fmla="*/ 73 w 115"/>
                <a:gd name="T11" fmla="*/ 113 h 113"/>
                <a:gd name="T12" fmla="*/ 76 w 115"/>
                <a:gd name="T13" fmla="*/ 95 h 113"/>
                <a:gd name="T14" fmla="*/ 94 w 115"/>
                <a:gd name="T15" fmla="*/ 94 h 113"/>
                <a:gd name="T16" fmla="*/ 94 w 115"/>
                <a:gd name="T17" fmla="*/ 93 h 113"/>
                <a:gd name="T18" fmla="*/ 94 w 115"/>
                <a:gd name="T19" fmla="*/ 93 h 113"/>
                <a:gd name="T20" fmla="*/ 96 w 115"/>
                <a:gd name="T21" fmla="*/ 74 h 113"/>
                <a:gd name="T22" fmla="*/ 114 w 115"/>
                <a:gd name="T23" fmla="*/ 73 h 113"/>
                <a:gd name="T24" fmla="*/ 114 w 115"/>
                <a:gd name="T25" fmla="*/ 73 h 113"/>
                <a:gd name="T26" fmla="*/ 114 w 115"/>
                <a:gd name="T27" fmla="*/ 73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15" h="113">
                  <a:moveTo>
                    <a:pt x="114" y="73"/>
                  </a:moveTo>
                  <a:cubicBezTo>
                    <a:pt x="108" y="67"/>
                    <a:pt x="41" y="0"/>
                    <a:pt x="41" y="0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0" y="40"/>
                    <a:pt x="64" y="104"/>
                    <a:pt x="73" y="113"/>
                  </a:cubicBezTo>
                  <a:cubicBezTo>
                    <a:pt x="73" y="113"/>
                    <a:pt x="73" y="113"/>
                    <a:pt x="73" y="113"/>
                  </a:cubicBezTo>
                  <a:cubicBezTo>
                    <a:pt x="70" y="108"/>
                    <a:pt x="71" y="100"/>
                    <a:pt x="76" y="95"/>
                  </a:cubicBezTo>
                  <a:cubicBezTo>
                    <a:pt x="81" y="90"/>
                    <a:pt x="89" y="90"/>
                    <a:pt x="94" y="94"/>
                  </a:cubicBezTo>
                  <a:cubicBezTo>
                    <a:pt x="94" y="94"/>
                    <a:pt x="94" y="94"/>
                    <a:pt x="94" y="93"/>
                  </a:cubicBezTo>
                  <a:cubicBezTo>
                    <a:pt x="94" y="93"/>
                    <a:pt x="94" y="93"/>
                    <a:pt x="94" y="93"/>
                  </a:cubicBezTo>
                  <a:cubicBezTo>
                    <a:pt x="90" y="88"/>
                    <a:pt x="90" y="80"/>
                    <a:pt x="96" y="74"/>
                  </a:cubicBezTo>
                  <a:cubicBezTo>
                    <a:pt x="101" y="69"/>
                    <a:pt x="109" y="69"/>
                    <a:pt x="114" y="73"/>
                  </a:cubicBezTo>
                  <a:cubicBezTo>
                    <a:pt x="114" y="73"/>
                    <a:pt x="114" y="73"/>
                    <a:pt x="114" y="73"/>
                  </a:cubicBezTo>
                  <a:cubicBezTo>
                    <a:pt x="115" y="73"/>
                    <a:pt x="115" y="73"/>
                    <a:pt x="114" y="73"/>
                  </a:cubicBezTo>
                  <a:close/>
                </a:path>
              </a:pathLst>
            </a:custGeom>
            <a:solidFill>
              <a:srgbClr val="DF2C2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/>
            </a:p>
          </p:txBody>
        </p:sp>
        <p:sp>
          <p:nvSpPr>
            <p:cNvPr id="25" name="Freeform 88">
              <a:extLst>
                <a:ext uri="{FF2B5EF4-FFF2-40B4-BE49-F238E27FC236}">
                  <a16:creationId xmlns:a16="http://schemas.microsoft.com/office/drawing/2014/main" id="{132CBA08-82EC-034B-8AF2-203B9EB78C1E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0038" y="2373313"/>
              <a:ext cx="180975" cy="180975"/>
            </a:xfrm>
            <a:custGeom>
              <a:avLst/>
              <a:gdLst>
                <a:gd name="T0" fmla="*/ 17 w 114"/>
                <a:gd name="T1" fmla="*/ 114 h 114"/>
                <a:gd name="T2" fmla="*/ 0 w 114"/>
                <a:gd name="T3" fmla="*/ 98 h 114"/>
                <a:gd name="T4" fmla="*/ 95 w 114"/>
                <a:gd name="T5" fmla="*/ 0 h 114"/>
                <a:gd name="T6" fmla="*/ 114 w 114"/>
                <a:gd name="T7" fmla="*/ 19 h 114"/>
                <a:gd name="T8" fmla="*/ 17 w 114"/>
                <a:gd name="T9" fmla="*/ 114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4" h="114">
                  <a:moveTo>
                    <a:pt x="17" y="114"/>
                  </a:moveTo>
                  <a:lnTo>
                    <a:pt x="0" y="98"/>
                  </a:lnTo>
                  <a:lnTo>
                    <a:pt x="95" y="0"/>
                  </a:lnTo>
                  <a:lnTo>
                    <a:pt x="114" y="19"/>
                  </a:lnTo>
                  <a:lnTo>
                    <a:pt x="17" y="114"/>
                  </a:lnTo>
                  <a:close/>
                </a:path>
              </a:pathLst>
            </a:custGeom>
            <a:solidFill>
              <a:srgbClr val="FACB1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/>
            </a:p>
          </p:txBody>
        </p:sp>
        <p:sp>
          <p:nvSpPr>
            <p:cNvPr id="26" name="Freeform 89">
              <a:extLst>
                <a:ext uri="{FF2B5EF4-FFF2-40B4-BE49-F238E27FC236}">
                  <a16:creationId xmlns:a16="http://schemas.microsoft.com/office/drawing/2014/main" id="{FD0E5B44-4D25-35BB-03E0-844E6EC48901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7025" y="2479676"/>
              <a:ext cx="355600" cy="350838"/>
            </a:xfrm>
            <a:custGeom>
              <a:avLst/>
              <a:gdLst>
                <a:gd name="T0" fmla="*/ 0 w 94"/>
                <a:gd name="T1" fmla="*/ 20 h 93"/>
                <a:gd name="T2" fmla="*/ 73 w 94"/>
                <a:gd name="T3" fmla="*/ 93 h 93"/>
                <a:gd name="T4" fmla="*/ 73 w 94"/>
                <a:gd name="T5" fmla="*/ 93 h 93"/>
                <a:gd name="T6" fmla="*/ 76 w 94"/>
                <a:gd name="T7" fmla="*/ 75 h 93"/>
                <a:gd name="T8" fmla="*/ 94 w 94"/>
                <a:gd name="T9" fmla="*/ 74 h 93"/>
                <a:gd name="T10" fmla="*/ 94 w 94"/>
                <a:gd name="T11" fmla="*/ 73 h 93"/>
                <a:gd name="T12" fmla="*/ 21 w 94"/>
                <a:gd name="T13" fmla="*/ 0 h 93"/>
                <a:gd name="T14" fmla="*/ 0 w 94"/>
                <a:gd name="T15" fmla="*/ 20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4" h="93">
                  <a:moveTo>
                    <a:pt x="0" y="20"/>
                  </a:moveTo>
                  <a:cubicBezTo>
                    <a:pt x="0" y="20"/>
                    <a:pt x="64" y="84"/>
                    <a:pt x="73" y="93"/>
                  </a:cubicBezTo>
                  <a:cubicBezTo>
                    <a:pt x="73" y="93"/>
                    <a:pt x="73" y="93"/>
                    <a:pt x="73" y="93"/>
                  </a:cubicBezTo>
                  <a:cubicBezTo>
                    <a:pt x="70" y="88"/>
                    <a:pt x="71" y="80"/>
                    <a:pt x="76" y="75"/>
                  </a:cubicBezTo>
                  <a:cubicBezTo>
                    <a:pt x="81" y="70"/>
                    <a:pt x="89" y="70"/>
                    <a:pt x="94" y="74"/>
                  </a:cubicBezTo>
                  <a:cubicBezTo>
                    <a:pt x="94" y="74"/>
                    <a:pt x="94" y="73"/>
                    <a:pt x="94" y="73"/>
                  </a:cubicBezTo>
                  <a:cubicBezTo>
                    <a:pt x="21" y="0"/>
                    <a:pt x="21" y="0"/>
                    <a:pt x="21" y="0"/>
                  </a:cubicBezTo>
                  <a:lnTo>
                    <a:pt x="0" y="20"/>
                  </a:lnTo>
                  <a:close/>
                </a:path>
              </a:pathLst>
            </a:custGeom>
            <a:solidFill>
              <a:srgbClr val="FA565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/>
            </a:p>
          </p:txBody>
        </p:sp>
      </p:grpSp>
      <p:sp>
        <p:nvSpPr>
          <p:cNvPr id="13" name="Title 1">
            <a:extLst>
              <a:ext uri="{FF2B5EF4-FFF2-40B4-BE49-F238E27FC236}">
                <a16:creationId xmlns:a16="http://schemas.microsoft.com/office/drawing/2014/main" id="{BBB8459E-D1F7-E590-B06C-B6E52BB7E784}"/>
              </a:ext>
            </a:extLst>
          </p:cNvPr>
          <p:cNvSpPr txBox="1">
            <a:spLocks/>
          </p:cNvSpPr>
          <p:nvPr/>
        </p:nvSpPr>
        <p:spPr>
          <a:xfrm>
            <a:off x="901960" y="2200654"/>
            <a:ext cx="5431408" cy="355517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Aft>
                <a:spcPts val="1200"/>
              </a:spcAft>
            </a:pPr>
            <a:r>
              <a:rPr lang="en-US" sz="24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Dual-write is an out-of-box infrastructure that provides near-real-time interaction between customer engagement apps and finance and operations apps.</a:t>
            </a: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lang="en-US" sz="24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Dual-write provides </a:t>
            </a:r>
            <a:r>
              <a:rPr lang="en-US" sz="2400" b="1" i="1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tightly coupled</a:t>
            </a:r>
            <a:r>
              <a:rPr lang="en-US" sz="24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bidirectional integration between finance and operations apps and Dataverse</a:t>
            </a:r>
          </a:p>
          <a:p>
            <a:pPr>
              <a:lnSpc>
                <a:spcPct val="100000"/>
              </a:lnSpc>
              <a:spcAft>
                <a:spcPts val="1200"/>
              </a:spcAft>
            </a:pPr>
            <a:endParaRPr lang="en-US" sz="2400" i="1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100000"/>
              </a:lnSpc>
              <a:spcAft>
                <a:spcPts val="1200"/>
              </a:spcAft>
            </a:pPr>
            <a:endParaRPr lang="en-US" sz="2400" i="1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B98739D-92FD-BF2F-0591-7E5D5A3EA4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84259" y="6154401"/>
            <a:ext cx="501650" cy="501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70024192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DCABED-C14B-ACF2-413E-1A3E87F306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4">
            <a:extLst>
              <a:ext uri="{FF2B5EF4-FFF2-40B4-BE49-F238E27FC236}">
                <a16:creationId xmlns:a16="http://schemas.microsoft.com/office/drawing/2014/main" id="{F8B3F468-9405-F535-1EB2-3BF617FBC1F0}"/>
              </a:ext>
            </a:extLst>
          </p:cNvPr>
          <p:cNvSpPr>
            <a:spLocks noGrp="1"/>
          </p:cNvSpPr>
          <p:nvPr/>
        </p:nvSpPr>
        <p:spPr>
          <a:xfrm>
            <a:off x="839175" y="198429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0" kern="1200">
                <a:solidFill>
                  <a:srgbClr val="9C3C9A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endParaRPr lang="en-US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55FEE6A0-B6BB-04B2-2A6E-027ECFB6E194}"/>
              </a:ext>
            </a:extLst>
          </p:cNvPr>
          <p:cNvSpPr>
            <a:spLocks noGrp="1"/>
          </p:cNvSpPr>
          <p:nvPr/>
        </p:nvSpPr>
        <p:spPr>
          <a:xfrm>
            <a:off x="839175" y="3468688"/>
            <a:ext cx="10515600" cy="15001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i="0" kern="1200">
                <a:solidFill>
                  <a:srgbClr val="ED3F7B"/>
                </a:solidFill>
                <a:latin typeface="Open Sans SemiBold" pitchFamily="2" charset="0"/>
                <a:ea typeface="Open Sans SemiBold" pitchFamily="2" charset="0"/>
                <a:cs typeface="Open Sans SemiBold" pitchFamily="2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DD4AF4BA-C3D8-AB1E-9CB2-A47B2788D6CD}"/>
              </a:ext>
            </a:extLst>
          </p:cNvPr>
          <p:cNvSpPr>
            <a:spLocks noGrp="1"/>
          </p:cNvSpPr>
          <p:nvPr/>
        </p:nvSpPr>
        <p:spPr>
          <a:xfrm>
            <a:off x="11867538" y="6316623"/>
            <a:ext cx="3317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D05A9CD-9176-4D89-A414-3BEEE81BBC77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10" name="Rectángulo redondeado 14">
            <a:extLst>
              <a:ext uri="{FF2B5EF4-FFF2-40B4-BE49-F238E27FC236}">
                <a16:creationId xmlns:a16="http://schemas.microsoft.com/office/drawing/2014/main" id="{C70E38CD-5988-E6E8-0FC8-62D5869D66A5}"/>
              </a:ext>
            </a:extLst>
          </p:cNvPr>
          <p:cNvSpPr/>
          <p:nvPr/>
        </p:nvSpPr>
        <p:spPr>
          <a:xfrm>
            <a:off x="214448" y="176252"/>
            <a:ext cx="9444878" cy="1214125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>
            <a:noFill/>
          </a:ln>
          <a:effectLst>
            <a:outerShdw dist="635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1" name="Rectángulo 12">
            <a:extLst>
              <a:ext uri="{FF2B5EF4-FFF2-40B4-BE49-F238E27FC236}">
                <a16:creationId xmlns:a16="http://schemas.microsoft.com/office/drawing/2014/main" id="{9FC8A3DB-7C62-D1F8-7045-F03C38BDC469}"/>
              </a:ext>
            </a:extLst>
          </p:cNvPr>
          <p:cNvSpPr/>
          <p:nvPr/>
        </p:nvSpPr>
        <p:spPr>
          <a:xfrm>
            <a:off x="683859" y="356969"/>
            <a:ext cx="7415414" cy="769441"/>
          </a:xfrm>
          <a:prstGeom prst="rect">
            <a:avLst/>
          </a:prstGeom>
        </p:spPr>
        <p:txBody>
          <a:bodyPr wrap="square" lIns="0" rIns="0" anchor="b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400" b="1" dirty="0">
                <a:solidFill>
                  <a:srgbClr val="1E275C"/>
                </a:solidFill>
                <a:latin typeface="Segoe UI" panose="020B0502040204020203" pitchFamily="34" charset="0"/>
                <a:ea typeface="Source Sans Pro Black" panose="020B0803030403020204" pitchFamily="34" charset="0"/>
                <a:cs typeface="Segoe UI" panose="020B0502040204020203" pitchFamily="34" charset="0"/>
              </a:rPr>
              <a:t>Dual-write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03ADF37-4C1B-CD8A-4187-701B172041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463" y="1940727"/>
            <a:ext cx="11366620" cy="402203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CFBFE7E-9589-4321-B24E-61F3646712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22799" y="6131112"/>
            <a:ext cx="501650" cy="501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54562265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3D72BE-E7A6-F7A1-5634-3AA5CEFB51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3971141-76D4-CA05-E72F-5C0C4415A0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393" y="1535047"/>
            <a:ext cx="10862584" cy="4781576"/>
          </a:xfrm>
          <a:prstGeom prst="rect">
            <a:avLst/>
          </a:prstGeom>
        </p:spPr>
      </p:pic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ED1847C8-D6FD-5794-0E48-EFA9807FBDE1}"/>
              </a:ext>
            </a:extLst>
          </p:cNvPr>
          <p:cNvSpPr>
            <a:spLocks noGrp="1"/>
          </p:cNvSpPr>
          <p:nvPr/>
        </p:nvSpPr>
        <p:spPr>
          <a:xfrm>
            <a:off x="11867538" y="6316623"/>
            <a:ext cx="3317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D05A9CD-9176-4D89-A414-3BEEE81BBC77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9" name="Rectángulo redondeado 14">
            <a:extLst>
              <a:ext uri="{FF2B5EF4-FFF2-40B4-BE49-F238E27FC236}">
                <a16:creationId xmlns:a16="http://schemas.microsoft.com/office/drawing/2014/main" id="{2DAEA963-3277-C508-2A8A-9EA561FE5495}"/>
              </a:ext>
            </a:extLst>
          </p:cNvPr>
          <p:cNvSpPr/>
          <p:nvPr/>
        </p:nvSpPr>
        <p:spPr>
          <a:xfrm>
            <a:off x="214448" y="176252"/>
            <a:ext cx="9444878" cy="1214125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>
            <a:noFill/>
          </a:ln>
          <a:effectLst>
            <a:outerShdw dist="635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0" name="Rectángulo 12">
            <a:extLst>
              <a:ext uri="{FF2B5EF4-FFF2-40B4-BE49-F238E27FC236}">
                <a16:creationId xmlns:a16="http://schemas.microsoft.com/office/drawing/2014/main" id="{A68F7D72-1A54-8E45-755B-659FCDDE3EF6}"/>
              </a:ext>
            </a:extLst>
          </p:cNvPr>
          <p:cNvSpPr/>
          <p:nvPr/>
        </p:nvSpPr>
        <p:spPr>
          <a:xfrm>
            <a:off x="683859" y="356969"/>
            <a:ext cx="7415414" cy="769441"/>
          </a:xfrm>
          <a:prstGeom prst="rect">
            <a:avLst/>
          </a:prstGeom>
        </p:spPr>
        <p:txBody>
          <a:bodyPr wrap="square" lIns="0" rIns="0" anchor="b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400" b="1" dirty="0">
                <a:solidFill>
                  <a:srgbClr val="1E275C"/>
                </a:solidFill>
                <a:latin typeface="Segoe UI" panose="020B0502040204020203" pitchFamily="34" charset="0"/>
                <a:ea typeface="Source Sans Pro Black" panose="020B0803030403020204" pitchFamily="34" charset="0"/>
                <a:cs typeface="Segoe UI" panose="020B0502040204020203" pitchFamily="34" charset="0"/>
              </a:rPr>
              <a:t>Dual-write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D6547E7-A11B-0B7E-B5F0-B3CC0E2731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15257" y="6065798"/>
            <a:ext cx="501650" cy="501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31600975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F2A1E0-FA09-0037-F009-C0BE7F3262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46">
            <a:extLst>
              <a:ext uri="{FF2B5EF4-FFF2-40B4-BE49-F238E27FC236}">
                <a16:creationId xmlns:a16="http://schemas.microsoft.com/office/drawing/2014/main" id="{545FCE58-3EEF-4451-7309-358FFC01D255}"/>
              </a:ext>
            </a:extLst>
          </p:cNvPr>
          <p:cNvSpPr/>
          <p:nvPr/>
        </p:nvSpPr>
        <p:spPr>
          <a:xfrm>
            <a:off x="355433" y="1073942"/>
            <a:ext cx="9353268" cy="4732311"/>
          </a:xfrm>
          <a:prstGeom prst="roundRect">
            <a:avLst>
              <a:gd name="adj" fmla="val 703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DD1719E-1C14-265B-61EF-8EC3E73A92DB}"/>
              </a:ext>
            </a:extLst>
          </p:cNvPr>
          <p:cNvSpPr/>
          <p:nvPr/>
        </p:nvSpPr>
        <p:spPr>
          <a:xfrm>
            <a:off x="789947" y="506531"/>
            <a:ext cx="1175537" cy="1175537"/>
          </a:xfrm>
          <a:prstGeom prst="ellipse">
            <a:avLst/>
          </a:prstGeom>
          <a:solidFill>
            <a:srgbClr val="D0101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68B171C-FC29-33CF-282E-A4F23824B75D}"/>
              </a:ext>
            </a:extLst>
          </p:cNvPr>
          <p:cNvSpPr/>
          <p:nvPr/>
        </p:nvSpPr>
        <p:spPr>
          <a:xfrm>
            <a:off x="1010045" y="729342"/>
            <a:ext cx="729915" cy="729915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dist="635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0985611-B857-CAEC-942D-032E093049E0}"/>
              </a:ext>
            </a:extLst>
          </p:cNvPr>
          <p:cNvSpPr>
            <a:spLocks noGrp="1"/>
          </p:cNvSpPr>
          <p:nvPr/>
        </p:nvSpPr>
        <p:spPr>
          <a:xfrm>
            <a:off x="355433" y="965204"/>
            <a:ext cx="10515600" cy="1325563"/>
          </a:xfrm>
          <a:prstGeom prst="rect">
            <a:avLst/>
          </a:prstGeom>
        </p:spPr>
        <p:txBody>
          <a:bodyPr vert="horz" lIns="0" tIns="45720" rIns="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0" kern="1200">
                <a:solidFill>
                  <a:srgbClr val="9C3C9A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 b="1" dirty="0">
                <a:solidFill>
                  <a:srgbClr val="1E275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Custom Services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BA4D4C92-09CC-E647-A801-A3C4D44AE62D}"/>
              </a:ext>
            </a:extLst>
          </p:cNvPr>
          <p:cNvSpPr>
            <a:spLocks noGrp="1"/>
          </p:cNvSpPr>
          <p:nvPr/>
        </p:nvSpPr>
        <p:spPr>
          <a:xfrm>
            <a:off x="11897376" y="6091851"/>
            <a:ext cx="33178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9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D05A9CD-9176-4D89-A414-3BEEE81BBC77}" type="slidenum">
              <a:rPr lang="en-US" smtClean="0"/>
              <a:pPr/>
              <a:t>18</a:t>
            </a:fld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5B336BE-4C4A-20C6-0E09-C6D34D07F991}"/>
              </a:ext>
            </a:extLst>
          </p:cNvPr>
          <p:cNvGrpSpPr/>
          <p:nvPr/>
        </p:nvGrpSpPr>
        <p:grpSpPr>
          <a:xfrm>
            <a:off x="1180722" y="910307"/>
            <a:ext cx="388560" cy="367985"/>
            <a:chOff x="2805113" y="2247901"/>
            <a:chExt cx="779462" cy="738188"/>
          </a:xfrm>
          <a:effectLst>
            <a:outerShdw dist="63500" dir="2700000" algn="tl" rotWithShape="0">
              <a:prstClr val="black">
                <a:alpha val="20000"/>
              </a:prstClr>
            </a:outerShdw>
          </a:effectLst>
        </p:grpSpPr>
        <p:sp>
          <p:nvSpPr>
            <p:cNvPr id="15" name="Freeform 78">
              <a:extLst>
                <a:ext uri="{FF2B5EF4-FFF2-40B4-BE49-F238E27FC236}">
                  <a16:creationId xmlns:a16="http://schemas.microsoft.com/office/drawing/2014/main" id="{C5C01712-E656-FD11-5DC5-446B31DC3673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6725" y="2247901"/>
              <a:ext cx="577850" cy="738188"/>
            </a:xfrm>
            <a:custGeom>
              <a:avLst/>
              <a:gdLst>
                <a:gd name="T0" fmla="*/ 115 w 153"/>
                <a:gd name="T1" fmla="*/ 0 h 195"/>
                <a:gd name="T2" fmla="*/ 6 w 153"/>
                <a:gd name="T3" fmla="*/ 0 h 195"/>
                <a:gd name="T4" fmla="*/ 0 w 153"/>
                <a:gd name="T5" fmla="*/ 7 h 195"/>
                <a:gd name="T6" fmla="*/ 0 w 153"/>
                <a:gd name="T7" fmla="*/ 195 h 195"/>
                <a:gd name="T8" fmla="*/ 153 w 153"/>
                <a:gd name="T9" fmla="*/ 195 h 195"/>
                <a:gd name="T10" fmla="*/ 153 w 153"/>
                <a:gd name="T11" fmla="*/ 39 h 195"/>
                <a:gd name="T12" fmla="*/ 115 w 153"/>
                <a:gd name="T13" fmla="*/ 0 h 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3" h="195">
                  <a:moveTo>
                    <a:pt x="115" y="0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3" y="0"/>
                    <a:pt x="0" y="3"/>
                    <a:pt x="0" y="7"/>
                  </a:cubicBezTo>
                  <a:cubicBezTo>
                    <a:pt x="0" y="195"/>
                    <a:pt x="0" y="195"/>
                    <a:pt x="0" y="195"/>
                  </a:cubicBezTo>
                  <a:cubicBezTo>
                    <a:pt x="153" y="195"/>
                    <a:pt x="153" y="195"/>
                    <a:pt x="153" y="195"/>
                  </a:cubicBezTo>
                  <a:cubicBezTo>
                    <a:pt x="153" y="39"/>
                    <a:pt x="153" y="39"/>
                    <a:pt x="153" y="39"/>
                  </a:cubicBezTo>
                  <a:lnTo>
                    <a:pt x="11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/>
            </a:p>
          </p:txBody>
        </p:sp>
        <p:sp>
          <p:nvSpPr>
            <p:cNvPr id="16" name="Freeform 79">
              <a:extLst>
                <a:ext uri="{FF2B5EF4-FFF2-40B4-BE49-F238E27FC236}">
                  <a16:creationId xmlns:a16="http://schemas.microsoft.com/office/drawing/2014/main" id="{25BE402D-3CF3-2B6A-0ED7-0D284DC65E1A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1700" y="2247901"/>
              <a:ext cx="142875" cy="147638"/>
            </a:xfrm>
            <a:custGeom>
              <a:avLst/>
              <a:gdLst>
                <a:gd name="T0" fmla="*/ 0 w 90"/>
                <a:gd name="T1" fmla="*/ 0 h 93"/>
                <a:gd name="T2" fmla="*/ 0 w 90"/>
                <a:gd name="T3" fmla="*/ 93 h 93"/>
                <a:gd name="T4" fmla="*/ 90 w 90"/>
                <a:gd name="T5" fmla="*/ 93 h 93"/>
                <a:gd name="T6" fmla="*/ 0 w 90"/>
                <a:gd name="T7" fmla="*/ 0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0" h="93">
                  <a:moveTo>
                    <a:pt x="0" y="0"/>
                  </a:moveTo>
                  <a:lnTo>
                    <a:pt x="0" y="93"/>
                  </a:lnTo>
                  <a:lnTo>
                    <a:pt x="90" y="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2E4E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/>
            </a:p>
          </p:txBody>
        </p:sp>
        <p:sp>
          <p:nvSpPr>
            <p:cNvPr id="17" name="Freeform 80">
              <a:extLst>
                <a:ext uri="{FF2B5EF4-FFF2-40B4-BE49-F238E27FC236}">
                  <a16:creationId xmlns:a16="http://schemas.microsoft.com/office/drawing/2014/main" id="{61E79FD9-9750-E44A-4CEA-711B0C9D2B96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0388" y="2419351"/>
              <a:ext cx="242888" cy="22225"/>
            </a:xfrm>
            <a:custGeom>
              <a:avLst/>
              <a:gdLst>
                <a:gd name="T0" fmla="*/ 64 w 64"/>
                <a:gd name="T1" fmla="*/ 3 h 6"/>
                <a:gd name="T2" fmla="*/ 61 w 64"/>
                <a:gd name="T3" fmla="*/ 6 h 6"/>
                <a:gd name="T4" fmla="*/ 4 w 64"/>
                <a:gd name="T5" fmla="*/ 6 h 6"/>
                <a:gd name="T6" fmla="*/ 0 w 64"/>
                <a:gd name="T7" fmla="*/ 3 h 6"/>
                <a:gd name="T8" fmla="*/ 4 w 64"/>
                <a:gd name="T9" fmla="*/ 0 h 6"/>
                <a:gd name="T10" fmla="*/ 61 w 64"/>
                <a:gd name="T11" fmla="*/ 0 h 6"/>
                <a:gd name="T12" fmla="*/ 64 w 64"/>
                <a:gd name="T13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4" h="6">
                  <a:moveTo>
                    <a:pt x="64" y="3"/>
                  </a:moveTo>
                  <a:cubicBezTo>
                    <a:pt x="64" y="5"/>
                    <a:pt x="63" y="6"/>
                    <a:pt x="61" y="6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2" y="6"/>
                    <a:pt x="0" y="5"/>
                    <a:pt x="0" y="3"/>
                  </a:cubicBezTo>
                  <a:cubicBezTo>
                    <a:pt x="0" y="1"/>
                    <a:pt x="2" y="0"/>
                    <a:pt x="4" y="0"/>
                  </a:cubicBezTo>
                  <a:cubicBezTo>
                    <a:pt x="61" y="0"/>
                    <a:pt x="61" y="0"/>
                    <a:pt x="61" y="0"/>
                  </a:cubicBezTo>
                  <a:cubicBezTo>
                    <a:pt x="63" y="0"/>
                    <a:pt x="64" y="1"/>
                    <a:pt x="64" y="3"/>
                  </a:cubicBezTo>
                  <a:close/>
                </a:path>
              </a:pathLst>
            </a:custGeom>
            <a:solidFill>
              <a:srgbClr val="E2E4E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/>
            </a:p>
          </p:txBody>
        </p:sp>
        <p:sp>
          <p:nvSpPr>
            <p:cNvPr id="18" name="Freeform 81">
              <a:extLst>
                <a:ext uri="{FF2B5EF4-FFF2-40B4-BE49-F238E27FC236}">
                  <a16:creationId xmlns:a16="http://schemas.microsoft.com/office/drawing/2014/main" id="{62D10B96-AA27-2A85-E5C1-1B7CF39826EA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0388" y="2516188"/>
              <a:ext cx="390525" cy="23813"/>
            </a:xfrm>
            <a:custGeom>
              <a:avLst/>
              <a:gdLst>
                <a:gd name="T0" fmla="*/ 103 w 103"/>
                <a:gd name="T1" fmla="*/ 3 h 6"/>
                <a:gd name="T2" fmla="*/ 100 w 103"/>
                <a:gd name="T3" fmla="*/ 6 h 6"/>
                <a:gd name="T4" fmla="*/ 4 w 103"/>
                <a:gd name="T5" fmla="*/ 6 h 6"/>
                <a:gd name="T6" fmla="*/ 0 w 103"/>
                <a:gd name="T7" fmla="*/ 3 h 6"/>
                <a:gd name="T8" fmla="*/ 4 w 103"/>
                <a:gd name="T9" fmla="*/ 0 h 6"/>
                <a:gd name="T10" fmla="*/ 100 w 103"/>
                <a:gd name="T11" fmla="*/ 0 h 6"/>
                <a:gd name="T12" fmla="*/ 103 w 103"/>
                <a:gd name="T13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3" h="6">
                  <a:moveTo>
                    <a:pt x="103" y="3"/>
                  </a:moveTo>
                  <a:cubicBezTo>
                    <a:pt x="103" y="5"/>
                    <a:pt x="101" y="6"/>
                    <a:pt x="100" y="6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2" y="6"/>
                    <a:pt x="0" y="5"/>
                    <a:pt x="0" y="3"/>
                  </a:cubicBezTo>
                  <a:cubicBezTo>
                    <a:pt x="0" y="1"/>
                    <a:pt x="2" y="0"/>
                    <a:pt x="4" y="0"/>
                  </a:cubicBezTo>
                  <a:cubicBezTo>
                    <a:pt x="100" y="0"/>
                    <a:pt x="100" y="0"/>
                    <a:pt x="100" y="0"/>
                  </a:cubicBezTo>
                  <a:cubicBezTo>
                    <a:pt x="101" y="0"/>
                    <a:pt x="103" y="1"/>
                    <a:pt x="103" y="3"/>
                  </a:cubicBezTo>
                  <a:close/>
                </a:path>
              </a:pathLst>
            </a:custGeom>
            <a:solidFill>
              <a:srgbClr val="E2E4E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/>
            </a:p>
          </p:txBody>
        </p:sp>
        <p:sp>
          <p:nvSpPr>
            <p:cNvPr id="19" name="Freeform 82">
              <a:extLst>
                <a:ext uri="{FF2B5EF4-FFF2-40B4-BE49-F238E27FC236}">
                  <a16:creationId xmlns:a16="http://schemas.microsoft.com/office/drawing/2014/main" id="{770A714E-5176-87E9-8CA2-2721DCE926D9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0388" y="2611438"/>
              <a:ext cx="390525" cy="26988"/>
            </a:xfrm>
            <a:custGeom>
              <a:avLst/>
              <a:gdLst>
                <a:gd name="T0" fmla="*/ 103 w 103"/>
                <a:gd name="T1" fmla="*/ 3 h 7"/>
                <a:gd name="T2" fmla="*/ 100 w 103"/>
                <a:gd name="T3" fmla="*/ 7 h 7"/>
                <a:gd name="T4" fmla="*/ 4 w 103"/>
                <a:gd name="T5" fmla="*/ 7 h 7"/>
                <a:gd name="T6" fmla="*/ 0 w 103"/>
                <a:gd name="T7" fmla="*/ 3 h 7"/>
                <a:gd name="T8" fmla="*/ 4 w 103"/>
                <a:gd name="T9" fmla="*/ 0 h 7"/>
                <a:gd name="T10" fmla="*/ 100 w 103"/>
                <a:gd name="T11" fmla="*/ 0 h 7"/>
                <a:gd name="T12" fmla="*/ 103 w 103"/>
                <a:gd name="T13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3" h="7">
                  <a:moveTo>
                    <a:pt x="103" y="3"/>
                  </a:moveTo>
                  <a:cubicBezTo>
                    <a:pt x="103" y="5"/>
                    <a:pt x="101" y="7"/>
                    <a:pt x="100" y="7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2" y="7"/>
                    <a:pt x="0" y="5"/>
                    <a:pt x="0" y="3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100" y="0"/>
                    <a:pt x="100" y="0"/>
                    <a:pt x="100" y="0"/>
                  </a:cubicBezTo>
                  <a:cubicBezTo>
                    <a:pt x="101" y="0"/>
                    <a:pt x="103" y="2"/>
                    <a:pt x="103" y="3"/>
                  </a:cubicBezTo>
                  <a:close/>
                </a:path>
              </a:pathLst>
            </a:custGeom>
            <a:solidFill>
              <a:srgbClr val="E2E4E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/>
            </a:p>
          </p:txBody>
        </p:sp>
        <p:sp>
          <p:nvSpPr>
            <p:cNvPr id="20" name="Freeform 83">
              <a:extLst>
                <a:ext uri="{FF2B5EF4-FFF2-40B4-BE49-F238E27FC236}">
                  <a16:creationId xmlns:a16="http://schemas.microsoft.com/office/drawing/2014/main" id="{3DF2C4B6-FB66-1B34-201C-702084A01D57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0388" y="2709863"/>
              <a:ext cx="390525" cy="22225"/>
            </a:xfrm>
            <a:custGeom>
              <a:avLst/>
              <a:gdLst>
                <a:gd name="T0" fmla="*/ 103 w 103"/>
                <a:gd name="T1" fmla="*/ 3 h 6"/>
                <a:gd name="T2" fmla="*/ 100 w 103"/>
                <a:gd name="T3" fmla="*/ 6 h 6"/>
                <a:gd name="T4" fmla="*/ 4 w 103"/>
                <a:gd name="T5" fmla="*/ 6 h 6"/>
                <a:gd name="T6" fmla="*/ 0 w 103"/>
                <a:gd name="T7" fmla="*/ 3 h 6"/>
                <a:gd name="T8" fmla="*/ 4 w 103"/>
                <a:gd name="T9" fmla="*/ 0 h 6"/>
                <a:gd name="T10" fmla="*/ 100 w 103"/>
                <a:gd name="T11" fmla="*/ 0 h 6"/>
                <a:gd name="T12" fmla="*/ 103 w 103"/>
                <a:gd name="T13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3" h="6">
                  <a:moveTo>
                    <a:pt x="103" y="3"/>
                  </a:moveTo>
                  <a:cubicBezTo>
                    <a:pt x="103" y="5"/>
                    <a:pt x="101" y="6"/>
                    <a:pt x="100" y="6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2" y="6"/>
                    <a:pt x="0" y="5"/>
                    <a:pt x="0" y="3"/>
                  </a:cubicBezTo>
                  <a:cubicBezTo>
                    <a:pt x="0" y="1"/>
                    <a:pt x="2" y="0"/>
                    <a:pt x="4" y="0"/>
                  </a:cubicBezTo>
                  <a:cubicBezTo>
                    <a:pt x="100" y="0"/>
                    <a:pt x="100" y="0"/>
                    <a:pt x="100" y="0"/>
                  </a:cubicBezTo>
                  <a:cubicBezTo>
                    <a:pt x="101" y="0"/>
                    <a:pt x="103" y="1"/>
                    <a:pt x="103" y="3"/>
                  </a:cubicBezTo>
                  <a:close/>
                </a:path>
              </a:pathLst>
            </a:custGeom>
            <a:solidFill>
              <a:srgbClr val="E2E4E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/>
            </a:p>
          </p:txBody>
        </p:sp>
        <p:sp>
          <p:nvSpPr>
            <p:cNvPr id="21" name="Freeform 84">
              <a:extLst>
                <a:ext uri="{FF2B5EF4-FFF2-40B4-BE49-F238E27FC236}">
                  <a16:creationId xmlns:a16="http://schemas.microsoft.com/office/drawing/2014/main" id="{9FDC464A-CEDB-B576-3F04-93B18CF9A7A6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5113" y="2338388"/>
              <a:ext cx="530225" cy="530225"/>
            </a:xfrm>
            <a:custGeom>
              <a:avLst/>
              <a:gdLst>
                <a:gd name="T0" fmla="*/ 131 w 140"/>
                <a:gd name="T1" fmla="*/ 90 h 140"/>
                <a:gd name="T2" fmla="*/ 51 w 140"/>
                <a:gd name="T3" fmla="*/ 11 h 140"/>
                <a:gd name="T4" fmla="*/ 49 w 140"/>
                <a:gd name="T5" fmla="*/ 9 h 140"/>
                <a:gd name="T6" fmla="*/ 11 w 140"/>
                <a:gd name="T7" fmla="*/ 11 h 140"/>
                <a:gd name="T8" fmla="*/ 11 w 140"/>
                <a:gd name="T9" fmla="*/ 11 h 140"/>
                <a:gd name="T10" fmla="*/ 9 w 140"/>
                <a:gd name="T11" fmla="*/ 49 h 140"/>
                <a:gd name="T12" fmla="*/ 11 w 140"/>
                <a:gd name="T13" fmla="*/ 52 h 140"/>
                <a:gd name="T14" fmla="*/ 90 w 140"/>
                <a:gd name="T15" fmla="*/ 131 h 140"/>
                <a:gd name="T16" fmla="*/ 122 w 140"/>
                <a:gd name="T17" fmla="*/ 140 h 140"/>
                <a:gd name="T18" fmla="*/ 129 w 140"/>
                <a:gd name="T19" fmla="*/ 129 h 140"/>
                <a:gd name="T20" fmla="*/ 140 w 140"/>
                <a:gd name="T21" fmla="*/ 122 h 140"/>
                <a:gd name="T22" fmla="*/ 131 w 140"/>
                <a:gd name="T23" fmla="*/ 90 h 1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40" h="140">
                  <a:moveTo>
                    <a:pt x="131" y="90"/>
                  </a:moveTo>
                  <a:cubicBezTo>
                    <a:pt x="51" y="11"/>
                    <a:pt x="51" y="11"/>
                    <a:pt x="51" y="11"/>
                  </a:cubicBezTo>
                  <a:cubicBezTo>
                    <a:pt x="51" y="10"/>
                    <a:pt x="50" y="10"/>
                    <a:pt x="49" y="9"/>
                  </a:cubicBezTo>
                  <a:cubicBezTo>
                    <a:pt x="38" y="0"/>
                    <a:pt x="22" y="0"/>
                    <a:pt x="11" y="11"/>
                  </a:cubicBezTo>
                  <a:cubicBezTo>
                    <a:pt x="11" y="11"/>
                    <a:pt x="11" y="11"/>
                    <a:pt x="11" y="11"/>
                  </a:cubicBezTo>
                  <a:cubicBezTo>
                    <a:pt x="0" y="22"/>
                    <a:pt x="0" y="38"/>
                    <a:pt x="9" y="49"/>
                  </a:cubicBezTo>
                  <a:cubicBezTo>
                    <a:pt x="9" y="50"/>
                    <a:pt x="10" y="51"/>
                    <a:pt x="11" y="52"/>
                  </a:cubicBezTo>
                  <a:cubicBezTo>
                    <a:pt x="90" y="131"/>
                    <a:pt x="90" y="131"/>
                    <a:pt x="90" y="131"/>
                  </a:cubicBezTo>
                  <a:cubicBezTo>
                    <a:pt x="122" y="140"/>
                    <a:pt x="122" y="140"/>
                    <a:pt x="122" y="140"/>
                  </a:cubicBezTo>
                  <a:cubicBezTo>
                    <a:pt x="123" y="136"/>
                    <a:pt x="125" y="132"/>
                    <a:pt x="129" y="129"/>
                  </a:cubicBezTo>
                  <a:cubicBezTo>
                    <a:pt x="132" y="126"/>
                    <a:pt x="136" y="123"/>
                    <a:pt x="140" y="122"/>
                  </a:cubicBezTo>
                  <a:lnTo>
                    <a:pt x="131" y="90"/>
                  </a:lnTo>
                  <a:close/>
                </a:path>
              </a:pathLst>
            </a:custGeom>
            <a:solidFill>
              <a:srgbClr val="F4D0A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/>
            </a:p>
          </p:txBody>
        </p:sp>
        <p:sp>
          <p:nvSpPr>
            <p:cNvPr id="22" name="Freeform 85">
              <a:extLst>
                <a:ext uri="{FF2B5EF4-FFF2-40B4-BE49-F238E27FC236}">
                  <a16:creationId xmlns:a16="http://schemas.microsoft.com/office/drawing/2014/main" id="{41259FC7-0846-0BBD-EB00-DFD2D0637C57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5113" y="2338388"/>
              <a:ext cx="185738" cy="185738"/>
            </a:xfrm>
            <a:custGeom>
              <a:avLst/>
              <a:gdLst>
                <a:gd name="T0" fmla="*/ 49 w 49"/>
                <a:gd name="T1" fmla="*/ 9 h 49"/>
                <a:gd name="T2" fmla="*/ 9 w 49"/>
                <a:gd name="T3" fmla="*/ 49 h 49"/>
                <a:gd name="T4" fmla="*/ 11 w 49"/>
                <a:gd name="T5" fmla="*/ 11 h 49"/>
                <a:gd name="T6" fmla="*/ 11 w 49"/>
                <a:gd name="T7" fmla="*/ 11 h 49"/>
                <a:gd name="T8" fmla="*/ 49 w 49"/>
                <a:gd name="T9" fmla="*/ 9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9" h="49">
                  <a:moveTo>
                    <a:pt x="49" y="9"/>
                  </a:moveTo>
                  <a:cubicBezTo>
                    <a:pt x="9" y="49"/>
                    <a:pt x="9" y="49"/>
                    <a:pt x="9" y="49"/>
                  </a:cubicBezTo>
                  <a:cubicBezTo>
                    <a:pt x="0" y="38"/>
                    <a:pt x="0" y="22"/>
                    <a:pt x="11" y="11"/>
                  </a:cubicBezTo>
                  <a:cubicBezTo>
                    <a:pt x="11" y="11"/>
                    <a:pt x="11" y="11"/>
                    <a:pt x="11" y="11"/>
                  </a:cubicBezTo>
                  <a:cubicBezTo>
                    <a:pt x="22" y="0"/>
                    <a:pt x="38" y="0"/>
                    <a:pt x="49" y="9"/>
                  </a:cubicBezTo>
                  <a:close/>
                </a:path>
              </a:pathLst>
            </a:custGeom>
            <a:solidFill>
              <a:srgbClr val="F7B4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/>
            </a:p>
          </p:txBody>
        </p:sp>
        <p:sp>
          <p:nvSpPr>
            <p:cNvPr id="23" name="Freeform 86">
              <a:extLst>
                <a:ext uri="{FF2B5EF4-FFF2-40B4-BE49-F238E27FC236}">
                  <a16:creationId xmlns:a16="http://schemas.microsoft.com/office/drawing/2014/main" id="{47130D63-D710-F231-B965-E1D0C716948C}"/>
                </a:ext>
              </a:extLst>
            </p:cNvPr>
            <p:cNvSpPr>
              <a:spLocks/>
            </p:cNvSpPr>
            <p:nvPr/>
          </p:nvSpPr>
          <p:spPr bwMode="auto">
            <a:xfrm>
              <a:off x="3267075" y="2800351"/>
              <a:ext cx="90488" cy="90488"/>
            </a:xfrm>
            <a:custGeom>
              <a:avLst/>
              <a:gdLst>
                <a:gd name="T0" fmla="*/ 18 w 24"/>
                <a:gd name="T1" fmla="*/ 0 h 24"/>
                <a:gd name="T2" fmla="*/ 24 w 24"/>
                <a:gd name="T3" fmla="*/ 21 h 24"/>
                <a:gd name="T4" fmla="*/ 20 w 24"/>
                <a:gd name="T5" fmla="*/ 24 h 24"/>
                <a:gd name="T6" fmla="*/ 0 w 24"/>
                <a:gd name="T7" fmla="*/ 18 h 24"/>
                <a:gd name="T8" fmla="*/ 7 w 24"/>
                <a:gd name="T9" fmla="*/ 7 h 24"/>
                <a:gd name="T10" fmla="*/ 18 w 24"/>
                <a:gd name="T11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" h="24">
                  <a:moveTo>
                    <a:pt x="18" y="0"/>
                  </a:moveTo>
                  <a:cubicBezTo>
                    <a:pt x="24" y="21"/>
                    <a:pt x="24" y="21"/>
                    <a:pt x="24" y="21"/>
                  </a:cubicBezTo>
                  <a:cubicBezTo>
                    <a:pt x="24" y="23"/>
                    <a:pt x="22" y="24"/>
                    <a:pt x="20" y="24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1" y="14"/>
                    <a:pt x="3" y="10"/>
                    <a:pt x="7" y="7"/>
                  </a:cubicBezTo>
                  <a:cubicBezTo>
                    <a:pt x="10" y="4"/>
                    <a:pt x="14" y="1"/>
                    <a:pt x="18" y="0"/>
                  </a:cubicBezTo>
                  <a:close/>
                </a:path>
              </a:pathLst>
            </a:custGeom>
            <a:solidFill>
              <a:srgbClr val="3E3E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/>
            </a:p>
          </p:txBody>
        </p:sp>
        <p:sp>
          <p:nvSpPr>
            <p:cNvPr id="24" name="Freeform 87">
              <a:extLst>
                <a:ext uri="{FF2B5EF4-FFF2-40B4-BE49-F238E27FC236}">
                  <a16:creationId xmlns:a16="http://schemas.microsoft.com/office/drawing/2014/main" id="{CE8E5106-E78C-294D-595A-F55DD206060C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7025" y="2403476"/>
              <a:ext cx="434975" cy="427038"/>
            </a:xfrm>
            <a:custGeom>
              <a:avLst/>
              <a:gdLst>
                <a:gd name="T0" fmla="*/ 114 w 115"/>
                <a:gd name="T1" fmla="*/ 73 h 113"/>
                <a:gd name="T2" fmla="*/ 41 w 115"/>
                <a:gd name="T3" fmla="*/ 0 h 113"/>
                <a:gd name="T4" fmla="*/ 0 w 115"/>
                <a:gd name="T5" fmla="*/ 40 h 113"/>
                <a:gd name="T6" fmla="*/ 0 w 115"/>
                <a:gd name="T7" fmla="*/ 40 h 113"/>
                <a:gd name="T8" fmla="*/ 73 w 115"/>
                <a:gd name="T9" fmla="*/ 113 h 113"/>
                <a:gd name="T10" fmla="*/ 73 w 115"/>
                <a:gd name="T11" fmla="*/ 113 h 113"/>
                <a:gd name="T12" fmla="*/ 76 w 115"/>
                <a:gd name="T13" fmla="*/ 95 h 113"/>
                <a:gd name="T14" fmla="*/ 94 w 115"/>
                <a:gd name="T15" fmla="*/ 94 h 113"/>
                <a:gd name="T16" fmla="*/ 94 w 115"/>
                <a:gd name="T17" fmla="*/ 93 h 113"/>
                <a:gd name="T18" fmla="*/ 94 w 115"/>
                <a:gd name="T19" fmla="*/ 93 h 113"/>
                <a:gd name="T20" fmla="*/ 96 w 115"/>
                <a:gd name="T21" fmla="*/ 74 h 113"/>
                <a:gd name="T22" fmla="*/ 114 w 115"/>
                <a:gd name="T23" fmla="*/ 73 h 113"/>
                <a:gd name="T24" fmla="*/ 114 w 115"/>
                <a:gd name="T25" fmla="*/ 73 h 113"/>
                <a:gd name="T26" fmla="*/ 114 w 115"/>
                <a:gd name="T27" fmla="*/ 73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15" h="113">
                  <a:moveTo>
                    <a:pt x="114" y="73"/>
                  </a:moveTo>
                  <a:cubicBezTo>
                    <a:pt x="108" y="67"/>
                    <a:pt x="41" y="0"/>
                    <a:pt x="41" y="0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0" y="40"/>
                    <a:pt x="64" y="104"/>
                    <a:pt x="73" y="113"/>
                  </a:cubicBezTo>
                  <a:cubicBezTo>
                    <a:pt x="73" y="113"/>
                    <a:pt x="73" y="113"/>
                    <a:pt x="73" y="113"/>
                  </a:cubicBezTo>
                  <a:cubicBezTo>
                    <a:pt x="70" y="108"/>
                    <a:pt x="71" y="100"/>
                    <a:pt x="76" y="95"/>
                  </a:cubicBezTo>
                  <a:cubicBezTo>
                    <a:pt x="81" y="90"/>
                    <a:pt x="89" y="90"/>
                    <a:pt x="94" y="94"/>
                  </a:cubicBezTo>
                  <a:cubicBezTo>
                    <a:pt x="94" y="94"/>
                    <a:pt x="94" y="94"/>
                    <a:pt x="94" y="93"/>
                  </a:cubicBezTo>
                  <a:cubicBezTo>
                    <a:pt x="94" y="93"/>
                    <a:pt x="94" y="93"/>
                    <a:pt x="94" y="93"/>
                  </a:cubicBezTo>
                  <a:cubicBezTo>
                    <a:pt x="90" y="88"/>
                    <a:pt x="90" y="80"/>
                    <a:pt x="96" y="74"/>
                  </a:cubicBezTo>
                  <a:cubicBezTo>
                    <a:pt x="101" y="69"/>
                    <a:pt x="109" y="69"/>
                    <a:pt x="114" y="73"/>
                  </a:cubicBezTo>
                  <a:cubicBezTo>
                    <a:pt x="114" y="73"/>
                    <a:pt x="114" y="73"/>
                    <a:pt x="114" y="73"/>
                  </a:cubicBezTo>
                  <a:cubicBezTo>
                    <a:pt x="115" y="73"/>
                    <a:pt x="115" y="73"/>
                    <a:pt x="114" y="73"/>
                  </a:cubicBezTo>
                  <a:close/>
                </a:path>
              </a:pathLst>
            </a:custGeom>
            <a:solidFill>
              <a:srgbClr val="DF2C2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/>
            </a:p>
          </p:txBody>
        </p:sp>
        <p:sp>
          <p:nvSpPr>
            <p:cNvPr id="25" name="Freeform 88">
              <a:extLst>
                <a:ext uri="{FF2B5EF4-FFF2-40B4-BE49-F238E27FC236}">
                  <a16:creationId xmlns:a16="http://schemas.microsoft.com/office/drawing/2014/main" id="{04FCF6C8-87FD-95EF-8D2B-E4C77A4E952A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0038" y="2373313"/>
              <a:ext cx="180975" cy="180975"/>
            </a:xfrm>
            <a:custGeom>
              <a:avLst/>
              <a:gdLst>
                <a:gd name="T0" fmla="*/ 17 w 114"/>
                <a:gd name="T1" fmla="*/ 114 h 114"/>
                <a:gd name="T2" fmla="*/ 0 w 114"/>
                <a:gd name="T3" fmla="*/ 98 h 114"/>
                <a:gd name="T4" fmla="*/ 95 w 114"/>
                <a:gd name="T5" fmla="*/ 0 h 114"/>
                <a:gd name="T6" fmla="*/ 114 w 114"/>
                <a:gd name="T7" fmla="*/ 19 h 114"/>
                <a:gd name="T8" fmla="*/ 17 w 114"/>
                <a:gd name="T9" fmla="*/ 114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4" h="114">
                  <a:moveTo>
                    <a:pt x="17" y="114"/>
                  </a:moveTo>
                  <a:lnTo>
                    <a:pt x="0" y="98"/>
                  </a:lnTo>
                  <a:lnTo>
                    <a:pt x="95" y="0"/>
                  </a:lnTo>
                  <a:lnTo>
                    <a:pt x="114" y="19"/>
                  </a:lnTo>
                  <a:lnTo>
                    <a:pt x="17" y="114"/>
                  </a:lnTo>
                  <a:close/>
                </a:path>
              </a:pathLst>
            </a:custGeom>
            <a:solidFill>
              <a:srgbClr val="FACB1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/>
            </a:p>
          </p:txBody>
        </p:sp>
        <p:sp>
          <p:nvSpPr>
            <p:cNvPr id="26" name="Freeform 89">
              <a:extLst>
                <a:ext uri="{FF2B5EF4-FFF2-40B4-BE49-F238E27FC236}">
                  <a16:creationId xmlns:a16="http://schemas.microsoft.com/office/drawing/2014/main" id="{38F45451-0765-B863-7DBA-E62EA4D21A7D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7025" y="2479676"/>
              <a:ext cx="355600" cy="350838"/>
            </a:xfrm>
            <a:custGeom>
              <a:avLst/>
              <a:gdLst>
                <a:gd name="T0" fmla="*/ 0 w 94"/>
                <a:gd name="T1" fmla="*/ 20 h 93"/>
                <a:gd name="T2" fmla="*/ 73 w 94"/>
                <a:gd name="T3" fmla="*/ 93 h 93"/>
                <a:gd name="T4" fmla="*/ 73 w 94"/>
                <a:gd name="T5" fmla="*/ 93 h 93"/>
                <a:gd name="T6" fmla="*/ 76 w 94"/>
                <a:gd name="T7" fmla="*/ 75 h 93"/>
                <a:gd name="T8" fmla="*/ 94 w 94"/>
                <a:gd name="T9" fmla="*/ 74 h 93"/>
                <a:gd name="T10" fmla="*/ 94 w 94"/>
                <a:gd name="T11" fmla="*/ 73 h 93"/>
                <a:gd name="T12" fmla="*/ 21 w 94"/>
                <a:gd name="T13" fmla="*/ 0 h 93"/>
                <a:gd name="T14" fmla="*/ 0 w 94"/>
                <a:gd name="T15" fmla="*/ 20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4" h="93">
                  <a:moveTo>
                    <a:pt x="0" y="20"/>
                  </a:moveTo>
                  <a:cubicBezTo>
                    <a:pt x="0" y="20"/>
                    <a:pt x="64" y="84"/>
                    <a:pt x="73" y="93"/>
                  </a:cubicBezTo>
                  <a:cubicBezTo>
                    <a:pt x="73" y="93"/>
                    <a:pt x="73" y="93"/>
                    <a:pt x="73" y="93"/>
                  </a:cubicBezTo>
                  <a:cubicBezTo>
                    <a:pt x="70" y="88"/>
                    <a:pt x="71" y="80"/>
                    <a:pt x="76" y="75"/>
                  </a:cubicBezTo>
                  <a:cubicBezTo>
                    <a:pt x="81" y="70"/>
                    <a:pt x="89" y="70"/>
                    <a:pt x="94" y="74"/>
                  </a:cubicBezTo>
                  <a:cubicBezTo>
                    <a:pt x="94" y="74"/>
                    <a:pt x="94" y="73"/>
                    <a:pt x="94" y="73"/>
                  </a:cubicBezTo>
                  <a:cubicBezTo>
                    <a:pt x="21" y="0"/>
                    <a:pt x="21" y="0"/>
                    <a:pt x="21" y="0"/>
                  </a:cubicBezTo>
                  <a:lnTo>
                    <a:pt x="0" y="20"/>
                  </a:lnTo>
                  <a:close/>
                </a:path>
              </a:pathLst>
            </a:custGeom>
            <a:solidFill>
              <a:srgbClr val="FA565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/>
            </a:p>
          </p:txBody>
        </p:sp>
      </p:grpSp>
      <p:sp>
        <p:nvSpPr>
          <p:cNvPr id="13" name="Title 1">
            <a:extLst>
              <a:ext uri="{FF2B5EF4-FFF2-40B4-BE49-F238E27FC236}">
                <a16:creationId xmlns:a16="http://schemas.microsoft.com/office/drawing/2014/main" id="{5B8E4AE4-57D9-080F-73E0-2F482636255B}"/>
              </a:ext>
            </a:extLst>
          </p:cNvPr>
          <p:cNvSpPr txBox="1">
            <a:spLocks/>
          </p:cNvSpPr>
          <p:nvPr/>
        </p:nvSpPr>
        <p:spPr>
          <a:xfrm>
            <a:off x="626210" y="2182029"/>
            <a:ext cx="5595145" cy="347445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Aft>
                <a:spcPts val="1200"/>
              </a:spcAft>
            </a:pPr>
            <a:r>
              <a:rPr lang="en-US" sz="24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Bespoke solutions developed to meet specific business requirements that standard services or functionalities cannot satisfy. </a:t>
            </a: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lang="en-US" sz="24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These services are particularly valuable when </a:t>
            </a:r>
            <a:r>
              <a:rPr lang="en-US" sz="2400" b="1" i="1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unique or complex business processes require customization </a:t>
            </a:r>
            <a:r>
              <a:rPr lang="en-US" sz="24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beyond the out-of-the-box capabilities of enterprise systems like Dynamics 365.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8CDEE69-4C89-8CE4-7792-6122176974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50215" y="6091851"/>
            <a:ext cx="501650" cy="501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57496353"/>
      </p:ext>
    </p:extLst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B2907F-FB28-588E-827E-781517FA9F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059CF42-7862-49A2-8B2C-7EEF37303EE4}"/>
              </a:ext>
            </a:extLst>
          </p:cNvPr>
          <p:cNvSpPr>
            <a:spLocks noGrp="1"/>
          </p:cNvSpPr>
          <p:nvPr/>
        </p:nvSpPr>
        <p:spPr>
          <a:xfrm>
            <a:off x="3612382" y="1871452"/>
            <a:ext cx="4898572" cy="38404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i="0" kern="1200">
                <a:solidFill>
                  <a:srgbClr val="ED3F7B"/>
                </a:solidFill>
                <a:latin typeface="Open Sans SemiBold" pitchFamily="2" charset="0"/>
                <a:ea typeface="Open Sans SemiBold" pitchFamily="2" charset="0"/>
                <a:cs typeface="Open Sans SemiBold" pitchFamily="2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rgbClr val="1B449A"/>
                </a:solidFill>
              </a:rPr>
              <a:t>Characteristics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Tailored Logic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Integration Flexibility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Enhanced Data Handling</a:t>
            </a:r>
          </a:p>
          <a:p>
            <a:endParaRPr lang="en-US" b="1" dirty="0"/>
          </a:p>
          <a:p>
            <a:r>
              <a:rPr lang="en-US" b="1" dirty="0">
                <a:solidFill>
                  <a:srgbClr val="1B449A"/>
                </a:solidFill>
              </a:rPr>
              <a:t>Use Cases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Complex Data Transformations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Specialized Workflows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Regulatory Compliance</a:t>
            </a: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C1E9FBB8-2EFA-9FA7-4487-E09EE720C574}"/>
              </a:ext>
            </a:extLst>
          </p:cNvPr>
          <p:cNvSpPr>
            <a:spLocks noGrp="1"/>
          </p:cNvSpPr>
          <p:nvPr/>
        </p:nvSpPr>
        <p:spPr>
          <a:xfrm>
            <a:off x="11867538" y="6316623"/>
            <a:ext cx="3317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D05A9CD-9176-4D89-A414-3BEEE81BBC77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9" name="Rectángulo redondeado 14">
            <a:extLst>
              <a:ext uri="{FF2B5EF4-FFF2-40B4-BE49-F238E27FC236}">
                <a16:creationId xmlns:a16="http://schemas.microsoft.com/office/drawing/2014/main" id="{4FD42CEA-21F7-705B-1E2A-512B1D075A5E}"/>
              </a:ext>
            </a:extLst>
          </p:cNvPr>
          <p:cNvSpPr/>
          <p:nvPr/>
        </p:nvSpPr>
        <p:spPr>
          <a:xfrm>
            <a:off x="214448" y="176252"/>
            <a:ext cx="9444878" cy="1214125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>
            <a:noFill/>
          </a:ln>
          <a:effectLst>
            <a:outerShdw dist="635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0" name="Rectángulo 12">
            <a:extLst>
              <a:ext uri="{FF2B5EF4-FFF2-40B4-BE49-F238E27FC236}">
                <a16:creationId xmlns:a16="http://schemas.microsoft.com/office/drawing/2014/main" id="{B75D04B4-B4AF-BE33-2438-FC93E5275FE2}"/>
              </a:ext>
            </a:extLst>
          </p:cNvPr>
          <p:cNvSpPr/>
          <p:nvPr/>
        </p:nvSpPr>
        <p:spPr>
          <a:xfrm>
            <a:off x="683859" y="424679"/>
            <a:ext cx="7415414" cy="701731"/>
          </a:xfrm>
          <a:prstGeom prst="rect">
            <a:avLst/>
          </a:prstGeom>
        </p:spPr>
        <p:txBody>
          <a:bodyPr wrap="square" lIns="0" rIns="0" anchor="b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32742">
              <a:lnSpc>
                <a:spcPct val="90000"/>
              </a:lnSpc>
              <a:spcBef>
                <a:spcPct val="0"/>
              </a:spcBef>
            </a:pPr>
            <a:r>
              <a:rPr lang="en-US" sz="4400" b="1" spc="-100" dirty="0">
                <a:ln w="3175">
                  <a:noFill/>
                </a:ln>
                <a:solidFill>
                  <a:srgbClr val="1E275C"/>
                </a:solidFill>
                <a:latin typeface="Segoe" panose="020B0502040200020203" pitchFamily="34" charset="77"/>
                <a:cs typeface="Segoe UI" pitchFamily="34" charset="0"/>
              </a:rPr>
              <a:t>Custom Services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421D966-9739-0B34-675C-205E156B3F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16713" y="6140777"/>
            <a:ext cx="501650" cy="501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30256541"/>
      </p:ext>
    </p:extLst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B1A1EF-1C5C-4724-AFE1-F2C412EED2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Slide Number Placeholder 5">
            <a:extLst>
              <a:ext uri="{FF2B5EF4-FFF2-40B4-BE49-F238E27FC236}">
                <a16:creationId xmlns:a16="http://schemas.microsoft.com/office/drawing/2014/main" id="{43344FC9-FCF7-2DDF-D1AC-3FD044171701}"/>
              </a:ext>
            </a:extLst>
          </p:cNvPr>
          <p:cNvSpPr>
            <a:spLocks noGrp="1"/>
          </p:cNvSpPr>
          <p:nvPr/>
        </p:nvSpPr>
        <p:spPr>
          <a:xfrm>
            <a:off x="11604334" y="6876039"/>
            <a:ext cx="33178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9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D05A9CD-9176-4D89-A414-3BEEE81BBC77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473D207B-3652-3FA9-D63D-D70F50F0426E}"/>
              </a:ext>
            </a:extLst>
          </p:cNvPr>
          <p:cNvSpPr>
            <a:spLocks noGrp="1"/>
          </p:cNvSpPr>
          <p:nvPr/>
        </p:nvSpPr>
        <p:spPr>
          <a:xfrm>
            <a:off x="11948398" y="6074960"/>
            <a:ext cx="3317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D05A9CD-9176-4D89-A414-3BEEE81BBC77}" type="slidenum">
              <a:rPr lang="en-US" smtClean="0"/>
              <a:pPr/>
              <a:t>20</a:t>
            </a:fld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FBFB8F4-5860-3132-4672-995A296541AD}"/>
              </a:ext>
            </a:extLst>
          </p:cNvPr>
          <p:cNvGrpSpPr/>
          <p:nvPr/>
        </p:nvGrpSpPr>
        <p:grpSpPr>
          <a:xfrm>
            <a:off x="47396" y="2713485"/>
            <a:ext cx="12192000" cy="1214125"/>
            <a:chOff x="37348" y="3306338"/>
            <a:chExt cx="12192000" cy="1214125"/>
          </a:xfrm>
        </p:grpSpPr>
        <p:sp>
          <p:nvSpPr>
            <p:cNvPr id="3" name="Rectángulo redondeado 14">
              <a:extLst>
                <a:ext uri="{FF2B5EF4-FFF2-40B4-BE49-F238E27FC236}">
                  <a16:creationId xmlns:a16="http://schemas.microsoft.com/office/drawing/2014/main" id="{4ABE00AE-6695-063F-B2F9-BE6446F6E453}"/>
                </a:ext>
              </a:extLst>
            </p:cNvPr>
            <p:cNvSpPr/>
            <p:nvPr/>
          </p:nvSpPr>
          <p:spPr>
            <a:xfrm>
              <a:off x="862705" y="3306338"/>
              <a:ext cx="10541286" cy="1214125"/>
            </a:xfrm>
            <a:prstGeom prst="roundRect">
              <a:avLst>
                <a:gd name="adj" fmla="val 50000"/>
              </a:avLst>
            </a:prstGeom>
            <a:solidFill>
              <a:srgbClr val="F2F2F2"/>
            </a:solidFill>
            <a:ln>
              <a:noFill/>
            </a:ln>
            <a:effectLst>
              <a:outerShdw dist="635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" name="Rectángulo 12">
              <a:extLst>
                <a:ext uri="{FF2B5EF4-FFF2-40B4-BE49-F238E27FC236}">
                  <a16:creationId xmlns:a16="http://schemas.microsoft.com/office/drawing/2014/main" id="{E2390496-0DC3-B083-AD91-98262AFD6FCF}"/>
                </a:ext>
              </a:extLst>
            </p:cNvPr>
            <p:cNvSpPr/>
            <p:nvPr/>
          </p:nvSpPr>
          <p:spPr>
            <a:xfrm>
              <a:off x="37348" y="3583726"/>
              <a:ext cx="12192000" cy="701731"/>
            </a:xfrm>
            <a:prstGeom prst="rect">
              <a:avLst/>
            </a:prstGeom>
          </p:spPr>
          <p:txBody>
            <a:bodyPr wrap="square" lIns="0" rIns="0" anchor="b" anchorCtr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32742">
                <a:lnSpc>
                  <a:spcPct val="90000"/>
                </a:lnSpc>
                <a:spcBef>
                  <a:spcPct val="0"/>
                </a:spcBef>
              </a:pPr>
              <a:r>
                <a:rPr lang="en-US" sz="4400" b="1" spc="-100" dirty="0">
                  <a:ln w="3175">
                    <a:noFill/>
                  </a:ln>
                  <a:solidFill>
                    <a:srgbClr val="1E275C"/>
                  </a:solidFill>
                  <a:latin typeface="Segoe" panose="020B0502040200020203" pitchFamily="34" charset="77"/>
                  <a:cs typeface="Segoe UI" pitchFamily="34" charset="0"/>
                </a:rPr>
                <a:t>But what about integration patterns?? </a:t>
              </a:r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ABE164A1-9025-DC86-7835-0C20FDAA05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01237" y="6074960"/>
            <a:ext cx="501650" cy="501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65907182"/>
      </p:ext>
    </p:extLst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86572A-13E7-6B0E-0746-BB338FAC5B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CA73E5B2-73D4-92F2-D729-F209AF66B2FD}"/>
              </a:ext>
            </a:extLst>
          </p:cNvPr>
          <p:cNvSpPr>
            <a:spLocks noGrp="1"/>
          </p:cNvSpPr>
          <p:nvPr/>
        </p:nvSpPr>
        <p:spPr>
          <a:xfrm>
            <a:off x="319395" y="1243319"/>
            <a:ext cx="11381889" cy="44023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Tools to help create solutions that are repeatable and easy to use</a:t>
            </a:r>
          </a:p>
          <a:p>
            <a:r>
              <a:rPr lang="en-US" dirty="0"/>
              <a:t>Common patterns are easy to follow</a:t>
            </a:r>
          </a:p>
          <a:p>
            <a:r>
              <a:rPr lang="en-US" dirty="0"/>
              <a:t>Provide puzzle pieces that can be used to solve a problem that can be reused and maintained easily</a:t>
            </a:r>
          </a:p>
          <a:p>
            <a:r>
              <a:rPr lang="en-US" dirty="0"/>
              <a:t>Add a layer of robustness and reliability to your integration solutions</a:t>
            </a:r>
          </a:p>
          <a:p>
            <a:r>
              <a:rPr lang="en-US" dirty="0"/>
              <a:t>Help define responsibilities between producer and consumer</a:t>
            </a:r>
          </a:p>
          <a:p>
            <a:endParaRPr lang="en-US" dirty="0"/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1A01A26B-E75A-F17B-8CD7-816C07F0D53F}"/>
              </a:ext>
            </a:extLst>
          </p:cNvPr>
          <p:cNvSpPr>
            <a:spLocks noGrp="1"/>
          </p:cNvSpPr>
          <p:nvPr/>
        </p:nvSpPr>
        <p:spPr>
          <a:xfrm>
            <a:off x="319396" y="253118"/>
            <a:ext cx="11381889" cy="8800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>
                <a:solidFill>
                  <a:srgbClr val="9C3C9A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 dirty="0">
                <a:solidFill>
                  <a:srgbClr val="1E275C"/>
                </a:solidFill>
              </a:rPr>
              <a:t>Integration Patterns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D520206-9F07-80A1-37CC-B8077EE02A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17882" y="6242209"/>
            <a:ext cx="499198" cy="499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5300576"/>
      </p:ext>
    </p:extLst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F7ED18-63F8-F3A6-3884-123877E2AF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A17A4CFD-FCB8-2EF0-B2AE-FB6BDBA5587A}"/>
              </a:ext>
            </a:extLst>
          </p:cNvPr>
          <p:cNvSpPr>
            <a:spLocks noGrp="1"/>
          </p:cNvSpPr>
          <p:nvPr/>
        </p:nvSpPr>
        <p:spPr>
          <a:xfrm>
            <a:off x="319396" y="253118"/>
            <a:ext cx="11381889" cy="8800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>
                <a:solidFill>
                  <a:srgbClr val="9C3C9A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 dirty="0">
                <a:solidFill>
                  <a:srgbClr val="1E275C"/>
                </a:solidFill>
              </a:rPr>
              <a:t>Event Driven – Data Event</a:t>
            </a:r>
          </a:p>
        </p:txBody>
      </p:sp>
      <p:pic>
        <p:nvPicPr>
          <p:cNvPr id="3" name="Content Placeholder 4">
            <a:extLst>
              <a:ext uri="{FF2B5EF4-FFF2-40B4-BE49-F238E27FC236}">
                <a16:creationId xmlns:a16="http://schemas.microsoft.com/office/drawing/2014/main" id="{E0DD9F43-6DD2-855C-18EA-1959AF9B980B}"/>
              </a:ext>
            </a:extLst>
          </p:cNvPr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492" y="1243172"/>
            <a:ext cx="10484950" cy="440213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308B557-F2EB-CDD7-BCEE-5D508389C4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17882" y="6242209"/>
            <a:ext cx="499198" cy="499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046717"/>
      </p:ext>
    </p:extLst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3D5921-1EE9-A828-1304-2566775168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0B3AA0C8-4875-B9C3-1741-B982E0B78F5C}"/>
              </a:ext>
            </a:extLst>
          </p:cNvPr>
          <p:cNvSpPr>
            <a:spLocks noGrp="1"/>
          </p:cNvSpPr>
          <p:nvPr/>
        </p:nvSpPr>
        <p:spPr>
          <a:xfrm>
            <a:off x="319704" y="253118"/>
            <a:ext cx="11381889" cy="8800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>
                <a:solidFill>
                  <a:srgbClr val="9C3C9A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 dirty="0">
                <a:solidFill>
                  <a:srgbClr val="1E275C"/>
                </a:solidFill>
              </a:rPr>
              <a:t>Claim-Check (Luggage Handling)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E680114-640F-E1DC-A80E-BA5C4DC1CB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18190" y="6242209"/>
            <a:ext cx="499198" cy="499198"/>
          </a:xfrm>
          <a:prstGeom prst="rect">
            <a:avLst/>
          </a:prstGeom>
        </p:spPr>
      </p:pic>
      <p:pic>
        <p:nvPicPr>
          <p:cNvPr id="4" name="Content Placeholder 8">
            <a:extLst>
              <a:ext uri="{FF2B5EF4-FFF2-40B4-BE49-F238E27FC236}">
                <a16:creationId xmlns:a16="http://schemas.microsoft.com/office/drawing/2014/main" id="{F19A4F91-B2FA-583A-A098-5EBB4E41B01B}"/>
              </a:ext>
            </a:extLst>
          </p:cNvPr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088" y="1624198"/>
            <a:ext cx="11382375" cy="3640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7757740"/>
      </p:ext>
    </p:extLst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803C28-FA2E-B160-BC65-ADEDB7BE6C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BEC879E1-3E6C-B4B4-08F2-49F853227E8B}"/>
              </a:ext>
            </a:extLst>
          </p:cNvPr>
          <p:cNvSpPr>
            <a:spLocks noGrp="1"/>
          </p:cNvSpPr>
          <p:nvPr/>
        </p:nvSpPr>
        <p:spPr>
          <a:xfrm>
            <a:off x="319396" y="253118"/>
            <a:ext cx="11381889" cy="8800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>
                <a:solidFill>
                  <a:srgbClr val="9C3C9A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 dirty="0">
                <a:solidFill>
                  <a:srgbClr val="1E275C"/>
                </a:solidFill>
              </a:rPr>
              <a:t>Request and Reply (OData)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437049-C71E-8146-82B4-9A6D1F5C87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17882" y="6242209"/>
            <a:ext cx="499198" cy="499198"/>
          </a:xfrm>
          <a:prstGeom prst="rect">
            <a:avLst/>
          </a:prstGeom>
        </p:spPr>
      </p:pic>
      <p:pic>
        <p:nvPicPr>
          <p:cNvPr id="4" name="Content Placeholder 7">
            <a:extLst>
              <a:ext uri="{FF2B5EF4-FFF2-40B4-BE49-F238E27FC236}">
                <a16:creationId xmlns:a16="http://schemas.microsoft.com/office/drawing/2014/main" id="{8E11DBE4-F603-A987-86A4-E4D442B50357}"/>
              </a:ext>
            </a:extLst>
          </p:cNvPr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9131" y="1243172"/>
            <a:ext cx="7401673" cy="4402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6588233"/>
      </p:ext>
    </p:extLst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955DBB-C8F9-276E-6A7D-CF8DB9CA84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94B6FE9A-9D85-EA19-9238-302FF2CD9771}"/>
              </a:ext>
            </a:extLst>
          </p:cNvPr>
          <p:cNvSpPr>
            <a:spLocks noGrp="1"/>
          </p:cNvSpPr>
          <p:nvPr/>
        </p:nvSpPr>
        <p:spPr>
          <a:xfrm>
            <a:off x="319396" y="253118"/>
            <a:ext cx="11381889" cy="8800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>
                <a:solidFill>
                  <a:srgbClr val="9C3C9A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 dirty="0">
                <a:solidFill>
                  <a:srgbClr val="1E275C"/>
                </a:solidFill>
              </a:rPr>
              <a:t>Routing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0BF6AE8-E4D6-07C3-75F2-535C1EBF22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17882" y="6242209"/>
            <a:ext cx="499198" cy="499198"/>
          </a:xfrm>
          <a:prstGeom prst="rect">
            <a:avLst/>
          </a:prstGeom>
        </p:spPr>
      </p:pic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B3E843E9-2D80-96B5-6626-D8BA4DFAFF9C}"/>
              </a:ext>
            </a:extLst>
          </p:cNvPr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5205" y="1544240"/>
            <a:ext cx="9609524" cy="38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0280352"/>
      </p:ext>
    </p:extLst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1E3B5D-9A0A-F8CE-DE13-D444CE99A7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1A657B1C-673B-C613-75B9-53F5A14704A2}"/>
              </a:ext>
            </a:extLst>
          </p:cNvPr>
          <p:cNvSpPr>
            <a:spLocks noGrp="1"/>
          </p:cNvSpPr>
          <p:nvPr/>
        </p:nvSpPr>
        <p:spPr>
          <a:xfrm>
            <a:off x="319396" y="253118"/>
            <a:ext cx="11381889" cy="8800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>
                <a:solidFill>
                  <a:srgbClr val="9C3C9A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 dirty="0">
                <a:solidFill>
                  <a:srgbClr val="1E275C"/>
                </a:solidFill>
              </a:rPr>
              <a:t>Splitter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4BC291D-B779-07AB-D37B-E97EA3F853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17882" y="6242209"/>
            <a:ext cx="499198" cy="499198"/>
          </a:xfrm>
          <a:prstGeom prst="rect">
            <a:avLst/>
          </a:prstGeom>
        </p:spPr>
      </p:pic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F068067F-AF03-FE23-81AB-D0152BF5E3F7}"/>
              </a:ext>
            </a:extLst>
          </p:cNvPr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86" y="1243172"/>
            <a:ext cx="11215163" cy="4402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7620362"/>
      </p:ext>
    </p:extLst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D1BCC2-F8C2-B8E5-B968-07CA9B0166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FB61F21E-26EB-9EA8-6169-D8155CC0FB93}"/>
              </a:ext>
            </a:extLst>
          </p:cNvPr>
          <p:cNvSpPr>
            <a:spLocks noGrp="1"/>
          </p:cNvSpPr>
          <p:nvPr/>
        </p:nvSpPr>
        <p:spPr>
          <a:xfrm>
            <a:off x="319704" y="253118"/>
            <a:ext cx="11381889" cy="8800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>
                <a:solidFill>
                  <a:srgbClr val="9C3C9A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 dirty="0">
                <a:solidFill>
                  <a:srgbClr val="1E275C"/>
                </a:solidFill>
              </a:rPr>
              <a:t>Pipes and Filters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FF00777-0C5F-1758-D890-55BE072441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18190" y="6242209"/>
            <a:ext cx="499198" cy="499198"/>
          </a:xfrm>
          <a:prstGeom prst="rect">
            <a:avLst/>
          </a:prstGeom>
        </p:spPr>
      </p:pic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F7873C3F-0BEA-E77B-58CF-D0D7D1657DBB}"/>
              </a:ext>
            </a:extLst>
          </p:cNvPr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088" y="1956374"/>
            <a:ext cx="11382375" cy="2975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9367073"/>
      </p:ext>
    </p:extLst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AF7405-80D4-D475-5F2B-D0652C10F3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F714FF90-D3E7-7A68-C365-7387CB0775AC}"/>
              </a:ext>
            </a:extLst>
          </p:cNvPr>
          <p:cNvSpPr>
            <a:spLocks noGrp="1"/>
          </p:cNvSpPr>
          <p:nvPr/>
        </p:nvSpPr>
        <p:spPr>
          <a:xfrm>
            <a:off x="319704" y="253118"/>
            <a:ext cx="11381889" cy="8800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>
                <a:solidFill>
                  <a:srgbClr val="9C3C9A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 dirty="0">
                <a:solidFill>
                  <a:srgbClr val="1E275C"/>
                </a:solidFill>
              </a:rPr>
              <a:t>Load Leveling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6AE776A-402E-77F6-0CC7-7582C6823B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18190" y="6242209"/>
            <a:ext cx="499198" cy="499198"/>
          </a:xfrm>
          <a:prstGeom prst="rect">
            <a:avLst/>
          </a:prstGeom>
        </p:spPr>
      </p:pic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75417FEF-5BB6-384E-5547-3EFB9E6D0939}"/>
              </a:ext>
            </a:extLst>
          </p:cNvPr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088" y="1440179"/>
            <a:ext cx="11382375" cy="4008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880866"/>
      </p:ext>
    </p:extLst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55E56E-572F-8FDF-429C-65772F757D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910D8DBC-86F8-7005-CD39-7D3F424F407E}"/>
              </a:ext>
            </a:extLst>
          </p:cNvPr>
          <p:cNvSpPr>
            <a:spLocks noGrp="1"/>
          </p:cNvSpPr>
          <p:nvPr/>
        </p:nvSpPr>
        <p:spPr>
          <a:xfrm>
            <a:off x="319704" y="253118"/>
            <a:ext cx="11381889" cy="8800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>
                <a:solidFill>
                  <a:srgbClr val="9C3C9A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 dirty="0">
                <a:solidFill>
                  <a:srgbClr val="1E275C"/>
                </a:solidFill>
              </a:rPr>
              <a:t>Circuit Breaker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08325D3-A997-2A9E-56AF-CBD6568C05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18190" y="6242209"/>
            <a:ext cx="499198" cy="499198"/>
          </a:xfrm>
          <a:prstGeom prst="rect">
            <a:avLst/>
          </a:prstGeom>
        </p:spPr>
      </p:pic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32DF09C6-FF62-DFB4-56AB-65F02E3C789E}"/>
              </a:ext>
            </a:extLst>
          </p:cNvPr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088" y="1524043"/>
            <a:ext cx="11382375" cy="3840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843475"/>
      </p:ext>
    </p:extLst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C4A811-061D-4BE0-90CE-B9C63E7F69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F1C7B6DA-1317-BD18-BDA4-BED5FBB72DD8}"/>
              </a:ext>
            </a:extLst>
          </p:cNvPr>
          <p:cNvSpPr>
            <a:spLocks noGrp="1"/>
          </p:cNvSpPr>
          <p:nvPr/>
        </p:nvSpPr>
        <p:spPr>
          <a:xfrm>
            <a:off x="308973" y="316524"/>
            <a:ext cx="11381889" cy="11756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>
                <a:solidFill>
                  <a:srgbClr val="9C3C9A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 dirty="0">
                <a:solidFill>
                  <a:srgbClr val="1E275C"/>
                </a:solidFill>
              </a:rPr>
              <a:t>Process Manager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18F17F-4532-4583-7B4F-06B95ABB31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17882" y="6242209"/>
            <a:ext cx="499198" cy="499198"/>
          </a:xfrm>
          <a:prstGeom prst="rect">
            <a:avLst/>
          </a:prstGeom>
        </p:spPr>
      </p:pic>
      <p:pic>
        <p:nvPicPr>
          <p:cNvPr id="6" name="Content Placeholder 4">
            <a:extLst>
              <a:ext uri="{FF2B5EF4-FFF2-40B4-BE49-F238E27FC236}">
                <a16:creationId xmlns:a16="http://schemas.microsoft.com/office/drawing/2014/main" id="{8FBB0669-5918-6216-78E7-4CFEDB197FFF}"/>
              </a:ext>
            </a:extLst>
          </p:cNvPr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3481" y="1243172"/>
            <a:ext cx="5572972" cy="4402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2506748"/>
      </p:ext>
    </p:extLst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E72459-39D1-683D-E315-430965348E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9ABC6F3C-2114-F86F-B8B2-4B3EBA36F299}"/>
              </a:ext>
            </a:extLst>
          </p:cNvPr>
          <p:cNvSpPr>
            <a:spLocks noGrp="1"/>
          </p:cNvSpPr>
          <p:nvPr/>
        </p:nvSpPr>
        <p:spPr>
          <a:xfrm>
            <a:off x="319396" y="253118"/>
            <a:ext cx="11381889" cy="8800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>
                <a:solidFill>
                  <a:srgbClr val="9C3C9A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 dirty="0">
                <a:solidFill>
                  <a:srgbClr val="1E275C"/>
                </a:solidFill>
              </a:rPr>
              <a:t>Budget Management</a:t>
            </a:r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BFFD7B75-E5C2-F04C-9987-BDE8E653F4D8}"/>
              </a:ext>
            </a:extLst>
          </p:cNvPr>
          <p:cNvSpPr>
            <a:spLocks noGrp="1"/>
          </p:cNvSpPr>
          <p:nvPr/>
        </p:nvSpPr>
        <p:spPr>
          <a:xfrm>
            <a:off x="319395" y="1235462"/>
            <a:ext cx="7719285" cy="44214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F&amp;O endpoints are free but can be throttled</a:t>
            </a:r>
          </a:p>
          <a:p>
            <a:r>
              <a:rPr lang="en-US" dirty="0">
                <a:solidFill>
                  <a:schemeClr val="bg1"/>
                </a:solidFill>
              </a:rPr>
              <a:t>Azure costs money</a:t>
            </a:r>
          </a:p>
          <a:p>
            <a:r>
              <a:rPr lang="en-US" dirty="0">
                <a:solidFill>
                  <a:schemeClr val="bg1"/>
                </a:solidFill>
              </a:rPr>
              <a:t>“Decoupled”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Allows for demand spikes without interactions starting to fail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Throughput scales to resources allowed rather demand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CC4B1371-4A09-72F8-7901-8A5F5370E811}"/>
              </a:ext>
            </a:extLst>
          </p:cNvPr>
          <p:cNvSpPr>
            <a:spLocks noGrp="1"/>
          </p:cNvSpPr>
          <p:nvPr/>
        </p:nvSpPr>
        <p:spPr>
          <a:xfrm>
            <a:off x="6075801" y="1233567"/>
            <a:ext cx="5625484" cy="44214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AA01F7B-E9B3-2B8A-9404-94FD9F9786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17882" y="6242209"/>
            <a:ext cx="499198" cy="499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9708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44550C-5F51-E45B-E11E-487EF2BEDE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80DB8BFC-54E3-CACE-097D-B969DDE6373E}"/>
              </a:ext>
            </a:extLst>
          </p:cNvPr>
          <p:cNvSpPr>
            <a:spLocks noGrp="1"/>
          </p:cNvSpPr>
          <p:nvPr/>
        </p:nvSpPr>
        <p:spPr>
          <a:xfrm>
            <a:off x="319396" y="253118"/>
            <a:ext cx="11381889" cy="8800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>
                <a:solidFill>
                  <a:srgbClr val="9C3C9A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 dirty="0">
                <a:solidFill>
                  <a:srgbClr val="1E275C"/>
                </a:solidFill>
              </a:rPr>
              <a:t>Demand vs Availability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2AFA941-B0E5-1A05-CF83-1BE0BD999A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17882" y="6242209"/>
            <a:ext cx="499198" cy="499198"/>
          </a:xfrm>
          <a:prstGeom prst="rect">
            <a:avLst/>
          </a:prstGeom>
        </p:spPr>
      </p:pic>
      <p:pic>
        <p:nvPicPr>
          <p:cNvPr id="4" name="Content Placeholder 5">
            <a:extLst>
              <a:ext uri="{FF2B5EF4-FFF2-40B4-BE49-F238E27FC236}">
                <a16:creationId xmlns:a16="http://schemas.microsoft.com/office/drawing/2014/main" id="{E5E4C65E-ED62-813E-17BD-5779AA3549BF}"/>
              </a:ext>
            </a:extLst>
          </p:cNvPr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061" y="1843448"/>
            <a:ext cx="11177022" cy="3129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8621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0ADB92-7B24-28E7-E564-774C4455B2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A189AA69-7F51-81F1-D002-C1C50E6A43E2}"/>
              </a:ext>
            </a:extLst>
          </p:cNvPr>
          <p:cNvSpPr>
            <a:spLocks noGrp="1"/>
          </p:cNvSpPr>
          <p:nvPr/>
        </p:nvSpPr>
        <p:spPr>
          <a:xfrm>
            <a:off x="319704" y="253118"/>
            <a:ext cx="11381889" cy="8800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>
                <a:solidFill>
                  <a:srgbClr val="9C3C9A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 dirty="0">
                <a:solidFill>
                  <a:srgbClr val="1E275C"/>
                </a:solidFill>
              </a:rPr>
              <a:t>Demand vs Dollars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E7BF0EBE-3748-0E13-ABA6-57F4B78B633E}"/>
              </a:ext>
            </a:extLst>
          </p:cNvPr>
          <p:cNvSpPr>
            <a:spLocks noGrp="1"/>
          </p:cNvSpPr>
          <p:nvPr/>
        </p:nvSpPr>
        <p:spPr>
          <a:xfrm>
            <a:off x="6076109" y="1233567"/>
            <a:ext cx="5625484" cy="44214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We can do real time – at a premium</a:t>
            </a:r>
          </a:p>
          <a:p>
            <a:r>
              <a:rPr lang="en-US" dirty="0">
                <a:solidFill>
                  <a:schemeClr val="bg1"/>
                </a:solidFill>
              </a:rPr>
              <a:t>When we introduce some time lag, costs go down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Real Time 	= $$$$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Near real time 	= $$$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Small delay 	= $$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Large delay 	= $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3F1BFEC-E0CE-09C0-83AC-8044E7D9F5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18190" y="6242209"/>
            <a:ext cx="499198" cy="499198"/>
          </a:xfrm>
          <a:prstGeom prst="rect">
            <a:avLst/>
          </a:prstGeom>
        </p:spPr>
      </p:pic>
      <p:pic>
        <p:nvPicPr>
          <p:cNvPr id="5" name="Picture 4" descr="Turbo Overkill on Steam">
            <a:extLst>
              <a:ext uri="{FF2B5EF4-FFF2-40B4-BE49-F238E27FC236}">
                <a16:creationId xmlns:a16="http://schemas.microsoft.com/office/drawing/2014/main" id="{033010BE-4A7E-9620-22E8-2F91EF076B6D}"/>
              </a:ext>
            </a:extLst>
          </p:cNvPr>
          <p:cNvPicPr>
            <a:picLocks noGrp="1"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088" y="1862663"/>
            <a:ext cx="5626100" cy="3166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325757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E94A37-5FDB-2082-B19A-78585544B5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398BE4CC-739A-AD27-9E7C-464DB7A03DC4}"/>
              </a:ext>
            </a:extLst>
          </p:cNvPr>
          <p:cNvSpPr>
            <a:spLocks noGrp="1"/>
          </p:cNvSpPr>
          <p:nvPr/>
        </p:nvSpPr>
        <p:spPr>
          <a:xfrm>
            <a:off x="319396" y="253118"/>
            <a:ext cx="11381889" cy="8800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>
                <a:solidFill>
                  <a:srgbClr val="9C3C9A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 dirty="0">
                <a:solidFill>
                  <a:srgbClr val="1E275C"/>
                </a:solidFill>
              </a:rPr>
              <a:t>Balancing Budgets</a:t>
            </a:r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619EEE39-5A83-C608-672E-03C9754EC011}"/>
              </a:ext>
            </a:extLst>
          </p:cNvPr>
          <p:cNvSpPr>
            <a:spLocks noGrp="1"/>
          </p:cNvSpPr>
          <p:nvPr/>
        </p:nvSpPr>
        <p:spPr>
          <a:xfrm>
            <a:off x="319396" y="1235462"/>
            <a:ext cx="5625484" cy="44214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Azure Costs money</a:t>
            </a:r>
          </a:p>
          <a:p>
            <a:r>
              <a:rPr lang="en-US" dirty="0">
                <a:solidFill>
                  <a:schemeClr val="bg1"/>
                </a:solidFill>
              </a:rPr>
              <a:t>FO Costs Time</a:t>
            </a:r>
          </a:p>
          <a:p>
            <a:r>
              <a:rPr lang="en-US" dirty="0">
                <a:solidFill>
                  <a:schemeClr val="bg1"/>
                </a:solidFill>
              </a:rPr>
              <a:t>Reminder: FO is throttled on OData and Custom Services</a:t>
            </a:r>
          </a:p>
          <a:p>
            <a:r>
              <a:rPr lang="en-US" dirty="0">
                <a:solidFill>
                  <a:schemeClr val="bg1"/>
                </a:solidFill>
              </a:rPr>
              <a:t>Prioritize, Throttle, Optimize</a:t>
            </a:r>
          </a:p>
          <a:p>
            <a:r>
              <a:rPr lang="en-US" dirty="0">
                <a:solidFill>
                  <a:schemeClr val="bg1"/>
                </a:solidFill>
              </a:rPr>
              <a:t>Throttling prioritization</a:t>
            </a:r>
          </a:p>
          <a:p>
            <a:pPr marL="0" indent="0">
              <a:buNone/>
            </a:pP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8C6625E-0210-3B28-22DF-61ADA7095E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17882" y="6242209"/>
            <a:ext cx="499198" cy="499198"/>
          </a:xfrm>
          <a:prstGeom prst="rect">
            <a:avLst/>
          </a:prstGeom>
        </p:spPr>
      </p:pic>
      <p:pic>
        <p:nvPicPr>
          <p:cNvPr id="5" name="Picture 4" descr="Turbo Overkill Review (PS5) - digitalchumps">
            <a:extLst>
              <a:ext uri="{FF2B5EF4-FFF2-40B4-BE49-F238E27FC236}">
                <a16:creationId xmlns:a16="http://schemas.microsoft.com/office/drawing/2014/main" id="{19E9E019-C96A-06F1-91ED-C3197B77A5FE}"/>
              </a:ext>
            </a:extLst>
          </p:cNvPr>
          <p:cNvPicPr>
            <a:picLocks noGrp="1"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75055" y="1859153"/>
            <a:ext cx="5626100" cy="3170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607918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B2D1FF-349A-EE57-98BF-518A35B121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BD2A89E-3D0B-D117-3DF0-1BE420BFD9A3}"/>
              </a:ext>
            </a:extLst>
          </p:cNvPr>
          <p:cNvSpPr>
            <a:spLocks noGrp="1"/>
          </p:cNvSpPr>
          <p:nvPr/>
        </p:nvSpPr>
        <p:spPr>
          <a:xfrm>
            <a:off x="319395" y="1243319"/>
            <a:ext cx="11381889" cy="44023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Problem: Expect 10k </a:t>
            </a:r>
            <a:r>
              <a:rPr lang="en-US" dirty="0" err="1">
                <a:solidFill>
                  <a:schemeClr val="bg1"/>
                </a:solidFill>
              </a:rPr>
              <a:t>eComm</a:t>
            </a:r>
            <a:r>
              <a:rPr lang="en-US" dirty="0">
                <a:solidFill>
                  <a:schemeClr val="bg1"/>
                </a:solidFill>
              </a:rPr>
              <a:t> Sales Orders per day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10k Sales order headers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20k Sales order lines (average)</a:t>
            </a:r>
          </a:p>
          <a:p>
            <a:r>
              <a:rPr lang="en-US" dirty="0">
                <a:solidFill>
                  <a:schemeClr val="bg1"/>
                </a:solidFill>
              </a:rPr>
              <a:t>Solutions?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Use Logic Apps and OData? Not ideal because we don’t know when those orders will show up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Use Logic Apps and DMF Endpoints? Better but still message based so could be “chatty” with DMF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Use Azure Data factory with DMF Endpoints and Composite entities? Even better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But need to know all the details on where the data are coming from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F22714C-70EC-56EA-4B83-DE1FB8D8B832}"/>
              </a:ext>
            </a:extLst>
          </p:cNvPr>
          <p:cNvSpPr>
            <a:spLocks noGrp="1"/>
          </p:cNvSpPr>
          <p:nvPr/>
        </p:nvSpPr>
        <p:spPr>
          <a:xfrm>
            <a:off x="319396" y="253118"/>
            <a:ext cx="11381889" cy="8800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>
                <a:solidFill>
                  <a:srgbClr val="9C3C9A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 dirty="0">
                <a:solidFill>
                  <a:srgbClr val="1E275C"/>
                </a:solidFill>
              </a:rPr>
              <a:t>Balancing Act - Example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4EE2AF-D6C4-5488-CB79-94E501D9CC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17882" y="6242209"/>
            <a:ext cx="499198" cy="499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93446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DDF45B-1E73-D19F-DAF3-361C57A854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806A6CA-5D77-DB69-1091-9B7D7A21FB83}"/>
              </a:ext>
            </a:extLst>
          </p:cNvPr>
          <p:cNvSpPr>
            <a:spLocks noGrp="1"/>
          </p:cNvSpPr>
          <p:nvPr/>
        </p:nvSpPr>
        <p:spPr>
          <a:xfrm>
            <a:off x="319395" y="1243319"/>
            <a:ext cx="11381889" cy="440231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“Decoupled”</a:t>
            </a:r>
          </a:p>
          <a:p>
            <a:r>
              <a:rPr lang="en-US" dirty="0">
                <a:solidFill>
                  <a:schemeClr val="bg1"/>
                </a:solidFill>
              </a:rPr>
              <a:t>Azure Service Bus Queue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Cheap, Fast, it’s a queue</a:t>
            </a:r>
          </a:p>
          <a:p>
            <a:r>
              <a:rPr lang="en-US" dirty="0">
                <a:solidFill>
                  <a:schemeClr val="bg1"/>
                </a:solidFill>
              </a:rPr>
              <a:t>Azure Service Bus Topic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Collections of queues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1 message in, n messages out</a:t>
            </a:r>
          </a:p>
          <a:p>
            <a:r>
              <a:rPr lang="en-US" dirty="0">
                <a:solidFill>
                  <a:schemeClr val="bg1"/>
                </a:solidFill>
              </a:rPr>
              <a:t>Azure Blob Storage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Cheap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Don’t care about order of operations</a:t>
            </a:r>
          </a:p>
          <a:p>
            <a:r>
              <a:rPr lang="en-US" dirty="0">
                <a:solidFill>
                  <a:schemeClr val="bg1"/>
                </a:solidFill>
              </a:rPr>
              <a:t>Also Event Grids and Event Hub for hyper scale</a:t>
            </a:r>
          </a:p>
          <a:p>
            <a:r>
              <a:rPr lang="en-US" dirty="0">
                <a:solidFill>
                  <a:schemeClr val="bg1"/>
                </a:solidFill>
              </a:rPr>
              <a:t>HTTPS is an option for a more direct route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2B6E953-31AC-0568-1D8E-9B26725A3270}"/>
              </a:ext>
            </a:extLst>
          </p:cNvPr>
          <p:cNvSpPr>
            <a:spLocks noGrp="1"/>
          </p:cNvSpPr>
          <p:nvPr/>
        </p:nvSpPr>
        <p:spPr>
          <a:xfrm>
            <a:off x="319396" y="253118"/>
            <a:ext cx="11381889" cy="8800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>
                <a:solidFill>
                  <a:srgbClr val="9C3C9A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 dirty="0">
                <a:solidFill>
                  <a:srgbClr val="1E275C"/>
                </a:solidFill>
              </a:rPr>
              <a:t>Temporary Storage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F0C6C9E-C3C7-86DD-819F-2137359E5C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17882" y="6242209"/>
            <a:ext cx="499198" cy="499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82547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3D4502-FE1B-6E5F-F66F-B1885CEAFB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AD4CAF36-A413-EE32-1B02-C2D862E7FCA5}"/>
              </a:ext>
            </a:extLst>
          </p:cNvPr>
          <p:cNvSpPr>
            <a:spLocks noGrp="1"/>
          </p:cNvSpPr>
          <p:nvPr/>
        </p:nvSpPr>
        <p:spPr>
          <a:xfrm>
            <a:off x="319396" y="253118"/>
            <a:ext cx="11381889" cy="8800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>
                <a:solidFill>
                  <a:srgbClr val="9C3C9A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 dirty="0">
                <a:solidFill>
                  <a:srgbClr val="1E275C"/>
                </a:solidFill>
              </a:rPr>
              <a:t>Instanced Payloads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0499A77-B371-2AD8-FC99-F0926A0126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17882" y="6242209"/>
            <a:ext cx="499198" cy="499198"/>
          </a:xfrm>
          <a:prstGeom prst="rect">
            <a:avLst/>
          </a:prstGeom>
        </p:spPr>
      </p:pic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8040FD8C-1603-8D39-F6C8-FE8EF316A582}"/>
              </a:ext>
            </a:extLst>
          </p:cNvPr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491" y="2072812"/>
            <a:ext cx="10780952" cy="2742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7060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9EFF23-9D9B-FB76-592C-2DE5713248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A82A7F0-799C-9E61-B5A0-06E4A86A4D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510" y="459648"/>
            <a:ext cx="9293315" cy="598084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A793B92-A931-D2E4-7DE2-B47B9FC020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65536" y="6190895"/>
            <a:ext cx="499198" cy="499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30233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2">
            <a:extLst>
              <a:ext uri="{FF2B5EF4-FFF2-40B4-BE49-F238E27FC236}">
                <a16:creationId xmlns:a16="http://schemas.microsoft.com/office/drawing/2014/main" id="{9B2BB2DD-51B0-4AA8-2F4D-CC1260404B2D}"/>
              </a:ext>
            </a:extLst>
          </p:cNvPr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302" y="432787"/>
            <a:ext cx="7568194" cy="614831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EA41AA8-B4E8-EDEB-61E1-10D530348A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65536" y="6190895"/>
            <a:ext cx="499198" cy="499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174251"/>
      </p:ext>
    </p:extLst>
  </p:cSld>
  <p:clrMapOvr>
    <a:masterClrMapping/>
  </p:clrMapOvr>
  <p:transition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B655192-99FF-A05D-EF3E-1DCAA1A7F7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2169A-9C14-CEF9-F907-EB471E779B8E}"/>
              </a:ext>
            </a:extLst>
          </p:cNvPr>
          <p:cNvSpPr>
            <a:spLocks noGrp="1"/>
          </p:cNvSpPr>
          <p:nvPr/>
        </p:nvSpPr>
        <p:spPr>
          <a:xfrm>
            <a:off x="37489" y="-155917"/>
            <a:ext cx="11549062" cy="218498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0" kern="1200">
                <a:solidFill>
                  <a:srgbClr val="9C3C9A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pPr algn="l"/>
            <a:r>
              <a:rPr lang="en-US" sz="4800" b="1" dirty="0">
                <a:solidFill>
                  <a:srgbClr val="1E275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Strategies for Scaling and </a:t>
            </a:r>
            <a:r>
              <a:rPr lang="en-US" sz="4800" b="1" dirty="0" err="1">
                <a:solidFill>
                  <a:srgbClr val="1E275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Mgmt</a:t>
            </a:r>
            <a:endParaRPr lang="en-US" sz="4800" dirty="0">
              <a:solidFill>
                <a:srgbClr val="1E275C"/>
              </a:solidFill>
            </a:endParaRPr>
          </a:p>
        </p:txBody>
      </p:sp>
      <p:sp>
        <p:nvSpPr>
          <p:cNvPr id="4" name="Arc 3">
            <a:extLst>
              <a:ext uri="{FF2B5EF4-FFF2-40B4-BE49-F238E27FC236}">
                <a16:creationId xmlns:a16="http://schemas.microsoft.com/office/drawing/2014/main" id="{EEA537AD-BD36-D987-A603-578FF24977EA}"/>
              </a:ext>
            </a:extLst>
          </p:cNvPr>
          <p:cNvSpPr/>
          <p:nvPr/>
        </p:nvSpPr>
        <p:spPr>
          <a:xfrm>
            <a:off x="4405448" y="1921507"/>
            <a:ext cx="3356292" cy="3356292"/>
          </a:xfrm>
          <a:prstGeom prst="arc">
            <a:avLst>
              <a:gd name="adj1" fmla="val 13787735"/>
              <a:gd name="adj2" fmla="val 13601526"/>
            </a:avLst>
          </a:prstGeom>
          <a:ln>
            <a:solidFill>
              <a:schemeClr val="bg1"/>
            </a:solidFill>
            <a:prstDash val="lg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solidFill>
                <a:srgbClr val="494D68"/>
              </a:solidFill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AE427E8-BBF7-3A45-F9E0-1D772E3EA11C}"/>
              </a:ext>
            </a:extLst>
          </p:cNvPr>
          <p:cNvSpPr/>
          <p:nvPr/>
        </p:nvSpPr>
        <p:spPr>
          <a:xfrm>
            <a:off x="4678508" y="1811461"/>
            <a:ext cx="802907" cy="802907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solidFill>
                <a:srgbClr val="494D68"/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A910E83-8D08-5D0A-9ABB-A33E40FB5D44}"/>
              </a:ext>
            </a:extLst>
          </p:cNvPr>
          <p:cNvSpPr/>
          <p:nvPr/>
        </p:nvSpPr>
        <p:spPr>
          <a:xfrm>
            <a:off x="4805763" y="1938716"/>
            <a:ext cx="548397" cy="548397"/>
          </a:xfrm>
          <a:prstGeom prst="ellipse">
            <a:avLst/>
          </a:prstGeom>
          <a:solidFill>
            <a:srgbClr val="FFD10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solidFill>
                <a:srgbClr val="494D68"/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AFCED87-8DCC-A02C-973F-8626D3C1049F}"/>
              </a:ext>
            </a:extLst>
          </p:cNvPr>
          <p:cNvSpPr txBox="1">
            <a:spLocks/>
          </p:cNvSpPr>
          <p:nvPr/>
        </p:nvSpPr>
        <p:spPr>
          <a:xfrm>
            <a:off x="7755789" y="1781375"/>
            <a:ext cx="1256142" cy="384145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Aft>
                <a:spcPts val="1200"/>
              </a:spcAft>
            </a:pPr>
            <a:r>
              <a:rPr lang="en-US" sz="1600" b="1">
                <a:solidFill>
                  <a:srgbClr val="494D6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Right sized Logic Apps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31A1A9C-E41E-F39B-4D0E-0E2BACD8CCC7}"/>
              </a:ext>
            </a:extLst>
          </p:cNvPr>
          <p:cNvSpPr txBox="1">
            <a:spLocks/>
          </p:cNvSpPr>
          <p:nvPr/>
        </p:nvSpPr>
        <p:spPr>
          <a:xfrm>
            <a:off x="3056650" y="1577450"/>
            <a:ext cx="1553146" cy="98948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00000"/>
              </a:lnSpc>
              <a:spcAft>
                <a:spcPts val="1200"/>
              </a:spcAft>
            </a:pPr>
            <a:r>
              <a:rPr lang="en-US" sz="1600" b="1">
                <a:solidFill>
                  <a:srgbClr val="494D6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Azure Resource Manager (ARM) templates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B31E8B3-51E3-24DA-C5A7-572891933C41}"/>
              </a:ext>
            </a:extLst>
          </p:cNvPr>
          <p:cNvSpPr/>
          <p:nvPr/>
        </p:nvSpPr>
        <p:spPr>
          <a:xfrm>
            <a:off x="3906957" y="3198200"/>
            <a:ext cx="802907" cy="802907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solidFill>
                <a:srgbClr val="494D68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0DAE835-38B5-27C7-EE19-6AB8920C7240}"/>
              </a:ext>
            </a:extLst>
          </p:cNvPr>
          <p:cNvSpPr/>
          <p:nvPr/>
        </p:nvSpPr>
        <p:spPr>
          <a:xfrm>
            <a:off x="4034212" y="3325455"/>
            <a:ext cx="548397" cy="548397"/>
          </a:xfrm>
          <a:prstGeom prst="ellipse">
            <a:avLst/>
          </a:prstGeom>
          <a:solidFill>
            <a:srgbClr val="FFD10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solidFill>
                <a:srgbClr val="494D68"/>
              </a:solidFill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BE420803-ED6A-AEBD-53F9-DC15CBF85836}"/>
              </a:ext>
            </a:extLst>
          </p:cNvPr>
          <p:cNvSpPr/>
          <p:nvPr/>
        </p:nvSpPr>
        <p:spPr>
          <a:xfrm>
            <a:off x="4678508" y="4641982"/>
            <a:ext cx="802907" cy="802907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solidFill>
                <a:srgbClr val="494D68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AA2221EC-7EA1-0D66-93CE-F68681830423}"/>
              </a:ext>
            </a:extLst>
          </p:cNvPr>
          <p:cNvSpPr/>
          <p:nvPr/>
        </p:nvSpPr>
        <p:spPr>
          <a:xfrm>
            <a:off x="4805763" y="4769237"/>
            <a:ext cx="548397" cy="548397"/>
          </a:xfrm>
          <a:prstGeom prst="ellipse">
            <a:avLst/>
          </a:prstGeom>
          <a:solidFill>
            <a:srgbClr val="FFD10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solidFill>
                <a:srgbClr val="494D68"/>
              </a:solidFill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0718174E-0707-436F-4E90-C1F9C9801956}"/>
              </a:ext>
            </a:extLst>
          </p:cNvPr>
          <p:cNvSpPr/>
          <p:nvPr/>
        </p:nvSpPr>
        <p:spPr>
          <a:xfrm>
            <a:off x="6725655" y="1811461"/>
            <a:ext cx="802907" cy="802907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solidFill>
                <a:srgbClr val="494D68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52060DA4-60CA-C2D6-A322-D8755583915D}"/>
              </a:ext>
            </a:extLst>
          </p:cNvPr>
          <p:cNvSpPr/>
          <p:nvPr/>
        </p:nvSpPr>
        <p:spPr>
          <a:xfrm>
            <a:off x="6852910" y="1938716"/>
            <a:ext cx="548397" cy="548397"/>
          </a:xfrm>
          <a:prstGeom prst="ellipse">
            <a:avLst/>
          </a:prstGeom>
          <a:solidFill>
            <a:srgbClr val="FFD10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solidFill>
                <a:srgbClr val="494D68"/>
              </a:solidFill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2102985B-45AF-D21A-2D56-B0B9E3B69114}"/>
              </a:ext>
            </a:extLst>
          </p:cNvPr>
          <p:cNvSpPr/>
          <p:nvPr/>
        </p:nvSpPr>
        <p:spPr>
          <a:xfrm>
            <a:off x="6725655" y="4641982"/>
            <a:ext cx="802907" cy="802907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solidFill>
                <a:srgbClr val="494D68"/>
              </a:solidFill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22051D20-A7AE-4C78-8E6A-B0875C586FBD}"/>
              </a:ext>
            </a:extLst>
          </p:cNvPr>
          <p:cNvSpPr/>
          <p:nvPr/>
        </p:nvSpPr>
        <p:spPr>
          <a:xfrm>
            <a:off x="6852910" y="4769237"/>
            <a:ext cx="548397" cy="548397"/>
          </a:xfrm>
          <a:prstGeom prst="ellipse">
            <a:avLst/>
          </a:prstGeom>
          <a:solidFill>
            <a:srgbClr val="FFD10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solidFill>
                <a:srgbClr val="494D68"/>
              </a:solidFill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29376C65-F643-65E4-AC37-17DD572D3C4E}"/>
              </a:ext>
            </a:extLst>
          </p:cNvPr>
          <p:cNvSpPr/>
          <p:nvPr/>
        </p:nvSpPr>
        <p:spPr>
          <a:xfrm>
            <a:off x="7457325" y="3198200"/>
            <a:ext cx="802907" cy="802907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solidFill>
                <a:srgbClr val="494D68"/>
              </a:solidFill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CAB9A227-9D43-BA37-9164-865EEB813E35}"/>
              </a:ext>
            </a:extLst>
          </p:cNvPr>
          <p:cNvSpPr/>
          <p:nvPr/>
        </p:nvSpPr>
        <p:spPr>
          <a:xfrm>
            <a:off x="7584580" y="3325455"/>
            <a:ext cx="548397" cy="548397"/>
          </a:xfrm>
          <a:prstGeom prst="ellipse">
            <a:avLst/>
          </a:prstGeom>
          <a:solidFill>
            <a:srgbClr val="FFD10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solidFill>
                <a:srgbClr val="494D68"/>
              </a:solidFill>
            </a:endParaRP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320623FE-98AF-A86A-E10C-C5D2FA6D3111}"/>
              </a:ext>
            </a:extLst>
          </p:cNvPr>
          <p:cNvSpPr txBox="1">
            <a:spLocks/>
          </p:cNvSpPr>
          <p:nvPr/>
        </p:nvSpPr>
        <p:spPr>
          <a:xfrm>
            <a:off x="8362132" y="3244999"/>
            <a:ext cx="1143698" cy="767291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Aft>
                <a:spcPts val="1200"/>
              </a:spcAft>
            </a:pPr>
            <a:r>
              <a:rPr lang="en-US" sz="1600" b="1">
                <a:solidFill>
                  <a:srgbClr val="494D6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Azure Key Vault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1FCC7D6B-D9F8-4D5D-C346-3FA67592DD08}"/>
              </a:ext>
            </a:extLst>
          </p:cNvPr>
          <p:cNvSpPr txBox="1">
            <a:spLocks/>
          </p:cNvSpPr>
          <p:nvPr/>
        </p:nvSpPr>
        <p:spPr>
          <a:xfrm>
            <a:off x="2530278" y="3128782"/>
            <a:ext cx="1200218" cy="83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00000"/>
              </a:lnSpc>
              <a:spcAft>
                <a:spcPts val="1200"/>
              </a:spcAft>
            </a:pPr>
            <a:r>
              <a:rPr lang="en-US" sz="1600" b="1">
                <a:solidFill>
                  <a:srgbClr val="494D6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Azure Monitor</a:t>
            </a: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F1374471-6277-4EF9-A0BA-F56489B20657}"/>
              </a:ext>
            </a:extLst>
          </p:cNvPr>
          <p:cNvSpPr txBox="1">
            <a:spLocks/>
          </p:cNvSpPr>
          <p:nvPr/>
        </p:nvSpPr>
        <p:spPr>
          <a:xfrm>
            <a:off x="7789516" y="4737328"/>
            <a:ext cx="1353951" cy="55642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Aft>
                <a:spcPts val="1200"/>
              </a:spcAft>
            </a:pPr>
            <a:r>
              <a:rPr lang="en-US" sz="1600" b="1">
                <a:solidFill>
                  <a:srgbClr val="494D6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Azure DevOps</a:t>
            </a: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1B4F5731-C739-D325-5A2B-6A7F4AA4FF09}"/>
              </a:ext>
            </a:extLst>
          </p:cNvPr>
          <p:cNvSpPr txBox="1">
            <a:spLocks/>
          </p:cNvSpPr>
          <p:nvPr/>
        </p:nvSpPr>
        <p:spPr>
          <a:xfrm>
            <a:off x="2931011" y="4718775"/>
            <a:ext cx="1558181" cy="593526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00000"/>
              </a:lnSpc>
              <a:spcAft>
                <a:spcPts val="1200"/>
              </a:spcAft>
            </a:pPr>
            <a:r>
              <a:rPr lang="en-US" sz="1600" b="1">
                <a:solidFill>
                  <a:srgbClr val="494D6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Azure Resource Manager (ARM) policies</a:t>
            </a:r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4F47E4D5-8463-2B95-2340-6B0C36BF8124}"/>
              </a:ext>
            </a:extLst>
          </p:cNvPr>
          <p:cNvSpPr txBox="1">
            <a:spLocks/>
          </p:cNvSpPr>
          <p:nvPr/>
        </p:nvSpPr>
        <p:spPr>
          <a:xfrm>
            <a:off x="551836" y="5848720"/>
            <a:ext cx="11120213" cy="440230"/>
          </a:xfrm>
          <a:prstGeom prst="roundRect">
            <a:avLst>
              <a:gd name="adj" fmla="val 50000"/>
            </a:avLst>
          </a:prstGeom>
          <a:solidFill>
            <a:schemeClr val="bg1"/>
          </a:solidFill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  <a:spcAft>
                <a:spcPts val="1200"/>
              </a:spcAft>
            </a:pPr>
            <a:r>
              <a:rPr lang="en-US" sz="1800" b="1" dirty="0">
                <a:solidFill>
                  <a:srgbClr val="E6E6E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Evaluating the current scale is important, evaluating the next 5-10 years of growth is </a:t>
            </a:r>
            <a:r>
              <a:rPr lang="en-US" sz="1800" b="1" dirty="0" err="1">
                <a:solidFill>
                  <a:srgbClr val="E6E6E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importanter</a:t>
            </a:r>
            <a:endParaRPr lang="en-US" sz="1800" b="1" dirty="0">
              <a:solidFill>
                <a:srgbClr val="E6E6E6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865B615C-6B1B-BDE4-F6B4-DD2F12A06DD1}"/>
              </a:ext>
            </a:extLst>
          </p:cNvPr>
          <p:cNvGrpSpPr/>
          <p:nvPr/>
        </p:nvGrpSpPr>
        <p:grpSpPr>
          <a:xfrm>
            <a:off x="4929703" y="4901133"/>
            <a:ext cx="300516" cy="284604"/>
            <a:chOff x="2805113" y="2247901"/>
            <a:chExt cx="779462" cy="738188"/>
          </a:xfrm>
          <a:effectLst>
            <a:outerShdw dist="38100" dir="2700000" algn="tl" rotWithShape="0">
              <a:prstClr val="black">
                <a:alpha val="20000"/>
              </a:prstClr>
            </a:outerShdw>
          </a:effectLst>
        </p:grpSpPr>
        <p:sp>
          <p:nvSpPr>
            <p:cNvPr id="85" name="Freeform 78">
              <a:extLst>
                <a:ext uri="{FF2B5EF4-FFF2-40B4-BE49-F238E27FC236}">
                  <a16:creationId xmlns:a16="http://schemas.microsoft.com/office/drawing/2014/main" id="{9C3C6A5D-C42E-EA94-FFE1-EF26D276BBC7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6725" y="2247901"/>
              <a:ext cx="577850" cy="738188"/>
            </a:xfrm>
            <a:custGeom>
              <a:avLst/>
              <a:gdLst>
                <a:gd name="T0" fmla="*/ 115 w 153"/>
                <a:gd name="T1" fmla="*/ 0 h 195"/>
                <a:gd name="T2" fmla="*/ 6 w 153"/>
                <a:gd name="T3" fmla="*/ 0 h 195"/>
                <a:gd name="T4" fmla="*/ 0 w 153"/>
                <a:gd name="T5" fmla="*/ 7 h 195"/>
                <a:gd name="T6" fmla="*/ 0 w 153"/>
                <a:gd name="T7" fmla="*/ 195 h 195"/>
                <a:gd name="T8" fmla="*/ 153 w 153"/>
                <a:gd name="T9" fmla="*/ 195 h 195"/>
                <a:gd name="T10" fmla="*/ 153 w 153"/>
                <a:gd name="T11" fmla="*/ 39 h 195"/>
                <a:gd name="T12" fmla="*/ 115 w 153"/>
                <a:gd name="T13" fmla="*/ 0 h 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3" h="195">
                  <a:moveTo>
                    <a:pt x="115" y="0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3" y="0"/>
                    <a:pt x="0" y="3"/>
                    <a:pt x="0" y="7"/>
                  </a:cubicBezTo>
                  <a:cubicBezTo>
                    <a:pt x="0" y="195"/>
                    <a:pt x="0" y="195"/>
                    <a:pt x="0" y="195"/>
                  </a:cubicBezTo>
                  <a:cubicBezTo>
                    <a:pt x="153" y="195"/>
                    <a:pt x="153" y="195"/>
                    <a:pt x="153" y="195"/>
                  </a:cubicBezTo>
                  <a:cubicBezTo>
                    <a:pt x="153" y="39"/>
                    <a:pt x="153" y="39"/>
                    <a:pt x="153" y="39"/>
                  </a:cubicBezTo>
                  <a:lnTo>
                    <a:pt x="11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>
                <a:solidFill>
                  <a:srgbClr val="494D68"/>
                </a:solidFill>
              </a:endParaRPr>
            </a:p>
          </p:txBody>
        </p:sp>
        <p:sp>
          <p:nvSpPr>
            <p:cNvPr id="86" name="Freeform 79">
              <a:extLst>
                <a:ext uri="{FF2B5EF4-FFF2-40B4-BE49-F238E27FC236}">
                  <a16:creationId xmlns:a16="http://schemas.microsoft.com/office/drawing/2014/main" id="{8D1CA8E7-C42E-19D6-7E56-B8025656D52E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1700" y="2247901"/>
              <a:ext cx="142875" cy="147638"/>
            </a:xfrm>
            <a:custGeom>
              <a:avLst/>
              <a:gdLst>
                <a:gd name="T0" fmla="*/ 0 w 90"/>
                <a:gd name="T1" fmla="*/ 0 h 93"/>
                <a:gd name="T2" fmla="*/ 0 w 90"/>
                <a:gd name="T3" fmla="*/ 93 h 93"/>
                <a:gd name="T4" fmla="*/ 90 w 90"/>
                <a:gd name="T5" fmla="*/ 93 h 93"/>
                <a:gd name="T6" fmla="*/ 0 w 90"/>
                <a:gd name="T7" fmla="*/ 0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0" h="93">
                  <a:moveTo>
                    <a:pt x="0" y="0"/>
                  </a:moveTo>
                  <a:lnTo>
                    <a:pt x="0" y="93"/>
                  </a:lnTo>
                  <a:lnTo>
                    <a:pt x="90" y="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2E4E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>
                <a:solidFill>
                  <a:srgbClr val="494D68"/>
                </a:solidFill>
              </a:endParaRPr>
            </a:p>
          </p:txBody>
        </p:sp>
        <p:sp>
          <p:nvSpPr>
            <p:cNvPr id="87" name="Freeform 80">
              <a:extLst>
                <a:ext uri="{FF2B5EF4-FFF2-40B4-BE49-F238E27FC236}">
                  <a16:creationId xmlns:a16="http://schemas.microsoft.com/office/drawing/2014/main" id="{006A1DC0-1687-6AD8-CC1F-DE2D87561D75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0388" y="2419351"/>
              <a:ext cx="242888" cy="22225"/>
            </a:xfrm>
            <a:custGeom>
              <a:avLst/>
              <a:gdLst>
                <a:gd name="T0" fmla="*/ 64 w 64"/>
                <a:gd name="T1" fmla="*/ 3 h 6"/>
                <a:gd name="T2" fmla="*/ 61 w 64"/>
                <a:gd name="T3" fmla="*/ 6 h 6"/>
                <a:gd name="T4" fmla="*/ 4 w 64"/>
                <a:gd name="T5" fmla="*/ 6 h 6"/>
                <a:gd name="T6" fmla="*/ 0 w 64"/>
                <a:gd name="T7" fmla="*/ 3 h 6"/>
                <a:gd name="T8" fmla="*/ 4 w 64"/>
                <a:gd name="T9" fmla="*/ 0 h 6"/>
                <a:gd name="T10" fmla="*/ 61 w 64"/>
                <a:gd name="T11" fmla="*/ 0 h 6"/>
                <a:gd name="T12" fmla="*/ 64 w 64"/>
                <a:gd name="T13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4" h="6">
                  <a:moveTo>
                    <a:pt x="64" y="3"/>
                  </a:moveTo>
                  <a:cubicBezTo>
                    <a:pt x="64" y="5"/>
                    <a:pt x="63" y="6"/>
                    <a:pt x="61" y="6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2" y="6"/>
                    <a:pt x="0" y="5"/>
                    <a:pt x="0" y="3"/>
                  </a:cubicBezTo>
                  <a:cubicBezTo>
                    <a:pt x="0" y="1"/>
                    <a:pt x="2" y="0"/>
                    <a:pt x="4" y="0"/>
                  </a:cubicBezTo>
                  <a:cubicBezTo>
                    <a:pt x="61" y="0"/>
                    <a:pt x="61" y="0"/>
                    <a:pt x="61" y="0"/>
                  </a:cubicBezTo>
                  <a:cubicBezTo>
                    <a:pt x="63" y="0"/>
                    <a:pt x="64" y="1"/>
                    <a:pt x="64" y="3"/>
                  </a:cubicBezTo>
                  <a:close/>
                </a:path>
              </a:pathLst>
            </a:custGeom>
            <a:solidFill>
              <a:srgbClr val="E2E4E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>
                <a:solidFill>
                  <a:srgbClr val="494D68"/>
                </a:solidFill>
              </a:endParaRPr>
            </a:p>
          </p:txBody>
        </p:sp>
        <p:sp>
          <p:nvSpPr>
            <p:cNvPr id="88" name="Freeform 81">
              <a:extLst>
                <a:ext uri="{FF2B5EF4-FFF2-40B4-BE49-F238E27FC236}">
                  <a16:creationId xmlns:a16="http://schemas.microsoft.com/office/drawing/2014/main" id="{63E0E16B-ED02-5A73-7484-F00CD38F7257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0388" y="2516188"/>
              <a:ext cx="390525" cy="23813"/>
            </a:xfrm>
            <a:custGeom>
              <a:avLst/>
              <a:gdLst>
                <a:gd name="T0" fmla="*/ 103 w 103"/>
                <a:gd name="T1" fmla="*/ 3 h 6"/>
                <a:gd name="T2" fmla="*/ 100 w 103"/>
                <a:gd name="T3" fmla="*/ 6 h 6"/>
                <a:gd name="T4" fmla="*/ 4 w 103"/>
                <a:gd name="T5" fmla="*/ 6 h 6"/>
                <a:gd name="T6" fmla="*/ 0 w 103"/>
                <a:gd name="T7" fmla="*/ 3 h 6"/>
                <a:gd name="T8" fmla="*/ 4 w 103"/>
                <a:gd name="T9" fmla="*/ 0 h 6"/>
                <a:gd name="T10" fmla="*/ 100 w 103"/>
                <a:gd name="T11" fmla="*/ 0 h 6"/>
                <a:gd name="T12" fmla="*/ 103 w 103"/>
                <a:gd name="T13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3" h="6">
                  <a:moveTo>
                    <a:pt x="103" y="3"/>
                  </a:moveTo>
                  <a:cubicBezTo>
                    <a:pt x="103" y="5"/>
                    <a:pt x="101" y="6"/>
                    <a:pt x="100" y="6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2" y="6"/>
                    <a:pt x="0" y="5"/>
                    <a:pt x="0" y="3"/>
                  </a:cubicBezTo>
                  <a:cubicBezTo>
                    <a:pt x="0" y="1"/>
                    <a:pt x="2" y="0"/>
                    <a:pt x="4" y="0"/>
                  </a:cubicBezTo>
                  <a:cubicBezTo>
                    <a:pt x="100" y="0"/>
                    <a:pt x="100" y="0"/>
                    <a:pt x="100" y="0"/>
                  </a:cubicBezTo>
                  <a:cubicBezTo>
                    <a:pt x="101" y="0"/>
                    <a:pt x="103" y="1"/>
                    <a:pt x="103" y="3"/>
                  </a:cubicBezTo>
                  <a:close/>
                </a:path>
              </a:pathLst>
            </a:custGeom>
            <a:solidFill>
              <a:srgbClr val="E2E4E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>
                <a:solidFill>
                  <a:srgbClr val="494D68"/>
                </a:solidFill>
              </a:endParaRPr>
            </a:p>
          </p:txBody>
        </p:sp>
        <p:sp>
          <p:nvSpPr>
            <p:cNvPr id="89" name="Freeform 82">
              <a:extLst>
                <a:ext uri="{FF2B5EF4-FFF2-40B4-BE49-F238E27FC236}">
                  <a16:creationId xmlns:a16="http://schemas.microsoft.com/office/drawing/2014/main" id="{CEF9BC15-17FD-B294-57B8-16A713A4716D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0388" y="2611438"/>
              <a:ext cx="390525" cy="26988"/>
            </a:xfrm>
            <a:custGeom>
              <a:avLst/>
              <a:gdLst>
                <a:gd name="T0" fmla="*/ 103 w 103"/>
                <a:gd name="T1" fmla="*/ 3 h 7"/>
                <a:gd name="T2" fmla="*/ 100 w 103"/>
                <a:gd name="T3" fmla="*/ 7 h 7"/>
                <a:gd name="T4" fmla="*/ 4 w 103"/>
                <a:gd name="T5" fmla="*/ 7 h 7"/>
                <a:gd name="T6" fmla="*/ 0 w 103"/>
                <a:gd name="T7" fmla="*/ 3 h 7"/>
                <a:gd name="T8" fmla="*/ 4 w 103"/>
                <a:gd name="T9" fmla="*/ 0 h 7"/>
                <a:gd name="T10" fmla="*/ 100 w 103"/>
                <a:gd name="T11" fmla="*/ 0 h 7"/>
                <a:gd name="T12" fmla="*/ 103 w 103"/>
                <a:gd name="T13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3" h="7">
                  <a:moveTo>
                    <a:pt x="103" y="3"/>
                  </a:moveTo>
                  <a:cubicBezTo>
                    <a:pt x="103" y="5"/>
                    <a:pt x="101" y="7"/>
                    <a:pt x="100" y="7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2" y="7"/>
                    <a:pt x="0" y="5"/>
                    <a:pt x="0" y="3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100" y="0"/>
                    <a:pt x="100" y="0"/>
                    <a:pt x="100" y="0"/>
                  </a:cubicBezTo>
                  <a:cubicBezTo>
                    <a:pt x="101" y="0"/>
                    <a:pt x="103" y="2"/>
                    <a:pt x="103" y="3"/>
                  </a:cubicBezTo>
                  <a:close/>
                </a:path>
              </a:pathLst>
            </a:custGeom>
            <a:solidFill>
              <a:srgbClr val="E2E4E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>
                <a:solidFill>
                  <a:srgbClr val="494D68"/>
                </a:solidFill>
              </a:endParaRPr>
            </a:p>
          </p:txBody>
        </p:sp>
        <p:sp>
          <p:nvSpPr>
            <p:cNvPr id="90" name="Freeform 83">
              <a:extLst>
                <a:ext uri="{FF2B5EF4-FFF2-40B4-BE49-F238E27FC236}">
                  <a16:creationId xmlns:a16="http://schemas.microsoft.com/office/drawing/2014/main" id="{23798E88-9B58-3E20-6E42-7EA85AE02D9D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0388" y="2709863"/>
              <a:ext cx="390525" cy="22225"/>
            </a:xfrm>
            <a:custGeom>
              <a:avLst/>
              <a:gdLst>
                <a:gd name="T0" fmla="*/ 103 w 103"/>
                <a:gd name="T1" fmla="*/ 3 h 6"/>
                <a:gd name="T2" fmla="*/ 100 w 103"/>
                <a:gd name="T3" fmla="*/ 6 h 6"/>
                <a:gd name="T4" fmla="*/ 4 w 103"/>
                <a:gd name="T5" fmla="*/ 6 h 6"/>
                <a:gd name="T6" fmla="*/ 0 w 103"/>
                <a:gd name="T7" fmla="*/ 3 h 6"/>
                <a:gd name="T8" fmla="*/ 4 w 103"/>
                <a:gd name="T9" fmla="*/ 0 h 6"/>
                <a:gd name="T10" fmla="*/ 100 w 103"/>
                <a:gd name="T11" fmla="*/ 0 h 6"/>
                <a:gd name="T12" fmla="*/ 103 w 103"/>
                <a:gd name="T13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3" h="6">
                  <a:moveTo>
                    <a:pt x="103" y="3"/>
                  </a:moveTo>
                  <a:cubicBezTo>
                    <a:pt x="103" y="5"/>
                    <a:pt x="101" y="6"/>
                    <a:pt x="100" y="6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2" y="6"/>
                    <a:pt x="0" y="5"/>
                    <a:pt x="0" y="3"/>
                  </a:cubicBezTo>
                  <a:cubicBezTo>
                    <a:pt x="0" y="1"/>
                    <a:pt x="2" y="0"/>
                    <a:pt x="4" y="0"/>
                  </a:cubicBezTo>
                  <a:cubicBezTo>
                    <a:pt x="100" y="0"/>
                    <a:pt x="100" y="0"/>
                    <a:pt x="100" y="0"/>
                  </a:cubicBezTo>
                  <a:cubicBezTo>
                    <a:pt x="101" y="0"/>
                    <a:pt x="103" y="1"/>
                    <a:pt x="103" y="3"/>
                  </a:cubicBezTo>
                  <a:close/>
                </a:path>
              </a:pathLst>
            </a:custGeom>
            <a:solidFill>
              <a:srgbClr val="E2E4E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>
                <a:solidFill>
                  <a:srgbClr val="494D68"/>
                </a:solidFill>
              </a:endParaRPr>
            </a:p>
          </p:txBody>
        </p:sp>
        <p:sp>
          <p:nvSpPr>
            <p:cNvPr id="91" name="Freeform 84">
              <a:extLst>
                <a:ext uri="{FF2B5EF4-FFF2-40B4-BE49-F238E27FC236}">
                  <a16:creationId xmlns:a16="http://schemas.microsoft.com/office/drawing/2014/main" id="{E31C170B-48A2-761A-A304-6C8391C39F1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5113" y="2338388"/>
              <a:ext cx="530225" cy="530225"/>
            </a:xfrm>
            <a:custGeom>
              <a:avLst/>
              <a:gdLst>
                <a:gd name="T0" fmla="*/ 131 w 140"/>
                <a:gd name="T1" fmla="*/ 90 h 140"/>
                <a:gd name="T2" fmla="*/ 51 w 140"/>
                <a:gd name="T3" fmla="*/ 11 h 140"/>
                <a:gd name="T4" fmla="*/ 49 w 140"/>
                <a:gd name="T5" fmla="*/ 9 h 140"/>
                <a:gd name="T6" fmla="*/ 11 w 140"/>
                <a:gd name="T7" fmla="*/ 11 h 140"/>
                <a:gd name="T8" fmla="*/ 11 w 140"/>
                <a:gd name="T9" fmla="*/ 11 h 140"/>
                <a:gd name="T10" fmla="*/ 9 w 140"/>
                <a:gd name="T11" fmla="*/ 49 h 140"/>
                <a:gd name="T12" fmla="*/ 11 w 140"/>
                <a:gd name="T13" fmla="*/ 52 h 140"/>
                <a:gd name="T14" fmla="*/ 90 w 140"/>
                <a:gd name="T15" fmla="*/ 131 h 140"/>
                <a:gd name="T16" fmla="*/ 122 w 140"/>
                <a:gd name="T17" fmla="*/ 140 h 140"/>
                <a:gd name="T18" fmla="*/ 129 w 140"/>
                <a:gd name="T19" fmla="*/ 129 h 140"/>
                <a:gd name="T20" fmla="*/ 140 w 140"/>
                <a:gd name="T21" fmla="*/ 122 h 140"/>
                <a:gd name="T22" fmla="*/ 131 w 140"/>
                <a:gd name="T23" fmla="*/ 90 h 1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40" h="140">
                  <a:moveTo>
                    <a:pt x="131" y="90"/>
                  </a:moveTo>
                  <a:cubicBezTo>
                    <a:pt x="51" y="11"/>
                    <a:pt x="51" y="11"/>
                    <a:pt x="51" y="11"/>
                  </a:cubicBezTo>
                  <a:cubicBezTo>
                    <a:pt x="51" y="10"/>
                    <a:pt x="50" y="10"/>
                    <a:pt x="49" y="9"/>
                  </a:cubicBezTo>
                  <a:cubicBezTo>
                    <a:pt x="38" y="0"/>
                    <a:pt x="22" y="0"/>
                    <a:pt x="11" y="11"/>
                  </a:cubicBezTo>
                  <a:cubicBezTo>
                    <a:pt x="11" y="11"/>
                    <a:pt x="11" y="11"/>
                    <a:pt x="11" y="11"/>
                  </a:cubicBezTo>
                  <a:cubicBezTo>
                    <a:pt x="0" y="22"/>
                    <a:pt x="0" y="38"/>
                    <a:pt x="9" y="49"/>
                  </a:cubicBezTo>
                  <a:cubicBezTo>
                    <a:pt x="9" y="50"/>
                    <a:pt x="10" y="51"/>
                    <a:pt x="11" y="52"/>
                  </a:cubicBezTo>
                  <a:cubicBezTo>
                    <a:pt x="90" y="131"/>
                    <a:pt x="90" y="131"/>
                    <a:pt x="90" y="131"/>
                  </a:cubicBezTo>
                  <a:cubicBezTo>
                    <a:pt x="122" y="140"/>
                    <a:pt x="122" y="140"/>
                    <a:pt x="122" y="140"/>
                  </a:cubicBezTo>
                  <a:cubicBezTo>
                    <a:pt x="123" y="136"/>
                    <a:pt x="125" y="132"/>
                    <a:pt x="129" y="129"/>
                  </a:cubicBezTo>
                  <a:cubicBezTo>
                    <a:pt x="132" y="126"/>
                    <a:pt x="136" y="123"/>
                    <a:pt x="140" y="122"/>
                  </a:cubicBezTo>
                  <a:lnTo>
                    <a:pt x="131" y="90"/>
                  </a:lnTo>
                  <a:close/>
                </a:path>
              </a:pathLst>
            </a:custGeom>
            <a:solidFill>
              <a:srgbClr val="F4D0A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>
                <a:solidFill>
                  <a:srgbClr val="494D68"/>
                </a:solidFill>
              </a:endParaRPr>
            </a:p>
          </p:txBody>
        </p:sp>
        <p:sp>
          <p:nvSpPr>
            <p:cNvPr id="92" name="Freeform 85">
              <a:extLst>
                <a:ext uri="{FF2B5EF4-FFF2-40B4-BE49-F238E27FC236}">
                  <a16:creationId xmlns:a16="http://schemas.microsoft.com/office/drawing/2014/main" id="{DAABCE0C-5A30-E34E-F4FA-2FBD2A12D709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5113" y="2338388"/>
              <a:ext cx="185738" cy="185738"/>
            </a:xfrm>
            <a:custGeom>
              <a:avLst/>
              <a:gdLst>
                <a:gd name="T0" fmla="*/ 49 w 49"/>
                <a:gd name="T1" fmla="*/ 9 h 49"/>
                <a:gd name="T2" fmla="*/ 9 w 49"/>
                <a:gd name="T3" fmla="*/ 49 h 49"/>
                <a:gd name="T4" fmla="*/ 11 w 49"/>
                <a:gd name="T5" fmla="*/ 11 h 49"/>
                <a:gd name="T6" fmla="*/ 11 w 49"/>
                <a:gd name="T7" fmla="*/ 11 h 49"/>
                <a:gd name="T8" fmla="*/ 49 w 49"/>
                <a:gd name="T9" fmla="*/ 9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9" h="49">
                  <a:moveTo>
                    <a:pt x="49" y="9"/>
                  </a:moveTo>
                  <a:cubicBezTo>
                    <a:pt x="9" y="49"/>
                    <a:pt x="9" y="49"/>
                    <a:pt x="9" y="49"/>
                  </a:cubicBezTo>
                  <a:cubicBezTo>
                    <a:pt x="0" y="38"/>
                    <a:pt x="0" y="22"/>
                    <a:pt x="11" y="11"/>
                  </a:cubicBezTo>
                  <a:cubicBezTo>
                    <a:pt x="11" y="11"/>
                    <a:pt x="11" y="11"/>
                    <a:pt x="11" y="11"/>
                  </a:cubicBezTo>
                  <a:cubicBezTo>
                    <a:pt x="22" y="0"/>
                    <a:pt x="38" y="0"/>
                    <a:pt x="49" y="9"/>
                  </a:cubicBezTo>
                  <a:close/>
                </a:path>
              </a:pathLst>
            </a:custGeom>
            <a:solidFill>
              <a:srgbClr val="F7B4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>
                <a:solidFill>
                  <a:srgbClr val="494D68"/>
                </a:solidFill>
              </a:endParaRPr>
            </a:p>
          </p:txBody>
        </p:sp>
        <p:sp>
          <p:nvSpPr>
            <p:cNvPr id="93" name="Freeform 86">
              <a:extLst>
                <a:ext uri="{FF2B5EF4-FFF2-40B4-BE49-F238E27FC236}">
                  <a16:creationId xmlns:a16="http://schemas.microsoft.com/office/drawing/2014/main" id="{40B8A4AD-CF7A-3FD2-E75E-6DD9AE92F930}"/>
                </a:ext>
              </a:extLst>
            </p:cNvPr>
            <p:cNvSpPr>
              <a:spLocks/>
            </p:cNvSpPr>
            <p:nvPr/>
          </p:nvSpPr>
          <p:spPr bwMode="auto">
            <a:xfrm>
              <a:off x="3267075" y="2800351"/>
              <a:ext cx="90488" cy="90488"/>
            </a:xfrm>
            <a:custGeom>
              <a:avLst/>
              <a:gdLst>
                <a:gd name="T0" fmla="*/ 18 w 24"/>
                <a:gd name="T1" fmla="*/ 0 h 24"/>
                <a:gd name="T2" fmla="*/ 24 w 24"/>
                <a:gd name="T3" fmla="*/ 21 h 24"/>
                <a:gd name="T4" fmla="*/ 20 w 24"/>
                <a:gd name="T5" fmla="*/ 24 h 24"/>
                <a:gd name="T6" fmla="*/ 0 w 24"/>
                <a:gd name="T7" fmla="*/ 18 h 24"/>
                <a:gd name="T8" fmla="*/ 7 w 24"/>
                <a:gd name="T9" fmla="*/ 7 h 24"/>
                <a:gd name="T10" fmla="*/ 18 w 24"/>
                <a:gd name="T11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" h="24">
                  <a:moveTo>
                    <a:pt x="18" y="0"/>
                  </a:moveTo>
                  <a:cubicBezTo>
                    <a:pt x="24" y="21"/>
                    <a:pt x="24" y="21"/>
                    <a:pt x="24" y="21"/>
                  </a:cubicBezTo>
                  <a:cubicBezTo>
                    <a:pt x="24" y="23"/>
                    <a:pt x="22" y="24"/>
                    <a:pt x="20" y="24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1" y="14"/>
                    <a:pt x="3" y="10"/>
                    <a:pt x="7" y="7"/>
                  </a:cubicBezTo>
                  <a:cubicBezTo>
                    <a:pt x="10" y="4"/>
                    <a:pt x="14" y="1"/>
                    <a:pt x="18" y="0"/>
                  </a:cubicBezTo>
                  <a:close/>
                </a:path>
              </a:pathLst>
            </a:custGeom>
            <a:solidFill>
              <a:srgbClr val="3E3E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>
                <a:solidFill>
                  <a:srgbClr val="494D68"/>
                </a:solidFill>
              </a:endParaRPr>
            </a:p>
          </p:txBody>
        </p:sp>
        <p:sp>
          <p:nvSpPr>
            <p:cNvPr id="94" name="Freeform 87">
              <a:extLst>
                <a:ext uri="{FF2B5EF4-FFF2-40B4-BE49-F238E27FC236}">
                  <a16:creationId xmlns:a16="http://schemas.microsoft.com/office/drawing/2014/main" id="{8C870707-F156-8795-7486-42CCBDB09887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7025" y="2403476"/>
              <a:ext cx="434975" cy="427038"/>
            </a:xfrm>
            <a:custGeom>
              <a:avLst/>
              <a:gdLst>
                <a:gd name="T0" fmla="*/ 114 w 115"/>
                <a:gd name="T1" fmla="*/ 73 h 113"/>
                <a:gd name="T2" fmla="*/ 41 w 115"/>
                <a:gd name="T3" fmla="*/ 0 h 113"/>
                <a:gd name="T4" fmla="*/ 0 w 115"/>
                <a:gd name="T5" fmla="*/ 40 h 113"/>
                <a:gd name="T6" fmla="*/ 0 w 115"/>
                <a:gd name="T7" fmla="*/ 40 h 113"/>
                <a:gd name="T8" fmla="*/ 73 w 115"/>
                <a:gd name="T9" fmla="*/ 113 h 113"/>
                <a:gd name="T10" fmla="*/ 73 w 115"/>
                <a:gd name="T11" fmla="*/ 113 h 113"/>
                <a:gd name="T12" fmla="*/ 76 w 115"/>
                <a:gd name="T13" fmla="*/ 95 h 113"/>
                <a:gd name="T14" fmla="*/ 94 w 115"/>
                <a:gd name="T15" fmla="*/ 94 h 113"/>
                <a:gd name="T16" fmla="*/ 94 w 115"/>
                <a:gd name="T17" fmla="*/ 93 h 113"/>
                <a:gd name="T18" fmla="*/ 94 w 115"/>
                <a:gd name="T19" fmla="*/ 93 h 113"/>
                <a:gd name="T20" fmla="*/ 96 w 115"/>
                <a:gd name="T21" fmla="*/ 74 h 113"/>
                <a:gd name="T22" fmla="*/ 114 w 115"/>
                <a:gd name="T23" fmla="*/ 73 h 113"/>
                <a:gd name="T24" fmla="*/ 114 w 115"/>
                <a:gd name="T25" fmla="*/ 73 h 113"/>
                <a:gd name="T26" fmla="*/ 114 w 115"/>
                <a:gd name="T27" fmla="*/ 73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15" h="113">
                  <a:moveTo>
                    <a:pt x="114" y="73"/>
                  </a:moveTo>
                  <a:cubicBezTo>
                    <a:pt x="108" y="67"/>
                    <a:pt x="41" y="0"/>
                    <a:pt x="41" y="0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0" y="40"/>
                    <a:pt x="64" y="104"/>
                    <a:pt x="73" y="113"/>
                  </a:cubicBezTo>
                  <a:cubicBezTo>
                    <a:pt x="73" y="113"/>
                    <a:pt x="73" y="113"/>
                    <a:pt x="73" y="113"/>
                  </a:cubicBezTo>
                  <a:cubicBezTo>
                    <a:pt x="70" y="108"/>
                    <a:pt x="71" y="100"/>
                    <a:pt x="76" y="95"/>
                  </a:cubicBezTo>
                  <a:cubicBezTo>
                    <a:pt x="81" y="90"/>
                    <a:pt x="89" y="90"/>
                    <a:pt x="94" y="94"/>
                  </a:cubicBezTo>
                  <a:cubicBezTo>
                    <a:pt x="94" y="94"/>
                    <a:pt x="94" y="94"/>
                    <a:pt x="94" y="93"/>
                  </a:cubicBezTo>
                  <a:cubicBezTo>
                    <a:pt x="94" y="93"/>
                    <a:pt x="94" y="93"/>
                    <a:pt x="94" y="93"/>
                  </a:cubicBezTo>
                  <a:cubicBezTo>
                    <a:pt x="90" y="88"/>
                    <a:pt x="90" y="80"/>
                    <a:pt x="96" y="74"/>
                  </a:cubicBezTo>
                  <a:cubicBezTo>
                    <a:pt x="101" y="69"/>
                    <a:pt x="109" y="69"/>
                    <a:pt x="114" y="73"/>
                  </a:cubicBezTo>
                  <a:cubicBezTo>
                    <a:pt x="114" y="73"/>
                    <a:pt x="114" y="73"/>
                    <a:pt x="114" y="73"/>
                  </a:cubicBezTo>
                  <a:cubicBezTo>
                    <a:pt x="115" y="73"/>
                    <a:pt x="115" y="73"/>
                    <a:pt x="114" y="73"/>
                  </a:cubicBezTo>
                  <a:close/>
                </a:path>
              </a:pathLst>
            </a:custGeom>
            <a:solidFill>
              <a:srgbClr val="DF2C2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>
                <a:solidFill>
                  <a:srgbClr val="494D68"/>
                </a:solidFill>
              </a:endParaRPr>
            </a:p>
          </p:txBody>
        </p:sp>
        <p:sp>
          <p:nvSpPr>
            <p:cNvPr id="95" name="Freeform 88">
              <a:extLst>
                <a:ext uri="{FF2B5EF4-FFF2-40B4-BE49-F238E27FC236}">
                  <a16:creationId xmlns:a16="http://schemas.microsoft.com/office/drawing/2014/main" id="{F42FA376-38E4-9244-DAD2-A45689D0E30D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0038" y="2373313"/>
              <a:ext cx="180975" cy="180975"/>
            </a:xfrm>
            <a:custGeom>
              <a:avLst/>
              <a:gdLst>
                <a:gd name="T0" fmla="*/ 17 w 114"/>
                <a:gd name="T1" fmla="*/ 114 h 114"/>
                <a:gd name="T2" fmla="*/ 0 w 114"/>
                <a:gd name="T3" fmla="*/ 98 h 114"/>
                <a:gd name="T4" fmla="*/ 95 w 114"/>
                <a:gd name="T5" fmla="*/ 0 h 114"/>
                <a:gd name="T6" fmla="*/ 114 w 114"/>
                <a:gd name="T7" fmla="*/ 19 h 114"/>
                <a:gd name="T8" fmla="*/ 17 w 114"/>
                <a:gd name="T9" fmla="*/ 114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4" h="114">
                  <a:moveTo>
                    <a:pt x="17" y="114"/>
                  </a:moveTo>
                  <a:lnTo>
                    <a:pt x="0" y="98"/>
                  </a:lnTo>
                  <a:lnTo>
                    <a:pt x="95" y="0"/>
                  </a:lnTo>
                  <a:lnTo>
                    <a:pt x="114" y="19"/>
                  </a:lnTo>
                  <a:lnTo>
                    <a:pt x="17" y="114"/>
                  </a:lnTo>
                  <a:close/>
                </a:path>
              </a:pathLst>
            </a:custGeom>
            <a:solidFill>
              <a:srgbClr val="FACB1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>
                <a:solidFill>
                  <a:srgbClr val="494D68"/>
                </a:solidFill>
              </a:endParaRPr>
            </a:p>
          </p:txBody>
        </p:sp>
        <p:sp>
          <p:nvSpPr>
            <p:cNvPr id="96" name="Freeform 89">
              <a:extLst>
                <a:ext uri="{FF2B5EF4-FFF2-40B4-BE49-F238E27FC236}">
                  <a16:creationId xmlns:a16="http://schemas.microsoft.com/office/drawing/2014/main" id="{5CF7AF5D-DA9C-0F56-92E7-6B65C43C0955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7025" y="2479676"/>
              <a:ext cx="355600" cy="350838"/>
            </a:xfrm>
            <a:custGeom>
              <a:avLst/>
              <a:gdLst>
                <a:gd name="T0" fmla="*/ 0 w 94"/>
                <a:gd name="T1" fmla="*/ 20 h 93"/>
                <a:gd name="T2" fmla="*/ 73 w 94"/>
                <a:gd name="T3" fmla="*/ 93 h 93"/>
                <a:gd name="T4" fmla="*/ 73 w 94"/>
                <a:gd name="T5" fmla="*/ 93 h 93"/>
                <a:gd name="T6" fmla="*/ 76 w 94"/>
                <a:gd name="T7" fmla="*/ 75 h 93"/>
                <a:gd name="T8" fmla="*/ 94 w 94"/>
                <a:gd name="T9" fmla="*/ 74 h 93"/>
                <a:gd name="T10" fmla="*/ 94 w 94"/>
                <a:gd name="T11" fmla="*/ 73 h 93"/>
                <a:gd name="T12" fmla="*/ 21 w 94"/>
                <a:gd name="T13" fmla="*/ 0 h 93"/>
                <a:gd name="T14" fmla="*/ 0 w 94"/>
                <a:gd name="T15" fmla="*/ 20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4" h="93">
                  <a:moveTo>
                    <a:pt x="0" y="20"/>
                  </a:moveTo>
                  <a:cubicBezTo>
                    <a:pt x="0" y="20"/>
                    <a:pt x="64" y="84"/>
                    <a:pt x="73" y="93"/>
                  </a:cubicBezTo>
                  <a:cubicBezTo>
                    <a:pt x="73" y="93"/>
                    <a:pt x="73" y="93"/>
                    <a:pt x="73" y="93"/>
                  </a:cubicBezTo>
                  <a:cubicBezTo>
                    <a:pt x="70" y="88"/>
                    <a:pt x="71" y="80"/>
                    <a:pt x="76" y="75"/>
                  </a:cubicBezTo>
                  <a:cubicBezTo>
                    <a:pt x="81" y="70"/>
                    <a:pt x="89" y="70"/>
                    <a:pt x="94" y="74"/>
                  </a:cubicBezTo>
                  <a:cubicBezTo>
                    <a:pt x="94" y="74"/>
                    <a:pt x="94" y="73"/>
                    <a:pt x="94" y="73"/>
                  </a:cubicBezTo>
                  <a:cubicBezTo>
                    <a:pt x="21" y="0"/>
                    <a:pt x="21" y="0"/>
                    <a:pt x="21" y="0"/>
                  </a:cubicBezTo>
                  <a:lnTo>
                    <a:pt x="0" y="20"/>
                  </a:lnTo>
                  <a:close/>
                </a:path>
              </a:pathLst>
            </a:custGeom>
            <a:solidFill>
              <a:srgbClr val="FA565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>
                <a:solidFill>
                  <a:srgbClr val="494D68"/>
                </a:solidFill>
              </a:endParaRP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20771018-D429-C88D-943D-2813578F4CB3}"/>
              </a:ext>
            </a:extLst>
          </p:cNvPr>
          <p:cNvGrpSpPr/>
          <p:nvPr/>
        </p:nvGrpSpPr>
        <p:grpSpPr>
          <a:xfrm>
            <a:off x="7709744" y="3450619"/>
            <a:ext cx="298068" cy="298068"/>
            <a:chOff x="10375900" y="3867150"/>
            <a:chExt cx="773113" cy="773113"/>
          </a:xfrm>
          <a:effectLst>
            <a:outerShdw dist="38100" dir="2700000" algn="tl" rotWithShape="0">
              <a:prstClr val="black">
                <a:alpha val="20000"/>
              </a:prstClr>
            </a:outerShdw>
          </a:effectLst>
        </p:grpSpPr>
        <p:sp>
          <p:nvSpPr>
            <p:cNvPr id="82" name="Freeform 132">
              <a:extLst>
                <a:ext uri="{FF2B5EF4-FFF2-40B4-BE49-F238E27FC236}">
                  <a16:creationId xmlns:a16="http://schemas.microsoft.com/office/drawing/2014/main" id="{6FC3ED9E-CD63-295F-383E-28D62C6DA56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375900" y="3867150"/>
              <a:ext cx="773113" cy="773113"/>
            </a:xfrm>
            <a:custGeom>
              <a:avLst/>
              <a:gdLst>
                <a:gd name="T0" fmla="*/ 78 w 204"/>
                <a:gd name="T1" fmla="*/ 170 h 204"/>
                <a:gd name="T2" fmla="*/ 73 w 204"/>
                <a:gd name="T3" fmla="*/ 177 h 204"/>
                <a:gd name="T4" fmla="*/ 38 w 204"/>
                <a:gd name="T5" fmla="*/ 169 h 204"/>
                <a:gd name="T6" fmla="*/ 31 w 204"/>
                <a:gd name="T7" fmla="*/ 135 h 204"/>
                <a:gd name="T8" fmla="*/ 37 w 204"/>
                <a:gd name="T9" fmla="*/ 129 h 204"/>
                <a:gd name="T10" fmla="*/ 46 w 204"/>
                <a:gd name="T11" fmla="*/ 131 h 204"/>
                <a:gd name="T12" fmla="*/ 76 w 204"/>
                <a:gd name="T13" fmla="*/ 161 h 204"/>
                <a:gd name="T14" fmla="*/ 78 w 204"/>
                <a:gd name="T15" fmla="*/ 170 h 204"/>
                <a:gd name="T16" fmla="*/ 166 w 204"/>
                <a:gd name="T17" fmla="*/ 0 h 204"/>
                <a:gd name="T18" fmla="*/ 85 w 204"/>
                <a:gd name="T19" fmla="*/ 80 h 204"/>
                <a:gd name="T20" fmla="*/ 64 w 204"/>
                <a:gd name="T21" fmla="*/ 76 h 204"/>
                <a:gd name="T22" fmla="*/ 0 w 204"/>
                <a:gd name="T23" fmla="*/ 140 h 204"/>
                <a:gd name="T24" fmla="*/ 64 w 204"/>
                <a:gd name="T25" fmla="*/ 204 h 204"/>
                <a:gd name="T26" fmla="*/ 128 w 204"/>
                <a:gd name="T27" fmla="*/ 140 h 204"/>
                <a:gd name="T28" fmla="*/ 124 w 204"/>
                <a:gd name="T29" fmla="*/ 119 h 204"/>
                <a:gd name="T30" fmla="*/ 128 w 204"/>
                <a:gd name="T31" fmla="*/ 115 h 204"/>
                <a:gd name="T32" fmla="*/ 128 w 204"/>
                <a:gd name="T33" fmla="*/ 89 h 204"/>
                <a:gd name="T34" fmla="*/ 153 w 204"/>
                <a:gd name="T35" fmla="*/ 89 h 204"/>
                <a:gd name="T36" fmla="*/ 153 w 204"/>
                <a:gd name="T37" fmla="*/ 64 h 204"/>
                <a:gd name="T38" fmla="*/ 179 w 204"/>
                <a:gd name="T39" fmla="*/ 64 h 204"/>
                <a:gd name="T40" fmla="*/ 179 w 204"/>
                <a:gd name="T41" fmla="*/ 38 h 204"/>
                <a:gd name="T42" fmla="*/ 204 w 204"/>
                <a:gd name="T43" fmla="*/ 38 h 204"/>
                <a:gd name="T44" fmla="*/ 204 w 204"/>
                <a:gd name="T45" fmla="*/ 0 h 204"/>
                <a:gd name="T46" fmla="*/ 166 w 204"/>
                <a:gd name="T47" fmla="*/ 0 h 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04" h="204">
                  <a:moveTo>
                    <a:pt x="78" y="170"/>
                  </a:moveTo>
                  <a:cubicBezTo>
                    <a:pt x="78" y="173"/>
                    <a:pt x="76" y="175"/>
                    <a:pt x="73" y="177"/>
                  </a:cubicBezTo>
                  <a:cubicBezTo>
                    <a:pt x="61" y="181"/>
                    <a:pt x="47" y="179"/>
                    <a:pt x="38" y="169"/>
                  </a:cubicBezTo>
                  <a:cubicBezTo>
                    <a:pt x="29" y="160"/>
                    <a:pt x="26" y="146"/>
                    <a:pt x="31" y="135"/>
                  </a:cubicBezTo>
                  <a:cubicBezTo>
                    <a:pt x="32" y="132"/>
                    <a:pt x="34" y="130"/>
                    <a:pt x="37" y="129"/>
                  </a:cubicBezTo>
                  <a:cubicBezTo>
                    <a:pt x="40" y="128"/>
                    <a:pt x="44" y="129"/>
                    <a:pt x="46" y="131"/>
                  </a:cubicBezTo>
                  <a:cubicBezTo>
                    <a:pt x="76" y="161"/>
                    <a:pt x="76" y="161"/>
                    <a:pt x="76" y="161"/>
                  </a:cubicBezTo>
                  <a:cubicBezTo>
                    <a:pt x="78" y="164"/>
                    <a:pt x="79" y="167"/>
                    <a:pt x="78" y="170"/>
                  </a:cubicBezTo>
                  <a:close/>
                  <a:moveTo>
                    <a:pt x="166" y="0"/>
                  </a:moveTo>
                  <a:cubicBezTo>
                    <a:pt x="85" y="80"/>
                    <a:pt x="85" y="80"/>
                    <a:pt x="85" y="80"/>
                  </a:cubicBezTo>
                  <a:cubicBezTo>
                    <a:pt x="79" y="78"/>
                    <a:pt x="71" y="76"/>
                    <a:pt x="64" y="76"/>
                  </a:cubicBezTo>
                  <a:cubicBezTo>
                    <a:pt x="28" y="76"/>
                    <a:pt x="0" y="105"/>
                    <a:pt x="0" y="140"/>
                  </a:cubicBezTo>
                  <a:cubicBezTo>
                    <a:pt x="0" y="176"/>
                    <a:pt x="28" y="204"/>
                    <a:pt x="64" y="204"/>
                  </a:cubicBezTo>
                  <a:cubicBezTo>
                    <a:pt x="99" y="204"/>
                    <a:pt x="128" y="176"/>
                    <a:pt x="128" y="140"/>
                  </a:cubicBezTo>
                  <a:cubicBezTo>
                    <a:pt x="128" y="133"/>
                    <a:pt x="126" y="125"/>
                    <a:pt x="124" y="119"/>
                  </a:cubicBezTo>
                  <a:cubicBezTo>
                    <a:pt x="128" y="115"/>
                    <a:pt x="128" y="115"/>
                    <a:pt x="128" y="115"/>
                  </a:cubicBezTo>
                  <a:cubicBezTo>
                    <a:pt x="128" y="89"/>
                    <a:pt x="128" y="89"/>
                    <a:pt x="128" y="89"/>
                  </a:cubicBezTo>
                  <a:cubicBezTo>
                    <a:pt x="153" y="89"/>
                    <a:pt x="153" y="89"/>
                    <a:pt x="153" y="89"/>
                  </a:cubicBezTo>
                  <a:cubicBezTo>
                    <a:pt x="153" y="64"/>
                    <a:pt x="153" y="64"/>
                    <a:pt x="153" y="64"/>
                  </a:cubicBezTo>
                  <a:cubicBezTo>
                    <a:pt x="179" y="64"/>
                    <a:pt x="179" y="64"/>
                    <a:pt x="179" y="64"/>
                  </a:cubicBezTo>
                  <a:cubicBezTo>
                    <a:pt x="179" y="38"/>
                    <a:pt x="179" y="38"/>
                    <a:pt x="179" y="38"/>
                  </a:cubicBezTo>
                  <a:cubicBezTo>
                    <a:pt x="204" y="38"/>
                    <a:pt x="204" y="38"/>
                    <a:pt x="204" y="38"/>
                  </a:cubicBezTo>
                  <a:cubicBezTo>
                    <a:pt x="204" y="0"/>
                    <a:pt x="204" y="0"/>
                    <a:pt x="204" y="0"/>
                  </a:cubicBezTo>
                  <a:lnTo>
                    <a:pt x="166" y="0"/>
                  </a:lnTo>
                  <a:close/>
                </a:path>
              </a:pathLst>
            </a:custGeom>
            <a:solidFill>
              <a:srgbClr val="FACB1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>
                <a:solidFill>
                  <a:srgbClr val="494D68"/>
                </a:solidFill>
              </a:endParaRPr>
            </a:p>
          </p:txBody>
        </p:sp>
        <p:sp>
          <p:nvSpPr>
            <p:cNvPr id="83" name="Freeform 133">
              <a:extLst>
                <a:ext uri="{FF2B5EF4-FFF2-40B4-BE49-F238E27FC236}">
                  <a16:creationId xmlns:a16="http://schemas.microsoft.com/office/drawing/2014/main" id="{E697DC9B-AB72-51D4-EC0A-FF88C22851B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75900" y="3867150"/>
              <a:ext cx="773113" cy="708025"/>
            </a:xfrm>
            <a:custGeom>
              <a:avLst/>
              <a:gdLst>
                <a:gd name="T0" fmla="*/ 204 w 204"/>
                <a:gd name="T1" fmla="*/ 0 h 187"/>
                <a:gd name="T2" fmla="*/ 166 w 204"/>
                <a:gd name="T3" fmla="*/ 0 h 187"/>
                <a:gd name="T4" fmla="*/ 85 w 204"/>
                <a:gd name="T5" fmla="*/ 80 h 187"/>
                <a:gd name="T6" fmla="*/ 64 w 204"/>
                <a:gd name="T7" fmla="*/ 76 h 187"/>
                <a:gd name="T8" fmla="*/ 0 w 204"/>
                <a:gd name="T9" fmla="*/ 140 h 187"/>
                <a:gd name="T10" fmla="*/ 20 w 204"/>
                <a:gd name="T11" fmla="*/ 187 h 187"/>
                <a:gd name="T12" fmla="*/ 37 w 204"/>
                <a:gd name="T13" fmla="*/ 169 h 187"/>
                <a:gd name="T14" fmla="*/ 31 w 204"/>
                <a:gd name="T15" fmla="*/ 135 h 187"/>
                <a:gd name="T16" fmla="*/ 37 w 204"/>
                <a:gd name="T17" fmla="*/ 129 h 187"/>
                <a:gd name="T18" fmla="*/ 46 w 204"/>
                <a:gd name="T19" fmla="*/ 131 h 187"/>
                <a:gd name="T20" fmla="*/ 60 w 204"/>
                <a:gd name="T21" fmla="*/ 146 h 187"/>
                <a:gd name="T22" fmla="*/ 204 w 204"/>
                <a:gd name="T23" fmla="*/ 2 h 187"/>
                <a:gd name="T24" fmla="*/ 204 w 204"/>
                <a:gd name="T25" fmla="*/ 0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04" h="187">
                  <a:moveTo>
                    <a:pt x="204" y="0"/>
                  </a:moveTo>
                  <a:cubicBezTo>
                    <a:pt x="166" y="0"/>
                    <a:pt x="166" y="0"/>
                    <a:pt x="166" y="0"/>
                  </a:cubicBezTo>
                  <a:cubicBezTo>
                    <a:pt x="85" y="80"/>
                    <a:pt x="85" y="80"/>
                    <a:pt x="85" y="80"/>
                  </a:cubicBezTo>
                  <a:cubicBezTo>
                    <a:pt x="79" y="78"/>
                    <a:pt x="71" y="76"/>
                    <a:pt x="64" y="76"/>
                  </a:cubicBezTo>
                  <a:cubicBezTo>
                    <a:pt x="28" y="76"/>
                    <a:pt x="0" y="105"/>
                    <a:pt x="0" y="140"/>
                  </a:cubicBezTo>
                  <a:cubicBezTo>
                    <a:pt x="0" y="159"/>
                    <a:pt x="7" y="175"/>
                    <a:pt x="20" y="187"/>
                  </a:cubicBezTo>
                  <a:cubicBezTo>
                    <a:pt x="37" y="169"/>
                    <a:pt x="37" y="169"/>
                    <a:pt x="37" y="169"/>
                  </a:cubicBezTo>
                  <a:cubicBezTo>
                    <a:pt x="28" y="159"/>
                    <a:pt x="26" y="146"/>
                    <a:pt x="31" y="135"/>
                  </a:cubicBezTo>
                  <a:cubicBezTo>
                    <a:pt x="32" y="132"/>
                    <a:pt x="34" y="130"/>
                    <a:pt x="37" y="129"/>
                  </a:cubicBezTo>
                  <a:cubicBezTo>
                    <a:pt x="40" y="128"/>
                    <a:pt x="44" y="129"/>
                    <a:pt x="46" y="131"/>
                  </a:cubicBezTo>
                  <a:cubicBezTo>
                    <a:pt x="60" y="146"/>
                    <a:pt x="60" y="146"/>
                    <a:pt x="60" y="146"/>
                  </a:cubicBezTo>
                  <a:cubicBezTo>
                    <a:pt x="204" y="2"/>
                    <a:pt x="204" y="2"/>
                    <a:pt x="204" y="2"/>
                  </a:cubicBezTo>
                  <a:lnTo>
                    <a:pt x="204" y="0"/>
                  </a:lnTo>
                  <a:close/>
                </a:path>
              </a:pathLst>
            </a:custGeom>
            <a:solidFill>
              <a:srgbClr val="FBE1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>
                <a:solidFill>
                  <a:srgbClr val="494D68"/>
                </a:solidFill>
              </a:endParaRPr>
            </a:p>
          </p:txBody>
        </p:sp>
        <p:sp>
          <p:nvSpPr>
            <p:cNvPr id="84" name="Freeform 134">
              <a:extLst>
                <a:ext uri="{FF2B5EF4-FFF2-40B4-BE49-F238E27FC236}">
                  <a16:creationId xmlns:a16="http://schemas.microsoft.com/office/drawing/2014/main" id="{E7DE4257-8CFF-2B7E-F61E-925B6727D9D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55313" y="3889375"/>
              <a:ext cx="322263" cy="300038"/>
            </a:xfrm>
            <a:custGeom>
              <a:avLst/>
              <a:gdLst>
                <a:gd name="T0" fmla="*/ 2 w 85"/>
                <a:gd name="T1" fmla="*/ 77 h 79"/>
                <a:gd name="T2" fmla="*/ 2 w 85"/>
                <a:gd name="T3" fmla="*/ 70 h 79"/>
                <a:gd name="T4" fmla="*/ 72 w 85"/>
                <a:gd name="T5" fmla="*/ 0 h 79"/>
                <a:gd name="T6" fmla="*/ 85 w 85"/>
                <a:gd name="T7" fmla="*/ 0 h 79"/>
                <a:gd name="T8" fmla="*/ 8 w 85"/>
                <a:gd name="T9" fmla="*/ 77 h 79"/>
                <a:gd name="T10" fmla="*/ 2 w 85"/>
                <a:gd name="T11" fmla="*/ 77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5" h="79">
                  <a:moveTo>
                    <a:pt x="2" y="77"/>
                  </a:moveTo>
                  <a:cubicBezTo>
                    <a:pt x="0" y="75"/>
                    <a:pt x="0" y="72"/>
                    <a:pt x="2" y="70"/>
                  </a:cubicBezTo>
                  <a:cubicBezTo>
                    <a:pt x="72" y="0"/>
                    <a:pt x="72" y="0"/>
                    <a:pt x="72" y="0"/>
                  </a:cubicBezTo>
                  <a:cubicBezTo>
                    <a:pt x="85" y="0"/>
                    <a:pt x="85" y="0"/>
                    <a:pt x="85" y="0"/>
                  </a:cubicBezTo>
                  <a:cubicBezTo>
                    <a:pt x="8" y="77"/>
                    <a:pt x="8" y="77"/>
                    <a:pt x="8" y="77"/>
                  </a:cubicBezTo>
                  <a:cubicBezTo>
                    <a:pt x="7" y="79"/>
                    <a:pt x="4" y="79"/>
                    <a:pt x="2" y="77"/>
                  </a:cubicBezTo>
                  <a:close/>
                </a:path>
              </a:pathLst>
            </a:custGeom>
            <a:solidFill>
              <a:srgbClr val="F3B60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>
                <a:solidFill>
                  <a:srgbClr val="494D68"/>
                </a:solidFill>
              </a:endParaRP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61C0E01C-CD0F-8600-251C-67587382A09C}"/>
              </a:ext>
            </a:extLst>
          </p:cNvPr>
          <p:cNvGrpSpPr/>
          <p:nvPr/>
        </p:nvGrpSpPr>
        <p:grpSpPr>
          <a:xfrm>
            <a:off x="6976836" y="2062663"/>
            <a:ext cx="300515" cy="300517"/>
            <a:chOff x="10369550" y="5518150"/>
            <a:chExt cx="779463" cy="779463"/>
          </a:xfrm>
          <a:effectLst>
            <a:outerShdw dist="38100" dir="2700000" algn="tl" rotWithShape="0">
              <a:prstClr val="black">
                <a:alpha val="20000"/>
              </a:prstClr>
            </a:outerShdw>
          </a:effectLst>
        </p:grpSpPr>
        <p:sp>
          <p:nvSpPr>
            <p:cNvPr id="77" name="Freeform 231">
              <a:extLst>
                <a:ext uri="{FF2B5EF4-FFF2-40B4-BE49-F238E27FC236}">
                  <a16:creationId xmlns:a16="http://schemas.microsoft.com/office/drawing/2014/main" id="{2609780D-6646-F926-1188-027FB47B0BC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69550" y="5956300"/>
              <a:ext cx="336550" cy="341313"/>
            </a:xfrm>
            <a:custGeom>
              <a:avLst/>
              <a:gdLst>
                <a:gd name="T0" fmla="*/ 89 w 89"/>
                <a:gd name="T1" fmla="*/ 26 h 90"/>
                <a:gd name="T2" fmla="*/ 33 w 89"/>
                <a:gd name="T3" fmla="*/ 83 h 90"/>
                <a:gd name="T4" fmla="*/ 7 w 89"/>
                <a:gd name="T5" fmla="*/ 83 h 90"/>
                <a:gd name="T6" fmla="*/ 7 w 89"/>
                <a:gd name="T7" fmla="*/ 57 h 90"/>
                <a:gd name="T8" fmla="*/ 64 w 89"/>
                <a:gd name="T9" fmla="*/ 0 h 90"/>
                <a:gd name="T10" fmla="*/ 89 w 89"/>
                <a:gd name="T11" fmla="*/ 26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9" h="90">
                  <a:moveTo>
                    <a:pt x="89" y="26"/>
                  </a:moveTo>
                  <a:cubicBezTo>
                    <a:pt x="33" y="83"/>
                    <a:pt x="33" y="83"/>
                    <a:pt x="33" y="83"/>
                  </a:cubicBezTo>
                  <a:cubicBezTo>
                    <a:pt x="25" y="90"/>
                    <a:pt x="14" y="90"/>
                    <a:pt x="7" y="83"/>
                  </a:cubicBezTo>
                  <a:cubicBezTo>
                    <a:pt x="0" y="75"/>
                    <a:pt x="0" y="64"/>
                    <a:pt x="7" y="57"/>
                  </a:cubicBezTo>
                  <a:cubicBezTo>
                    <a:pt x="64" y="0"/>
                    <a:pt x="64" y="0"/>
                    <a:pt x="64" y="0"/>
                  </a:cubicBezTo>
                  <a:cubicBezTo>
                    <a:pt x="70" y="11"/>
                    <a:pt x="79" y="19"/>
                    <a:pt x="89" y="26"/>
                  </a:cubicBezTo>
                  <a:close/>
                </a:path>
              </a:pathLst>
            </a:custGeom>
            <a:solidFill>
              <a:srgbClr val="8446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>
                <a:solidFill>
                  <a:srgbClr val="494D68"/>
                </a:solidFill>
              </a:endParaRPr>
            </a:p>
          </p:txBody>
        </p:sp>
        <p:sp>
          <p:nvSpPr>
            <p:cNvPr id="78" name="Freeform 232">
              <a:extLst>
                <a:ext uri="{FF2B5EF4-FFF2-40B4-BE49-F238E27FC236}">
                  <a16:creationId xmlns:a16="http://schemas.microsoft.com/office/drawing/2014/main" id="{FE1DA426-D473-C50A-2830-8A93CE5BE9C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69550" y="5956300"/>
              <a:ext cx="284163" cy="311150"/>
            </a:xfrm>
            <a:custGeom>
              <a:avLst/>
              <a:gdLst>
                <a:gd name="T0" fmla="*/ 75 w 75"/>
                <a:gd name="T1" fmla="*/ 14 h 82"/>
                <a:gd name="T2" fmla="*/ 7 w 75"/>
                <a:gd name="T3" fmla="*/ 82 h 82"/>
                <a:gd name="T4" fmla="*/ 7 w 75"/>
                <a:gd name="T5" fmla="*/ 57 h 82"/>
                <a:gd name="T6" fmla="*/ 64 w 75"/>
                <a:gd name="T7" fmla="*/ 0 h 82"/>
                <a:gd name="T8" fmla="*/ 75 w 75"/>
                <a:gd name="T9" fmla="*/ 14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82">
                  <a:moveTo>
                    <a:pt x="75" y="14"/>
                  </a:moveTo>
                  <a:cubicBezTo>
                    <a:pt x="7" y="82"/>
                    <a:pt x="7" y="82"/>
                    <a:pt x="7" y="82"/>
                  </a:cubicBezTo>
                  <a:cubicBezTo>
                    <a:pt x="0" y="75"/>
                    <a:pt x="0" y="64"/>
                    <a:pt x="7" y="57"/>
                  </a:cubicBezTo>
                  <a:cubicBezTo>
                    <a:pt x="64" y="0"/>
                    <a:pt x="64" y="0"/>
                    <a:pt x="64" y="0"/>
                  </a:cubicBezTo>
                  <a:cubicBezTo>
                    <a:pt x="67" y="5"/>
                    <a:pt x="71" y="10"/>
                    <a:pt x="75" y="14"/>
                  </a:cubicBezTo>
                  <a:close/>
                </a:path>
              </a:pathLst>
            </a:custGeom>
            <a:solidFill>
              <a:srgbClr val="9C614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>
                <a:solidFill>
                  <a:srgbClr val="494D68"/>
                </a:solidFill>
              </a:endParaRPr>
            </a:p>
          </p:txBody>
        </p:sp>
        <p:sp>
          <p:nvSpPr>
            <p:cNvPr id="79" name="Freeform 233">
              <a:extLst>
                <a:ext uri="{FF2B5EF4-FFF2-40B4-BE49-F238E27FC236}">
                  <a16:creationId xmlns:a16="http://schemas.microsoft.com/office/drawing/2014/main" id="{C055C149-E9D1-F00E-58B6-4C1C6CAB782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69575" y="5518150"/>
              <a:ext cx="579438" cy="577850"/>
            </a:xfrm>
            <a:custGeom>
              <a:avLst/>
              <a:gdLst>
                <a:gd name="T0" fmla="*/ 153 w 153"/>
                <a:gd name="T1" fmla="*/ 76 h 153"/>
                <a:gd name="T2" fmla="*/ 77 w 153"/>
                <a:gd name="T3" fmla="*/ 153 h 153"/>
                <a:gd name="T4" fmla="*/ 0 w 153"/>
                <a:gd name="T5" fmla="*/ 76 h 153"/>
                <a:gd name="T6" fmla="*/ 77 w 153"/>
                <a:gd name="T7" fmla="*/ 0 h 153"/>
                <a:gd name="T8" fmla="*/ 153 w 153"/>
                <a:gd name="T9" fmla="*/ 76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3" h="153">
                  <a:moveTo>
                    <a:pt x="153" y="76"/>
                  </a:moveTo>
                  <a:cubicBezTo>
                    <a:pt x="153" y="119"/>
                    <a:pt x="119" y="153"/>
                    <a:pt x="77" y="153"/>
                  </a:cubicBezTo>
                  <a:cubicBezTo>
                    <a:pt x="34" y="153"/>
                    <a:pt x="0" y="118"/>
                    <a:pt x="0" y="76"/>
                  </a:cubicBezTo>
                  <a:cubicBezTo>
                    <a:pt x="0" y="34"/>
                    <a:pt x="34" y="0"/>
                    <a:pt x="77" y="0"/>
                  </a:cubicBezTo>
                  <a:cubicBezTo>
                    <a:pt x="119" y="0"/>
                    <a:pt x="153" y="34"/>
                    <a:pt x="153" y="76"/>
                  </a:cubicBezTo>
                  <a:close/>
                </a:path>
              </a:pathLst>
            </a:custGeom>
            <a:solidFill>
              <a:srgbClr val="F0F1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>
                <a:solidFill>
                  <a:srgbClr val="494D68"/>
                </a:solidFill>
              </a:endParaRPr>
            </a:p>
          </p:txBody>
        </p:sp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FB1E6144-07F5-EAEE-F7A2-D25BC26A16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29900" y="5578475"/>
              <a:ext cx="458788" cy="457200"/>
            </a:xfrm>
            <a:prstGeom prst="ellipse">
              <a:avLst/>
            </a:prstGeom>
            <a:solidFill>
              <a:srgbClr val="40C9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>
                <a:solidFill>
                  <a:srgbClr val="494D68"/>
                </a:solidFill>
              </a:endParaRPr>
            </a:p>
          </p:txBody>
        </p:sp>
        <p:sp>
          <p:nvSpPr>
            <p:cNvPr id="81" name="Freeform 235">
              <a:extLst>
                <a:ext uri="{FF2B5EF4-FFF2-40B4-BE49-F238E27FC236}">
                  <a16:creationId xmlns:a16="http://schemas.microsoft.com/office/drawing/2014/main" id="{9DBFD78D-7647-0CC5-0B5B-2411369D8B5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29900" y="5578475"/>
              <a:ext cx="390525" cy="388938"/>
            </a:xfrm>
            <a:custGeom>
              <a:avLst/>
              <a:gdLst>
                <a:gd name="T0" fmla="*/ 0 w 103"/>
                <a:gd name="T1" fmla="*/ 60 h 103"/>
                <a:gd name="T2" fmla="*/ 61 w 103"/>
                <a:gd name="T3" fmla="*/ 0 h 103"/>
                <a:gd name="T4" fmla="*/ 103 w 103"/>
                <a:gd name="T5" fmla="*/ 17 h 103"/>
                <a:gd name="T6" fmla="*/ 17 w 103"/>
                <a:gd name="T7" fmla="*/ 103 h 103"/>
                <a:gd name="T8" fmla="*/ 0 w 103"/>
                <a:gd name="T9" fmla="*/ 60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3" h="103">
                  <a:moveTo>
                    <a:pt x="0" y="60"/>
                  </a:moveTo>
                  <a:cubicBezTo>
                    <a:pt x="0" y="27"/>
                    <a:pt x="27" y="0"/>
                    <a:pt x="61" y="0"/>
                  </a:cubicBezTo>
                  <a:cubicBezTo>
                    <a:pt x="77" y="0"/>
                    <a:pt x="92" y="6"/>
                    <a:pt x="103" y="17"/>
                  </a:cubicBezTo>
                  <a:cubicBezTo>
                    <a:pt x="17" y="103"/>
                    <a:pt x="17" y="103"/>
                    <a:pt x="17" y="103"/>
                  </a:cubicBezTo>
                  <a:cubicBezTo>
                    <a:pt x="6" y="92"/>
                    <a:pt x="0" y="77"/>
                    <a:pt x="0" y="60"/>
                  </a:cubicBezTo>
                  <a:close/>
                </a:path>
              </a:pathLst>
            </a:custGeom>
            <a:solidFill>
              <a:srgbClr val="6FDA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>
                <a:solidFill>
                  <a:srgbClr val="494D68"/>
                </a:solidFill>
              </a:endParaRP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1BCA2D9B-9048-C698-72C6-681E5AAA21A5}"/>
              </a:ext>
            </a:extLst>
          </p:cNvPr>
          <p:cNvGrpSpPr/>
          <p:nvPr/>
        </p:nvGrpSpPr>
        <p:grpSpPr>
          <a:xfrm>
            <a:off x="4159682" y="3450616"/>
            <a:ext cx="297457" cy="298074"/>
            <a:chOff x="8347096" y="2216191"/>
            <a:chExt cx="771526" cy="773127"/>
          </a:xfrm>
          <a:effectLst>
            <a:outerShdw dist="38100" dir="2700000" algn="tl" rotWithShape="0">
              <a:prstClr val="black">
                <a:alpha val="20000"/>
              </a:prstClr>
            </a:outerShdw>
          </a:effectLst>
        </p:grpSpPr>
        <p:sp>
          <p:nvSpPr>
            <p:cNvPr id="65" name="Freeform 98">
              <a:extLst>
                <a:ext uri="{FF2B5EF4-FFF2-40B4-BE49-F238E27FC236}">
                  <a16:creationId xmlns:a16="http://schemas.microsoft.com/office/drawing/2014/main" id="{E10F9C7B-5EB5-513B-2D00-36251166575A}"/>
                </a:ext>
              </a:extLst>
            </p:cNvPr>
            <p:cNvSpPr>
              <a:spLocks/>
            </p:cNvSpPr>
            <p:nvPr/>
          </p:nvSpPr>
          <p:spPr bwMode="auto">
            <a:xfrm>
              <a:off x="8683646" y="2409870"/>
              <a:ext cx="434976" cy="579448"/>
            </a:xfrm>
            <a:custGeom>
              <a:avLst/>
              <a:gdLst>
                <a:gd name="T0" fmla="*/ 0 w 115"/>
                <a:gd name="T1" fmla="*/ 9 h 153"/>
                <a:gd name="T2" fmla="*/ 9 w 115"/>
                <a:gd name="T3" fmla="*/ 0 h 153"/>
                <a:gd name="T4" fmla="*/ 77 w 115"/>
                <a:gd name="T5" fmla="*/ 0 h 153"/>
                <a:gd name="T6" fmla="*/ 115 w 115"/>
                <a:gd name="T7" fmla="*/ 32 h 153"/>
                <a:gd name="T8" fmla="*/ 115 w 115"/>
                <a:gd name="T9" fmla="*/ 144 h 153"/>
                <a:gd name="T10" fmla="*/ 106 w 115"/>
                <a:gd name="T11" fmla="*/ 153 h 153"/>
                <a:gd name="T12" fmla="*/ 9 w 115"/>
                <a:gd name="T13" fmla="*/ 153 h 153"/>
                <a:gd name="T14" fmla="*/ 0 w 115"/>
                <a:gd name="T15" fmla="*/ 144 h 153"/>
                <a:gd name="T16" fmla="*/ 0 w 115"/>
                <a:gd name="T17" fmla="*/ 9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5" h="153">
                  <a:moveTo>
                    <a:pt x="0" y="9"/>
                  </a:moveTo>
                  <a:cubicBezTo>
                    <a:pt x="0" y="4"/>
                    <a:pt x="4" y="0"/>
                    <a:pt x="9" y="0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115" y="32"/>
                    <a:pt x="115" y="32"/>
                    <a:pt x="115" y="32"/>
                  </a:cubicBezTo>
                  <a:cubicBezTo>
                    <a:pt x="115" y="144"/>
                    <a:pt x="115" y="144"/>
                    <a:pt x="115" y="144"/>
                  </a:cubicBezTo>
                  <a:cubicBezTo>
                    <a:pt x="115" y="149"/>
                    <a:pt x="111" y="153"/>
                    <a:pt x="106" y="153"/>
                  </a:cubicBezTo>
                  <a:cubicBezTo>
                    <a:pt x="9" y="153"/>
                    <a:pt x="9" y="153"/>
                    <a:pt x="9" y="153"/>
                  </a:cubicBezTo>
                  <a:cubicBezTo>
                    <a:pt x="4" y="153"/>
                    <a:pt x="0" y="149"/>
                    <a:pt x="0" y="144"/>
                  </a:cubicBezTo>
                  <a:lnTo>
                    <a:pt x="0" y="9"/>
                  </a:lnTo>
                  <a:close/>
                </a:path>
              </a:pathLst>
            </a:custGeom>
            <a:solidFill>
              <a:srgbClr val="F0F1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>
                <a:solidFill>
                  <a:srgbClr val="494D68"/>
                </a:solidFill>
              </a:endParaRPr>
            </a:p>
          </p:txBody>
        </p:sp>
        <p:sp>
          <p:nvSpPr>
            <p:cNvPr id="66" name="Freeform 99">
              <a:extLst>
                <a:ext uri="{FF2B5EF4-FFF2-40B4-BE49-F238E27FC236}">
                  <a16:creationId xmlns:a16="http://schemas.microsoft.com/office/drawing/2014/main" id="{42AF0811-37EC-545A-49FF-4BC71C6B637E}"/>
                </a:ext>
              </a:extLst>
            </p:cNvPr>
            <p:cNvSpPr>
              <a:spLocks/>
            </p:cNvSpPr>
            <p:nvPr/>
          </p:nvSpPr>
          <p:spPr bwMode="auto">
            <a:xfrm>
              <a:off x="8975747" y="2409870"/>
              <a:ext cx="142875" cy="120652"/>
            </a:xfrm>
            <a:custGeom>
              <a:avLst/>
              <a:gdLst>
                <a:gd name="T0" fmla="*/ 0 w 38"/>
                <a:gd name="T1" fmla="*/ 0 h 32"/>
                <a:gd name="T2" fmla="*/ 0 w 38"/>
                <a:gd name="T3" fmla="*/ 23 h 32"/>
                <a:gd name="T4" fmla="*/ 9 w 38"/>
                <a:gd name="T5" fmla="*/ 32 h 32"/>
                <a:gd name="T6" fmla="*/ 38 w 38"/>
                <a:gd name="T7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32">
                  <a:moveTo>
                    <a:pt x="0" y="0"/>
                  </a:moveTo>
                  <a:cubicBezTo>
                    <a:pt x="0" y="23"/>
                    <a:pt x="0" y="23"/>
                    <a:pt x="0" y="23"/>
                  </a:cubicBezTo>
                  <a:cubicBezTo>
                    <a:pt x="0" y="28"/>
                    <a:pt x="4" y="32"/>
                    <a:pt x="9" y="32"/>
                  </a:cubicBezTo>
                  <a:cubicBezTo>
                    <a:pt x="38" y="32"/>
                    <a:pt x="38" y="32"/>
                    <a:pt x="38" y="32"/>
                  </a:cubicBezTo>
                </a:path>
              </a:pathLst>
            </a:custGeom>
            <a:solidFill>
              <a:srgbClr val="E2E4E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>
                <a:solidFill>
                  <a:srgbClr val="494D68"/>
                </a:solidFill>
              </a:endParaRPr>
            </a:p>
          </p:txBody>
        </p:sp>
        <p:sp>
          <p:nvSpPr>
            <p:cNvPr id="67" name="Freeform 100">
              <a:extLst>
                <a:ext uri="{FF2B5EF4-FFF2-40B4-BE49-F238E27FC236}">
                  <a16:creationId xmlns:a16="http://schemas.microsoft.com/office/drawing/2014/main" id="{71C52771-DDB4-20D4-02BF-90E0973BA753}"/>
                </a:ext>
              </a:extLst>
            </p:cNvPr>
            <p:cNvSpPr>
              <a:spLocks/>
            </p:cNvSpPr>
            <p:nvPr/>
          </p:nvSpPr>
          <p:spPr bwMode="auto">
            <a:xfrm>
              <a:off x="8770959" y="2552747"/>
              <a:ext cx="131763" cy="26988"/>
            </a:xfrm>
            <a:custGeom>
              <a:avLst/>
              <a:gdLst>
                <a:gd name="T0" fmla="*/ 35 w 35"/>
                <a:gd name="T1" fmla="*/ 3 h 7"/>
                <a:gd name="T2" fmla="*/ 32 w 35"/>
                <a:gd name="T3" fmla="*/ 7 h 7"/>
                <a:gd name="T4" fmla="*/ 3 w 35"/>
                <a:gd name="T5" fmla="*/ 7 h 7"/>
                <a:gd name="T6" fmla="*/ 0 w 35"/>
                <a:gd name="T7" fmla="*/ 3 h 7"/>
                <a:gd name="T8" fmla="*/ 3 w 35"/>
                <a:gd name="T9" fmla="*/ 0 h 7"/>
                <a:gd name="T10" fmla="*/ 32 w 35"/>
                <a:gd name="T11" fmla="*/ 0 h 7"/>
                <a:gd name="T12" fmla="*/ 35 w 35"/>
                <a:gd name="T13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5" h="7">
                  <a:moveTo>
                    <a:pt x="35" y="3"/>
                  </a:moveTo>
                  <a:cubicBezTo>
                    <a:pt x="35" y="5"/>
                    <a:pt x="33" y="7"/>
                    <a:pt x="32" y="7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1" y="7"/>
                    <a:pt x="0" y="5"/>
                    <a:pt x="0" y="3"/>
                  </a:cubicBezTo>
                  <a:cubicBezTo>
                    <a:pt x="0" y="2"/>
                    <a:pt x="1" y="0"/>
                    <a:pt x="3" y="0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3" y="0"/>
                    <a:pt x="35" y="2"/>
                    <a:pt x="35" y="3"/>
                  </a:cubicBezTo>
                  <a:close/>
                </a:path>
              </a:pathLst>
            </a:custGeom>
            <a:solidFill>
              <a:srgbClr val="CFD3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>
                <a:solidFill>
                  <a:srgbClr val="494D68"/>
                </a:solidFill>
              </a:endParaRPr>
            </a:p>
          </p:txBody>
        </p:sp>
        <p:sp>
          <p:nvSpPr>
            <p:cNvPr id="68" name="Freeform 101">
              <a:extLst>
                <a:ext uri="{FF2B5EF4-FFF2-40B4-BE49-F238E27FC236}">
                  <a16:creationId xmlns:a16="http://schemas.microsoft.com/office/drawing/2014/main" id="{5F561433-D0E3-8DB5-6CAB-B7E0329EEBC4}"/>
                </a:ext>
              </a:extLst>
            </p:cNvPr>
            <p:cNvSpPr>
              <a:spLocks/>
            </p:cNvSpPr>
            <p:nvPr/>
          </p:nvSpPr>
          <p:spPr bwMode="auto">
            <a:xfrm>
              <a:off x="8770959" y="2651174"/>
              <a:ext cx="276226" cy="23813"/>
            </a:xfrm>
            <a:custGeom>
              <a:avLst/>
              <a:gdLst>
                <a:gd name="T0" fmla="*/ 73 w 73"/>
                <a:gd name="T1" fmla="*/ 3 h 6"/>
                <a:gd name="T2" fmla="*/ 70 w 73"/>
                <a:gd name="T3" fmla="*/ 6 h 6"/>
                <a:gd name="T4" fmla="*/ 3 w 73"/>
                <a:gd name="T5" fmla="*/ 6 h 6"/>
                <a:gd name="T6" fmla="*/ 0 w 73"/>
                <a:gd name="T7" fmla="*/ 3 h 6"/>
                <a:gd name="T8" fmla="*/ 3 w 73"/>
                <a:gd name="T9" fmla="*/ 0 h 6"/>
                <a:gd name="T10" fmla="*/ 70 w 73"/>
                <a:gd name="T11" fmla="*/ 0 h 6"/>
                <a:gd name="T12" fmla="*/ 73 w 73"/>
                <a:gd name="T13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3" h="6">
                  <a:moveTo>
                    <a:pt x="73" y="3"/>
                  </a:moveTo>
                  <a:cubicBezTo>
                    <a:pt x="73" y="5"/>
                    <a:pt x="72" y="6"/>
                    <a:pt x="70" y="6"/>
                  </a:cubicBezTo>
                  <a:cubicBezTo>
                    <a:pt x="3" y="6"/>
                    <a:pt x="3" y="6"/>
                    <a:pt x="3" y="6"/>
                  </a:cubicBezTo>
                  <a:cubicBezTo>
                    <a:pt x="1" y="6"/>
                    <a:pt x="0" y="5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2" y="0"/>
                    <a:pt x="73" y="1"/>
                    <a:pt x="73" y="3"/>
                  </a:cubicBezTo>
                  <a:close/>
                </a:path>
              </a:pathLst>
            </a:custGeom>
            <a:solidFill>
              <a:srgbClr val="CFD3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>
                <a:solidFill>
                  <a:srgbClr val="494D68"/>
                </a:solidFill>
              </a:endParaRPr>
            </a:p>
          </p:txBody>
        </p:sp>
        <p:sp>
          <p:nvSpPr>
            <p:cNvPr id="69" name="Freeform 102">
              <a:extLst>
                <a:ext uri="{FF2B5EF4-FFF2-40B4-BE49-F238E27FC236}">
                  <a16:creationId xmlns:a16="http://schemas.microsoft.com/office/drawing/2014/main" id="{920C7F89-2B31-A415-075E-D0E195DBB44B}"/>
                </a:ext>
              </a:extLst>
            </p:cNvPr>
            <p:cNvSpPr>
              <a:spLocks/>
            </p:cNvSpPr>
            <p:nvPr/>
          </p:nvSpPr>
          <p:spPr bwMode="auto">
            <a:xfrm>
              <a:off x="8770959" y="2746426"/>
              <a:ext cx="276226" cy="26988"/>
            </a:xfrm>
            <a:custGeom>
              <a:avLst/>
              <a:gdLst>
                <a:gd name="T0" fmla="*/ 73 w 73"/>
                <a:gd name="T1" fmla="*/ 4 h 7"/>
                <a:gd name="T2" fmla="*/ 70 w 73"/>
                <a:gd name="T3" fmla="*/ 7 h 7"/>
                <a:gd name="T4" fmla="*/ 3 w 73"/>
                <a:gd name="T5" fmla="*/ 7 h 7"/>
                <a:gd name="T6" fmla="*/ 0 w 73"/>
                <a:gd name="T7" fmla="*/ 4 h 7"/>
                <a:gd name="T8" fmla="*/ 3 w 73"/>
                <a:gd name="T9" fmla="*/ 0 h 7"/>
                <a:gd name="T10" fmla="*/ 70 w 73"/>
                <a:gd name="T11" fmla="*/ 0 h 7"/>
                <a:gd name="T12" fmla="*/ 73 w 73"/>
                <a:gd name="T13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3" h="7">
                  <a:moveTo>
                    <a:pt x="73" y="4"/>
                  </a:moveTo>
                  <a:cubicBezTo>
                    <a:pt x="73" y="5"/>
                    <a:pt x="72" y="7"/>
                    <a:pt x="70" y="7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1" y="7"/>
                    <a:pt x="0" y="5"/>
                    <a:pt x="0" y="4"/>
                  </a:cubicBezTo>
                  <a:cubicBezTo>
                    <a:pt x="0" y="2"/>
                    <a:pt x="1" y="0"/>
                    <a:pt x="3" y="0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2" y="0"/>
                    <a:pt x="73" y="2"/>
                    <a:pt x="73" y="4"/>
                  </a:cubicBezTo>
                  <a:close/>
                </a:path>
              </a:pathLst>
            </a:custGeom>
            <a:solidFill>
              <a:srgbClr val="CFD3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>
                <a:solidFill>
                  <a:srgbClr val="494D68"/>
                </a:solidFill>
              </a:endParaRPr>
            </a:p>
          </p:txBody>
        </p:sp>
        <p:sp>
          <p:nvSpPr>
            <p:cNvPr id="70" name="Freeform 103">
              <a:extLst>
                <a:ext uri="{FF2B5EF4-FFF2-40B4-BE49-F238E27FC236}">
                  <a16:creationId xmlns:a16="http://schemas.microsoft.com/office/drawing/2014/main" id="{56B68784-B441-27C4-2013-795191125B68}"/>
                </a:ext>
              </a:extLst>
            </p:cNvPr>
            <p:cNvSpPr>
              <a:spLocks/>
            </p:cNvSpPr>
            <p:nvPr/>
          </p:nvSpPr>
          <p:spPr bwMode="auto">
            <a:xfrm>
              <a:off x="8770959" y="2844853"/>
              <a:ext cx="276226" cy="22225"/>
            </a:xfrm>
            <a:custGeom>
              <a:avLst/>
              <a:gdLst>
                <a:gd name="T0" fmla="*/ 73 w 73"/>
                <a:gd name="T1" fmla="*/ 3 h 6"/>
                <a:gd name="T2" fmla="*/ 70 w 73"/>
                <a:gd name="T3" fmla="*/ 6 h 6"/>
                <a:gd name="T4" fmla="*/ 3 w 73"/>
                <a:gd name="T5" fmla="*/ 6 h 6"/>
                <a:gd name="T6" fmla="*/ 0 w 73"/>
                <a:gd name="T7" fmla="*/ 3 h 6"/>
                <a:gd name="T8" fmla="*/ 3 w 73"/>
                <a:gd name="T9" fmla="*/ 0 h 6"/>
                <a:gd name="T10" fmla="*/ 70 w 73"/>
                <a:gd name="T11" fmla="*/ 0 h 6"/>
                <a:gd name="T12" fmla="*/ 73 w 73"/>
                <a:gd name="T13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3" h="6">
                  <a:moveTo>
                    <a:pt x="73" y="3"/>
                  </a:moveTo>
                  <a:cubicBezTo>
                    <a:pt x="73" y="5"/>
                    <a:pt x="72" y="6"/>
                    <a:pt x="70" y="6"/>
                  </a:cubicBezTo>
                  <a:cubicBezTo>
                    <a:pt x="3" y="6"/>
                    <a:pt x="3" y="6"/>
                    <a:pt x="3" y="6"/>
                  </a:cubicBezTo>
                  <a:cubicBezTo>
                    <a:pt x="1" y="6"/>
                    <a:pt x="0" y="5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2" y="0"/>
                    <a:pt x="73" y="1"/>
                    <a:pt x="73" y="3"/>
                  </a:cubicBezTo>
                  <a:close/>
                </a:path>
              </a:pathLst>
            </a:custGeom>
            <a:solidFill>
              <a:srgbClr val="CFD3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>
                <a:solidFill>
                  <a:srgbClr val="494D68"/>
                </a:solidFill>
              </a:endParaRPr>
            </a:p>
          </p:txBody>
        </p:sp>
        <p:sp>
          <p:nvSpPr>
            <p:cNvPr id="71" name="Freeform 104">
              <a:extLst>
                <a:ext uri="{FF2B5EF4-FFF2-40B4-BE49-F238E27FC236}">
                  <a16:creationId xmlns:a16="http://schemas.microsoft.com/office/drawing/2014/main" id="{33DB9B7D-9BF9-934E-DCFC-7BBF7FE11503}"/>
                </a:ext>
              </a:extLst>
            </p:cNvPr>
            <p:cNvSpPr>
              <a:spLocks/>
            </p:cNvSpPr>
            <p:nvPr/>
          </p:nvSpPr>
          <p:spPr bwMode="auto">
            <a:xfrm>
              <a:off x="8347096" y="2216191"/>
              <a:ext cx="434976" cy="579448"/>
            </a:xfrm>
            <a:custGeom>
              <a:avLst/>
              <a:gdLst>
                <a:gd name="T0" fmla="*/ 0 w 115"/>
                <a:gd name="T1" fmla="*/ 9 h 153"/>
                <a:gd name="T2" fmla="*/ 9 w 115"/>
                <a:gd name="T3" fmla="*/ 0 h 153"/>
                <a:gd name="T4" fmla="*/ 76 w 115"/>
                <a:gd name="T5" fmla="*/ 0 h 153"/>
                <a:gd name="T6" fmla="*/ 115 w 115"/>
                <a:gd name="T7" fmla="*/ 32 h 153"/>
                <a:gd name="T8" fmla="*/ 115 w 115"/>
                <a:gd name="T9" fmla="*/ 144 h 153"/>
                <a:gd name="T10" fmla="*/ 106 w 115"/>
                <a:gd name="T11" fmla="*/ 153 h 153"/>
                <a:gd name="T12" fmla="*/ 9 w 115"/>
                <a:gd name="T13" fmla="*/ 153 h 153"/>
                <a:gd name="T14" fmla="*/ 0 w 115"/>
                <a:gd name="T15" fmla="*/ 144 h 153"/>
                <a:gd name="T16" fmla="*/ 0 w 115"/>
                <a:gd name="T17" fmla="*/ 9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5" h="153">
                  <a:moveTo>
                    <a:pt x="0" y="9"/>
                  </a:moveTo>
                  <a:cubicBezTo>
                    <a:pt x="0" y="4"/>
                    <a:pt x="4" y="0"/>
                    <a:pt x="9" y="0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115" y="32"/>
                    <a:pt x="115" y="32"/>
                    <a:pt x="115" y="32"/>
                  </a:cubicBezTo>
                  <a:cubicBezTo>
                    <a:pt x="115" y="144"/>
                    <a:pt x="115" y="144"/>
                    <a:pt x="115" y="144"/>
                  </a:cubicBezTo>
                  <a:cubicBezTo>
                    <a:pt x="115" y="149"/>
                    <a:pt x="111" y="153"/>
                    <a:pt x="106" y="153"/>
                  </a:cubicBezTo>
                  <a:cubicBezTo>
                    <a:pt x="9" y="153"/>
                    <a:pt x="9" y="153"/>
                    <a:pt x="9" y="153"/>
                  </a:cubicBezTo>
                  <a:cubicBezTo>
                    <a:pt x="4" y="153"/>
                    <a:pt x="0" y="149"/>
                    <a:pt x="0" y="144"/>
                  </a:cubicBezTo>
                  <a:lnTo>
                    <a:pt x="0" y="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>
                <a:solidFill>
                  <a:srgbClr val="494D68"/>
                </a:solidFill>
              </a:endParaRPr>
            </a:p>
          </p:txBody>
        </p:sp>
        <p:sp>
          <p:nvSpPr>
            <p:cNvPr id="72" name="Freeform 105">
              <a:extLst>
                <a:ext uri="{FF2B5EF4-FFF2-40B4-BE49-F238E27FC236}">
                  <a16:creationId xmlns:a16="http://schemas.microsoft.com/office/drawing/2014/main" id="{9C08077F-B1C1-5A70-49DB-CC3ECB750E65}"/>
                </a:ext>
              </a:extLst>
            </p:cNvPr>
            <p:cNvSpPr>
              <a:spLocks/>
            </p:cNvSpPr>
            <p:nvPr/>
          </p:nvSpPr>
          <p:spPr bwMode="auto">
            <a:xfrm>
              <a:off x="8634434" y="2216191"/>
              <a:ext cx="147638" cy="120652"/>
            </a:xfrm>
            <a:custGeom>
              <a:avLst/>
              <a:gdLst>
                <a:gd name="T0" fmla="*/ 0 w 39"/>
                <a:gd name="T1" fmla="*/ 0 h 32"/>
                <a:gd name="T2" fmla="*/ 0 w 39"/>
                <a:gd name="T3" fmla="*/ 23 h 32"/>
                <a:gd name="T4" fmla="*/ 10 w 39"/>
                <a:gd name="T5" fmla="*/ 32 h 32"/>
                <a:gd name="T6" fmla="*/ 39 w 39"/>
                <a:gd name="T7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9" h="32">
                  <a:moveTo>
                    <a:pt x="0" y="0"/>
                  </a:moveTo>
                  <a:cubicBezTo>
                    <a:pt x="0" y="23"/>
                    <a:pt x="0" y="23"/>
                    <a:pt x="0" y="23"/>
                  </a:cubicBezTo>
                  <a:cubicBezTo>
                    <a:pt x="0" y="28"/>
                    <a:pt x="5" y="32"/>
                    <a:pt x="10" y="32"/>
                  </a:cubicBezTo>
                  <a:cubicBezTo>
                    <a:pt x="39" y="32"/>
                    <a:pt x="39" y="32"/>
                    <a:pt x="39" y="32"/>
                  </a:cubicBezTo>
                </a:path>
              </a:pathLst>
            </a:custGeom>
            <a:solidFill>
              <a:srgbClr val="F0F1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>
                <a:solidFill>
                  <a:srgbClr val="494D68"/>
                </a:solidFill>
              </a:endParaRPr>
            </a:p>
          </p:txBody>
        </p:sp>
        <p:sp>
          <p:nvSpPr>
            <p:cNvPr id="73" name="Freeform 106">
              <a:extLst>
                <a:ext uri="{FF2B5EF4-FFF2-40B4-BE49-F238E27FC236}">
                  <a16:creationId xmlns:a16="http://schemas.microsoft.com/office/drawing/2014/main" id="{34F9ED88-626E-3EBE-E17E-5DBA999A0F8F}"/>
                </a:ext>
              </a:extLst>
            </p:cNvPr>
            <p:cNvSpPr>
              <a:spLocks/>
            </p:cNvSpPr>
            <p:nvPr/>
          </p:nvSpPr>
          <p:spPr bwMode="auto">
            <a:xfrm>
              <a:off x="8431233" y="2360656"/>
              <a:ext cx="131763" cy="22225"/>
            </a:xfrm>
            <a:custGeom>
              <a:avLst/>
              <a:gdLst>
                <a:gd name="T0" fmla="*/ 35 w 35"/>
                <a:gd name="T1" fmla="*/ 3 h 6"/>
                <a:gd name="T2" fmla="*/ 32 w 35"/>
                <a:gd name="T3" fmla="*/ 6 h 6"/>
                <a:gd name="T4" fmla="*/ 3 w 35"/>
                <a:gd name="T5" fmla="*/ 6 h 6"/>
                <a:gd name="T6" fmla="*/ 0 w 35"/>
                <a:gd name="T7" fmla="*/ 3 h 6"/>
                <a:gd name="T8" fmla="*/ 3 w 35"/>
                <a:gd name="T9" fmla="*/ 0 h 6"/>
                <a:gd name="T10" fmla="*/ 32 w 35"/>
                <a:gd name="T11" fmla="*/ 0 h 6"/>
                <a:gd name="T12" fmla="*/ 35 w 35"/>
                <a:gd name="T13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5" h="6">
                  <a:moveTo>
                    <a:pt x="35" y="3"/>
                  </a:moveTo>
                  <a:cubicBezTo>
                    <a:pt x="35" y="5"/>
                    <a:pt x="34" y="6"/>
                    <a:pt x="32" y="6"/>
                  </a:cubicBezTo>
                  <a:cubicBezTo>
                    <a:pt x="3" y="6"/>
                    <a:pt x="3" y="6"/>
                    <a:pt x="3" y="6"/>
                  </a:cubicBezTo>
                  <a:cubicBezTo>
                    <a:pt x="1" y="6"/>
                    <a:pt x="0" y="5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4" y="0"/>
                    <a:pt x="35" y="1"/>
                    <a:pt x="35" y="3"/>
                  </a:cubicBezTo>
                  <a:close/>
                </a:path>
              </a:pathLst>
            </a:custGeom>
            <a:solidFill>
              <a:srgbClr val="E2E4E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>
                <a:solidFill>
                  <a:srgbClr val="494D68"/>
                </a:solidFill>
              </a:endParaRPr>
            </a:p>
          </p:txBody>
        </p:sp>
        <p:sp>
          <p:nvSpPr>
            <p:cNvPr id="74" name="Freeform 107">
              <a:extLst>
                <a:ext uri="{FF2B5EF4-FFF2-40B4-BE49-F238E27FC236}">
                  <a16:creationId xmlns:a16="http://schemas.microsoft.com/office/drawing/2014/main" id="{DFC1A06A-7D31-3641-8968-7E183FAE4D6F}"/>
                </a:ext>
              </a:extLst>
            </p:cNvPr>
            <p:cNvSpPr>
              <a:spLocks/>
            </p:cNvSpPr>
            <p:nvPr/>
          </p:nvSpPr>
          <p:spPr bwMode="auto">
            <a:xfrm>
              <a:off x="8431233" y="2459083"/>
              <a:ext cx="279401" cy="22225"/>
            </a:xfrm>
            <a:custGeom>
              <a:avLst/>
              <a:gdLst>
                <a:gd name="T0" fmla="*/ 74 w 74"/>
                <a:gd name="T1" fmla="*/ 3 h 6"/>
                <a:gd name="T2" fmla="*/ 70 w 74"/>
                <a:gd name="T3" fmla="*/ 6 h 6"/>
                <a:gd name="T4" fmla="*/ 3 w 74"/>
                <a:gd name="T5" fmla="*/ 6 h 6"/>
                <a:gd name="T6" fmla="*/ 0 w 74"/>
                <a:gd name="T7" fmla="*/ 3 h 6"/>
                <a:gd name="T8" fmla="*/ 3 w 74"/>
                <a:gd name="T9" fmla="*/ 0 h 6"/>
                <a:gd name="T10" fmla="*/ 70 w 74"/>
                <a:gd name="T11" fmla="*/ 0 h 6"/>
                <a:gd name="T12" fmla="*/ 74 w 74"/>
                <a:gd name="T13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4" h="6">
                  <a:moveTo>
                    <a:pt x="74" y="3"/>
                  </a:moveTo>
                  <a:cubicBezTo>
                    <a:pt x="74" y="5"/>
                    <a:pt x="72" y="6"/>
                    <a:pt x="70" y="6"/>
                  </a:cubicBezTo>
                  <a:cubicBezTo>
                    <a:pt x="3" y="6"/>
                    <a:pt x="3" y="6"/>
                    <a:pt x="3" y="6"/>
                  </a:cubicBezTo>
                  <a:cubicBezTo>
                    <a:pt x="1" y="6"/>
                    <a:pt x="0" y="5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2" y="0"/>
                    <a:pt x="74" y="1"/>
                    <a:pt x="74" y="3"/>
                  </a:cubicBezTo>
                  <a:close/>
                </a:path>
              </a:pathLst>
            </a:custGeom>
            <a:solidFill>
              <a:srgbClr val="E2E4E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>
                <a:solidFill>
                  <a:srgbClr val="494D68"/>
                </a:solidFill>
              </a:endParaRPr>
            </a:p>
          </p:txBody>
        </p:sp>
        <p:sp>
          <p:nvSpPr>
            <p:cNvPr id="75" name="Freeform 108">
              <a:extLst>
                <a:ext uri="{FF2B5EF4-FFF2-40B4-BE49-F238E27FC236}">
                  <a16:creationId xmlns:a16="http://schemas.microsoft.com/office/drawing/2014/main" id="{0DC4C568-2483-3BA0-756F-F2BED09B0F1A}"/>
                </a:ext>
              </a:extLst>
            </p:cNvPr>
            <p:cNvSpPr>
              <a:spLocks/>
            </p:cNvSpPr>
            <p:nvPr/>
          </p:nvSpPr>
          <p:spPr bwMode="auto">
            <a:xfrm>
              <a:off x="8431233" y="2552747"/>
              <a:ext cx="279401" cy="26988"/>
            </a:xfrm>
            <a:custGeom>
              <a:avLst/>
              <a:gdLst>
                <a:gd name="T0" fmla="*/ 74 w 74"/>
                <a:gd name="T1" fmla="*/ 3 h 7"/>
                <a:gd name="T2" fmla="*/ 70 w 74"/>
                <a:gd name="T3" fmla="*/ 7 h 7"/>
                <a:gd name="T4" fmla="*/ 3 w 74"/>
                <a:gd name="T5" fmla="*/ 7 h 7"/>
                <a:gd name="T6" fmla="*/ 0 w 74"/>
                <a:gd name="T7" fmla="*/ 3 h 7"/>
                <a:gd name="T8" fmla="*/ 3 w 74"/>
                <a:gd name="T9" fmla="*/ 0 h 7"/>
                <a:gd name="T10" fmla="*/ 70 w 74"/>
                <a:gd name="T11" fmla="*/ 0 h 7"/>
                <a:gd name="T12" fmla="*/ 74 w 74"/>
                <a:gd name="T13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4" h="7">
                  <a:moveTo>
                    <a:pt x="74" y="3"/>
                  </a:moveTo>
                  <a:cubicBezTo>
                    <a:pt x="74" y="5"/>
                    <a:pt x="72" y="7"/>
                    <a:pt x="70" y="7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1" y="7"/>
                    <a:pt x="0" y="5"/>
                    <a:pt x="0" y="3"/>
                  </a:cubicBezTo>
                  <a:cubicBezTo>
                    <a:pt x="0" y="2"/>
                    <a:pt x="1" y="0"/>
                    <a:pt x="3" y="0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2" y="0"/>
                    <a:pt x="74" y="2"/>
                    <a:pt x="74" y="3"/>
                  </a:cubicBezTo>
                  <a:close/>
                </a:path>
              </a:pathLst>
            </a:custGeom>
            <a:solidFill>
              <a:srgbClr val="E2E4E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>
                <a:solidFill>
                  <a:srgbClr val="494D68"/>
                </a:solidFill>
              </a:endParaRPr>
            </a:p>
          </p:txBody>
        </p:sp>
        <p:sp>
          <p:nvSpPr>
            <p:cNvPr id="76" name="Freeform 109">
              <a:extLst>
                <a:ext uri="{FF2B5EF4-FFF2-40B4-BE49-F238E27FC236}">
                  <a16:creationId xmlns:a16="http://schemas.microsoft.com/office/drawing/2014/main" id="{01A4BE0D-1D61-BF1E-2C3F-07A3AA46FA26}"/>
                </a:ext>
              </a:extLst>
            </p:cNvPr>
            <p:cNvSpPr>
              <a:spLocks/>
            </p:cNvSpPr>
            <p:nvPr/>
          </p:nvSpPr>
          <p:spPr bwMode="auto">
            <a:xfrm>
              <a:off x="8431233" y="2651174"/>
              <a:ext cx="279401" cy="23813"/>
            </a:xfrm>
            <a:custGeom>
              <a:avLst/>
              <a:gdLst>
                <a:gd name="T0" fmla="*/ 74 w 74"/>
                <a:gd name="T1" fmla="*/ 3 h 6"/>
                <a:gd name="T2" fmla="*/ 70 w 74"/>
                <a:gd name="T3" fmla="*/ 6 h 6"/>
                <a:gd name="T4" fmla="*/ 3 w 74"/>
                <a:gd name="T5" fmla="*/ 6 h 6"/>
                <a:gd name="T6" fmla="*/ 0 w 74"/>
                <a:gd name="T7" fmla="*/ 3 h 6"/>
                <a:gd name="T8" fmla="*/ 3 w 74"/>
                <a:gd name="T9" fmla="*/ 0 h 6"/>
                <a:gd name="T10" fmla="*/ 70 w 74"/>
                <a:gd name="T11" fmla="*/ 0 h 6"/>
                <a:gd name="T12" fmla="*/ 74 w 74"/>
                <a:gd name="T13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4" h="6">
                  <a:moveTo>
                    <a:pt x="74" y="3"/>
                  </a:moveTo>
                  <a:cubicBezTo>
                    <a:pt x="74" y="5"/>
                    <a:pt x="72" y="6"/>
                    <a:pt x="70" y="6"/>
                  </a:cubicBezTo>
                  <a:cubicBezTo>
                    <a:pt x="3" y="6"/>
                    <a:pt x="3" y="6"/>
                    <a:pt x="3" y="6"/>
                  </a:cubicBezTo>
                  <a:cubicBezTo>
                    <a:pt x="1" y="6"/>
                    <a:pt x="0" y="5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2" y="0"/>
                    <a:pt x="74" y="1"/>
                    <a:pt x="74" y="3"/>
                  </a:cubicBezTo>
                  <a:close/>
                </a:path>
              </a:pathLst>
            </a:custGeom>
            <a:solidFill>
              <a:srgbClr val="E2E4E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>
                <a:solidFill>
                  <a:srgbClr val="494D68"/>
                </a:solidFill>
              </a:endParaRP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928425A4-D3D5-3D52-21EB-D896D0B81B74}"/>
              </a:ext>
            </a:extLst>
          </p:cNvPr>
          <p:cNvGrpSpPr/>
          <p:nvPr/>
        </p:nvGrpSpPr>
        <p:grpSpPr>
          <a:xfrm>
            <a:off x="6985419" y="4893788"/>
            <a:ext cx="283378" cy="299294"/>
            <a:chOff x="4686300" y="2212975"/>
            <a:chExt cx="735013" cy="776288"/>
          </a:xfrm>
          <a:effectLst>
            <a:outerShdw dist="38100" dir="2700000" algn="tl" rotWithShape="0">
              <a:prstClr val="black">
                <a:alpha val="20000"/>
              </a:prstClr>
            </a:outerShdw>
          </a:effectLst>
        </p:grpSpPr>
        <p:sp>
          <p:nvSpPr>
            <p:cNvPr id="57" name="Freeform 103">
              <a:extLst>
                <a:ext uri="{FF2B5EF4-FFF2-40B4-BE49-F238E27FC236}">
                  <a16:creationId xmlns:a16="http://schemas.microsoft.com/office/drawing/2014/main" id="{1BE6BC63-D908-C1DF-41AD-581947422C7C}"/>
                </a:ext>
              </a:extLst>
            </p:cNvPr>
            <p:cNvSpPr>
              <a:spLocks/>
            </p:cNvSpPr>
            <p:nvPr/>
          </p:nvSpPr>
          <p:spPr bwMode="auto">
            <a:xfrm>
              <a:off x="4686300" y="2224088"/>
              <a:ext cx="735013" cy="765175"/>
            </a:xfrm>
            <a:custGeom>
              <a:avLst/>
              <a:gdLst>
                <a:gd name="T0" fmla="*/ 463 w 463"/>
                <a:gd name="T1" fmla="*/ 305 h 482"/>
                <a:gd name="T2" fmla="*/ 391 w 463"/>
                <a:gd name="T3" fmla="*/ 0 h 482"/>
                <a:gd name="T4" fmla="*/ 0 w 463"/>
                <a:gd name="T5" fmla="*/ 90 h 482"/>
                <a:gd name="T6" fmla="*/ 93 w 463"/>
                <a:gd name="T7" fmla="*/ 482 h 482"/>
                <a:gd name="T8" fmla="*/ 398 w 463"/>
                <a:gd name="T9" fmla="*/ 410 h 482"/>
                <a:gd name="T10" fmla="*/ 463 w 463"/>
                <a:gd name="T11" fmla="*/ 305 h 4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63" h="482">
                  <a:moveTo>
                    <a:pt x="463" y="305"/>
                  </a:moveTo>
                  <a:lnTo>
                    <a:pt x="391" y="0"/>
                  </a:lnTo>
                  <a:lnTo>
                    <a:pt x="0" y="90"/>
                  </a:lnTo>
                  <a:lnTo>
                    <a:pt x="93" y="482"/>
                  </a:lnTo>
                  <a:lnTo>
                    <a:pt x="398" y="410"/>
                  </a:lnTo>
                  <a:lnTo>
                    <a:pt x="463" y="305"/>
                  </a:lnTo>
                  <a:close/>
                </a:path>
              </a:pathLst>
            </a:custGeom>
            <a:solidFill>
              <a:srgbClr val="FBEC9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>
                <a:solidFill>
                  <a:srgbClr val="494D68"/>
                </a:solidFill>
              </a:endParaRPr>
            </a:p>
          </p:txBody>
        </p:sp>
        <p:sp>
          <p:nvSpPr>
            <p:cNvPr id="58" name="Freeform 104">
              <a:extLst>
                <a:ext uri="{FF2B5EF4-FFF2-40B4-BE49-F238E27FC236}">
                  <a16:creationId xmlns:a16="http://schemas.microsoft.com/office/drawing/2014/main" id="{1CC6152E-4FF5-F27A-EC23-1A3FFA7A00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7963" y="2708275"/>
              <a:ext cx="133350" cy="163513"/>
            </a:xfrm>
            <a:custGeom>
              <a:avLst/>
              <a:gdLst>
                <a:gd name="T0" fmla="*/ 84 w 84"/>
                <a:gd name="T1" fmla="*/ 0 h 103"/>
                <a:gd name="T2" fmla="*/ 22 w 84"/>
                <a:gd name="T3" fmla="*/ 103 h 103"/>
                <a:gd name="T4" fmla="*/ 0 w 84"/>
                <a:gd name="T5" fmla="*/ 19 h 103"/>
                <a:gd name="T6" fmla="*/ 84 w 84"/>
                <a:gd name="T7" fmla="*/ 0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4" h="103">
                  <a:moveTo>
                    <a:pt x="84" y="0"/>
                  </a:moveTo>
                  <a:lnTo>
                    <a:pt x="22" y="103"/>
                  </a:lnTo>
                  <a:lnTo>
                    <a:pt x="0" y="19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rgbClr val="FBE1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>
                <a:solidFill>
                  <a:srgbClr val="494D68"/>
                </a:solidFill>
              </a:endParaRPr>
            </a:p>
          </p:txBody>
        </p:sp>
        <p:sp>
          <p:nvSpPr>
            <p:cNvPr id="59" name="Freeform 105">
              <a:extLst>
                <a:ext uri="{FF2B5EF4-FFF2-40B4-BE49-F238E27FC236}">
                  <a16:creationId xmlns:a16="http://schemas.microsoft.com/office/drawing/2014/main" id="{E61BB6FE-BFDF-D450-1194-B06F7360C771}"/>
                </a:ext>
              </a:extLst>
            </p:cNvPr>
            <p:cNvSpPr>
              <a:spLocks/>
            </p:cNvSpPr>
            <p:nvPr/>
          </p:nvSpPr>
          <p:spPr bwMode="auto">
            <a:xfrm>
              <a:off x="4841875" y="2492375"/>
              <a:ext cx="377825" cy="109538"/>
            </a:xfrm>
            <a:custGeom>
              <a:avLst/>
              <a:gdLst>
                <a:gd name="T0" fmla="*/ 100 w 100"/>
                <a:gd name="T1" fmla="*/ 3 h 29"/>
                <a:gd name="T2" fmla="*/ 98 w 100"/>
                <a:gd name="T3" fmla="*/ 6 h 29"/>
                <a:gd name="T4" fmla="*/ 4 w 100"/>
                <a:gd name="T5" fmla="*/ 29 h 29"/>
                <a:gd name="T6" fmla="*/ 0 w 100"/>
                <a:gd name="T7" fmla="*/ 27 h 29"/>
                <a:gd name="T8" fmla="*/ 3 w 100"/>
                <a:gd name="T9" fmla="*/ 23 h 29"/>
                <a:gd name="T10" fmla="*/ 96 w 100"/>
                <a:gd name="T11" fmla="*/ 0 h 29"/>
                <a:gd name="T12" fmla="*/ 100 w 100"/>
                <a:gd name="T13" fmla="*/ 3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29">
                  <a:moveTo>
                    <a:pt x="100" y="3"/>
                  </a:moveTo>
                  <a:cubicBezTo>
                    <a:pt x="100" y="4"/>
                    <a:pt x="99" y="6"/>
                    <a:pt x="98" y="6"/>
                  </a:cubicBezTo>
                  <a:cubicBezTo>
                    <a:pt x="4" y="29"/>
                    <a:pt x="4" y="29"/>
                    <a:pt x="4" y="29"/>
                  </a:cubicBezTo>
                  <a:cubicBezTo>
                    <a:pt x="2" y="29"/>
                    <a:pt x="1" y="28"/>
                    <a:pt x="0" y="27"/>
                  </a:cubicBezTo>
                  <a:cubicBezTo>
                    <a:pt x="0" y="25"/>
                    <a:pt x="1" y="23"/>
                    <a:pt x="3" y="23"/>
                  </a:cubicBezTo>
                  <a:cubicBezTo>
                    <a:pt x="96" y="0"/>
                    <a:pt x="96" y="0"/>
                    <a:pt x="96" y="0"/>
                  </a:cubicBezTo>
                  <a:cubicBezTo>
                    <a:pt x="98" y="0"/>
                    <a:pt x="99" y="1"/>
                    <a:pt x="100" y="3"/>
                  </a:cubicBezTo>
                  <a:close/>
                </a:path>
              </a:pathLst>
            </a:custGeom>
            <a:solidFill>
              <a:srgbClr val="F3B60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>
                <a:solidFill>
                  <a:srgbClr val="494D68"/>
                </a:solidFill>
              </a:endParaRPr>
            </a:p>
          </p:txBody>
        </p:sp>
        <p:sp>
          <p:nvSpPr>
            <p:cNvPr id="60" name="Freeform 106">
              <a:extLst>
                <a:ext uri="{FF2B5EF4-FFF2-40B4-BE49-F238E27FC236}">
                  <a16:creationId xmlns:a16="http://schemas.microsoft.com/office/drawing/2014/main" id="{AC1DAB0E-393C-D3A0-6A97-E6FB2D84B086}"/>
                </a:ext>
              </a:extLst>
            </p:cNvPr>
            <p:cNvSpPr>
              <a:spLocks/>
            </p:cNvSpPr>
            <p:nvPr/>
          </p:nvSpPr>
          <p:spPr bwMode="auto">
            <a:xfrm>
              <a:off x="4864100" y="2587625"/>
              <a:ext cx="379413" cy="109538"/>
            </a:xfrm>
            <a:custGeom>
              <a:avLst/>
              <a:gdLst>
                <a:gd name="T0" fmla="*/ 100 w 100"/>
                <a:gd name="T1" fmla="*/ 3 h 29"/>
                <a:gd name="T2" fmla="*/ 98 w 100"/>
                <a:gd name="T3" fmla="*/ 6 h 29"/>
                <a:gd name="T4" fmla="*/ 4 w 100"/>
                <a:gd name="T5" fmla="*/ 29 h 29"/>
                <a:gd name="T6" fmla="*/ 0 w 100"/>
                <a:gd name="T7" fmla="*/ 26 h 29"/>
                <a:gd name="T8" fmla="*/ 3 w 100"/>
                <a:gd name="T9" fmla="*/ 23 h 29"/>
                <a:gd name="T10" fmla="*/ 96 w 100"/>
                <a:gd name="T11" fmla="*/ 0 h 29"/>
                <a:gd name="T12" fmla="*/ 100 w 100"/>
                <a:gd name="T13" fmla="*/ 3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29">
                  <a:moveTo>
                    <a:pt x="100" y="3"/>
                  </a:moveTo>
                  <a:cubicBezTo>
                    <a:pt x="100" y="4"/>
                    <a:pt x="99" y="6"/>
                    <a:pt x="98" y="6"/>
                  </a:cubicBezTo>
                  <a:cubicBezTo>
                    <a:pt x="4" y="29"/>
                    <a:pt x="4" y="29"/>
                    <a:pt x="4" y="29"/>
                  </a:cubicBezTo>
                  <a:cubicBezTo>
                    <a:pt x="2" y="29"/>
                    <a:pt x="1" y="28"/>
                    <a:pt x="0" y="26"/>
                  </a:cubicBezTo>
                  <a:cubicBezTo>
                    <a:pt x="0" y="25"/>
                    <a:pt x="1" y="23"/>
                    <a:pt x="3" y="23"/>
                  </a:cubicBezTo>
                  <a:cubicBezTo>
                    <a:pt x="96" y="0"/>
                    <a:pt x="96" y="0"/>
                    <a:pt x="96" y="0"/>
                  </a:cubicBezTo>
                  <a:cubicBezTo>
                    <a:pt x="98" y="0"/>
                    <a:pt x="99" y="1"/>
                    <a:pt x="100" y="3"/>
                  </a:cubicBezTo>
                  <a:close/>
                </a:path>
              </a:pathLst>
            </a:custGeom>
            <a:solidFill>
              <a:srgbClr val="F3B60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>
                <a:solidFill>
                  <a:srgbClr val="494D68"/>
                </a:solidFill>
              </a:endParaRPr>
            </a:p>
          </p:txBody>
        </p:sp>
        <p:sp>
          <p:nvSpPr>
            <p:cNvPr id="61" name="Freeform 107">
              <a:extLst>
                <a:ext uri="{FF2B5EF4-FFF2-40B4-BE49-F238E27FC236}">
                  <a16:creationId xmlns:a16="http://schemas.microsoft.com/office/drawing/2014/main" id="{EE1EE41F-CEC9-703E-D7A2-808841948025}"/>
                </a:ext>
              </a:extLst>
            </p:cNvPr>
            <p:cNvSpPr>
              <a:spLocks/>
            </p:cNvSpPr>
            <p:nvPr/>
          </p:nvSpPr>
          <p:spPr bwMode="auto">
            <a:xfrm>
              <a:off x="4886325" y="2705100"/>
              <a:ext cx="284163" cy="87313"/>
            </a:xfrm>
            <a:custGeom>
              <a:avLst/>
              <a:gdLst>
                <a:gd name="T0" fmla="*/ 75 w 75"/>
                <a:gd name="T1" fmla="*/ 2 h 23"/>
                <a:gd name="T2" fmla="*/ 73 w 75"/>
                <a:gd name="T3" fmla="*/ 6 h 23"/>
                <a:gd name="T4" fmla="*/ 4 w 75"/>
                <a:gd name="T5" fmla="*/ 23 h 23"/>
                <a:gd name="T6" fmla="*/ 0 w 75"/>
                <a:gd name="T7" fmla="*/ 20 h 23"/>
                <a:gd name="T8" fmla="*/ 3 w 75"/>
                <a:gd name="T9" fmla="*/ 17 h 23"/>
                <a:gd name="T10" fmla="*/ 71 w 75"/>
                <a:gd name="T11" fmla="*/ 0 h 23"/>
                <a:gd name="T12" fmla="*/ 75 w 75"/>
                <a:gd name="T13" fmla="*/ 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5" h="23">
                  <a:moveTo>
                    <a:pt x="75" y="2"/>
                  </a:moveTo>
                  <a:cubicBezTo>
                    <a:pt x="75" y="4"/>
                    <a:pt x="74" y="6"/>
                    <a:pt x="73" y="6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2" y="23"/>
                    <a:pt x="1" y="22"/>
                    <a:pt x="0" y="20"/>
                  </a:cubicBezTo>
                  <a:cubicBezTo>
                    <a:pt x="0" y="19"/>
                    <a:pt x="1" y="17"/>
                    <a:pt x="3" y="17"/>
                  </a:cubicBezTo>
                  <a:cubicBezTo>
                    <a:pt x="71" y="0"/>
                    <a:pt x="71" y="0"/>
                    <a:pt x="71" y="0"/>
                  </a:cubicBezTo>
                  <a:cubicBezTo>
                    <a:pt x="73" y="0"/>
                    <a:pt x="75" y="1"/>
                    <a:pt x="75" y="2"/>
                  </a:cubicBezTo>
                  <a:close/>
                </a:path>
              </a:pathLst>
            </a:custGeom>
            <a:solidFill>
              <a:srgbClr val="F3B60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>
                <a:solidFill>
                  <a:srgbClr val="494D68"/>
                </a:solidFill>
              </a:endParaRPr>
            </a:p>
          </p:txBody>
        </p:sp>
        <p:sp>
          <p:nvSpPr>
            <p:cNvPr id="62" name="Freeform 108">
              <a:extLst>
                <a:ext uri="{FF2B5EF4-FFF2-40B4-BE49-F238E27FC236}">
                  <a16:creationId xmlns:a16="http://schemas.microsoft.com/office/drawing/2014/main" id="{3513611E-7C78-3197-CAFD-145CCF40D11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3800" y="2355850"/>
              <a:ext cx="46038" cy="125413"/>
            </a:xfrm>
            <a:custGeom>
              <a:avLst/>
              <a:gdLst>
                <a:gd name="T0" fmla="*/ 6 w 12"/>
                <a:gd name="T1" fmla="*/ 1 h 33"/>
                <a:gd name="T2" fmla="*/ 0 w 12"/>
                <a:gd name="T3" fmla="*/ 0 h 33"/>
                <a:gd name="T4" fmla="*/ 0 w 12"/>
                <a:gd name="T5" fmla="*/ 26 h 33"/>
                <a:gd name="T6" fmla="*/ 6 w 12"/>
                <a:gd name="T7" fmla="*/ 33 h 33"/>
                <a:gd name="T8" fmla="*/ 12 w 12"/>
                <a:gd name="T9" fmla="*/ 26 h 33"/>
                <a:gd name="T10" fmla="*/ 12 w 12"/>
                <a:gd name="T11" fmla="*/ 0 h 33"/>
                <a:gd name="T12" fmla="*/ 6 w 12"/>
                <a:gd name="T13" fmla="*/ 1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33">
                  <a:moveTo>
                    <a:pt x="6" y="1"/>
                  </a:moveTo>
                  <a:cubicBezTo>
                    <a:pt x="4" y="1"/>
                    <a:pt x="2" y="0"/>
                    <a:pt x="0" y="0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2" y="33"/>
                    <a:pt x="6" y="33"/>
                  </a:cubicBezTo>
                  <a:cubicBezTo>
                    <a:pt x="10" y="33"/>
                    <a:pt x="12" y="30"/>
                    <a:pt x="12" y="26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0" y="0"/>
                    <a:pt x="8" y="1"/>
                    <a:pt x="6" y="1"/>
                  </a:cubicBezTo>
                  <a:close/>
                </a:path>
              </a:pathLst>
            </a:custGeom>
            <a:solidFill>
              <a:srgbClr val="B6BC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>
                <a:solidFill>
                  <a:srgbClr val="494D68"/>
                </a:solidFill>
              </a:endParaRPr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8B33828C-7F87-F9D9-8D15-2B3063EAC2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54588" y="2212975"/>
              <a:ext cx="144463" cy="147638"/>
            </a:xfrm>
            <a:prstGeom prst="ellipse">
              <a:avLst/>
            </a:prstGeom>
            <a:solidFill>
              <a:srgbClr val="DF2C2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>
                <a:solidFill>
                  <a:srgbClr val="494D68"/>
                </a:solidFill>
              </a:endParaRPr>
            </a:p>
          </p:txBody>
        </p:sp>
        <p:sp>
          <p:nvSpPr>
            <p:cNvPr id="64" name="Freeform 110">
              <a:extLst>
                <a:ext uri="{FF2B5EF4-FFF2-40B4-BE49-F238E27FC236}">
                  <a16:creationId xmlns:a16="http://schemas.microsoft.com/office/drawing/2014/main" id="{388A3808-24A7-F5EB-363C-6F98E23A3EDD}"/>
                </a:ext>
              </a:extLst>
            </p:cNvPr>
            <p:cNvSpPr>
              <a:spLocks/>
            </p:cNvSpPr>
            <p:nvPr/>
          </p:nvSpPr>
          <p:spPr bwMode="auto">
            <a:xfrm>
              <a:off x="4954588" y="2212975"/>
              <a:ext cx="122238" cy="120650"/>
            </a:xfrm>
            <a:custGeom>
              <a:avLst/>
              <a:gdLst>
                <a:gd name="T0" fmla="*/ 19 w 32"/>
                <a:gd name="T1" fmla="*/ 0 h 32"/>
                <a:gd name="T2" fmla="*/ 0 w 32"/>
                <a:gd name="T3" fmla="*/ 20 h 32"/>
                <a:gd name="T4" fmla="*/ 4 w 32"/>
                <a:gd name="T5" fmla="*/ 32 h 32"/>
                <a:gd name="T6" fmla="*/ 32 w 32"/>
                <a:gd name="T7" fmla="*/ 5 h 32"/>
                <a:gd name="T8" fmla="*/ 19 w 32"/>
                <a:gd name="T9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32">
                  <a:moveTo>
                    <a:pt x="19" y="0"/>
                  </a:moveTo>
                  <a:cubicBezTo>
                    <a:pt x="8" y="0"/>
                    <a:pt x="0" y="9"/>
                    <a:pt x="0" y="20"/>
                  </a:cubicBezTo>
                  <a:cubicBezTo>
                    <a:pt x="0" y="24"/>
                    <a:pt x="2" y="29"/>
                    <a:pt x="4" y="32"/>
                  </a:cubicBezTo>
                  <a:cubicBezTo>
                    <a:pt x="32" y="5"/>
                    <a:pt x="32" y="5"/>
                    <a:pt x="32" y="5"/>
                  </a:cubicBezTo>
                  <a:cubicBezTo>
                    <a:pt x="28" y="2"/>
                    <a:pt x="24" y="0"/>
                    <a:pt x="19" y="0"/>
                  </a:cubicBezTo>
                  <a:close/>
                </a:path>
              </a:pathLst>
            </a:custGeom>
            <a:solidFill>
              <a:srgbClr val="FA565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>
                <a:solidFill>
                  <a:srgbClr val="494D68"/>
                </a:solidFill>
              </a:endParaRP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216BCFA5-274C-B98A-5107-2D80CC4E444C}"/>
              </a:ext>
            </a:extLst>
          </p:cNvPr>
          <p:cNvGrpSpPr/>
          <p:nvPr/>
        </p:nvGrpSpPr>
        <p:grpSpPr>
          <a:xfrm>
            <a:off x="4931233" y="2064186"/>
            <a:ext cx="297456" cy="297457"/>
            <a:chOff x="6773863" y="639763"/>
            <a:chExt cx="771525" cy="771526"/>
          </a:xfrm>
          <a:effectLst>
            <a:outerShdw dist="38100" dir="2700000" algn="tl" rotWithShape="0">
              <a:prstClr val="black">
                <a:alpha val="20000"/>
              </a:prstClr>
            </a:outerShdw>
          </a:effectLst>
        </p:grpSpPr>
        <p:sp>
          <p:nvSpPr>
            <p:cNvPr id="39" name="Freeform 54">
              <a:extLst>
                <a:ext uri="{FF2B5EF4-FFF2-40B4-BE49-F238E27FC236}">
                  <a16:creationId xmlns:a16="http://schemas.microsoft.com/office/drawing/2014/main" id="{6A044999-BCCD-E9B3-A33A-85178335093A}"/>
                </a:ext>
              </a:extLst>
            </p:cNvPr>
            <p:cNvSpPr>
              <a:spLocks/>
            </p:cNvSpPr>
            <p:nvPr/>
          </p:nvSpPr>
          <p:spPr bwMode="auto">
            <a:xfrm>
              <a:off x="6773863" y="684213"/>
              <a:ext cx="771525" cy="147638"/>
            </a:xfrm>
            <a:custGeom>
              <a:avLst/>
              <a:gdLst>
                <a:gd name="T0" fmla="*/ 204 w 204"/>
                <a:gd name="T1" fmla="*/ 39 h 39"/>
                <a:gd name="T2" fmla="*/ 0 w 204"/>
                <a:gd name="T3" fmla="*/ 39 h 39"/>
                <a:gd name="T4" fmla="*/ 0 w 204"/>
                <a:gd name="T5" fmla="*/ 20 h 39"/>
                <a:gd name="T6" fmla="*/ 19 w 204"/>
                <a:gd name="T7" fmla="*/ 0 h 39"/>
                <a:gd name="T8" fmla="*/ 185 w 204"/>
                <a:gd name="T9" fmla="*/ 0 h 39"/>
                <a:gd name="T10" fmla="*/ 204 w 204"/>
                <a:gd name="T11" fmla="*/ 20 h 39"/>
                <a:gd name="T12" fmla="*/ 204 w 204"/>
                <a:gd name="T13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4" h="39">
                  <a:moveTo>
                    <a:pt x="204" y="3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0" y="9"/>
                    <a:pt x="8" y="0"/>
                    <a:pt x="19" y="0"/>
                  </a:cubicBezTo>
                  <a:cubicBezTo>
                    <a:pt x="185" y="0"/>
                    <a:pt x="185" y="0"/>
                    <a:pt x="185" y="0"/>
                  </a:cubicBezTo>
                  <a:cubicBezTo>
                    <a:pt x="196" y="0"/>
                    <a:pt x="204" y="9"/>
                    <a:pt x="204" y="20"/>
                  </a:cubicBezTo>
                  <a:lnTo>
                    <a:pt x="204" y="39"/>
                  </a:lnTo>
                  <a:close/>
                </a:path>
              </a:pathLst>
            </a:custGeom>
            <a:solidFill>
              <a:srgbClr val="DF2C2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>
                <a:solidFill>
                  <a:srgbClr val="494D68"/>
                </a:solidFill>
              </a:endParaRPr>
            </a:p>
          </p:txBody>
        </p:sp>
        <p:sp>
          <p:nvSpPr>
            <p:cNvPr id="40" name="Freeform 55">
              <a:extLst>
                <a:ext uri="{FF2B5EF4-FFF2-40B4-BE49-F238E27FC236}">
                  <a16:creationId xmlns:a16="http://schemas.microsoft.com/office/drawing/2014/main" id="{E949CA6B-04BD-2F54-BF64-77B8CFB06621}"/>
                </a:ext>
              </a:extLst>
            </p:cNvPr>
            <p:cNvSpPr>
              <a:spLocks/>
            </p:cNvSpPr>
            <p:nvPr/>
          </p:nvSpPr>
          <p:spPr bwMode="auto">
            <a:xfrm>
              <a:off x="6773863" y="684213"/>
              <a:ext cx="355600" cy="147638"/>
            </a:xfrm>
            <a:custGeom>
              <a:avLst/>
              <a:gdLst>
                <a:gd name="T0" fmla="*/ 94 w 94"/>
                <a:gd name="T1" fmla="*/ 0 h 39"/>
                <a:gd name="T2" fmla="*/ 19 w 94"/>
                <a:gd name="T3" fmla="*/ 0 h 39"/>
                <a:gd name="T4" fmla="*/ 0 w 94"/>
                <a:gd name="T5" fmla="*/ 20 h 39"/>
                <a:gd name="T6" fmla="*/ 0 w 94"/>
                <a:gd name="T7" fmla="*/ 39 h 39"/>
                <a:gd name="T8" fmla="*/ 55 w 94"/>
                <a:gd name="T9" fmla="*/ 39 h 39"/>
                <a:gd name="T10" fmla="*/ 94 w 94"/>
                <a:gd name="T11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4" h="39">
                  <a:moveTo>
                    <a:pt x="94" y="0"/>
                  </a:moveTo>
                  <a:cubicBezTo>
                    <a:pt x="19" y="0"/>
                    <a:pt x="19" y="0"/>
                    <a:pt x="19" y="0"/>
                  </a:cubicBezTo>
                  <a:cubicBezTo>
                    <a:pt x="8" y="0"/>
                    <a:pt x="0" y="9"/>
                    <a:pt x="0" y="2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55" y="39"/>
                    <a:pt x="55" y="39"/>
                    <a:pt x="55" y="39"/>
                  </a:cubicBezTo>
                  <a:lnTo>
                    <a:pt x="94" y="0"/>
                  </a:lnTo>
                  <a:close/>
                </a:path>
              </a:pathLst>
            </a:custGeom>
            <a:solidFill>
              <a:srgbClr val="FA565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>
                <a:solidFill>
                  <a:srgbClr val="494D68"/>
                </a:solidFill>
              </a:endParaRPr>
            </a:p>
          </p:txBody>
        </p:sp>
        <p:sp>
          <p:nvSpPr>
            <p:cNvPr id="41" name="Freeform 56">
              <a:extLst>
                <a:ext uri="{FF2B5EF4-FFF2-40B4-BE49-F238E27FC236}">
                  <a16:creationId xmlns:a16="http://schemas.microsoft.com/office/drawing/2014/main" id="{CFECAED2-7945-B470-F103-47E3817BEFF6}"/>
                </a:ext>
              </a:extLst>
            </p:cNvPr>
            <p:cNvSpPr>
              <a:spLocks/>
            </p:cNvSpPr>
            <p:nvPr/>
          </p:nvSpPr>
          <p:spPr bwMode="auto">
            <a:xfrm>
              <a:off x="6773863" y="831851"/>
              <a:ext cx="771525" cy="579438"/>
            </a:xfrm>
            <a:custGeom>
              <a:avLst/>
              <a:gdLst>
                <a:gd name="T0" fmla="*/ 204 w 204"/>
                <a:gd name="T1" fmla="*/ 134 h 153"/>
                <a:gd name="T2" fmla="*/ 185 w 204"/>
                <a:gd name="T3" fmla="*/ 153 h 153"/>
                <a:gd name="T4" fmla="*/ 19 w 204"/>
                <a:gd name="T5" fmla="*/ 153 h 153"/>
                <a:gd name="T6" fmla="*/ 0 w 204"/>
                <a:gd name="T7" fmla="*/ 134 h 153"/>
                <a:gd name="T8" fmla="*/ 0 w 204"/>
                <a:gd name="T9" fmla="*/ 0 h 153"/>
                <a:gd name="T10" fmla="*/ 204 w 204"/>
                <a:gd name="T11" fmla="*/ 0 h 153"/>
                <a:gd name="T12" fmla="*/ 204 w 204"/>
                <a:gd name="T13" fmla="*/ 134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4" h="153">
                  <a:moveTo>
                    <a:pt x="204" y="134"/>
                  </a:moveTo>
                  <a:cubicBezTo>
                    <a:pt x="204" y="145"/>
                    <a:pt x="196" y="153"/>
                    <a:pt x="185" y="153"/>
                  </a:cubicBezTo>
                  <a:cubicBezTo>
                    <a:pt x="19" y="153"/>
                    <a:pt x="19" y="153"/>
                    <a:pt x="19" y="153"/>
                  </a:cubicBezTo>
                  <a:cubicBezTo>
                    <a:pt x="8" y="153"/>
                    <a:pt x="0" y="145"/>
                    <a:pt x="0" y="13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04" y="0"/>
                    <a:pt x="204" y="0"/>
                    <a:pt x="204" y="0"/>
                  </a:cubicBezTo>
                  <a:lnTo>
                    <a:pt x="204" y="13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>
                <a:solidFill>
                  <a:srgbClr val="494D68"/>
                </a:solidFill>
              </a:endParaRP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EB525394-760C-F960-5C1C-6C5CD9AB0A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38976" y="927101"/>
              <a:ext cx="120650" cy="109538"/>
            </a:xfrm>
            <a:prstGeom prst="rect">
              <a:avLst/>
            </a:prstGeom>
            <a:solidFill>
              <a:srgbClr val="40C9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>
                <a:solidFill>
                  <a:srgbClr val="494D68"/>
                </a:solidFill>
              </a:endParaRP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8670368F-7A7F-D835-02E0-A071CE8F77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27863" y="1063626"/>
              <a:ext cx="120650" cy="104775"/>
            </a:xfrm>
            <a:prstGeom prst="rect">
              <a:avLst/>
            </a:prstGeom>
            <a:solidFill>
              <a:srgbClr val="C9F2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>
                <a:solidFill>
                  <a:srgbClr val="494D68"/>
                </a:solidFill>
              </a:endParaRP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EDC72816-C10E-6842-6B6C-DF5ECE3F36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0738" y="1063626"/>
              <a:ext cx="122238" cy="104775"/>
            </a:xfrm>
            <a:prstGeom prst="rect">
              <a:avLst/>
            </a:prstGeom>
            <a:solidFill>
              <a:srgbClr val="C9F2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>
                <a:solidFill>
                  <a:srgbClr val="494D68"/>
                </a:solidFill>
              </a:endParaRP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4A22A0A1-F346-8A83-A738-6A26A21401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69113" y="927101"/>
              <a:ext cx="131763" cy="109538"/>
            </a:xfrm>
            <a:prstGeom prst="rect">
              <a:avLst/>
            </a:prstGeom>
            <a:solidFill>
              <a:srgbClr val="C9F2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>
                <a:solidFill>
                  <a:srgbClr val="494D68"/>
                </a:solidFill>
              </a:endParaRP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52A8AFBB-0B63-9667-4C9A-38F8F9E5EB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0738" y="927101"/>
              <a:ext cx="122238" cy="109538"/>
            </a:xfrm>
            <a:prstGeom prst="rect">
              <a:avLst/>
            </a:prstGeom>
            <a:solidFill>
              <a:srgbClr val="C9F2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>
                <a:solidFill>
                  <a:srgbClr val="494D68"/>
                </a:solidFill>
              </a:endParaRP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197EECFE-F20A-98FD-6C79-E38E621142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0738" y="1195388"/>
              <a:ext cx="122238" cy="120650"/>
            </a:xfrm>
            <a:prstGeom prst="rect">
              <a:avLst/>
            </a:prstGeom>
            <a:solidFill>
              <a:srgbClr val="40C9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>
                <a:solidFill>
                  <a:srgbClr val="494D68"/>
                </a:solidFill>
              </a:endParaRP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9F57A1F7-1B3D-62F5-762D-D6EE0FFC55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18376" y="1063626"/>
              <a:ext cx="120650" cy="104775"/>
            </a:xfrm>
            <a:prstGeom prst="rect">
              <a:avLst/>
            </a:prstGeom>
            <a:solidFill>
              <a:srgbClr val="C9F2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>
                <a:solidFill>
                  <a:srgbClr val="494D68"/>
                </a:solidFill>
              </a:endParaRP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5ADDAED8-1C35-2372-9D41-4E290BA1DF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18376" y="927101"/>
              <a:ext cx="120650" cy="109538"/>
            </a:xfrm>
            <a:prstGeom prst="rect">
              <a:avLst/>
            </a:prstGeom>
            <a:solidFill>
              <a:srgbClr val="C9F2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>
                <a:solidFill>
                  <a:srgbClr val="494D68"/>
                </a:solidFill>
              </a:endParaRP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31943D31-4556-BAE1-0481-37F5517752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18376" y="1195388"/>
              <a:ext cx="120650" cy="120650"/>
            </a:xfrm>
            <a:prstGeom prst="rect">
              <a:avLst/>
            </a:prstGeom>
            <a:solidFill>
              <a:srgbClr val="C9F2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>
                <a:solidFill>
                  <a:srgbClr val="494D68"/>
                </a:solidFill>
              </a:endParaRP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AB211900-BB31-D1C5-EE8F-55311D77E0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69113" y="1063626"/>
              <a:ext cx="131763" cy="104775"/>
            </a:xfrm>
            <a:prstGeom prst="rect">
              <a:avLst/>
            </a:prstGeom>
            <a:solidFill>
              <a:srgbClr val="C9F2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>
                <a:solidFill>
                  <a:srgbClr val="494D68"/>
                </a:solidFill>
              </a:endParaRP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784DC6AD-563F-0292-F9E1-9927A19DCF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69113" y="1195388"/>
              <a:ext cx="131763" cy="120650"/>
            </a:xfrm>
            <a:prstGeom prst="rect">
              <a:avLst/>
            </a:prstGeom>
            <a:solidFill>
              <a:srgbClr val="C9F2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>
                <a:solidFill>
                  <a:srgbClr val="494D68"/>
                </a:solidFill>
              </a:endParaRP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038E3B80-1646-3EF9-2EB8-6FF9CEEC7C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27863" y="1195388"/>
              <a:ext cx="120650" cy="120650"/>
            </a:xfrm>
            <a:prstGeom prst="rect">
              <a:avLst/>
            </a:prstGeom>
            <a:solidFill>
              <a:srgbClr val="C9F2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>
                <a:solidFill>
                  <a:srgbClr val="494D68"/>
                </a:solidFill>
              </a:endParaRPr>
            </a:p>
          </p:txBody>
        </p:sp>
        <p:sp>
          <p:nvSpPr>
            <p:cNvPr id="54" name="Freeform 69">
              <a:extLst>
                <a:ext uri="{FF2B5EF4-FFF2-40B4-BE49-F238E27FC236}">
                  <a16:creationId xmlns:a16="http://schemas.microsoft.com/office/drawing/2014/main" id="{20D9AC78-94F5-81DC-7E76-871E7C37CE6C}"/>
                </a:ext>
              </a:extLst>
            </p:cNvPr>
            <p:cNvSpPr>
              <a:spLocks/>
            </p:cNvSpPr>
            <p:nvPr/>
          </p:nvSpPr>
          <p:spPr bwMode="auto">
            <a:xfrm>
              <a:off x="6869113" y="639763"/>
              <a:ext cx="71438" cy="142875"/>
            </a:xfrm>
            <a:custGeom>
              <a:avLst/>
              <a:gdLst>
                <a:gd name="T0" fmla="*/ 19 w 19"/>
                <a:gd name="T1" fmla="*/ 28 h 38"/>
                <a:gd name="T2" fmla="*/ 10 w 19"/>
                <a:gd name="T3" fmla="*/ 38 h 38"/>
                <a:gd name="T4" fmla="*/ 0 w 19"/>
                <a:gd name="T5" fmla="*/ 28 h 38"/>
                <a:gd name="T6" fmla="*/ 0 w 19"/>
                <a:gd name="T7" fmla="*/ 9 h 38"/>
                <a:gd name="T8" fmla="*/ 10 w 19"/>
                <a:gd name="T9" fmla="*/ 0 h 38"/>
                <a:gd name="T10" fmla="*/ 19 w 19"/>
                <a:gd name="T11" fmla="*/ 9 h 38"/>
                <a:gd name="T12" fmla="*/ 19 w 19"/>
                <a:gd name="T13" fmla="*/ 28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" h="38">
                  <a:moveTo>
                    <a:pt x="19" y="28"/>
                  </a:moveTo>
                  <a:cubicBezTo>
                    <a:pt x="19" y="34"/>
                    <a:pt x="15" y="38"/>
                    <a:pt x="10" y="38"/>
                  </a:cubicBezTo>
                  <a:cubicBezTo>
                    <a:pt x="5" y="38"/>
                    <a:pt x="0" y="34"/>
                    <a:pt x="0" y="28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4"/>
                    <a:pt x="5" y="0"/>
                    <a:pt x="10" y="0"/>
                  </a:cubicBezTo>
                  <a:cubicBezTo>
                    <a:pt x="15" y="0"/>
                    <a:pt x="19" y="4"/>
                    <a:pt x="19" y="9"/>
                  </a:cubicBezTo>
                  <a:lnTo>
                    <a:pt x="19" y="28"/>
                  </a:lnTo>
                  <a:close/>
                </a:path>
              </a:pathLst>
            </a:custGeom>
            <a:solidFill>
              <a:srgbClr val="3E3E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>
                <a:solidFill>
                  <a:srgbClr val="494D68"/>
                </a:solidFill>
              </a:endParaRPr>
            </a:p>
          </p:txBody>
        </p:sp>
        <p:sp>
          <p:nvSpPr>
            <p:cNvPr id="55" name="Freeform 70">
              <a:extLst>
                <a:ext uri="{FF2B5EF4-FFF2-40B4-BE49-F238E27FC236}">
                  <a16:creationId xmlns:a16="http://schemas.microsoft.com/office/drawing/2014/main" id="{666A0468-A7A6-1F5D-8DD1-2D0DC1773B5B}"/>
                </a:ext>
              </a:extLst>
            </p:cNvPr>
            <p:cNvSpPr>
              <a:spLocks/>
            </p:cNvSpPr>
            <p:nvPr/>
          </p:nvSpPr>
          <p:spPr bwMode="auto">
            <a:xfrm>
              <a:off x="7378701" y="639763"/>
              <a:ext cx="73025" cy="142875"/>
            </a:xfrm>
            <a:custGeom>
              <a:avLst/>
              <a:gdLst>
                <a:gd name="T0" fmla="*/ 19 w 19"/>
                <a:gd name="T1" fmla="*/ 28 h 38"/>
                <a:gd name="T2" fmla="*/ 9 w 19"/>
                <a:gd name="T3" fmla="*/ 38 h 38"/>
                <a:gd name="T4" fmla="*/ 0 w 19"/>
                <a:gd name="T5" fmla="*/ 28 h 38"/>
                <a:gd name="T6" fmla="*/ 0 w 19"/>
                <a:gd name="T7" fmla="*/ 9 h 38"/>
                <a:gd name="T8" fmla="*/ 9 w 19"/>
                <a:gd name="T9" fmla="*/ 0 h 38"/>
                <a:gd name="T10" fmla="*/ 19 w 19"/>
                <a:gd name="T11" fmla="*/ 9 h 38"/>
                <a:gd name="T12" fmla="*/ 19 w 19"/>
                <a:gd name="T13" fmla="*/ 28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" h="38">
                  <a:moveTo>
                    <a:pt x="19" y="28"/>
                  </a:moveTo>
                  <a:cubicBezTo>
                    <a:pt x="19" y="34"/>
                    <a:pt x="14" y="38"/>
                    <a:pt x="9" y="38"/>
                  </a:cubicBezTo>
                  <a:cubicBezTo>
                    <a:pt x="4" y="38"/>
                    <a:pt x="0" y="34"/>
                    <a:pt x="0" y="28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14" y="0"/>
                    <a:pt x="19" y="4"/>
                    <a:pt x="19" y="9"/>
                  </a:cubicBezTo>
                  <a:lnTo>
                    <a:pt x="19" y="28"/>
                  </a:lnTo>
                  <a:close/>
                </a:path>
              </a:pathLst>
            </a:custGeom>
            <a:solidFill>
              <a:srgbClr val="3E3E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>
                <a:solidFill>
                  <a:srgbClr val="494D68"/>
                </a:solidFill>
              </a:endParaRPr>
            </a:p>
          </p:txBody>
        </p:sp>
        <p:sp>
          <p:nvSpPr>
            <p:cNvPr id="56" name="Freeform 71">
              <a:extLst>
                <a:ext uri="{FF2B5EF4-FFF2-40B4-BE49-F238E27FC236}">
                  <a16:creationId xmlns:a16="http://schemas.microsoft.com/office/drawing/2014/main" id="{D7990783-F924-AA88-5D3B-6EB2EDEE26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1526" y="639763"/>
              <a:ext cx="76200" cy="142875"/>
            </a:xfrm>
            <a:custGeom>
              <a:avLst/>
              <a:gdLst>
                <a:gd name="T0" fmla="*/ 20 w 20"/>
                <a:gd name="T1" fmla="*/ 28 h 38"/>
                <a:gd name="T2" fmla="*/ 10 w 20"/>
                <a:gd name="T3" fmla="*/ 38 h 38"/>
                <a:gd name="T4" fmla="*/ 0 w 20"/>
                <a:gd name="T5" fmla="*/ 28 h 38"/>
                <a:gd name="T6" fmla="*/ 0 w 20"/>
                <a:gd name="T7" fmla="*/ 9 h 38"/>
                <a:gd name="T8" fmla="*/ 10 w 20"/>
                <a:gd name="T9" fmla="*/ 0 h 38"/>
                <a:gd name="T10" fmla="*/ 20 w 20"/>
                <a:gd name="T11" fmla="*/ 9 h 38"/>
                <a:gd name="T12" fmla="*/ 20 w 20"/>
                <a:gd name="T13" fmla="*/ 28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" h="38">
                  <a:moveTo>
                    <a:pt x="20" y="28"/>
                  </a:moveTo>
                  <a:cubicBezTo>
                    <a:pt x="20" y="34"/>
                    <a:pt x="15" y="38"/>
                    <a:pt x="10" y="38"/>
                  </a:cubicBezTo>
                  <a:cubicBezTo>
                    <a:pt x="5" y="38"/>
                    <a:pt x="0" y="34"/>
                    <a:pt x="0" y="28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4"/>
                    <a:pt x="5" y="0"/>
                    <a:pt x="10" y="0"/>
                  </a:cubicBezTo>
                  <a:cubicBezTo>
                    <a:pt x="15" y="0"/>
                    <a:pt x="20" y="4"/>
                    <a:pt x="20" y="9"/>
                  </a:cubicBezTo>
                  <a:lnTo>
                    <a:pt x="20" y="28"/>
                  </a:lnTo>
                  <a:close/>
                </a:path>
              </a:pathLst>
            </a:custGeom>
            <a:solidFill>
              <a:srgbClr val="3E3E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>
                <a:solidFill>
                  <a:srgbClr val="494D68"/>
                </a:solidFill>
              </a:endParaRPr>
            </a:p>
          </p:txBody>
        </p:sp>
      </p:grpSp>
      <p:sp>
        <p:nvSpPr>
          <p:cNvPr id="32" name="Title 1">
            <a:extLst>
              <a:ext uri="{FF2B5EF4-FFF2-40B4-BE49-F238E27FC236}">
                <a16:creationId xmlns:a16="http://schemas.microsoft.com/office/drawing/2014/main" id="{C1E2801C-8D9D-0D45-1534-E30C007840AD}"/>
              </a:ext>
            </a:extLst>
          </p:cNvPr>
          <p:cNvSpPr txBox="1">
            <a:spLocks/>
          </p:cNvSpPr>
          <p:nvPr/>
        </p:nvSpPr>
        <p:spPr>
          <a:xfrm>
            <a:off x="447279" y="1655192"/>
            <a:ext cx="2450059" cy="511296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00000"/>
              </a:lnSpc>
              <a:spcAft>
                <a:spcPts val="1200"/>
              </a:spcAft>
            </a:pPr>
            <a:r>
              <a:rPr lang="en-US" sz="1400">
                <a:solidFill>
                  <a:srgbClr val="494D6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Use ARM templates to deploy and manage Logic Apps, as it allows for versioning and repeatable deployments</a:t>
            </a:r>
          </a:p>
        </p:txBody>
      </p:sp>
      <p:sp>
        <p:nvSpPr>
          <p:cNvPr id="33" name="Title 1">
            <a:extLst>
              <a:ext uri="{FF2B5EF4-FFF2-40B4-BE49-F238E27FC236}">
                <a16:creationId xmlns:a16="http://schemas.microsoft.com/office/drawing/2014/main" id="{B59E7CF3-0BA0-D117-2A81-06A563596180}"/>
              </a:ext>
            </a:extLst>
          </p:cNvPr>
          <p:cNvSpPr txBox="1">
            <a:spLocks/>
          </p:cNvSpPr>
          <p:nvPr/>
        </p:nvSpPr>
        <p:spPr>
          <a:xfrm>
            <a:off x="234178" y="3273151"/>
            <a:ext cx="2450059" cy="511296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00000"/>
              </a:lnSpc>
              <a:spcAft>
                <a:spcPts val="1200"/>
              </a:spcAft>
            </a:pPr>
            <a:r>
              <a:rPr lang="en-US" sz="1400">
                <a:solidFill>
                  <a:srgbClr val="494D6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Use Azure Monitor to collect and analyze log data, and set up alerts for important events</a:t>
            </a:r>
          </a:p>
        </p:txBody>
      </p:sp>
      <p:sp>
        <p:nvSpPr>
          <p:cNvPr id="34" name="Title 1">
            <a:extLst>
              <a:ext uri="{FF2B5EF4-FFF2-40B4-BE49-F238E27FC236}">
                <a16:creationId xmlns:a16="http://schemas.microsoft.com/office/drawing/2014/main" id="{68FECC1F-4206-4503-8D24-E0AC1650EC16}"/>
              </a:ext>
            </a:extLst>
          </p:cNvPr>
          <p:cNvSpPr txBox="1">
            <a:spLocks/>
          </p:cNvSpPr>
          <p:nvPr/>
        </p:nvSpPr>
        <p:spPr>
          <a:xfrm>
            <a:off x="247774" y="4571305"/>
            <a:ext cx="2450059" cy="73991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00000"/>
              </a:lnSpc>
              <a:spcAft>
                <a:spcPts val="1200"/>
              </a:spcAft>
            </a:pPr>
            <a:r>
              <a:rPr lang="en-US" sz="1400">
                <a:solidFill>
                  <a:srgbClr val="494D6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Use ARM policies to enforce compliance and governance policies on resources.</a:t>
            </a:r>
          </a:p>
        </p:txBody>
      </p:sp>
      <p:sp>
        <p:nvSpPr>
          <p:cNvPr id="35" name="Title 1">
            <a:extLst>
              <a:ext uri="{FF2B5EF4-FFF2-40B4-BE49-F238E27FC236}">
                <a16:creationId xmlns:a16="http://schemas.microsoft.com/office/drawing/2014/main" id="{43AF44D5-7585-70E1-9ABD-5B3AC6B7935C}"/>
              </a:ext>
            </a:extLst>
          </p:cNvPr>
          <p:cNvSpPr txBox="1">
            <a:spLocks/>
          </p:cNvSpPr>
          <p:nvPr/>
        </p:nvSpPr>
        <p:spPr>
          <a:xfrm>
            <a:off x="9257234" y="4674144"/>
            <a:ext cx="2247595" cy="758651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00000"/>
              </a:lnSpc>
              <a:spcAft>
                <a:spcPts val="1200"/>
              </a:spcAft>
            </a:pPr>
            <a:r>
              <a:rPr lang="en-US" sz="1400">
                <a:solidFill>
                  <a:srgbClr val="494D6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Use Azure DevOps to manage the code, testing, and deployment of Logic Apps.</a:t>
            </a:r>
          </a:p>
        </p:txBody>
      </p:sp>
      <p:sp>
        <p:nvSpPr>
          <p:cNvPr id="36" name="Title 1">
            <a:extLst>
              <a:ext uri="{FF2B5EF4-FFF2-40B4-BE49-F238E27FC236}">
                <a16:creationId xmlns:a16="http://schemas.microsoft.com/office/drawing/2014/main" id="{7BC50EFB-67AF-E4AB-39F0-47ADA8264C4E}"/>
              </a:ext>
            </a:extLst>
          </p:cNvPr>
          <p:cNvSpPr txBox="1">
            <a:spLocks/>
          </p:cNvSpPr>
          <p:nvPr/>
        </p:nvSpPr>
        <p:spPr>
          <a:xfrm>
            <a:off x="9464524" y="3315612"/>
            <a:ext cx="2450059" cy="511296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00000"/>
              </a:lnSpc>
              <a:spcAft>
                <a:spcPts val="1200"/>
              </a:spcAft>
            </a:pPr>
            <a:r>
              <a:rPr lang="en-US" sz="1400">
                <a:solidFill>
                  <a:srgbClr val="494D6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Use Azure Key Vault to store and manage secrets and certificates that are used by Logic Apps</a:t>
            </a:r>
          </a:p>
        </p:txBody>
      </p:sp>
      <p:sp>
        <p:nvSpPr>
          <p:cNvPr id="37" name="Title 1">
            <a:extLst>
              <a:ext uri="{FF2B5EF4-FFF2-40B4-BE49-F238E27FC236}">
                <a16:creationId xmlns:a16="http://schemas.microsoft.com/office/drawing/2014/main" id="{CABDD8B9-F576-B5CF-2008-29B8E03D151B}"/>
              </a:ext>
            </a:extLst>
          </p:cNvPr>
          <p:cNvSpPr txBox="1">
            <a:spLocks/>
          </p:cNvSpPr>
          <p:nvPr/>
        </p:nvSpPr>
        <p:spPr>
          <a:xfrm>
            <a:off x="8999740" y="1541469"/>
            <a:ext cx="2450059" cy="817423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00000"/>
              </a:lnSpc>
              <a:spcAft>
                <a:spcPts val="1200"/>
              </a:spcAft>
            </a:pPr>
            <a:r>
              <a:rPr lang="en-US" sz="1400">
                <a:solidFill>
                  <a:srgbClr val="494D6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Choosing between pay as you go (consumption based) or standard logic apps is crucial. </a:t>
            </a: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ED5B9ADE-998D-C058-6647-08FB53323D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47808" y="6140550"/>
            <a:ext cx="501650" cy="501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34329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BD187E9E-C6A3-5AAF-6B2D-24B98832AB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46">
            <a:extLst>
              <a:ext uri="{FF2B5EF4-FFF2-40B4-BE49-F238E27FC236}">
                <a16:creationId xmlns:a16="http://schemas.microsoft.com/office/drawing/2014/main" id="{7267908E-B93E-FBFE-80BC-8B457243F0A5}"/>
              </a:ext>
            </a:extLst>
          </p:cNvPr>
          <p:cNvSpPr/>
          <p:nvPr/>
        </p:nvSpPr>
        <p:spPr>
          <a:xfrm>
            <a:off x="4471615" y="2327547"/>
            <a:ext cx="2549756" cy="732475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4" name="Freeform 46">
            <a:extLst>
              <a:ext uri="{FF2B5EF4-FFF2-40B4-BE49-F238E27FC236}">
                <a16:creationId xmlns:a16="http://schemas.microsoft.com/office/drawing/2014/main" id="{D689DDBF-D93D-57FC-B003-95CC78423DB1}"/>
              </a:ext>
            </a:extLst>
          </p:cNvPr>
          <p:cNvSpPr/>
          <p:nvPr/>
        </p:nvSpPr>
        <p:spPr>
          <a:xfrm>
            <a:off x="4446802" y="3797007"/>
            <a:ext cx="2235164" cy="732475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5" name="Freeform 46">
            <a:extLst>
              <a:ext uri="{FF2B5EF4-FFF2-40B4-BE49-F238E27FC236}">
                <a16:creationId xmlns:a16="http://schemas.microsoft.com/office/drawing/2014/main" id="{BC34DCDC-1AD4-DB82-631C-4BE93684D351}"/>
              </a:ext>
            </a:extLst>
          </p:cNvPr>
          <p:cNvSpPr/>
          <p:nvPr/>
        </p:nvSpPr>
        <p:spPr>
          <a:xfrm>
            <a:off x="4451471" y="5088842"/>
            <a:ext cx="2723859" cy="732475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6A19B26-336A-3F66-09FD-8386DB77B7D6}"/>
              </a:ext>
            </a:extLst>
          </p:cNvPr>
          <p:cNvSpPr>
            <a:spLocks noGrp="1"/>
          </p:cNvSpPr>
          <p:nvPr/>
        </p:nvSpPr>
        <p:spPr>
          <a:xfrm>
            <a:off x="556521" y="438217"/>
            <a:ext cx="9569056" cy="1123583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0" kern="1200">
                <a:solidFill>
                  <a:srgbClr val="9C3C9A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pPr algn="l"/>
            <a:r>
              <a:rPr lang="en-US" sz="6000" b="1" dirty="0">
                <a:solidFill>
                  <a:srgbClr val="1E275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How to Handle Errors</a:t>
            </a:r>
          </a:p>
        </p:txBody>
      </p:sp>
      <p:sp>
        <p:nvSpPr>
          <p:cNvPr id="7" name="Slide Number Placeholder 93">
            <a:extLst>
              <a:ext uri="{FF2B5EF4-FFF2-40B4-BE49-F238E27FC236}">
                <a16:creationId xmlns:a16="http://schemas.microsoft.com/office/drawing/2014/main" id="{24410DF0-1475-2DE4-0760-0FCAC7E46CD3}"/>
              </a:ext>
            </a:extLst>
          </p:cNvPr>
          <p:cNvSpPr>
            <a:spLocks noGrp="1"/>
          </p:cNvSpPr>
          <p:nvPr/>
        </p:nvSpPr>
        <p:spPr>
          <a:xfrm>
            <a:off x="11867538" y="6316623"/>
            <a:ext cx="3317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D05A9CD-9176-4D89-A414-3BEEE81BBC77}" type="slidenum">
              <a:rPr lang="en-US" smtClean="0"/>
              <a:pPr/>
              <a:t>41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9F0F5058-6CAF-22B2-A0ED-857790F01846}"/>
              </a:ext>
            </a:extLst>
          </p:cNvPr>
          <p:cNvSpPr txBox="1">
            <a:spLocks/>
          </p:cNvSpPr>
          <p:nvPr/>
        </p:nvSpPr>
        <p:spPr>
          <a:xfrm>
            <a:off x="356716" y="1768513"/>
            <a:ext cx="3809648" cy="442818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Aft>
                <a:spcPts val="1200"/>
              </a:spcAft>
            </a:pPr>
            <a:r>
              <a:rPr lang="en-US" sz="2000" dirty="0">
                <a:solidFill>
                  <a:srgbClr val="494D6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Understanding and managing errors is crucial in maintaining the efficiency and reliability of your APIs. </a:t>
            </a:r>
          </a:p>
          <a:p>
            <a:pPr>
              <a:lnSpc>
                <a:spcPct val="100000"/>
              </a:lnSpc>
              <a:spcAft>
                <a:spcPts val="1200"/>
              </a:spcAft>
            </a:pPr>
            <a:endParaRPr lang="en-US" sz="2000" dirty="0">
              <a:solidFill>
                <a:srgbClr val="494D68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100000"/>
              </a:lnSpc>
              <a:spcAft>
                <a:spcPts val="1200"/>
              </a:spcAft>
            </a:pPr>
            <a:endParaRPr lang="en-US" sz="2000" dirty="0">
              <a:solidFill>
                <a:srgbClr val="494D68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lang="en-US" sz="2000" dirty="0">
                <a:solidFill>
                  <a:srgbClr val="494D6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Proper error handling not only improves user experience but also aids in the rapid resolution of potential issues, ensuring system robustness. 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1C32C77-4E04-D2A1-ECC5-442CB3C09C26}"/>
              </a:ext>
            </a:extLst>
          </p:cNvPr>
          <p:cNvGrpSpPr/>
          <p:nvPr/>
        </p:nvGrpSpPr>
        <p:grpSpPr>
          <a:xfrm>
            <a:off x="4320343" y="2208026"/>
            <a:ext cx="971518" cy="971518"/>
            <a:chOff x="7187500" y="839949"/>
            <a:chExt cx="1422400" cy="1422400"/>
          </a:xfrm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FF01CED8-91B0-7A97-F39C-96EA8DCD3EF2}"/>
                </a:ext>
              </a:extLst>
            </p:cNvPr>
            <p:cNvSpPr/>
            <p:nvPr/>
          </p:nvSpPr>
          <p:spPr>
            <a:xfrm>
              <a:off x="7187500" y="839949"/>
              <a:ext cx="1422400" cy="1422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A39F0ECE-FAB9-D9FF-3284-7ABF3C1BA160}"/>
                </a:ext>
              </a:extLst>
            </p:cNvPr>
            <p:cNvSpPr/>
            <p:nvPr/>
          </p:nvSpPr>
          <p:spPr>
            <a:xfrm>
              <a:off x="7412941" y="1065390"/>
              <a:ext cx="971519" cy="971519"/>
            </a:xfrm>
            <a:prstGeom prst="ellipse">
              <a:avLst/>
            </a:prstGeom>
            <a:solidFill>
              <a:srgbClr val="D01012"/>
            </a:solidFill>
            <a:ln>
              <a:noFill/>
            </a:ln>
            <a:effectLst>
              <a:outerShdw dist="635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D0A71F9-5C27-3FB5-EEEB-2CA1DDCFA25C}"/>
              </a:ext>
            </a:extLst>
          </p:cNvPr>
          <p:cNvGrpSpPr/>
          <p:nvPr/>
        </p:nvGrpSpPr>
        <p:grpSpPr>
          <a:xfrm>
            <a:off x="4300199" y="4983051"/>
            <a:ext cx="971518" cy="971518"/>
            <a:chOff x="7187500" y="839949"/>
            <a:chExt cx="1422400" cy="1422400"/>
          </a:xfrm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BC30F8D2-D619-D940-0553-8CA1F7B1CDB0}"/>
                </a:ext>
              </a:extLst>
            </p:cNvPr>
            <p:cNvSpPr/>
            <p:nvPr/>
          </p:nvSpPr>
          <p:spPr>
            <a:xfrm>
              <a:off x="7187500" y="839949"/>
              <a:ext cx="1422400" cy="1422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4E81F9ED-B7B5-5F0A-B7BB-5451636F2823}"/>
                </a:ext>
              </a:extLst>
            </p:cNvPr>
            <p:cNvSpPr/>
            <p:nvPr/>
          </p:nvSpPr>
          <p:spPr>
            <a:xfrm>
              <a:off x="7412941" y="1065390"/>
              <a:ext cx="971519" cy="971519"/>
            </a:xfrm>
            <a:prstGeom prst="ellipse">
              <a:avLst/>
            </a:prstGeom>
            <a:solidFill>
              <a:srgbClr val="D01012"/>
            </a:solidFill>
            <a:ln>
              <a:noFill/>
            </a:ln>
            <a:effectLst>
              <a:outerShdw dist="635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777772F-D305-FEC5-BCCD-ED00F40E3ECE}"/>
              </a:ext>
            </a:extLst>
          </p:cNvPr>
          <p:cNvGrpSpPr/>
          <p:nvPr/>
        </p:nvGrpSpPr>
        <p:grpSpPr>
          <a:xfrm>
            <a:off x="4320343" y="3515150"/>
            <a:ext cx="971518" cy="971518"/>
            <a:chOff x="7187500" y="839949"/>
            <a:chExt cx="1422400" cy="1422400"/>
          </a:xfrm>
        </p:grpSpPr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C6E8AE60-0D1C-D992-EE8D-D4310454B6D8}"/>
                </a:ext>
              </a:extLst>
            </p:cNvPr>
            <p:cNvSpPr/>
            <p:nvPr/>
          </p:nvSpPr>
          <p:spPr>
            <a:xfrm>
              <a:off x="7187500" y="839949"/>
              <a:ext cx="1422400" cy="1422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5DEBF0D1-F698-6BE2-E04D-F6D73FC4634D}"/>
                </a:ext>
              </a:extLst>
            </p:cNvPr>
            <p:cNvSpPr/>
            <p:nvPr/>
          </p:nvSpPr>
          <p:spPr>
            <a:xfrm>
              <a:off x="7412941" y="1065390"/>
              <a:ext cx="971519" cy="971519"/>
            </a:xfrm>
            <a:prstGeom prst="ellipse">
              <a:avLst/>
            </a:prstGeom>
            <a:solidFill>
              <a:srgbClr val="D01012"/>
            </a:solidFill>
            <a:ln>
              <a:noFill/>
            </a:ln>
            <a:effectLst>
              <a:outerShdw dist="635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13" name="Title 1">
            <a:extLst>
              <a:ext uri="{FF2B5EF4-FFF2-40B4-BE49-F238E27FC236}">
                <a16:creationId xmlns:a16="http://schemas.microsoft.com/office/drawing/2014/main" id="{1CE8EEC6-D170-9447-E55F-D8913FCD05B8}"/>
              </a:ext>
            </a:extLst>
          </p:cNvPr>
          <p:cNvSpPr txBox="1">
            <a:spLocks/>
          </p:cNvSpPr>
          <p:nvPr/>
        </p:nvSpPr>
        <p:spPr>
          <a:xfrm>
            <a:off x="5423617" y="2344433"/>
            <a:ext cx="1541185" cy="590707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Aft>
                <a:spcPts val="1200"/>
              </a:spcAft>
            </a:pPr>
            <a:r>
              <a:rPr lang="en-US" sz="1800" b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Error Identification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7DDC9ECC-C37A-7608-9CE2-1C35B46A475A}"/>
              </a:ext>
            </a:extLst>
          </p:cNvPr>
          <p:cNvSpPr txBox="1">
            <a:spLocks/>
          </p:cNvSpPr>
          <p:nvPr/>
        </p:nvSpPr>
        <p:spPr>
          <a:xfrm>
            <a:off x="5542540" y="5195992"/>
            <a:ext cx="1458686" cy="55525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Aft>
                <a:spcPts val="1200"/>
              </a:spcAft>
            </a:pPr>
            <a:r>
              <a:rPr lang="en-US" sz="1800" b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User Comm / Resolution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7F30AB4B-B8F0-3DDB-6E05-EBCBB7373587}"/>
              </a:ext>
            </a:extLst>
          </p:cNvPr>
          <p:cNvSpPr txBox="1">
            <a:spLocks/>
          </p:cNvSpPr>
          <p:nvPr/>
        </p:nvSpPr>
        <p:spPr>
          <a:xfrm>
            <a:off x="5496153" y="3847701"/>
            <a:ext cx="1150383" cy="511296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Aft>
                <a:spcPts val="1200"/>
              </a:spcAft>
            </a:pPr>
            <a:r>
              <a:rPr lang="en-US" sz="1800" b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Error Logging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492325D3-ECA5-5316-35ED-01A685F2A969}"/>
              </a:ext>
            </a:extLst>
          </p:cNvPr>
          <p:cNvSpPr txBox="1">
            <a:spLocks/>
          </p:cNvSpPr>
          <p:nvPr/>
        </p:nvSpPr>
        <p:spPr>
          <a:xfrm>
            <a:off x="7069942" y="1997510"/>
            <a:ext cx="2360365" cy="103853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00000"/>
              </a:lnSpc>
              <a:spcAft>
                <a:spcPts val="1200"/>
              </a:spcAft>
              <a:buFontTx/>
              <a:buChar char="-"/>
            </a:pPr>
            <a:r>
              <a:rPr lang="en-US" sz="1400" dirty="0">
                <a:solidFill>
                  <a:srgbClr val="494D6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Automate detection</a:t>
            </a:r>
          </a:p>
          <a:p>
            <a:pPr marL="285750" indent="-285750">
              <a:lnSpc>
                <a:spcPct val="100000"/>
              </a:lnSpc>
              <a:spcAft>
                <a:spcPts val="1200"/>
              </a:spcAft>
              <a:buFontTx/>
              <a:buChar char="-"/>
            </a:pPr>
            <a:r>
              <a:rPr lang="en-US" sz="1400" dirty="0">
                <a:solidFill>
                  <a:srgbClr val="494D6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Alert mechanisms for real time notifications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38EE0876-FC59-5FF2-081C-CC3077F15525}"/>
              </a:ext>
            </a:extLst>
          </p:cNvPr>
          <p:cNvSpPr txBox="1">
            <a:spLocks/>
          </p:cNvSpPr>
          <p:nvPr/>
        </p:nvSpPr>
        <p:spPr>
          <a:xfrm>
            <a:off x="6697593" y="3599056"/>
            <a:ext cx="1782688" cy="109924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00000"/>
              </a:lnSpc>
              <a:spcAft>
                <a:spcPts val="1200"/>
              </a:spcAft>
              <a:buFontTx/>
              <a:buChar char="-"/>
            </a:pPr>
            <a:r>
              <a:rPr lang="en-US" sz="1400">
                <a:solidFill>
                  <a:srgbClr val="494D6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Comprehensive logging</a:t>
            </a:r>
          </a:p>
          <a:p>
            <a:pPr marL="285750" indent="-285750">
              <a:lnSpc>
                <a:spcPct val="100000"/>
              </a:lnSpc>
              <a:spcAft>
                <a:spcPts val="1200"/>
              </a:spcAft>
              <a:buFontTx/>
              <a:buChar char="-"/>
            </a:pPr>
            <a:r>
              <a:rPr lang="en-US" sz="1400">
                <a:solidFill>
                  <a:srgbClr val="494D6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Analytics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5260961D-C923-2C4E-C0AB-05B3BFCE1DAE}"/>
              </a:ext>
            </a:extLst>
          </p:cNvPr>
          <p:cNvSpPr txBox="1">
            <a:spLocks/>
          </p:cNvSpPr>
          <p:nvPr/>
        </p:nvSpPr>
        <p:spPr>
          <a:xfrm>
            <a:off x="7415019" y="4852277"/>
            <a:ext cx="2130524" cy="1344425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00000"/>
              </a:lnSpc>
              <a:spcAft>
                <a:spcPts val="1200"/>
              </a:spcAft>
              <a:buFontTx/>
              <a:buChar char="-"/>
            </a:pPr>
            <a:r>
              <a:rPr lang="en-US" sz="1400">
                <a:solidFill>
                  <a:srgbClr val="494D6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Tailored communications</a:t>
            </a:r>
          </a:p>
          <a:p>
            <a:pPr marL="285750" indent="-285750">
              <a:lnSpc>
                <a:spcPct val="100000"/>
              </a:lnSpc>
              <a:spcAft>
                <a:spcPts val="1200"/>
              </a:spcAft>
              <a:buFontTx/>
              <a:buChar char="-"/>
            </a:pPr>
            <a:r>
              <a:rPr lang="en-US" sz="1400">
                <a:solidFill>
                  <a:srgbClr val="494D6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Swift resolution practices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0749DE35-42C7-E1BD-0C97-0AF7016539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20377" y="6316623"/>
            <a:ext cx="501650" cy="501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600BF44-2BB8-9CA2-68BD-03AF7549CFB9}"/>
              </a:ext>
            </a:extLst>
          </p:cNvPr>
          <p:cNvCxnSpPr>
            <a:cxnSpLocks/>
          </p:cNvCxnSpPr>
          <p:nvPr/>
        </p:nvCxnSpPr>
        <p:spPr>
          <a:xfrm>
            <a:off x="4513496" y="3393473"/>
            <a:ext cx="4916811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D1CD907-EB5F-DFDB-994F-24A755D45288}"/>
              </a:ext>
            </a:extLst>
          </p:cNvPr>
          <p:cNvCxnSpPr>
            <a:cxnSpLocks/>
          </p:cNvCxnSpPr>
          <p:nvPr/>
        </p:nvCxnSpPr>
        <p:spPr>
          <a:xfrm>
            <a:off x="4513496" y="4852277"/>
            <a:ext cx="4916811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7468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A2DC9DBC-4388-B6E1-D51B-1D087EB772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46">
            <a:extLst>
              <a:ext uri="{FF2B5EF4-FFF2-40B4-BE49-F238E27FC236}">
                <a16:creationId xmlns:a16="http://schemas.microsoft.com/office/drawing/2014/main" id="{C70243D8-F7B9-A886-6F8D-EFCCBF822A6C}"/>
              </a:ext>
            </a:extLst>
          </p:cNvPr>
          <p:cNvSpPr/>
          <p:nvPr/>
        </p:nvSpPr>
        <p:spPr>
          <a:xfrm>
            <a:off x="6200917" y="2420466"/>
            <a:ext cx="1746915" cy="3534946"/>
          </a:xfrm>
          <a:prstGeom prst="roundRect">
            <a:avLst>
              <a:gd name="adj" fmla="val 703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3" name="Freeform 46">
            <a:extLst>
              <a:ext uri="{FF2B5EF4-FFF2-40B4-BE49-F238E27FC236}">
                <a16:creationId xmlns:a16="http://schemas.microsoft.com/office/drawing/2014/main" id="{9BC69F7D-0CFF-98CE-AC16-5BC1C07181E6}"/>
              </a:ext>
            </a:extLst>
          </p:cNvPr>
          <p:cNvSpPr/>
          <p:nvPr/>
        </p:nvSpPr>
        <p:spPr>
          <a:xfrm>
            <a:off x="8086694" y="2420466"/>
            <a:ext cx="1746915" cy="3534946"/>
          </a:xfrm>
          <a:prstGeom prst="roundRect">
            <a:avLst>
              <a:gd name="adj" fmla="val 703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4" name="Freeform 46">
            <a:extLst>
              <a:ext uri="{FF2B5EF4-FFF2-40B4-BE49-F238E27FC236}">
                <a16:creationId xmlns:a16="http://schemas.microsoft.com/office/drawing/2014/main" id="{EE665F3A-FFBA-58E8-8335-0607AD9346AB}"/>
              </a:ext>
            </a:extLst>
          </p:cNvPr>
          <p:cNvSpPr/>
          <p:nvPr/>
        </p:nvSpPr>
        <p:spPr>
          <a:xfrm>
            <a:off x="9972471" y="2420466"/>
            <a:ext cx="1746915" cy="3534946"/>
          </a:xfrm>
          <a:prstGeom prst="roundRect">
            <a:avLst>
              <a:gd name="adj" fmla="val 703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78B8EF0E-C35D-9FE1-0F14-A558426C9921}"/>
              </a:ext>
            </a:extLst>
          </p:cNvPr>
          <p:cNvSpPr/>
          <p:nvPr/>
        </p:nvSpPr>
        <p:spPr>
          <a:xfrm>
            <a:off x="121317" y="902762"/>
            <a:ext cx="1339661" cy="1347637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E322145-1FD2-0665-45E8-8C667F61525C}"/>
              </a:ext>
            </a:extLst>
          </p:cNvPr>
          <p:cNvSpPr>
            <a:spLocks noGrp="1"/>
          </p:cNvSpPr>
          <p:nvPr/>
        </p:nvSpPr>
        <p:spPr>
          <a:xfrm>
            <a:off x="1436947" y="432378"/>
            <a:ext cx="10224798" cy="2360618"/>
          </a:xfrm>
          <a:prstGeom prst="rect">
            <a:avLst/>
          </a:prstGeom>
        </p:spPr>
        <p:txBody>
          <a:bodyPr vert="horz" lIns="0" tIns="45720" rIns="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0" kern="1200">
                <a:solidFill>
                  <a:srgbClr val="9C3C9A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 b="1" dirty="0">
                <a:solidFill>
                  <a:srgbClr val="1E275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Security Considerations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890B2771-CA60-3F3F-3BD2-5D31E7DAC781}"/>
              </a:ext>
            </a:extLst>
          </p:cNvPr>
          <p:cNvSpPr>
            <a:spLocks noGrp="1"/>
          </p:cNvSpPr>
          <p:nvPr/>
        </p:nvSpPr>
        <p:spPr>
          <a:xfrm>
            <a:off x="11971099" y="4969901"/>
            <a:ext cx="33178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9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D05A9CD-9176-4D89-A414-3BEEE81BBC77}" type="slidenum">
              <a:rPr lang="en-US" smtClean="0"/>
              <a:pPr/>
              <a:t>42</a:t>
            </a:fld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6B4AD1C-CDCA-4A31-CEB4-2C1B205E6F9E}"/>
              </a:ext>
            </a:extLst>
          </p:cNvPr>
          <p:cNvSpPr/>
          <p:nvPr/>
        </p:nvSpPr>
        <p:spPr>
          <a:xfrm>
            <a:off x="6588615" y="2448921"/>
            <a:ext cx="971518" cy="971518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286347B-46A3-6088-052B-35902651268D}"/>
              </a:ext>
            </a:extLst>
          </p:cNvPr>
          <p:cNvSpPr/>
          <p:nvPr/>
        </p:nvSpPr>
        <p:spPr>
          <a:xfrm>
            <a:off x="8474392" y="2448921"/>
            <a:ext cx="971518" cy="971518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AAB1EE3-C147-819C-D06B-7AB839BA09E8}"/>
              </a:ext>
            </a:extLst>
          </p:cNvPr>
          <p:cNvSpPr/>
          <p:nvPr/>
        </p:nvSpPr>
        <p:spPr>
          <a:xfrm>
            <a:off x="10360169" y="2448921"/>
            <a:ext cx="971518" cy="971518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00F362B-FD85-FCE5-F08B-421E9B67878F}"/>
              </a:ext>
            </a:extLst>
          </p:cNvPr>
          <p:cNvSpPr/>
          <p:nvPr/>
        </p:nvSpPr>
        <p:spPr>
          <a:xfrm>
            <a:off x="6769465" y="2633063"/>
            <a:ext cx="603235" cy="603235"/>
          </a:xfrm>
          <a:prstGeom prst="ellipse">
            <a:avLst/>
          </a:prstGeom>
          <a:solidFill>
            <a:srgbClr val="FFD100"/>
          </a:solidFill>
          <a:ln>
            <a:noFill/>
          </a:ln>
          <a:effectLst>
            <a:outerShdw dist="635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6FADCF6-8FEA-B51F-705B-AE387ADF682A}"/>
              </a:ext>
            </a:extLst>
          </p:cNvPr>
          <p:cNvSpPr/>
          <p:nvPr/>
        </p:nvSpPr>
        <p:spPr>
          <a:xfrm>
            <a:off x="8655242" y="2633063"/>
            <a:ext cx="603235" cy="603235"/>
          </a:xfrm>
          <a:prstGeom prst="ellipse">
            <a:avLst/>
          </a:prstGeom>
          <a:solidFill>
            <a:srgbClr val="FFD100"/>
          </a:solidFill>
          <a:ln>
            <a:noFill/>
          </a:ln>
          <a:effectLst>
            <a:outerShdw dist="635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C56B30C-A2A5-99BD-9F99-1328050F3E66}"/>
              </a:ext>
            </a:extLst>
          </p:cNvPr>
          <p:cNvSpPr/>
          <p:nvPr/>
        </p:nvSpPr>
        <p:spPr>
          <a:xfrm>
            <a:off x="10541019" y="2633063"/>
            <a:ext cx="603235" cy="603235"/>
          </a:xfrm>
          <a:prstGeom prst="ellipse">
            <a:avLst/>
          </a:prstGeom>
          <a:solidFill>
            <a:srgbClr val="FFD100"/>
          </a:solidFill>
          <a:ln>
            <a:noFill/>
          </a:ln>
          <a:effectLst>
            <a:outerShdw dist="635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95A837CE-EFAE-4EE4-EE70-119387574146}"/>
              </a:ext>
            </a:extLst>
          </p:cNvPr>
          <p:cNvSpPr txBox="1">
            <a:spLocks/>
          </p:cNvSpPr>
          <p:nvPr/>
        </p:nvSpPr>
        <p:spPr>
          <a:xfrm>
            <a:off x="6235558" y="2262381"/>
            <a:ext cx="5501148" cy="1040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Aft>
                <a:spcPts val="1200"/>
              </a:spcAft>
            </a:pPr>
            <a:endParaRPr lang="en-US" sz="200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780D1FE-A538-76C1-C52C-C17571B42504}"/>
              </a:ext>
            </a:extLst>
          </p:cNvPr>
          <p:cNvGrpSpPr/>
          <p:nvPr/>
        </p:nvGrpSpPr>
        <p:grpSpPr>
          <a:xfrm>
            <a:off x="6941197" y="2804795"/>
            <a:ext cx="259771" cy="259774"/>
            <a:chOff x="6773863" y="639763"/>
            <a:chExt cx="771525" cy="771526"/>
          </a:xfrm>
          <a:effectLst>
            <a:outerShdw dist="38100" dir="2700000" algn="tl" rotWithShape="0">
              <a:prstClr val="black">
                <a:alpha val="20000"/>
              </a:prstClr>
            </a:outerShdw>
          </a:effectLst>
        </p:grpSpPr>
        <p:sp>
          <p:nvSpPr>
            <p:cNvPr id="79" name="Freeform 54">
              <a:extLst>
                <a:ext uri="{FF2B5EF4-FFF2-40B4-BE49-F238E27FC236}">
                  <a16:creationId xmlns:a16="http://schemas.microsoft.com/office/drawing/2014/main" id="{4B1AD6A6-AD50-4C74-EF36-9F3A956D2557}"/>
                </a:ext>
              </a:extLst>
            </p:cNvPr>
            <p:cNvSpPr>
              <a:spLocks/>
            </p:cNvSpPr>
            <p:nvPr/>
          </p:nvSpPr>
          <p:spPr bwMode="auto">
            <a:xfrm>
              <a:off x="6773863" y="684213"/>
              <a:ext cx="771525" cy="147638"/>
            </a:xfrm>
            <a:custGeom>
              <a:avLst/>
              <a:gdLst>
                <a:gd name="T0" fmla="*/ 204 w 204"/>
                <a:gd name="T1" fmla="*/ 39 h 39"/>
                <a:gd name="T2" fmla="*/ 0 w 204"/>
                <a:gd name="T3" fmla="*/ 39 h 39"/>
                <a:gd name="T4" fmla="*/ 0 w 204"/>
                <a:gd name="T5" fmla="*/ 20 h 39"/>
                <a:gd name="T6" fmla="*/ 19 w 204"/>
                <a:gd name="T7" fmla="*/ 0 h 39"/>
                <a:gd name="T8" fmla="*/ 185 w 204"/>
                <a:gd name="T9" fmla="*/ 0 h 39"/>
                <a:gd name="T10" fmla="*/ 204 w 204"/>
                <a:gd name="T11" fmla="*/ 20 h 39"/>
                <a:gd name="T12" fmla="*/ 204 w 204"/>
                <a:gd name="T13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4" h="39">
                  <a:moveTo>
                    <a:pt x="204" y="3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0" y="9"/>
                    <a:pt x="8" y="0"/>
                    <a:pt x="19" y="0"/>
                  </a:cubicBezTo>
                  <a:cubicBezTo>
                    <a:pt x="185" y="0"/>
                    <a:pt x="185" y="0"/>
                    <a:pt x="185" y="0"/>
                  </a:cubicBezTo>
                  <a:cubicBezTo>
                    <a:pt x="196" y="0"/>
                    <a:pt x="204" y="9"/>
                    <a:pt x="204" y="20"/>
                  </a:cubicBezTo>
                  <a:lnTo>
                    <a:pt x="204" y="39"/>
                  </a:lnTo>
                  <a:close/>
                </a:path>
              </a:pathLst>
            </a:custGeom>
            <a:solidFill>
              <a:srgbClr val="DF2C2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/>
            </a:p>
          </p:txBody>
        </p:sp>
        <p:sp>
          <p:nvSpPr>
            <p:cNvPr id="80" name="Freeform 55">
              <a:extLst>
                <a:ext uri="{FF2B5EF4-FFF2-40B4-BE49-F238E27FC236}">
                  <a16:creationId xmlns:a16="http://schemas.microsoft.com/office/drawing/2014/main" id="{B96E6E74-C7D9-B60B-447E-FFD779D15C2A}"/>
                </a:ext>
              </a:extLst>
            </p:cNvPr>
            <p:cNvSpPr>
              <a:spLocks/>
            </p:cNvSpPr>
            <p:nvPr/>
          </p:nvSpPr>
          <p:spPr bwMode="auto">
            <a:xfrm>
              <a:off x="6773863" y="684213"/>
              <a:ext cx="355600" cy="147638"/>
            </a:xfrm>
            <a:custGeom>
              <a:avLst/>
              <a:gdLst>
                <a:gd name="T0" fmla="*/ 94 w 94"/>
                <a:gd name="T1" fmla="*/ 0 h 39"/>
                <a:gd name="T2" fmla="*/ 19 w 94"/>
                <a:gd name="T3" fmla="*/ 0 h 39"/>
                <a:gd name="T4" fmla="*/ 0 w 94"/>
                <a:gd name="T5" fmla="*/ 20 h 39"/>
                <a:gd name="T6" fmla="*/ 0 w 94"/>
                <a:gd name="T7" fmla="*/ 39 h 39"/>
                <a:gd name="T8" fmla="*/ 55 w 94"/>
                <a:gd name="T9" fmla="*/ 39 h 39"/>
                <a:gd name="T10" fmla="*/ 94 w 94"/>
                <a:gd name="T11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4" h="39">
                  <a:moveTo>
                    <a:pt x="94" y="0"/>
                  </a:moveTo>
                  <a:cubicBezTo>
                    <a:pt x="19" y="0"/>
                    <a:pt x="19" y="0"/>
                    <a:pt x="19" y="0"/>
                  </a:cubicBezTo>
                  <a:cubicBezTo>
                    <a:pt x="8" y="0"/>
                    <a:pt x="0" y="9"/>
                    <a:pt x="0" y="2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55" y="39"/>
                    <a:pt x="55" y="39"/>
                    <a:pt x="55" y="39"/>
                  </a:cubicBezTo>
                  <a:lnTo>
                    <a:pt x="94" y="0"/>
                  </a:lnTo>
                  <a:close/>
                </a:path>
              </a:pathLst>
            </a:custGeom>
            <a:solidFill>
              <a:srgbClr val="FA565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/>
            </a:p>
          </p:txBody>
        </p:sp>
        <p:sp>
          <p:nvSpPr>
            <p:cNvPr id="81" name="Freeform 56">
              <a:extLst>
                <a:ext uri="{FF2B5EF4-FFF2-40B4-BE49-F238E27FC236}">
                  <a16:creationId xmlns:a16="http://schemas.microsoft.com/office/drawing/2014/main" id="{A51EC5F6-CDE6-6855-AB1C-6EBF4D87A507}"/>
                </a:ext>
              </a:extLst>
            </p:cNvPr>
            <p:cNvSpPr>
              <a:spLocks/>
            </p:cNvSpPr>
            <p:nvPr/>
          </p:nvSpPr>
          <p:spPr bwMode="auto">
            <a:xfrm>
              <a:off x="6773863" y="831851"/>
              <a:ext cx="771525" cy="579438"/>
            </a:xfrm>
            <a:custGeom>
              <a:avLst/>
              <a:gdLst>
                <a:gd name="T0" fmla="*/ 204 w 204"/>
                <a:gd name="T1" fmla="*/ 134 h 153"/>
                <a:gd name="T2" fmla="*/ 185 w 204"/>
                <a:gd name="T3" fmla="*/ 153 h 153"/>
                <a:gd name="T4" fmla="*/ 19 w 204"/>
                <a:gd name="T5" fmla="*/ 153 h 153"/>
                <a:gd name="T6" fmla="*/ 0 w 204"/>
                <a:gd name="T7" fmla="*/ 134 h 153"/>
                <a:gd name="T8" fmla="*/ 0 w 204"/>
                <a:gd name="T9" fmla="*/ 0 h 153"/>
                <a:gd name="T10" fmla="*/ 204 w 204"/>
                <a:gd name="T11" fmla="*/ 0 h 153"/>
                <a:gd name="T12" fmla="*/ 204 w 204"/>
                <a:gd name="T13" fmla="*/ 134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4" h="153">
                  <a:moveTo>
                    <a:pt x="204" y="134"/>
                  </a:moveTo>
                  <a:cubicBezTo>
                    <a:pt x="204" y="145"/>
                    <a:pt x="196" y="153"/>
                    <a:pt x="185" y="153"/>
                  </a:cubicBezTo>
                  <a:cubicBezTo>
                    <a:pt x="19" y="153"/>
                    <a:pt x="19" y="153"/>
                    <a:pt x="19" y="153"/>
                  </a:cubicBezTo>
                  <a:cubicBezTo>
                    <a:pt x="8" y="153"/>
                    <a:pt x="0" y="145"/>
                    <a:pt x="0" y="13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04" y="0"/>
                    <a:pt x="204" y="0"/>
                    <a:pt x="204" y="0"/>
                  </a:cubicBezTo>
                  <a:lnTo>
                    <a:pt x="204" y="13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/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66660808-4DCA-6737-A3C6-C46EB8C289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38976" y="927101"/>
              <a:ext cx="120650" cy="109538"/>
            </a:xfrm>
            <a:prstGeom prst="rect">
              <a:avLst/>
            </a:prstGeom>
            <a:solidFill>
              <a:srgbClr val="40C9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/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C5DF8AE6-CA65-6ACD-4B89-F2143E54E8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27863" y="1063626"/>
              <a:ext cx="120650" cy="104775"/>
            </a:xfrm>
            <a:prstGeom prst="rect">
              <a:avLst/>
            </a:prstGeom>
            <a:solidFill>
              <a:srgbClr val="C9F2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/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8689392E-85AD-E395-5056-EB86E725DF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0738" y="1063626"/>
              <a:ext cx="122238" cy="104775"/>
            </a:xfrm>
            <a:prstGeom prst="rect">
              <a:avLst/>
            </a:prstGeom>
            <a:solidFill>
              <a:srgbClr val="C9F2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/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6C253469-2001-5353-F4FA-CFD4791E70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69113" y="927101"/>
              <a:ext cx="131763" cy="109538"/>
            </a:xfrm>
            <a:prstGeom prst="rect">
              <a:avLst/>
            </a:prstGeom>
            <a:solidFill>
              <a:srgbClr val="C9F2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/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0FBE3123-DEF9-B7D7-C945-0A5EA2FEBE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0738" y="927101"/>
              <a:ext cx="122238" cy="109538"/>
            </a:xfrm>
            <a:prstGeom prst="rect">
              <a:avLst/>
            </a:prstGeom>
            <a:solidFill>
              <a:srgbClr val="C9F2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/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CD5E6F3A-801C-7091-CAB3-E5AD09C1F2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0738" y="1195388"/>
              <a:ext cx="122238" cy="120650"/>
            </a:xfrm>
            <a:prstGeom prst="rect">
              <a:avLst/>
            </a:prstGeom>
            <a:solidFill>
              <a:srgbClr val="40C9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/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28391C53-38E6-7DB8-EC23-8D4D31D651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18376" y="1063626"/>
              <a:ext cx="120650" cy="104775"/>
            </a:xfrm>
            <a:prstGeom prst="rect">
              <a:avLst/>
            </a:prstGeom>
            <a:solidFill>
              <a:srgbClr val="C9F2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/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B4B6565E-CFDA-ED54-B378-B2952A3F27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18376" y="927101"/>
              <a:ext cx="120650" cy="109538"/>
            </a:xfrm>
            <a:prstGeom prst="rect">
              <a:avLst/>
            </a:prstGeom>
            <a:solidFill>
              <a:srgbClr val="C9F2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/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96BCC791-14A8-12EA-2DE5-0F01236FD0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18376" y="1195388"/>
              <a:ext cx="120650" cy="120650"/>
            </a:xfrm>
            <a:prstGeom prst="rect">
              <a:avLst/>
            </a:prstGeom>
            <a:solidFill>
              <a:srgbClr val="C9F2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/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D5280F11-CA80-EDA2-DA6E-FBAFA4A209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69113" y="1063626"/>
              <a:ext cx="131763" cy="104775"/>
            </a:xfrm>
            <a:prstGeom prst="rect">
              <a:avLst/>
            </a:prstGeom>
            <a:solidFill>
              <a:srgbClr val="C9F2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/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BA06EDBB-07FA-19CC-1558-8D0315662A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69113" y="1195388"/>
              <a:ext cx="131763" cy="120650"/>
            </a:xfrm>
            <a:prstGeom prst="rect">
              <a:avLst/>
            </a:prstGeom>
            <a:solidFill>
              <a:srgbClr val="C9F2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/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1E02E824-F76E-FBD7-BD39-B0BDACEF04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27863" y="1195388"/>
              <a:ext cx="120650" cy="120650"/>
            </a:xfrm>
            <a:prstGeom prst="rect">
              <a:avLst/>
            </a:prstGeom>
            <a:solidFill>
              <a:srgbClr val="C9F2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/>
            </a:p>
          </p:txBody>
        </p:sp>
        <p:sp>
          <p:nvSpPr>
            <p:cNvPr id="94" name="Freeform 69">
              <a:extLst>
                <a:ext uri="{FF2B5EF4-FFF2-40B4-BE49-F238E27FC236}">
                  <a16:creationId xmlns:a16="http://schemas.microsoft.com/office/drawing/2014/main" id="{D27D0317-EDA3-F553-4E3D-D3647F7952E2}"/>
                </a:ext>
              </a:extLst>
            </p:cNvPr>
            <p:cNvSpPr>
              <a:spLocks/>
            </p:cNvSpPr>
            <p:nvPr/>
          </p:nvSpPr>
          <p:spPr bwMode="auto">
            <a:xfrm>
              <a:off x="6869113" y="639763"/>
              <a:ext cx="71438" cy="142875"/>
            </a:xfrm>
            <a:custGeom>
              <a:avLst/>
              <a:gdLst>
                <a:gd name="T0" fmla="*/ 19 w 19"/>
                <a:gd name="T1" fmla="*/ 28 h 38"/>
                <a:gd name="T2" fmla="*/ 10 w 19"/>
                <a:gd name="T3" fmla="*/ 38 h 38"/>
                <a:gd name="T4" fmla="*/ 0 w 19"/>
                <a:gd name="T5" fmla="*/ 28 h 38"/>
                <a:gd name="T6" fmla="*/ 0 w 19"/>
                <a:gd name="T7" fmla="*/ 9 h 38"/>
                <a:gd name="T8" fmla="*/ 10 w 19"/>
                <a:gd name="T9" fmla="*/ 0 h 38"/>
                <a:gd name="T10" fmla="*/ 19 w 19"/>
                <a:gd name="T11" fmla="*/ 9 h 38"/>
                <a:gd name="T12" fmla="*/ 19 w 19"/>
                <a:gd name="T13" fmla="*/ 28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" h="38">
                  <a:moveTo>
                    <a:pt x="19" y="28"/>
                  </a:moveTo>
                  <a:cubicBezTo>
                    <a:pt x="19" y="34"/>
                    <a:pt x="15" y="38"/>
                    <a:pt x="10" y="38"/>
                  </a:cubicBezTo>
                  <a:cubicBezTo>
                    <a:pt x="5" y="38"/>
                    <a:pt x="0" y="34"/>
                    <a:pt x="0" y="28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4"/>
                    <a:pt x="5" y="0"/>
                    <a:pt x="10" y="0"/>
                  </a:cubicBezTo>
                  <a:cubicBezTo>
                    <a:pt x="15" y="0"/>
                    <a:pt x="19" y="4"/>
                    <a:pt x="19" y="9"/>
                  </a:cubicBezTo>
                  <a:lnTo>
                    <a:pt x="19" y="28"/>
                  </a:lnTo>
                  <a:close/>
                </a:path>
              </a:pathLst>
            </a:custGeom>
            <a:solidFill>
              <a:srgbClr val="3E3E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/>
            </a:p>
          </p:txBody>
        </p:sp>
        <p:sp>
          <p:nvSpPr>
            <p:cNvPr id="95" name="Freeform 70">
              <a:extLst>
                <a:ext uri="{FF2B5EF4-FFF2-40B4-BE49-F238E27FC236}">
                  <a16:creationId xmlns:a16="http://schemas.microsoft.com/office/drawing/2014/main" id="{999125BF-5DBF-1318-6F4E-EF87A7A5F133}"/>
                </a:ext>
              </a:extLst>
            </p:cNvPr>
            <p:cNvSpPr>
              <a:spLocks/>
            </p:cNvSpPr>
            <p:nvPr/>
          </p:nvSpPr>
          <p:spPr bwMode="auto">
            <a:xfrm>
              <a:off x="7378701" y="639763"/>
              <a:ext cx="73025" cy="142875"/>
            </a:xfrm>
            <a:custGeom>
              <a:avLst/>
              <a:gdLst>
                <a:gd name="T0" fmla="*/ 19 w 19"/>
                <a:gd name="T1" fmla="*/ 28 h 38"/>
                <a:gd name="T2" fmla="*/ 9 w 19"/>
                <a:gd name="T3" fmla="*/ 38 h 38"/>
                <a:gd name="T4" fmla="*/ 0 w 19"/>
                <a:gd name="T5" fmla="*/ 28 h 38"/>
                <a:gd name="T6" fmla="*/ 0 w 19"/>
                <a:gd name="T7" fmla="*/ 9 h 38"/>
                <a:gd name="T8" fmla="*/ 9 w 19"/>
                <a:gd name="T9" fmla="*/ 0 h 38"/>
                <a:gd name="T10" fmla="*/ 19 w 19"/>
                <a:gd name="T11" fmla="*/ 9 h 38"/>
                <a:gd name="T12" fmla="*/ 19 w 19"/>
                <a:gd name="T13" fmla="*/ 28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" h="38">
                  <a:moveTo>
                    <a:pt x="19" y="28"/>
                  </a:moveTo>
                  <a:cubicBezTo>
                    <a:pt x="19" y="34"/>
                    <a:pt x="14" y="38"/>
                    <a:pt x="9" y="38"/>
                  </a:cubicBezTo>
                  <a:cubicBezTo>
                    <a:pt x="4" y="38"/>
                    <a:pt x="0" y="34"/>
                    <a:pt x="0" y="28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14" y="0"/>
                    <a:pt x="19" y="4"/>
                    <a:pt x="19" y="9"/>
                  </a:cubicBezTo>
                  <a:lnTo>
                    <a:pt x="19" y="28"/>
                  </a:lnTo>
                  <a:close/>
                </a:path>
              </a:pathLst>
            </a:custGeom>
            <a:solidFill>
              <a:srgbClr val="3E3E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/>
            </a:p>
          </p:txBody>
        </p:sp>
        <p:sp>
          <p:nvSpPr>
            <p:cNvPr id="96" name="Freeform 71">
              <a:extLst>
                <a:ext uri="{FF2B5EF4-FFF2-40B4-BE49-F238E27FC236}">
                  <a16:creationId xmlns:a16="http://schemas.microsoft.com/office/drawing/2014/main" id="{7BC474F7-B707-FD6D-DBA4-859AB819779C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1526" y="639763"/>
              <a:ext cx="76200" cy="142875"/>
            </a:xfrm>
            <a:custGeom>
              <a:avLst/>
              <a:gdLst>
                <a:gd name="T0" fmla="*/ 20 w 20"/>
                <a:gd name="T1" fmla="*/ 28 h 38"/>
                <a:gd name="T2" fmla="*/ 10 w 20"/>
                <a:gd name="T3" fmla="*/ 38 h 38"/>
                <a:gd name="T4" fmla="*/ 0 w 20"/>
                <a:gd name="T5" fmla="*/ 28 h 38"/>
                <a:gd name="T6" fmla="*/ 0 w 20"/>
                <a:gd name="T7" fmla="*/ 9 h 38"/>
                <a:gd name="T8" fmla="*/ 10 w 20"/>
                <a:gd name="T9" fmla="*/ 0 h 38"/>
                <a:gd name="T10" fmla="*/ 20 w 20"/>
                <a:gd name="T11" fmla="*/ 9 h 38"/>
                <a:gd name="T12" fmla="*/ 20 w 20"/>
                <a:gd name="T13" fmla="*/ 28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" h="38">
                  <a:moveTo>
                    <a:pt x="20" y="28"/>
                  </a:moveTo>
                  <a:cubicBezTo>
                    <a:pt x="20" y="34"/>
                    <a:pt x="15" y="38"/>
                    <a:pt x="10" y="38"/>
                  </a:cubicBezTo>
                  <a:cubicBezTo>
                    <a:pt x="5" y="38"/>
                    <a:pt x="0" y="34"/>
                    <a:pt x="0" y="28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4"/>
                    <a:pt x="5" y="0"/>
                    <a:pt x="10" y="0"/>
                  </a:cubicBezTo>
                  <a:cubicBezTo>
                    <a:pt x="15" y="0"/>
                    <a:pt x="20" y="4"/>
                    <a:pt x="20" y="9"/>
                  </a:cubicBezTo>
                  <a:lnTo>
                    <a:pt x="20" y="28"/>
                  </a:lnTo>
                  <a:close/>
                </a:path>
              </a:pathLst>
            </a:custGeom>
            <a:solidFill>
              <a:srgbClr val="3E3E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F02A91E-D61C-FB0F-549B-6656098716AE}"/>
              </a:ext>
            </a:extLst>
          </p:cNvPr>
          <p:cNvGrpSpPr/>
          <p:nvPr/>
        </p:nvGrpSpPr>
        <p:grpSpPr>
          <a:xfrm>
            <a:off x="8825624" y="2803458"/>
            <a:ext cx="262444" cy="262445"/>
            <a:chOff x="10369550" y="5518150"/>
            <a:chExt cx="779463" cy="779463"/>
          </a:xfrm>
          <a:effectLst>
            <a:outerShdw dist="38100" dir="2700000" algn="tl" rotWithShape="0">
              <a:prstClr val="black">
                <a:alpha val="20000"/>
              </a:prstClr>
            </a:outerShdw>
          </a:effectLst>
        </p:grpSpPr>
        <p:sp>
          <p:nvSpPr>
            <p:cNvPr id="74" name="Freeform 231">
              <a:extLst>
                <a:ext uri="{FF2B5EF4-FFF2-40B4-BE49-F238E27FC236}">
                  <a16:creationId xmlns:a16="http://schemas.microsoft.com/office/drawing/2014/main" id="{D89847A8-05DD-D3D5-D931-C60D53DE18B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69550" y="5956300"/>
              <a:ext cx="336550" cy="341313"/>
            </a:xfrm>
            <a:custGeom>
              <a:avLst/>
              <a:gdLst>
                <a:gd name="T0" fmla="*/ 89 w 89"/>
                <a:gd name="T1" fmla="*/ 26 h 90"/>
                <a:gd name="T2" fmla="*/ 33 w 89"/>
                <a:gd name="T3" fmla="*/ 83 h 90"/>
                <a:gd name="T4" fmla="*/ 7 w 89"/>
                <a:gd name="T5" fmla="*/ 83 h 90"/>
                <a:gd name="T6" fmla="*/ 7 w 89"/>
                <a:gd name="T7" fmla="*/ 57 h 90"/>
                <a:gd name="T8" fmla="*/ 64 w 89"/>
                <a:gd name="T9" fmla="*/ 0 h 90"/>
                <a:gd name="T10" fmla="*/ 89 w 89"/>
                <a:gd name="T11" fmla="*/ 26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9" h="90">
                  <a:moveTo>
                    <a:pt x="89" y="26"/>
                  </a:moveTo>
                  <a:cubicBezTo>
                    <a:pt x="33" y="83"/>
                    <a:pt x="33" y="83"/>
                    <a:pt x="33" y="83"/>
                  </a:cubicBezTo>
                  <a:cubicBezTo>
                    <a:pt x="25" y="90"/>
                    <a:pt x="14" y="90"/>
                    <a:pt x="7" y="83"/>
                  </a:cubicBezTo>
                  <a:cubicBezTo>
                    <a:pt x="0" y="75"/>
                    <a:pt x="0" y="64"/>
                    <a:pt x="7" y="57"/>
                  </a:cubicBezTo>
                  <a:cubicBezTo>
                    <a:pt x="64" y="0"/>
                    <a:pt x="64" y="0"/>
                    <a:pt x="64" y="0"/>
                  </a:cubicBezTo>
                  <a:cubicBezTo>
                    <a:pt x="70" y="11"/>
                    <a:pt x="79" y="19"/>
                    <a:pt x="89" y="26"/>
                  </a:cubicBezTo>
                  <a:close/>
                </a:path>
              </a:pathLst>
            </a:custGeom>
            <a:solidFill>
              <a:srgbClr val="8446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/>
            </a:p>
          </p:txBody>
        </p:sp>
        <p:sp>
          <p:nvSpPr>
            <p:cNvPr id="75" name="Freeform 232">
              <a:extLst>
                <a:ext uri="{FF2B5EF4-FFF2-40B4-BE49-F238E27FC236}">
                  <a16:creationId xmlns:a16="http://schemas.microsoft.com/office/drawing/2014/main" id="{F143AB38-4432-DFC3-B5C8-28360D45813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69550" y="5956300"/>
              <a:ext cx="284163" cy="311150"/>
            </a:xfrm>
            <a:custGeom>
              <a:avLst/>
              <a:gdLst>
                <a:gd name="T0" fmla="*/ 75 w 75"/>
                <a:gd name="T1" fmla="*/ 14 h 82"/>
                <a:gd name="T2" fmla="*/ 7 w 75"/>
                <a:gd name="T3" fmla="*/ 82 h 82"/>
                <a:gd name="T4" fmla="*/ 7 w 75"/>
                <a:gd name="T5" fmla="*/ 57 h 82"/>
                <a:gd name="T6" fmla="*/ 64 w 75"/>
                <a:gd name="T7" fmla="*/ 0 h 82"/>
                <a:gd name="T8" fmla="*/ 75 w 75"/>
                <a:gd name="T9" fmla="*/ 14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82">
                  <a:moveTo>
                    <a:pt x="75" y="14"/>
                  </a:moveTo>
                  <a:cubicBezTo>
                    <a:pt x="7" y="82"/>
                    <a:pt x="7" y="82"/>
                    <a:pt x="7" y="82"/>
                  </a:cubicBezTo>
                  <a:cubicBezTo>
                    <a:pt x="0" y="75"/>
                    <a:pt x="0" y="64"/>
                    <a:pt x="7" y="57"/>
                  </a:cubicBezTo>
                  <a:cubicBezTo>
                    <a:pt x="64" y="0"/>
                    <a:pt x="64" y="0"/>
                    <a:pt x="64" y="0"/>
                  </a:cubicBezTo>
                  <a:cubicBezTo>
                    <a:pt x="67" y="5"/>
                    <a:pt x="71" y="10"/>
                    <a:pt x="75" y="14"/>
                  </a:cubicBezTo>
                  <a:close/>
                </a:path>
              </a:pathLst>
            </a:custGeom>
            <a:solidFill>
              <a:srgbClr val="9C614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/>
            </a:p>
          </p:txBody>
        </p:sp>
        <p:sp>
          <p:nvSpPr>
            <p:cNvPr id="76" name="Freeform 233">
              <a:extLst>
                <a:ext uri="{FF2B5EF4-FFF2-40B4-BE49-F238E27FC236}">
                  <a16:creationId xmlns:a16="http://schemas.microsoft.com/office/drawing/2014/main" id="{82354F36-4E3B-61E7-2991-5767DF96284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69575" y="5518150"/>
              <a:ext cx="579438" cy="577850"/>
            </a:xfrm>
            <a:custGeom>
              <a:avLst/>
              <a:gdLst>
                <a:gd name="T0" fmla="*/ 153 w 153"/>
                <a:gd name="T1" fmla="*/ 76 h 153"/>
                <a:gd name="T2" fmla="*/ 77 w 153"/>
                <a:gd name="T3" fmla="*/ 153 h 153"/>
                <a:gd name="T4" fmla="*/ 0 w 153"/>
                <a:gd name="T5" fmla="*/ 76 h 153"/>
                <a:gd name="T6" fmla="*/ 77 w 153"/>
                <a:gd name="T7" fmla="*/ 0 h 153"/>
                <a:gd name="T8" fmla="*/ 153 w 153"/>
                <a:gd name="T9" fmla="*/ 76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3" h="153">
                  <a:moveTo>
                    <a:pt x="153" y="76"/>
                  </a:moveTo>
                  <a:cubicBezTo>
                    <a:pt x="153" y="119"/>
                    <a:pt x="119" y="153"/>
                    <a:pt x="77" y="153"/>
                  </a:cubicBezTo>
                  <a:cubicBezTo>
                    <a:pt x="34" y="153"/>
                    <a:pt x="0" y="118"/>
                    <a:pt x="0" y="76"/>
                  </a:cubicBezTo>
                  <a:cubicBezTo>
                    <a:pt x="0" y="34"/>
                    <a:pt x="34" y="0"/>
                    <a:pt x="77" y="0"/>
                  </a:cubicBezTo>
                  <a:cubicBezTo>
                    <a:pt x="119" y="0"/>
                    <a:pt x="153" y="34"/>
                    <a:pt x="153" y="76"/>
                  </a:cubicBezTo>
                  <a:close/>
                </a:path>
              </a:pathLst>
            </a:custGeom>
            <a:solidFill>
              <a:srgbClr val="F0F1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/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97B69ABF-9A7E-5910-EF37-C155F7FF5D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29900" y="5578475"/>
              <a:ext cx="458788" cy="457200"/>
            </a:xfrm>
            <a:prstGeom prst="ellipse">
              <a:avLst/>
            </a:prstGeom>
            <a:solidFill>
              <a:srgbClr val="40C9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/>
            </a:p>
          </p:txBody>
        </p:sp>
        <p:sp>
          <p:nvSpPr>
            <p:cNvPr id="78" name="Freeform 235">
              <a:extLst>
                <a:ext uri="{FF2B5EF4-FFF2-40B4-BE49-F238E27FC236}">
                  <a16:creationId xmlns:a16="http://schemas.microsoft.com/office/drawing/2014/main" id="{5B5E4C48-1849-FDE5-093E-F50FCD9CEE8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29900" y="5578475"/>
              <a:ext cx="390525" cy="388938"/>
            </a:xfrm>
            <a:custGeom>
              <a:avLst/>
              <a:gdLst>
                <a:gd name="T0" fmla="*/ 0 w 103"/>
                <a:gd name="T1" fmla="*/ 60 h 103"/>
                <a:gd name="T2" fmla="*/ 61 w 103"/>
                <a:gd name="T3" fmla="*/ 0 h 103"/>
                <a:gd name="T4" fmla="*/ 103 w 103"/>
                <a:gd name="T5" fmla="*/ 17 h 103"/>
                <a:gd name="T6" fmla="*/ 17 w 103"/>
                <a:gd name="T7" fmla="*/ 103 h 103"/>
                <a:gd name="T8" fmla="*/ 0 w 103"/>
                <a:gd name="T9" fmla="*/ 60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3" h="103">
                  <a:moveTo>
                    <a:pt x="0" y="60"/>
                  </a:moveTo>
                  <a:cubicBezTo>
                    <a:pt x="0" y="27"/>
                    <a:pt x="27" y="0"/>
                    <a:pt x="61" y="0"/>
                  </a:cubicBezTo>
                  <a:cubicBezTo>
                    <a:pt x="77" y="0"/>
                    <a:pt x="92" y="6"/>
                    <a:pt x="103" y="17"/>
                  </a:cubicBezTo>
                  <a:cubicBezTo>
                    <a:pt x="17" y="103"/>
                    <a:pt x="17" y="103"/>
                    <a:pt x="17" y="103"/>
                  </a:cubicBezTo>
                  <a:cubicBezTo>
                    <a:pt x="6" y="92"/>
                    <a:pt x="0" y="77"/>
                    <a:pt x="0" y="60"/>
                  </a:cubicBezTo>
                  <a:close/>
                </a:path>
              </a:pathLst>
            </a:custGeom>
            <a:solidFill>
              <a:srgbClr val="6FDA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227EF44-1DDA-4A34-02C6-04984FC724A5}"/>
              </a:ext>
            </a:extLst>
          </p:cNvPr>
          <p:cNvGrpSpPr/>
          <p:nvPr/>
        </p:nvGrpSpPr>
        <p:grpSpPr>
          <a:xfrm>
            <a:off x="10699468" y="2791512"/>
            <a:ext cx="286336" cy="286337"/>
            <a:chOff x="8624888" y="2216150"/>
            <a:chExt cx="773112" cy="773113"/>
          </a:xfrm>
          <a:effectLst>
            <a:outerShdw dist="38100" dir="2700000" algn="tl" rotWithShape="0">
              <a:prstClr val="black">
                <a:alpha val="20000"/>
              </a:prstClr>
            </a:outerShdw>
          </a:effectLst>
        </p:grpSpPr>
        <p:sp>
          <p:nvSpPr>
            <p:cNvPr id="68" name="Freeform 117">
              <a:extLst>
                <a:ext uri="{FF2B5EF4-FFF2-40B4-BE49-F238E27FC236}">
                  <a16:creationId xmlns:a16="http://schemas.microsoft.com/office/drawing/2014/main" id="{43EBFC99-F512-19CC-B413-D121B9A5402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624888" y="2216150"/>
              <a:ext cx="773112" cy="773113"/>
            </a:xfrm>
            <a:custGeom>
              <a:avLst/>
              <a:gdLst>
                <a:gd name="T0" fmla="*/ 102 w 204"/>
                <a:gd name="T1" fmla="*/ 160 h 204"/>
                <a:gd name="T2" fmla="*/ 44 w 204"/>
                <a:gd name="T3" fmla="*/ 102 h 204"/>
                <a:gd name="T4" fmla="*/ 102 w 204"/>
                <a:gd name="T5" fmla="*/ 44 h 204"/>
                <a:gd name="T6" fmla="*/ 160 w 204"/>
                <a:gd name="T7" fmla="*/ 102 h 204"/>
                <a:gd name="T8" fmla="*/ 102 w 204"/>
                <a:gd name="T9" fmla="*/ 160 h 204"/>
                <a:gd name="T10" fmla="*/ 198 w 204"/>
                <a:gd name="T11" fmla="*/ 89 h 204"/>
                <a:gd name="T12" fmla="*/ 178 w 204"/>
                <a:gd name="T13" fmla="*/ 89 h 204"/>
                <a:gd name="T14" fmla="*/ 165 w 204"/>
                <a:gd name="T15" fmla="*/ 58 h 204"/>
                <a:gd name="T16" fmla="*/ 179 w 204"/>
                <a:gd name="T17" fmla="*/ 43 h 204"/>
                <a:gd name="T18" fmla="*/ 179 w 204"/>
                <a:gd name="T19" fmla="*/ 34 h 204"/>
                <a:gd name="T20" fmla="*/ 170 w 204"/>
                <a:gd name="T21" fmla="*/ 25 h 204"/>
                <a:gd name="T22" fmla="*/ 161 w 204"/>
                <a:gd name="T23" fmla="*/ 25 h 204"/>
                <a:gd name="T24" fmla="*/ 146 w 204"/>
                <a:gd name="T25" fmla="*/ 39 h 204"/>
                <a:gd name="T26" fmla="*/ 115 w 204"/>
                <a:gd name="T27" fmla="*/ 26 h 204"/>
                <a:gd name="T28" fmla="*/ 115 w 204"/>
                <a:gd name="T29" fmla="*/ 6 h 204"/>
                <a:gd name="T30" fmla="*/ 108 w 204"/>
                <a:gd name="T31" fmla="*/ 0 h 204"/>
                <a:gd name="T32" fmla="*/ 96 w 204"/>
                <a:gd name="T33" fmla="*/ 0 h 204"/>
                <a:gd name="T34" fmla="*/ 89 w 204"/>
                <a:gd name="T35" fmla="*/ 6 h 204"/>
                <a:gd name="T36" fmla="*/ 89 w 204"/>
                <a:gd name="T37" fmla="*/ 26 h 204"/>
                <a:gd name="T38" fmla="*/ 58 w 204"/>
                <a:gd name="T39" fmla="*/ 39 h 204"/>
                <a:gd name="T40" fmla="*/ 43 w 204"/>
                <a:gd name="T41" fmla="*/ 25 h 204"/>
                <a:gd name="T42" fmla="*/ 34 w 204"/>
                <a:gd name="T43" fmla="*/ 25 h 204"/>
                <a:gd name="T44" fmla="*/ 25 w 204"/>
                <a:gd name="T45" fmla="*/ 34 h 204"/>
                <a:gd name="T46" fmla="*/ 25 w 204"/>
                <a:gd name="T47" fmla="*/ 43 h 204"/>
                <a:gd name="T48" fmla="*/ 39 w 204"/>
                <a:gd name="T49" fmla="*/ 58 h 204"/>
                <a:gd name="T50" fmla="*/ 26 w 204"/>
                <a:gd name="T51" fmla="*/ 89 h 204"/>
                <a:gd name="T52" fmla="*/ 6 w 204"/>
                <a:gd name="T53" fmla="*/ 89 h 204"/>
                <a:gd name="T54" fmla="*/ 0 w 204"/>
                <a:gd name="T55" fmla="*/ 96 h 204"/>
                <a:gd name="T56" fmla="*/ 0 w 204"/>
                <a:gd name="T57" fmla="*/ 108 h 204"/>
                <a:gd name="T58" fmla="*/ 6 w 204"/>
                <a:gd name="T59" fmla="*/ 115 h 204"/>
                <a:gd name="T60" fmla="*/ 26 w 204"/>
                <a:gd name="T61" fmla="*/ 115 h 204"/>
                <a:gd name="T62" fmla="*/ 39 w 204"/>
                <a:gd name="T63" fmla="*/ 146 h 204"/>
                <a:gd name="T64" fmla="*/ 25 w 204"/>
                <a:gd name="T65" fmla="*/ 161 h 204"/>
                <a:gd name="T66" fmla="*/ 25 w 204"/>
                <a:gd name="T67" fmla="*/ 170 h 204"/>
                <a:gd name="T68" fmla="*/ 34 w 204"/>
                <a:gd name="T69" fmla="*/ 179 h 204"/>
                <a:gd name="T70" fmla="*/ 43 w 204"/>
                <a:gd name="T71" fmla="*/ 179 h 204"/>
                <a:gd name="T72" fmla="*/ 58 w 204"/>
                <a:gd name="T73" fmla="*/ 165 h 204"/>
                <a:gd name="T74" fmla="*/ 89 w 204"/>
                <a:gd name="T75" fmla="*/ 178 h 204"/>
                <a:gd name="T76" fmla="*/ 89 w 204"/>
                <a:gd name="T77" fmla="*/ 198 h 204"/>
                <a:gd name="T78" fmla="*/ 96 w 204"/>
                <a:gd name="T79" fmla="*/ 204 h 204"/>
                <a:gd name="T80" fmla="*/ 108 w 204"/>
                <a:gd name="T81" fmla="*/ 204 h 204"/>
                <a:gd name="T82" fmla="*/ 115 w 204"/>
                <a:gd name="T83" fmla="*/ 198 h 204"/>
                <a:gd name="T84" fmla="*/ 115 w 204"/>
                <a:gd name="T85" fmla="*/ 178 h 204"/>
                <a:gd name="T86" fmla="*/ 146 w 204"/>
                <a:gd name="T87" fmla="*/ 165 h 204"/>
                <a:gd name="T88" fmla="*/ 161 w 204"/>
                <a:gd name="T89" fmla="*/ 179 h 204"/>
                <a:gd name="T90" fmla="*/ 170 w 204"/>
                <a:gd name="T91" fmla="*/ 179 h 204"/>
                <a:gd name="T92" fmla="*/ 179 w 204"/>
                <a:gd name="T93" fmla="*/ 170 h 204"/>
                <a:gd name="T94" fmla="*/ 179 w 204"/>
                <a:gd name="T95" fmla="*/ 161 h 204"/>
                <a:gd name="T96" fmla="*/ 165 w 204"/>
                <a:gd name="T97" fmla="*/ 146 h 204"/>
                <a:gd name="T98" fmla="*/ 178 w 204"/>
                <a:gd name="T99" fmla="*/ 115 h 204"/>
                <a:gd name="T100" fmla="*/ 198 w 204"/>
                <a:gd name="T101" fmla="*/ 115 h 204"/>
                <a:gd name="T102" fmla="*/ 204 w 204"/>
                <a:gd name="T103" fmla="*/ 108 h 204"/>
                <a:gd name="T104" fmla="*/ 204 w 204"/>
                <a:gd name="T105" fmla="*/ 96 h 204"/>
                <a:gd name="T106" fmla="*/ 198 w 204"/>
                <a:gd name="T107" fmla="*/ 89 h 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04" h="204">
                  <a:moveTo>
                    <a:pt x="102" y="160"/>
                  </a:moveTo>
                  <a:cubicBezTo>
                    <a:pt x="70" y="160"/>
                    <a:pt x="44" y="134"/>
                    <a:pt x="44" y="102"/>
                  </a:cubicBezTo>
                  <a:cubicBezTo>
                    <a:pt x="44" y="71"/>
                    <a:pt x="70" y="44"/>
                    <a:pt x="102" y="44"/>
                  </a:cubicBezTo>
                  <a:cubicBezTo>
                    <a:pt x="134" y="44"/>
                    <a:pt x="160" y="70"/>
                    <a:pt x="160" y="102"/>
                  </a:cubicBezTo>
                  <a:cubicBezTo>
                    <a:pt x="160" y="133"/>
                    <a:pt x="134" y="160"/>
                    <a:pt x="102" y="160"/>
                  </a:cubicBezTo>
                  <a:close/>
                  <a:moveTo>
                    <a:pt x="198" y="89"/>
                  </a:moveTo>
                  <a:cubicBezTo>
                    <a:pt x="178" y="89"/>
                    <a:pt x="178" y="89"/>
                    <a:pt x="178" y="89"/>
                  </a:cubicBezTo>
                  <a:cubicBezTo>
                    <a:pt x="176" y="78"/>
                    <a:pt x="171" y="67"/>
                    <a:pt x="165" y="58"/>
                  </a:cubicBezTo>
                  <a:cubicBezTo>
                    <a:pt x="179" y="43"/>
                    <a:pt x="179" y="43"/>
                    <a:pt x="179" y="43"/>
                  </a:cubicBezTo>
                  <a:cubicBezTo>
                    <a:pt x="181" y="41"/>
                    <a:pt x="181" y="37"/>
                    <a:pt x="179" y="34"/>
                  </a:cubicBezTo>
                  <a:cubicBezTo>
                    <a:pt x="170" y="25"/>
                    <a:pt x="170" y="25"/>
                    <a:pt x="170" y="25"/>
                  </a:cubicBezTo>
                  <a:cubicBezTo>
                    <a:pt x="167" y="23"/>
                    <a:pt x="163" y="23"/>
                    <a:pt x="161" y="25"/>
                  </a:cubicBezTo>
                  <a:cubicBezTo>
                    <a:pt x="146" y="39"/>
                    <a:pt x="146" y="39"/>
                    <a:pt x="146" y="39"/>
                  </a:cubicBezTo>
                  <a:cubicBezTo>
                    <a:pt x="137" y="33"/>
                    <a:pt x="126" y="28"/>
                    <a:pt x="115" y="26"/>
                  </a:cubicBezTo>
                  <a:cubicBezTo>
                    <a:pt x="115" y="6"/>
                    <a:pt x="115" y="6"/>
                    <a:pt x="115" y="6"/>
                  </a:cubicBezTo>
                  <a:cubicBezTo>
                    <a:pt x="115" y="2"/>
                    <a:pt x="112" y="0"/>
                    <a:pt x="108" y="0"/>
                  </a:cubicBezTo>
                  <a:cubicBezTo>
                    <a:pt x="96" y="0"/>
                    <a:pt x="96" y="0"/>
                    <a:pt x="96" y="0"/>
                  </a:cubicBezTo>
                  <a:cubicBezTo>
                    <a:pt x="92" y="0"/>
                    <a:pt x="89" y="2"/>
                    <a:pt x="89" y="6"/>
                  </a:cubicBezTo>
                  <a:cubicBezTo>
                    <a:pt x="89" y="26"/>
                    <a:pt x="89" y="26"/>
                    <a:pt x="89" y="26"/>
                  </a:cubicBezTo>
                  <a:cubicBezTo>
                    <a:pt x="78" y="28"/>
                    <a:pt x="67" y="33"/>
                    <a:pt x="58" y="39"/>
                  </a:cubicBezTo>
                  <a:cubicBezTo>
                    <a:pt x="43" y="25"/>
                    <a:pt x="43" y="25"/>
                    <a:pt x="43" y="25"/>
                  </a:cubicBezTo>
                  <a:cubicBezTo>
                    <a:pt x="41" y="23"/>
                    <a:pt x="37" y="23"/>
                    <a:pt x="34" y="25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3" y="37"/>
                    <a:pt x="23" y="41"/>
                    <a:pt x="25" y="43"/>
                  </a:cubicBezTo>
                  <a:cubicBezTo>
                    <a:pt x="39" y="58"/>
                    <a:pt x="39" y="58"/>
                    <a:pt x="39" y="58"/>
                  </a:cubicBezTo>
                  <a:cubicBezTo>
                    <a:pt x="33" y="67"/>
                    <a:pt x="28" y="78"/>
                    <a:pt x="26" y="89"/>
                  </a:cubicBezTo>
                  <a:cubicBezTo>
                    <a:pt x="6" y="89"/>
                    <a:pt x="6" y="89"/>
                    <a:pt x="6" y="89"/>
                  </a:cubicBezTo>
                  <a:cubicBezTo>
                    <a:pt x="2" y="89"/>
                    <a:pt x="0" y="92"/>
                    <a:pt x="0" y="96"/>
                  </a:cubicBezTo>
                  <a:cubicBezTo>
                    <a:pt x="0" y="108"/>
                    <a:pt x="0" y="108"/>
                    <a:pt x="0" y="108"/>
                  </a:cubicBezTo>
                  <a:cubicBezTo>
                    <a:pt x="0" y="112"/>
                    <a:pt x="2" y="115"/>
                    <a:pt x="6" y="115"/>
                  </a:cubicBezTo>
                  <a:cubicBezTo>
                    <a:pt x="26" y="115"/>
                    <a:pt x="26" y="115"/>
                    <a:pt x="26" y="115"/>
                  </a:cubicBezTo>
                  <a:cubicBezTo>
                    <a:pt x="28" y="126"/>
                    <a:pt x="33" y="137"/>
                    <a:pt x="39" y="146"/>
                  </a:cubicBezTo>
                  <a:cubicBezTo>
                    <a:pt x="25" y="161"/>
                    <a:pt x="25" y="161"/>
                    <a:pt x="25" y="161"/>
                  </a:cubicBezTo>
                  <a:cubicBezTo>
                    <a:pt x="23" y="163"/>
                    <a:pt x="23" y="167"/>
                    <a:pt x="25" y="170"/>
                  </a:cubicBezTo>
                  <a:cubicBezTo>
                    <a:pt x="34" y="179"/>
                    <a:pt x="34" y="179"/>
                    <a:pt x="34" y="179"/>
                  </a:cubicBezTo>
                  <a:cubicBezTo>
                    <a:pt x="37" y="181"/>
                    <a:pt x="41" y="181"/>
                    <a:pt x="43" y="179"/>
                  </a:cubicBezTo>
                  <a:cubicBezTo>
                    <a:pt x="58" y="165"/>
                    <a:pt x="58" y="165"/>
                    <a:pt x="58" y="165"/>
                  </a:cubicBezTo>
                  <a:cubicBezTo>
                    <a:pt x="67" y="171"/>
                    <a:pt x="78" y="176"/>
                    <a:pt x="89" y="178"/>
                  </a:cubicBezTo>
                  <a:cubicBezTo>
                    <a:pt x="89" y="198"/>
                    <a:pt x="89" y="198"/>
                    <a:pt x="89" y="198"/>
                  </a:cubicBezTo>
                  <a:cubicBezTo>
                    <a:pt x="89" y="202"/>
                    <a:pt x="92" y="204"/>
                    <a:pt x="96" y="204"/>
                  </a:cubicBezTo>
                  <a:cubicBezTo>
                    <a:pt x="108" y="204"/>
                    <a:pt x="108" y="204"/>
                    <a:pt x="108" y="204"/>
                  </a:cubicBezTo>
                  <a:cubicBezTo>
                    <a:pt x="112" y="204"/>
                    <a:pt x="115" y="202"/>
                    <a:pt x="115" y="198"/>
                  </a:cubicBezTo>
                  <a:cubicBezTo>
                    <a:pt x="115" y="178"/>
                    <a:pt x="115" y="178"/>
                    <a:pt x="115" y="178"/>
                  </a:cubicBezTo>
                  <a:cubicBezTo>
                    <a:pt x="126" y="176"/>
                    <a:pt x="137" y="171"/>
                    <a:pt x="146" y="165"/>
                  </a:cubicBezTo>
                  <a:cubicBezTo>
                    <a:pt x="161" y="179"/>
                    <a:pt x="161" y="179"/>
                    <a:pt x="161" y="179"/>
                  </a:cubicBezTo>
                  <a:cubicBezTo>
                    <a:pt x="163" y="181"/>
                    <a:pt x="167" y="181"/>
                    <a:pt x="170" y="179"/>
                  </a:cubicBezTo>
                  <a:cubicBezTo>
                    <a:pt x="179" y="170"/>
                    <a:pt x="179" y="170"/>
                    <a:pt x="179" y="170"/>
                  </a:cubicBezTo>
                  <a:cubicBezTo>
                    <a:pt x="181" y="167"/>
                    <a:pt x="181" y="163"/>
                    <a:pt x="179" y="161"/>
                  </a:cubicBezTo>
                  <a:cubicBezTo>
                    <a:pt x="165" y="146"/>
                    <a:pt x="165" y="146"/>
                    <a:pt x="165" y="146"/>
                  </a:cubicBezTo>
                  <a:cubicBezTo>
                    <a:pt x="171" y="137"/>
                    <a:pt x="176" y="126"/>
                    <a:pt x="178" y="115"/>
                  </a:cubicBezTo>
                  <a:cubicBezTo>
                    <a:pt x="198" y="115"/>
                    <a:pt x="198" y="115"/>
                    <a:pt x="198" y="115"/>
                  </a:cubicBezTo>
                  <a:cubicBezTo>
                    <a:pt x="202" y="115"/>
                    <a:pt x="204" y="112"/>
                    <a:pt x="204" y="108"/>
                  </a:cubicBezTo>
                  <a:cubicBezTo>
                    <a:pt x="204" y="96"/>
                    <a:pt x="204" y="96"/>
                    <a:pt x="204" y="96"/>
                  </a:cubicBezTo>
                  <a:cubicBezTo>
                    <a:pt x="204" y="92"/>
                    <a:pt x="202" y="89"/>
                    <a:pt x="198" y="89"/>
                  </a:cubicBezTo>
                  <a:close/>
                </a:path>
              </a:pathLst>
            </a:custGeom>
            <a:solidFill>
              <a:srgbClr val="E2E4E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/>
            </a:p>
          </p:txBody>
        </p:sp>
        <p:sp>
          <p:nvSpPr>
            <p:cNvPr id="69" name="Freeform 118">
              <a:extLst>
                <a:ext uri="{FF2B5EF4-FFF2-40B4-BE49-F238E27FC236}">
                  <a16:creationId xmlns:a16="http://schemas.microsoft.com/office/drawing/2014/main" id="{A94E8B9D-79C2-64FC-8E9A-4FEA9B2E8407}"/>
                </a:ext>
              </a:extLst>
            </p:cNvPr>
            <p:cNvSpPr>
              <a:spLocks/>
            </p:cNvSpPr>
            <p:nvPr/>
          </p:nvSpPr>
          <p:spPr bwMode="auto">
            <a:xfrm>
              <a:off x="8624888" y="2216150"/>
              <a:ext cx="658812" cy="658813"/>
            </a:xfrm>
            <a:custGeom>
              <a:avLst/>
              <a:gdLst>
                <a:gd name="T0" fmla="*/ 161 w 174"/>
                <a:gd name="T1" fmla="*/ 25 h 174"/>
                <a:gd name="T2" fmla="*/ 146 w 174"/>
                <a:gd name="T3" fmla="*/ 39 h 174"/>
                <a:gd name="T4" fmla="*/ 115 w 174"/>
                <a:gd name="T5" fmla="*/ 26 h 174"/>
                <a:gd name="T6" fmla="*/ 115 w 174"/>
                <a:gd name="T7" fmla="*/ 6 h 174"/>
                <a:gd name="T8" fmla="*/ 108 w 174"/>
                <a:gd name="T9" fmla="*/ 0 h 174"/>
                <a:gd name="T10" fmla="*/ 96 w 174"/>
                <a:gd name="T11" fmla="*/ 0 h 174"/>
                <a:gd name="T12" fmla="*/ 89 w 174"/>
                <a:gd name="T13" fmla="*/ 6 h 174"/>
                <a:gd name="T14" fmla="*/ 89 w 174"/>
                <a:gd name="T15" fmla="*/ 26 h 174"/>
                <a:gd name="T16" fmla="*/ 58 w 174"/>
                <a:gd name="T17" fmla="*/ 39 h 174"/>
                <a:gd name="T18" fmla="*/ 43 w 174"/>
                <a:gd name="T19" fmla="*/ 25 h 174"/>
                <a:gd name="T20" fmla="*/ 34 w 174"/>
                <a:gd name="T21" fmla="*/ 25 h 174"/>
                <a:gd name="T22" fmla="*/ 25 w 174"/>
                <a:gd name="T23" fmla="*/ 34 h 174"/>
                <a:gd name="T24" fmla="*/ 25 w 174"/>
                <a:gd name="T25" fmla="*/ 43 h 174"/>
                <a:gd name="T26" fmla="*/ 39 w 174"/>
                <a:gd name="T27" fmla="*/ 58 h 174"/>
                <a:gd name="T28" fmla="*/ 26 w 174"/>
                <a:gd name="T29" fmla="*/ 89 h 174"/>
                <a:gd name="T30" fmla="*/ 6 w 174"/>
                <a:gd name="T31" fmla="*/ 89 h 174"/>
                <a:gd name="T32" fmla="*/ 0 w 174"/>
                <a:gd name="T33" fmla="*/ 96 h 174"/>
                <a:gd name="T34" fmla="*/ 0 w 174"/>
                <a:gd name="T35" fmla="*/ 108 h 174"/>
                <a:gd name="T36" fmla="*/ 6 w 174"/>
                <a:gd name="T37" fmla="*/ 115 h 174"/>
                <a:gd name="T38" fmla="*/ 26 w 174"/>
                <a:gd name="T39" fmla="*/ 115 h 174"/>
                <a:gd name="T40" fmla="*/ 39 w 174"/>
                <a:gd name="T41" fmla="*/ 146 h 174"/>
                <a:gd name="T42" fmla="*/ 25 w 174"/>
                <a:gd name="T43" fmla="*/ 161 h 174"/>
                <a:gd name="T44" fmla="*/ 25 w 174"/>
                <a:gd name="T45" fmla="*/ 170 h 174"/>
                <a:gd name="T46" fmla="*/ 30 w 174"/>
                <a:gd name="T47" fmla="*/ 174 h 174"/>
                <a:gd name="T48" fmla="*/ 61 w 174"/>
                <a:gd name="T49" fmla="*/ 143 h 174"/>
                <a:gd name="T50" fmla="*/ 44 w 174"/>
                <a:gd name="T51" fmla="*/ 102 h 174"/>
                <a:gd name="T52" fmla="*/ 102 w 174"/>
                <a:gd name="T53" fmla="*/ 44 h 174"/>
                <a:gd name="T54" fmla="*/ 143 w 174"/>
                <a:gd name="T55" fmla="*/ 61 h 174"/>
                <a:gd name="T56" fmla="*/ 174 w 174"/>
                <a:gd name="T57" fmla="*/ 29 h 174"/>
                <a:gd name="T58" fmla="*/ 170 w 174"/>
                <a:gd name="T59" fmla="*/ 25 h 174"/>
                <a:gd name="T60" fmla="*/ 161 w 174"/>
                <a:gd name="T61" fmla="*/ 25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74" h="174">
                  <a:moveTo>
                    <a:pt x="161" y="25"/>
                  </a:moveTo>
                  <a:cubicBezTo>
                    <a:pt x="146" y="39"/>
                    <a:pt x="146" y="39"/>
                    <a:pt x="146" y="39"/>
                  </a:cubicBezTo>
                  <a:cubicBezTo>
                    <a:pt x="137" y="33"/>
                    <a:pt x="126" y="28"/>
                    <a:pt x="115" y="26"/>
                  </a:cubicBezTo>
                  <a:cubicBezTo>
                    <a:pt x="115" y="6"/>
                    <a:pt x="115" y="6"/>
                    <a:pt x="115" y="6"/>
                  </a:cubicBezTo>
                  <a:cubicBezTo>
                    <a:pt x="115" y="2"/>
                    <a:pt x="112" y="0"/>
                    <a:pt x="108" y="0"/>
                  </a:cubicBezTo>
                  <a:cubicBezTo>
                    <a:pt x="96" y="0"/>
                    <a:pt x="96" y="0"/>
                    <a:pt x="96" y="0"/>
                  </a:cubicBezTo>
                  <a:cubicBezTo>
                    <a:pt x="92" y="0"/>
                    <a:pt x="89" y="2"/>
                    <a:pt x="89" y="6"/>
                  </a:cubicBezTo>
                  <a:cubicBezTo>
                    <a:pt x="89" y="26"/>
                    <a:pt x="89" y="26"/>
                    <a:pt x="89" y="26"/>
                  </a:cubicBezTo>
                  <a:cubicBezTo>
                    <a:pt x="78" y="28"/>
                    <a:pt x="67" y="33"/>
                    <a:pt x="58" y="39"/>
                  </a:cubicBezTo>
                  <a:cubicBezTo>
                    <a:pt x="43" y="25"/>
                    <a:pt x="43" y="25"/>
                    <a:pt x="43" y="25"/>
                  </a:cubicBezTo>
                  <a:cubicBezTo>
                    <a:pt x="41" y="23"/>
                    <a:pt x="37" y="23"/>
                    <a:pt x="34" y="25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3" y="37"/>
                    <a:pt x="23" y="41"/>
                    <a:pt x="25" y="43"/>
                  </a:cubicBezTo>
                  <a:cubicBezTo>
                    <a:pt x="39" y="58"/>
                    <a:pt x="39" y="58"/>
                    <a:pt x="39" y="58"/>
                  </a:cubicBezTo>
                  <a:cubicBezTo>
                    <a:pt x="33" y="67"/>
                    <a:pt x="28" y="78"/>
                    <a:pt x="26" y="89"/>
                  </a:cubicBezTo>
                  <a:cubicBezTo>
                    <a:pt x="6" y="89"/>
                    <a:pt x="6" y="89"/>
                    <a:pt x="6" y="89"/>
                  </a:cubicBezTo>
                  <a:cubicBezTo>
                    <a:pt x="2" y="89"/>
                    <a:pt x="0" y="92"/>
                    <a:pt x="0" y="96"/>
                  </a:cubicBezTo>
                  <a:cubicBezTo>
                    <a:pt x="0" y="108"/>
                    <a:pt x="0" y="108"/>
                    <a:pt x="0" y="108"/>
                  </a:cubicBezTo>
                  <a:cubicBezTo>
                    <a:pt x="0" y="112"/>
                    <a:pt x="2" y="115"/>
                    <a:pt x="6" y="115"/>
                  </a:cubicBezTo>
                  <a:cubicBezTo>
                    <a:pt x="26" y="115"/>
                    <a:pt x="26" y="115"/>
                    <a:pt x="26" y="115"/>
                  </a:cubicBezTo>
                  <a:cubicBezTo>
                    <a:pt x="28" y="126"/>
                    <a:pt x="33" y="137"/>
                    <a:pt x="39" y="146"/>
                  </a:cubicBezTo>
                  <a:cubicBezTo>
                    <a:pt x="25" y="161"/>
                    <a:pt x="25" y="161"/>
                    <a:pt x="25" y="161"/>
                  </a:cubicBezTo>
                  <a:cubicBezTo>
                    <a:pt x="23" y="163"/>
                    <a:pt x="23" y="167"/>
                    <a:pt x="25" y="170"/>
                  </a:cubicBezTo>
                  <a:cubicBezTo>
                    <a:pt x="30" y="174"/>
                    <a:pt x="30" y="174"/>
                    <a:pt x="30" y="174"/>
                  </a:cubicBezTo>
                  <a:cubicBezTo>
                    <a:pt x="61" y="143"/>
                    <a:pt x="61" y="143"/>
                    <a:pt x="61" y="143"/>
                  </a:cubicBezTo>
                  <a:cubicBezTo>
                    <a:pt x="51" y="132"/>
                    <a:pt x="44" y="118"/>
                    <a:pt x="44" y="102"/>
                  </a:cubicBezTo>
                  <a:cubicBezTo>
                    <a:pt x="44" y="71"/>
                    <a:pt x="70" y="44"/>
                    <a:pt x="102" y="44"/>
                  </a:cubicBezTo>
                  <a:cubicBezTo>
                    <a:pt x="118" y="44"/>
                    <a:pt x="132" y="51"/>
                    <a:pt x="143" y="61"/>
                  </a:cubicBezTo>
                  <a:cubicBezTo>
                    <a:pt x="174" y="29"/>
                    <a:pt x="174" y="29"/>
                    <a:pt x="174" y="29"/>
                  </a:cubicBezTo>
                  <a:cubicBezTo>
                    <a:pt x="170" y="25"/>
                    <a:pt x="170" y="25"/>
                    <a:pt x="170" y="25"/>
                  </a:cubicBezTo>
                  <a:cubicBezTo>
                    <a:pt x="167" y="23"/>
                    <a:pt x="163" y="23"/>
                    <a:pt x="161" y="2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/>
            </a:p>
          </p:txBody>
        </p:sp>
        <p:sp>
          <p:nvSpPr>
            <p:cNvPr id="70" name="Freeform 119">
              <a:extLst>
                <a:ext uri="{FF2B5EF4-FFF2-40B4-BE49-F238E27FC236}">
                  <a16:creationId xmlns:a16="http://schemas.microsoft.com/office/drawing/2014/main" id="{38E1647E-AACB-271B-3DCD-0369A0E1A2F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791575" y="2382838"/>
              <a:ext cx="439737" cy="439738"/>
            </a:xfrm>
            <a:custGeom>
              <a:avLst/>
              <a:gdLst>
                <a:gd name="T0" fmla="*/ 58 w 116"/>
                <a:gd name="T1" fmla="*/ 96 h 116"/>
                <a:gd name="T2" fmla="*/ 20 w 116"/>
                <a:gd name="T3" fmla="*/ 58 h 116"/>
                <a:gd name="T4" fmla="*/ 58 w 116"/>
                <a:gd name="T5" fmla="*/ 20 h 116"/>
                <a:gd name="T6" fmla="*/ 96 w 116"/>
                <a:gd name="T7" fmla="*/ 58 h 116"/>
                <a:gd name="T8" fmla="*/ 58 w 116"/>
                <a:gd name="T9" fmla="*/ 96 h 116"/>
                <a:gd name="T10" fmla="*/ 58 w 116"/>
                <a:gd name="T11" fmla="*/ 0 h 116"/>
                <a:gd name="T12" fmla="*/ 0 w 116"/>
                <a:gd name="T13" fmla="*/ 58 h 116"/>
                <a:gd name="T14" fmla="*/ 58 w 116"/>
                <a:gd name="T15" fmla="*/ 116 h 116"/>
                <a:gd name="T16" fmla="*/ 116 w 116"/>
                <a:gd name="T17" fmla="*/ 58 h 116"/>
                <a:gd name="T18" fmla="*/ 58 w 116"/>
                <a:gd name="T19" fmla="*/ 0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116">
                  <a:moveTo>
                    <a:pt x="58" y="96"/>
                  </a:moveTo>
                  <a:cubicBezTo>
                    <a:pt x="37" y="96"/>
                    <a:pt x="20" y="79"/>
                    <a:pt x="20" y="58"/>
                  </a:cubicBezTo>
                  <a:cubicBezTo>
                    <a:pt x="20" y="37"/>
                    <a:pt x="37" y="20"/>
                    <a:pt x="58" y="20"/>
                  </a:cubicBezTo>
                  <a:cubicBezTo>
                    <a:pt x="79" y="20"/>
                    <a:pt x="96" y="37"/>
                    <a:pt x="96" y="58"/>
                  </a:cubicBezTo>
                  <a:cubicBezTo>
                    <a:pt x="96" y="79"/>
                    <a:pt x="79" y="96"/>
                    <a:pt x="58" y="96"/>
                  </a:cubicBezTo>
                  <a:close/>
                  <a:moveTo>
                    <a:pt x="58" y="0"/>
                  </a:moveTo>
                  <a:cubicBezTo>
                    <a:pt x="26" y="0"/>
                    <a:pt x="0" y="26"/>
                    <a:pt x="0" y="58"/>
                  </a:cubicBezTo>
                  <a:cubicBezTo>
                    <a:pt x="0" y="90"/>
                    <a:pt x="26" y="116"/>
                    <a:pt x="58" y="116"/>
                  </a:cubicBezTo>
                  <a:cubicBezTo>
                    <a:pt x="90" y="116"/>
                    <a:pt x="116" y="90"/>
                    <a:pt x="116" y="58"/>
                  </a:cubicBezTo>
                  <a:cubicBezTo>
                    <a:pt x="116" y="26"/>
                    <a:pt x="90" y="0"/>
                    <a:pt x="58" y="0"/>
                  </a:cubicBezTo>
                  <a:close/>
                </a:path>
              </a:pathLst>
            </a:custGeom>
            <a:solidFill>
              <a:srgbClr val="CFD3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/>
            </a:p>
          </p:txBody>
        </p:sp>
        <p:sp>
          <p:nvSpPr>
            <p:cNvPr id="71" name="Freeform 120">
              <a:extLst>
                <a:ext uri="{FF2B5EF4-FFF2-40B4-BE49-F238E27FC236}">
                  <a16:creationId xmlns:a16="http://schemas.microsoft.com/office/drawing/2014/main" id="{5064E272-EADB-30CE-D28F-33C4627A9408}"/>
                </a:ext>
              </a:extLst>
            </p:cNvPr>
            <p:cNvSpPr>
              <a:spLocks/>
            </p:cNvSpPr>
            <p:nvPr/>
          </p:nvSpPr>
          <p:spPr bwMode="auto">
            <a:xfrm>
              <a:off x="8791575" y="2382838"/>
              <a:ext cx="374650" cy="374650"/>
            </a:xfrm>
            <a:custGeom>
              <a:avLst/>
              <a:gdLst>
                <a:gd name="T0" fmla="*/ 58 w 99"/>
                <a:gd name="T1" fmla="*/ 0 h 99"/>
                <a:gd name="T2" fmla="*/ 0 w 99"/>
                <a:gd name="T3" fmla="*/ 58 h 99"/>
                <a:gd name="T4" fmla="*/ 17 w 99"/>
                <a:gd name="T5" fmla="*/ 99 h 99"/>
                <a:gd name="T6" fmla="*/ 31 w 99"/>
                <a:gd name="T7" fmla="*/ 85 h 99"/>
                <a:gd name="T8" fmla="*/ 20 w 99"/>
                <a:gd name="T9" fmla="*/ 58 h 99"/>
                <a:gd name="T10" fmla="*/ 58 w 99"/>
                <a:gd name="T11" fmla="*/ 20 h 99"/>
                <a:gd name="T12" fmla="*/ 85 w 99"/>
                <a:gd name="T13" fmla="*/ 31 h 99"/>
                <a:gd name="T14" fmla="*/ 99 w 99"/>
                <a:gd name="T15" fmla="*/ 17 h 99"/>
                <a:gd name="T16" fmla="*/ 58 w 99"/>
                <a:gd name="T17" fmla="*/ 0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9" h="99">
                  <a:moveTo>
                    <a:pt x="58" y="0"/>
                  </a:moveTo>
                  <a:cubicBezTo>
                    <a:pt x="26" y="0"/>
                    <a:pt x="0" y="26"/>
                    <a:pt x="0" y="58"/>
                  </a:cubicBezTo>
                  <a:cubicBezTo>
                    <a:pt x="0" y="74"/>
                    <a:pt x="7" y="88"/>
                    <a:pt x="17" y="99"/>
                  </a:cubicBezTo>
                  <a:cubicBezTo>
                    <a:pt x="31" y="85"/>
                    <a:pt x="31" y="85"/>
                    <a:pt x="31" y="85"/>
                  </a:cubicBezTo>
                  <a:cubicBezTo>
                    <a:pt x="24" y="78"/>
                    <a:pt x="20" y="69"/>
                    <a:pt x="20" y="58"/>
                  </a:cubicBezTo>
                  <a:cubicBezTo>
                    <a:pt x="20" y="37"/>
                    <a:pt x="37" y="20"/>
                    <a:pt x="58" y="20"/>
                  </a:cubicBezTo>
                  <a:cubicBezTo>
                    <a:pt x="69" y="20"/>
                    <a:pt x="78" y="24"/>
                    <a:pt x="85" y="31"/>
                  </a:cubicBezTo>
                  <a:cubicBezTo>
                    <a:pt x="99" y="17"/>
                    <a:pt x="99" y="17"/>
                    <a:pt x="99" y="17"/>
                  </a:cubicBezTo>
                  <a:cubicBezTo>
                    <a:pt x="88" y="7"/>
                    <a:pt x="74" y="0"/>
                    <a:pt x="58" y="0"/>
                  </a:cubicBezTo>
                  <a:close/>
                </a:path>
              </a:pathLst>
            </a:custGeom>
            <a:solidFill>
              <a:srgbClr val="E2E4E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/>
            </a:p>
          </p:txBody>
        </p:sp>
        <p:sp>
          <p:nvSpPr>
            <p:cNvPr id="72" name="Freeform 121">
              <a:extLst>
                <a:ext uri="{FF2B5EF4-FFF2-40B4-BE49-F238E27FC236}">
                  <a16:creationId xmlns:a16="http://schemas.microsoft.com/office/drawing/2014/main" id="{CBC0B2BA-95E1-F639-AC90-396D6F7E84F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867775" y="2459038"/>
              <a:ext cx="287337" cy="287338"/>
            </a:xfrm>
            <a:custGeom>
              <a:avLst/>
              <a:gdLst>
                <a:gd name="T0" fmla="*/ 38 w 76"/>
                <a:gd name="T1" fmla="*/ 64 h 76"/>
                <a:gd name="T2" fmla="*/ 12 w 76"/>
                <a:gd name="T3" fmla="*/ 38 h 76"/>
                <a:gd name="T4" fmla="*/ 38 w 76"/>
                <a:gd name="T5" fmla="*/ 12 h 76"/>
                <a:gd name="T6" fmla="*/ 64 w 76"/>
                <a:gd name="T7" fmla="*/ 38 h 76"/>
                <a:gd name="T8" fmla="*/ 38 w 76"/>
                <a:gd name="T9" fmla="*/ 64 h 76"/>
                <a:gd name="T10" fmla="*/ 38 w 76"/>
                <a:gd name="T11" fmla="*/ 0 h 76"/>
                <a:gd name="T12" fmla="*/ 0 w 76"/>
                <a:gd name="T13" fmla="*/ 38 h 76"/>
                <a:gd name="T14" fmla="*/ 38 w 76"/>
                <a:gd name="T15" fmla="*/ 76 h 76"/>
                <a:gd name="T16" fmla="*/ 76 w 76"/>
                <a:gd name="T17" fmla="*/ 38 h 76"/>
                <a:gd name="T18" fmla="*/ 38 w 76"/>
                <a:gd name="T19" fmla="*/ 0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6" h="76">
                  <a:moveTo>
                    <a:pt x="38" y="64"/>
                  </a:moveTo>
                  <a:cubicBezTo>
                    <a:pt x="24" y="64"/>
                    <a:pt x="12" y="52"/>
                    <a:pt x="12" y="38"/>
                  </a:cubicBezTo>
                  <a:cubicBezTo>
                    <a:pt x="12" y="24"/>
                    <a:pt x="24" y="12"/>
                    <a:pt x="38" y="12"/>
                  </a:cubicBezTo>
                  <a:cubicBezTo>
                    <a:pt x="52" y="12"/>
                    <a:pt x="64" y="24"/>
                    <a:pt x="64" y="38"/>
                  </a:cubicBezTo>
                  <a:cubicBezTo>
                    <a:pt x="64" y="52"/>
                    <a:pt x="52" y="64"/>
                    <a:pt x="38" y="64"/>
                  </a:cubicBezTo>
                  <a:close/>
                  <a:moveTo>
                    <a:pt x="38" y="0"/>
                  </a:moveTo>
                  <a:cubicBezTo>
                    <a:pt x="17" y="0"/>
                    <a:pt x="0" y="17"/>
                    <a:pt x="0" y="38"/>
                  </a:cubicBezTo>
                  <a:cubicBezTo>
                    <a:pt x="0" y="59"/>
                    <a:pt x="17" y="76"/>
                    <a:pt x="38" y="76"/>
                  </a:cubicBezTo>
                  <a:cubicBezTo>
                    <a:pt x="59" y="76"/>
                    <a:pt x="76" y="59"/>
                    <a:pt x="76" y="38"/>
                  </a:cubicBezTo>
                  <a:cubicBezTo>
                    <a:pt x="76" y="17"/>
                    <a:pt x="59" y="0"/>
                    <a:pt x="38" y="0"/>
                  </a:cubicBezTo>
                  <a:close/>
                </a:path>
              </a:pathLst>
            </a:custGeom>
            <a:solidFill>
              <a:srgbClr val="E2E4E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/>
            </a:p>
          </p:txBody>
        </p:sp>
        <p:sp>
          <p:nvSpPr>
            <p:cNvPr id="73" name="Freeform 122">
              <a:extLst>
                <a:ext uri="{FF2B5EF4-FFF2-40B4-BE49-F238E27FC236}">
                  <a16:creationId xmlns:a16="http://schemas.microsoft.com/office/drawing/2014/main" id="{C1D84BFF-63FE-4E20-41E4-EE686B97D623}"/>
                </a:ext>
              </a:extLst>
            </p:cNvPr>
            <p:cNvSpPr>
              <a:spLocks/>
            </p:cNvSpPr>
            <p:nvPr/>
          </p:nvSpPr>
          <p:spPr bwMode="auto">
            <a:xfrm>
              <a:off x="8867775" y="2459038"/>
              <a:ext cx="246062" cy="246063"/>
            </a:xfrm>
            <a:custGeom>
              <a:avLst/>
              <a:gdLst>
                <a:gd name="T0" fmla="*/ 38 w 65"/>
                <a:gd name="T1" fmla="*/ 0 h 65"/>
                <a:gd name="T2" fmla="*/ 0 w 65"/>
                <a:gd name="T3" fmla="*/ 38 h 65"/>
                <a:gd name="T4" fmla="*/ 11 w 65"/>
                <a:gd name="T5" fmla="*/ 65 h 65"/>
                <a:gd name="T6" fmla="*/ 20 w 65"/>
                <a:gd name="T7" fmla="*/ 56 h 65"/>
                <a:gd name="T8" fmla="*/ 12 w 65"/>
                <a:gd name="T9" fmla="*/ 38 h 65"/>
                <a:gd name="T10" fmla="*/ 38 w 65"/>
                <a:gd name="T11" fmla="*/ 12 h 65"/>
                <a:gd name="T12" fmla="*/ 56 w 65"/>
                <a:gd name="T13" fmla="*/ 20 h 65"/>
                <a:gd name="T14" fmla="*/ 65 w 65"/>
                <a:gd name="T15" fmla="*/ 11 h 65"/>
                <a:gd name="T16" fmla="*/ 38 w 65"/>
                <a:gd name="T17" fmla="*/ 0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5" h="65">
                  <a:moveTo>
                    <a:pt x="38" y="0"/>
                  </a:moveTo>
                  <a:cubicBezTo>
                    <a:pt x="17" y="0"/>
                    <a:pt x="0" y="17"/>
                    <a:pt x="0" y="38"/>
                  </a:cubicBezTo>
                  <a:cubicBezTo>
                    <a:pt x="0" y="49"/>
                    <a:pt x="4" y="58"/>
                    <a:pt x="11" y="65"/>
                  </a:cubicBezTo>
                  <a:cubicBezTo>
                    <a:pt x="20" y="56"/>
                    <a:pt x="20" y="56"/>
                    <a:pt x="20" y="56"/>
                  </a:cubicBezTo>
                  <a:cubicBezTo>
                    <a:pt x="15" y="51"/>
                    <a:pt x="12" y="45"/>
                    <a:pt x="12" y="38"/>
                  </a:cubicBezTo>
                  <a:cubicBezTo>
                    <a:pt x="12" y="24"/>
                    <a:pt x="24" y="12"/>
                    <a:pt x="38" y="12"/>
                  </a:cubicBezTo>
                  <a:cubicBezTo>
                    <a:pt x="45" y="12"/>
                    <a:pt x="51" y="15"/>
                    <a:pt x="56" y="20"/>
                  </a:cubicBezTo>
                  <a:cubicBezTo>
                    <a:pt x="65" y="11"/>
                    <a:pt x="65" y="11"/>
                    <a:pt x="65" y="11"/>
                  </a:cubicBezTo>
                  <a:cubicBezTo>
                    <a:pt x="58" y="4"/>
                    <a:pt x="49" y="0"/>
                    <a:pt x="3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/>
            </a:p>
          </p:txBody>
        </p:sp>
      </p:grpSp>
      <p:sp>
        <p:nvSpPr>
          <p:cNvPr id="19" name="Title 1">
            <a:extLst>
              <a:ext uri="{FF2B5EF4-FFF2-40B4-BE49-F238E27FC236}">
                <a16:creationId xmlns:a16="http://schemas.microsoft.com/office/drawing/2014/main" id="{A011103B-DA44-C20E-32BE-15DFB2B11ACD}"/>
              </a:ext>
            </a:extLst>
          </p:cNvPr>
          <p:cNvSpPr txBox="1">
            <a:spLocks/>
          </p:cNvSpPr>
          <p:nvPr/>
        </p:nvSpPr>
        <p:spPr>
          <a:xfrm>
            <a:off x="6337936" y="3707375"/>
            <a:ext cx="1493671" cy="201758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  <a:spcAft>
                <a:spcPts val="1200"/>
              </a:spcAft>
            </a:pPr>
            <a:r>
              <a:rPr 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Use secure connections, such as HTTPS or SFTP, to transfer data between systems and services also use secure storage.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BAAA84D6-FF9D-A5A0-DAA4-430B86DE674D}"/>
              </a:ext>
            </a:extLst>
          </p:cNvPr>
          <p:cNvSpPr txBox="1">
            <a:spLocks/>
          </p:cNvSpPr>
          <p:nvPr/>
        </p:nvSpPr>
        <p:spPr>
          <a:xfrm>
            <a:off x="8210023" y="3719854"/>
            <a:ext cx="1493671" cy="201758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  <a:spcAft>
                <a:spcPts val="1200"/>
              </a:spcAft>
            </a:pPr>
            <a:r>
              <a:rPr 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Use authentication to secure access to the Logic App's endpoint and to the systems and services that the Logic App integrates with.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4C421FC2-9775-7015-9310-1F1FA956C347}"/>
              </a:ext>
            </a:extLst>
          </p:cNvPr>
          <p:cNvSpPr txBox="1">
            <a:spLocks/>
          </p:cNvSpPr>
          <p:nvPr/>
        </p:nvSpPr>
        <p:spPr>
          <a:xfrm>
            <a:off x="10095800" y="3707375"/>
            <a:ext cx="1493671" cy="201758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  <a:spcAft>
                <a:spcPts val="1200"/>
              </a:spcAft>
            </a:pPr>
            <a:r>
              <a:rPr 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Use authorization to control access to the Logic App's endpoint and to the systems and services that the Logic App integrates with.</a:t>
            </a:r>
          </a:p>
        </p:txBody>
      </p:sp>
      <p:sp>
        <p:nvSpPr>
          <p:cNvPr id="22" name="Freeform 46">
            <a:extLst>
              <a:ext uri="{FF2B5EF4-FFF2-40B4-BE49-F238E27FC236}">
                <a16:creationId xmlns:a16="http://schemas.microsoft.com/office/drawing/2014/main" id="{7F0FC324-7D49-6328-8D62-128F9173FD83}"/>
              </a:ext>
            </a:extLst>
          </p:cNvPr>
          <p:cNvSpPr/>
          <p:nvPr/>
        </p:nvSpPr>
        <p:spPr>
          <a:xfrm>
            <a:off x="6532026" y="6027821"/>
            <a:ext cx="1084697" cy="80948"/>
          </a:xfrm>
          <a:prstGeom prst="roundRect">
            <a:avLst>
              <a:gd name="adj" fmla="val 50000"/>
            </a:avLst>
          </a:prstGeom>
          <a:solidFill>
            <a:srgbClr val="D010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3" name="Freeform 46">
            <a:extLst>
              <a:ext uri="{FF2B5EF4-FFF2-40B4-BE49-F238E27FC236}">
                <a16:creationId xmlns:a16="http://schemas.microsoft.com/office/drawing/2014/main" id="{B800B8F7-8796-D280-70F9-82ACBAC055DF}"/>
              </a:ext>
            </a:extLst>
          </p:cNvPr>
          <p:cNvSpPr/>
          <p:nvPr/>
        </p:nvSpPr>
        <p:spPr>
          <a:xfrm>
            <a:off x="8417803" y="6027821"/>
            <a:ext cx="1084697" cy="80948"/>
          </a:xfrm>
          <a:prstGeom prst="roundRect">
            <a:avLst>
              <a:gd name="adj" fmla="val 50000"/>
            </a:avLst>
          </a:prstGeom>
          <a:solidFill>
            <a:srgbClr val="D010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4" name="Freeform 46">
            <a:extLst>
              <a:ext uri="{FF2B5EF4-FFF2-40B4-BE49-F238E27FC236}">
                <a16:creationId xmlns:a16="http://schemas.microsoft.com/office/drawing/2014/main" id="{A6BCA051-DD89-B2D8-3B84-E67DA0D22EE8}"/>
              </a:ext>
            </a:extLst>
          </p:cNvPr>
          <p:cNvSpPr/>
          <p:nvPr/>
        </p:nvSpPr>
        <p:spPr>
          <a:xfrm>
            <a:off x="10303580" y="6027821"/>
            <a:ext cx="1084697" cy="80948"/>
          </a:xfrm>
          <a:prstGeom prst="roundRect">
            <a:avLst>
              <a:gd name="adj" fmla="val 50000"/>
            </a:avLst>
          </a:prstGeom>
          <a:solidFill>
            <a:srgbClr val="D010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72A2C85E-795E-963E-0E65-4E8EB459FA5F}"/>
              </a:ext>
            </a:extLst>
          </p:cNvPr>
          <p:cNvSpPr/>
          <p:nvPr/>
        </p:nvSpPr>
        <p:spPr>
          <a:xfrm>
            <a:off x="256813" y="1030803"/>
            <a:ext cx="1068670" cy="1068670"/>
          </a:xfrm>
          <a:prstGeom prst="ellipse">
            <a:avLst/>
          </a:prstGeom>
          <a:solidFill>
            <a:srgbClr val="D01012"/>
          </a:solidFill>
          <a:ln>
            <a:noFill/>
          </a:ln>
          <a:effectLst>
            <a:outerShdw dist="635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C847494A-A2AA-87B4-9B8B-3536CBF16251}"/>
              </a:ext>
            </a:extLst>
          </p:cNvPr>
          <p:cNvGrpSpPr/>
          <p:nvPr/>
        </p:nvGrpSpPr>
        <p:grpSpPr>
          <a:xfrm>
            <a:off x="525173" y="1275308"/>
            <a:ext cx="531950" cy="579658"/>
            <a:chOff x="9742488" y="639763"/>
            <a:chExt cx="708025" cy="771526"/>
          </a:xfrm>
          <a:effectLst>
            <a:outerShdw dist="38100" dir="2700000" algn="tl" rotWithShape="0">
              <a:prstClr val="black">
                <a:alpha val="20000"/>
              </a:prstClr>
            </a:outerShdw>
          </a:effectLst>
        </p:grpSpPr>
        <p:sp>
          <p:nvSpPr>
            <p:cNvPr id="61" name="Freeform 59">
              <a:extLst>
                <a:ext uri="{FF2B5EF4-FFF2-40B4-BE49-F238E27FC236}">
                  <a16:creationId xmlns:a16="http://schemas.microsoft.com/office/drawing/2014/main" id="{42C397F0-C0A6-40F8-BB6A-EBB9556135C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74288" y="1123951"/>
              <a:ext cx="276225" cy="287338"/>
            </a:xfrm>
            <a:custGeom>
              <a:avLst/>
              <a:gdLst>
                <a:gd name="T0" fmla="*/ 72 w 73"/>
                <a:gd name="T1" fmla="*/ 41 h 76"/>
                <a:gd name="T2" fmla="*/ 44 w 73"/>
                <a:gd name="T3" fmla="*/ 0 h 76"/>
                <a:gd name="T4" fmla="*/ 42 w 73"/>
                <a:gd name="T5" fmla="*/ 2 h 76"/>
                <a:gd name="T6" fmla="*/ 42 w 73"/>
                <a:gd name="T7" fmla="*/ 23 h 76"/>
                <a:gd name="T8" fmla="*/ 21 w 73"/>
                <a:gd name="T9" fmla="*/ 23 h 76"/>
                <a:gd name="T10" fmla="*/ 13 w 73"/>
                <a:gd name="T11" fmla="*/ 42 h 76"/>
                <a:gd name="T12" fmla="*/ 0 w 73"/>
                <a:gd name="T13" fmla="*/ 36 h 76"/>
                <a:gd name="T14" fmla="*/ 25 w 73"/>
                <a:gd name="T15" fmla="*/ 73 h 76"/>
                <a:gd name="T16" fmla="*/ 30 w 73"/>
                <a:gd name="T17" fmla="*/ 75 h 76"/>
                <a:gd name="T18" fmla="*/ 35 w 73"/>
                <a:gd name="T19" fmla="*/ 71 h 76"/>
                <a:gd name="T20" fmla="*/ 41 w 73"/>
                <a:gd name="T21" fmla="*/ 52 h 76"/>
                <a:gd name="T22" fmla="*/ 47 w 73"/>
                <a:gd name="T23" fmla="*/ 48 h 76"/>
                <a:gd name="T24" fmla="*/ 67 w 73"/>
                <a:gd name="T25" fmla="*/ 50 h 76"/>
                <a:gd name="T26" fmla="*/ 72 w 73"/>
                <a:gd name="T27" fmla="*/ 47 h 76"/>
                <a:gd name="T28" fmla="*/ 72 w 73"/>
                <a:gd name="T29" fmla="*/ 41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3" h="76">
                  <a:moveTo>
                    <a:pt x="72" y="41"/>
                  </a:moveTo>
                  <a:cubicBezTo>
                    <a:pt x="44" y="0"/>
                    <a:pt x="44" y="0"/>
                    <a:pt x="44" y="0"/>
                  </a:cubicBezTo>
                  <a:cubicBezTo>
                    <a:pt x="43" y="1"/>
                    <a:pt x="43" y="1"/>
                    <a:pt x="42" y="2"/>
                  </a:cubicBezTo>
                  <a:cubicBezTo>
                    <a:pt x="39" y="7"/>
                    <a:pt x="46" y="19"/>
                    <a:pt x="42" y="23"/>
                  </a:cubicBezTo>
                  <a:cubicBezTo>
                    <a:pt x="38" y="27"/>
                    <a:pt x="26" y="20"/>
                    <a:pt x="21" y="23"/>
                  </a:cubicBezTo>
                  <a:cubicBezTo>
                    <a:pt x="17" y="26"/>
                    <a:pt x="18" y="40"/>
                    <a:pt x="13" y="42"/>
                  </a:cubicBezTo>
                  <a:cubicBezTo>
                    <a:pt x="10" y="43"/>
                    <a:pt x="5" y="39"/>
                    <a:pt x="0" y="36"/>
                  </a:cubicBezTo>
                  <a:cubicBezTo>
                    <a:pt x="25" y="73"/>
                    <a:pt x="25" y="73"/>
                    <a:pt x="25" y="73"/>
                  </a:cubicBezTo>
                  <a:cubicBezTo>
                    <a:pt x="26" y="75"/>
                    <a:pt x="28" y="76"/>
                    <a:pt x="30" y="75"/>
                  </a:cubicBezTo>
                  <a:cubicBezTo>
                    <a:pt x="32" y="75"/>
                    <a:pt x="34" y="73"/>
                    <a:pt x="35" y="71"/>
                  </a:cubicBezTo>
                  <a:cubicBezTo>
                    <a:pt x="41" y="52"/>
                    <a:pt x="41" y="52"/>
                    <a:pt x="41" y="52"/>
                  </a:cubicBezTo>
                  <a:cubicBezTo>
                    <a:pt x="42" y="50"/>
                    <a:pt x="44" y="48"/>
                    <a:pt x="47" y="48"/>
                  </a:cubicBezTo>
                  <a:cubicBezTo>
                    <a:pt x="67" y="50"/>
                    <a:pt x="67" y="50"/>
                    <a:pt x="67" y="50"/>
                  </a:cubicBezTo>
                  <a:cubicBezTo>
                    <a:pt x="69" y="50"/>
                    <a:pt x="71" y="49"/>
                    <a:pt x="72" y="47"/>
                  </a:cubicBezTo>
                  <a:cubicBezTo>
                    <a:pt x="73" y="45"/>
                    <a:pt x="73" y="43"/>
                    <a:pt x="72" y="41"/>
                  </a:cubicBez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/>
            </a:p>
          </p:txBody>
        </p:sp>
        <p:sp>
          <p:nvSpPr>
            <p:cNvPr id="62" name="Freeform 60">
              <a:extLst>
                <a:ext uri="{FF2B5EF4-FFF2-40B4-BE49-F238E27FC236}">
                  <a16:creationId xmlns:a16="http://schemas.microsoft.com/office/drawing/2014/main" id="{3320E71B-BB3B-6013-ABC0-765214805D54}"/>
                </a:ext>
              </a:extLst>
            </p:cNvPr>
            <p:cNvSpPr>
              <a:spLocks/>
            </p:cNvSpPr>
            <p:nvPr/>
          </p:nvSpPr>
          <p:spPr bwMode="auto">
            <a:xfrm>
              <a:off x="9742488" y="1123951"/>
              <a:ext cx="276225" cy="287338"/>
            </a:xfrm>
            <a:custGeom>
              <a:avLst/>
              <a:gdLst>
                <a:gd name="T0" fmla="*/ 60 w 73"/>
                <a:gd name="T1" fmla="*/ 42 h 76"/>
                <a:gd name="T2" fmla="*/ 52 w 73"/>
                <a:gd name="T3" fmla="*/ 23 h 76"/>
                <a:gd name="T4" fmla="*/ 31 w 73"/>
                <a:gd name="T5" fmla="*/ 23 h 76"/>
                <a:gd name="T6" fmla="*/ 31 w 73"/>
                <a:gd name="T7" fmla="*/ 2 h 76"/>
                <a:gd name="T8" fmla="*/ 28 w 73"/>
                <a:gd name="T9" fmla="*/ 0 h 76"/>
                <a:gd name="T10" fmla="*/ 1 w 73"/>
                <a:gd name="T11" fmla="*/ 41 h 76"/>
                <a:gd name="T12" fmla="*/ 1 w 73"/>
                <a:gd name="T13" fmla="*/ 47 h 76"/>
                <a:gd name="T14" fmla="*/ 6 w 73"/>
                <a:gd name="T15" fmla="*/ 50 h 76"/>
                <a:gd name="T16" fmla="*/ 26 w 73"/>
                <a:gd name="T17" fmla="*/ 48 h 76"/>
                <a:gd name="T18" fmla="*/ 32 w 73"/>
                <a:gd name="T19" fmla="*/ 52 h 76"/>
                <a:gd name="T20" fmla="*/ 38 w 73"/>
                <a:gd name="T21" fmla="*/ 71 h 76"/>
                <a:gd name="T22" fmla="*/ 43 w 73"/>
                <a:gd name="T23" fmla="*/ 75 h 76"/>
                <a:gd name="T24" fmla="*/ 48 w 73"/>
                <a:gd name="T25" fmla="*/ 73 h 76"/>
                <a:gd name="T26" fmla="*/ 73 w 73"/>
                <a:gd name="T27" fmla="*/ 36 h 76"/>
                <a:gd name="T28" fmla="*/ 60 w 73"/>
                <a:gd name="T29" fmla="*/ 42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3" h="76">
                  <a:moveTo>
                    <a:pt x="60" y="42"/>
                  </a:moveTo>
                  <a:cubicBezTo>
                    <a:pt x="55" y="40"/>
                    <a:pt x="56" y="26"/>
                    <a:pt x="52" y="23"/>
                  </a:cubicBezTo>
                  <a:cubicBezTo>
                    <a:pt x="47" y="20"/>
                    <a:pt x="35" y="27"/>
                    <a:pt x="31" y="23"/>
                  </a:cubicBezTo>
                  <a:cubicBezTo>
                    <a:pt x="27" y="19"/>
                    <a:pt x="34" y="7"/>
                    <a:pt x="31" y="2"/>
                  </a:cubicBezTo>
                  <a:cubicBezTo>
                    <a:pt x="30" y="2"/>
                    <a:pt x="29" y="1"/>
                    <a:pt x="28" y="0"/>
                  </a:cubicBezTo>
                  <a:cubicBezTo>
                    <a:pt x="1" y="41"/>
                    <a:pt x="1" y="41"/>
                    <a:pt x="1" y="41"/>
                  </a:cubicBezTo>
                  <a:cubicBezTo>
                    <a:pt x="0" y="43"/>
                    <a:pt x="0" y="45"/>
                    <a:pt x="1" y="47"/>
                  </a:cubicBezTo>
                  <a:cubicBezTo>
                    <a:pt x="2" y="49"/>
                    <a:pt x="4" y="50"/>
                    <a:pt x="6" y="50"/>
                  </a:cubicBezTo>
                  <a:cubicBezTo>
                    <a:pt x="26" y="48"/>
                    <a:pt x="26" y="48"/>
                    <a:pt x="26" y="48"/>
                  </a:cubicBezTo>
                  <a:cubicBezTo>
                    <a:pt x="29" y="48"/>
                    <a:pt x="31" y="50"/>
                    <a:pt x="32" y="52"/>
                  </a:cubicBezTo>
                  <a:cubicBezTo>
                    <a:pt x="38" y="71"/>
                    <a:pt x="38" y="71"/>
                    <a:pt x="38" y="71"/>
                  </a:cubicBezTo>
                  <a:cubicBezTo>
                    <a:pt x="39" y="73"/>
                    <a:pt x="41" y="75"/>
                    <a:pt x="43" y="75"/>
                  </a:cubicBezTo>
                  <a:cubicBezTo>
                    <a:pt x="45" y="76"/>
                    <a:pt x="47" y="75"/>
                    <a:pt x="48" y="73"/>
                  </a:cubicBezTo>
                  <a:cubicBezTo>
                    <a:pt x="73" y="36"/>
                    <a:pt x="73" y="36"/>
                    <a:pt x="73" y="36"/>
                  </a:cubicBezTo>
                  <a:cubicBezTo>
                    <a:pt x="68" y="39"/>
                    <a:pt x="63" y="44"/>
                    <a:pt x="60" y="42"/>
                  </a:cubicBez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/>
            </a:p>
          </p:txBody>
        </p:sp>
        <p:sp>
          <p:nvSpPr>
            <p:cNvPr id="63" name="Freeform 61">
              <a:extLst>
                <a:ext uri="{FF2B5EF4-FFF2-40B4-BE49-F238E27FC236}">
                  <a16:creationId xmlns:a16="http://schemas.microsoft.com/office/drawing/2014/main" id="{C859CEBF-7710-FB02-79FE-C7A378967905}"/>
                </a:ext>
              </a:extLst>
            </p:cNvPr>
            <p:cNvSpPr>
              <a:spLocks/>
            </p:cNvSpPr>
            <p:nvPr/>
          </p:nvSpPr>
          <p:spPr bwMode="auto">
            <a:xfrm>
              <a:off x="9761538" y="639763"/>
              <a:ext cx="669925" cy="669925"/>
            </a:xfrm>
            <a:custGeom>
              <a:avLst/>
              <a:gdLst>
                <a:gd name="T0" fmla="*/ 177 w 177"/>
                <a:gd name="T1" fmla="*/ 88 h 177"/>
                <a:gd name="T2" fmla="*/ 162 w 177"/>
                <a:gd name="T3" fmla="*/ 103 h 177"/>
                <a:gd name="T4" fmla="*/ 170 w 177"/>
                <a:gd name="T5" fmla="*/ 122 h 177"/>
                <a:gd name="T6" fmla="*/ 151 w 177"/>
                <a:gd name="T7" fmla="*/ 130 h 177"/>
                <a:gd name="T8" fmla="*/ 151 w 177"/>
                <a:gd name="T9" fmla="*/ 151 h 177"/>
                <a:gd name="T10" fmla="*/ 130 w 177"/>
                <a:gd name="T11" fmla="*/ 151 h 177"/>
                <a:gd name="T12" fmla="*/ 122 w 177"/>
                <a:gd name="T13" fmla="*/ 170 h 177"/>
                <a:gd name="T14" fmla="*/ 103 w 177"/>
                <a:gd name="T15" fmla="*/ 162 h 177"/>
                <a:gd name="T16" fmla="*/ 88 w 177"/>
                <a:gd name="T17" fmla="*/ 177 h 177"/>
                <a:gd name="T18" fmla="*/ 74 w 177"/>
                <a:gd name="T19" fmla="*/ 162 h 177"/>
                <a:gd name="T20" fmla="*/ 55 w 177"/>
                <a:gd name="T21" fmla="*/ 170 h 177"/>
                <a:gd name="T22" fmla="*/ 47 w 177"/>
                <a:gd name="T23" fmla="*/ 151 h 177"/>
                <a:gd name="T24" fmla="*/ 26 w 177"/>
                <a:gd name="T25" fmla="*/ 151 h 177"/>
                <a:gd name="T26" fmla="*/ 26 w 177"/>
                <a:gd name="T27" fmla="*/ 130 h 177"/>
                <a:gd name="T28" fmla="*/ 7 w 177"/>
                <a:gd name="T29" fmla="*/ 122 h 177"/>
                <a:gd name="T30" fmla="*/ 15 w 177"/>
                <a:gd name="T31" fmla="*/ 103 h 177"/>
                <a:gd name="T32" fmla="*/ 0 w 177"/>
                <a:gd name="T33" fmla="*/ 88 h 177"/>
                <a:gd name="T34" fmla="*/ 15 w 177"/>
                <a:gd name="T35" fmla="*/ 74 h 177"/>
                <a:gd name="T36" fmla="*/ 7 w 177"/>
                <a:gd name="T37" fmla="*/ 55 h 177"/>
                <a:gd name="T38" fmla="*/ 26 w 177"/>
                <a:gd name="T39" fmla="*/ 47 h 177"/>
                <a:gd name="T40" fmla="*/ 26 w 177"/>
                <a:gd name="T41" fmla="*/ 26 h 177"/>
                <a:gd name="T42" fmla="*/ 47 w 177"/>
                <a:gd name="T43" fmla="*/ 26 h 177"/>
                <a:gd name="T44" fmla="*/ 55 w 177"/>
                <a:gd name="T45" fmla="*/ 7 h 177"/>
                <a:gd name="T46" fmla="*/ 74 w 177"/>
                <a:gd name="T47" fmla="*/ 15 h 177"/>
                <a:gd name="T48" fmla="*/ 88 w 177"/>
                <a:gd name="T49" fmla="*/ 0 h 177"/>
                <a:gd name="T50" fmla="*/ 103 w 177"/>
                <a:gd name="T51" fmla="*/ 15 h 177"/>
                <a:gd name="T52" fmla="*/ 122 w 177"/>
                <a:gd name="T53" fmla="*/ 7 h 177"/>
                <a:gd name="T54" fmla="*/ 130 w 177"/>
                <a:gd name="T55" fmla="*/ 26 h 177"/>
                <a:gd name="T56" fmla="*/ 151 w 177"/>
                <a:gd name="T57" fmla="*/ 26 h 177"/>
                <a:gd name="T58" fmla="*/ 151 w 177"/>
                <a:gd name="T59" fmla="*/ 47 h 177"/>
                <a:gd name="T60" fmla="*/ 170 w 177"/>
                <a:gd name="T61" fmla="*/ 55 h 177"/>
                <a:gd name="T62" fmla="*/ 162 w 177"/>
                <a:gd name="T63" fmla="*/ 74 h 177"/>
                <a:gd name="T64" fmla="*/ 177 w 177"/>
                <a:gd name="T65" fmla="*/ 88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77" h="177">
                  <a:moveTo>
                    <a:pt x="177" y="88"/>
                  </a:moveTo>
                  <a:cubicBezTo>
                    <a:pt x="177" y="94"/>
                    <a:pt x="163" y="98"/>
                    <a:pt x="162" y="103"/>
                  </a:cubicBezTo>
                  <a:cubicBezTo>
                    <a:pt x="161" y="108"/>
                    <a:pt x="172" y="117"/>
                    <a:pt x="170" y="122"/>
                  </a:cubicBezTo>
                  <a:cubicBezTo>
                    <a:pt x="168" y="127"/>
                    <a:pt x="154" y="126"/>
                    <a:pt x="151" y="130"/>
                  </a:cubicBezTo>
                  <a:cubicBezTo>
                    <a:pt x="148" y="135"/>
                    <a:pt x="155" y="147"/>
                    <a:pt x="151" y="151"/>
                  </a:cubicBezTo>
                  <a:cubicBezTo>
                    <a:pt x="147" y="155"/>
                    <a:pt x="135" y="148"/>
                    <a:pt x="130" y="151"/>
                  </a:cubicBezTo>
                  <a:cubicBezTo>
                    <a:pt x="126" y="154"/>
                    <a:pt x="127" y="168"/>
                    <a:pt x="122" y="170"/>
                  </a:cubicBezTo>
                  <a:cubicBezTo>
                    <a:pt x="117" y="172"/>
                    <a:pt x="108" y="161"/>
                    <a:pt x="103" y="162"/>
                  </a:cubicBezTo>
                  <a:cubicBezTo>
                    <a:pt x="98" y="163"/>
                    <a:pt x="94" y="177"/>
                    <a:pt x="88" y="177"/>
                  </a:cubicBezTo>
                  <a:cubicBezTo>
                    <a:pt x="83" y="177"/>
                    <a:pt x="79" y="163"/>
                    <a:pt x="74" y="162"/>
                  </a:cubicBezTo>
                  <a:cubicBezTo>
                    <a:pt x="68" y="161"/>
                    <a:pt x="60" y="172"/>
                    <a:pt x="55" y="170"/>
                  </a:cubicBezTo>
                  <a:cubicBezTo>
                    <a:pt x="50" y="168"/>
                    <a:pt x="51" y="154"/>
                    <a:pt x="47" y="151"/>
                  </a:cubicBezTo>
                  <a:cubicBezTo>
                    <a:pt x="42" y="148"/>
                    <a:pt x="30" y="155"/>
                    <a:pt x="26" y="151"/>
                  </a:cubicBezTo>
                  <a:cubicBezTo>
                    <a:pt x="22" y="147"/>
                    <a:pt x="29" y="135"/>
                    <a:pt x="26" y="130"/>
                  </a:cubicBezTo>
                  <a:cubicBezTo>
                    <a:pt x="23" y="126"/>
                    <a:pt x="9" y="127"/>
                    <a:pt x="7" y="122"/>
                  </a:cubicBezTo>
                  <a:cubicBezTo>
                    <a:pt x="5" y="117"/>
                    <a:pt x="16" y="108"/>
                    <a:pt x="15" y="103"/>
                  </a:cubicBezTo>
                  <a:cubicBezTo>
                    <a:pt x="14" y="98"/>
                    <a:pt x="0" y="94"/>
                    <a:pt x="0" y="88"/>
                  </a:cubicBezTo>
                  <a:cubicBezTo>
                    <a:pt x="0" y="83"/>
                    <a:pt x="14" y="79"/>
                    <a:pt x="15" y="74"/>
                  </a:cubicBezTo>
                  <a:cubicBezTo>
                    <a:pt x="16" y="68"/>
                    <a:pt x="5" y="60"/>
                    <a:pt x="7" y="55"/>
                  </a:cubicBezTo>
                  <a:cubicBezTo>
                    <a:pt x="9" y="50"/>
                    <a:pt x="23" y="51"/>
                    <a:pt x="26" y="47"/>
                  </a:cubicBezTo>
                  <a:cubicBezTo>
                    <a:pt x="29" y="42"/>
                    <a:pt x="22" y="30"/>
                    <a:pt x="26" y="26"/>
                  </a:cubicBezTo>
                  <a:cubicBezTo>
                    <a:pt x="30" y="22"/>
                    <a:pt x="42" y="29"/>
                    <a:pt x="47" y="26"/>
                  </a:cubicBezTo>
                  <a:cubicBezTo>
                    <a:pt x="51" y="23"/>
                    <a:pt x="50" y="9"/>
                    <a:pt x="55" y="7"/>
                  </a:cubicBezTo>
                  <a:cubicBezTo>
                    <a:pt x="60" y="5"/>
                    <a:pt x="68" y="16"/>
                    <a:pt x="74" y="15"/>
                  </a:cubicBezTo>
                  <a:cubicBezTo>
                    <a:pt x="79" y="14"/>
                    <a:pt x="83" y="0"/>
                    <a:pt x="88" y="0"/>
                  </a:cubicBezTo>
                  <a:cubicBezTo>
                    <a:pt x="94" y="0"/>
                    <a:pt x="98" y="14"/>
                    <a:pt x="103" y="15"/>
                  </a:cubicBezTo>
                  <a:cubicBezTo>
                    <a:pt x="108" y="16"/>
                    <a:pt x="117" y="5"/>
                    <a:pt x="122" y="7"/>
                  </a:cubicBezTo>
                  <a:cubicBezTo>
                    <a:pt x="127" y="9"/>
                    <a:pt x="126" y="23"/>
                    <a:pt x="130" y="26"/>
                  </a:cubicBezTo>
                  <a:cubicBezTo>
                    <a:pt x="135" y="29"/>
                    <a:pt x="147" y="22"/>
                    <a:pt x="151" y="26"/>
                  </a:cubicBezTo>
                  <a:cubicBezTo>
                    <a:pt x="155" y="30"/>
                    <a:pt x="148" y="42"/>
                    <a:pt x="151" y="47"/>
                  </a:cubicBezTo>
                  <a:cubicBezTo>
                    <a:pt x="154" y="51"/>
                    <a:pt x="168" y="50"/>
                    <a:pt x="170" y="55"/>
                  </a:cubicBezTo>
                  <a:cubicBezTo>
                    <a:pt x="172" y="60"/>
                    <a:pt x="161" y="68"/>
                    <a:pt x="162" y="74"/>
                  </a:cubicBezTo>
                  <a:cubicBezTo>
                    <a:pt x="163" y="79"/>
                    <a:pt x="177" y="83"/>
                    <a:pt x="177" y="88"/>
                  </a:cubicBezTo>
                  <a:close/>
                </a:path>
              </a:pathLst>
            </a:custGeom>
            <a:solidFill>
              <a:srgbClr val="F3B60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/>
            </a:p>
          </p:txBody>
        </p:sp>
        <p:sp>
          <p:nvSpPr>
            <p:cNvPr id="64" name="Freeform 62">
              <a:extLst>
                <a:ext uri="{FF2B5EF4-FFF2-40B4-BE49-F238E27FC236}">
                  <a16:creationId xmlns:a16="http://schemas.microsoft.com/office/drawing/2014/main" id="{5A7BB79B-30DD-7DAE-A3DC-864F6179C0F5}"/>
                </a:ext>
              </a:extLst>
            </p:cNvPr>
            <p:cNvSpPr>
              <a:spLocks/>
            </p:cNvSpPr>
            <p:nvPr/>
          </p:nvSpPr>
          <p:spPr bwMode="auto">
            <a:xfrm>
              <a:off x="9761538" y="639763"/>
              <a:ext cx="571500" cy="571500"/>
            </a:xfrm>
            <a:custGeom>
              <a:avLst/>
              <a:gdLst>
                <a:gd name="T0" fmla="*/ 151 w 151"/>
                <a:gd name="T1" fmla="*/ 26 h 151"/>
                <a:gd name="T2" fmla="*/ 130 w 151"/>
                <a:gd name="T3" fmla="*/ 26 h 151"/>
                <a:gd name="T4" fmla="*/ 122 w 151"/>
                <a:gd name="T5" fmla="*/ 7 h 151"/>
                <a:gd name="T6" fmla="*/ 103 w 151"/>
                <a:gd name="T7" fmla="*/ 15 h 151"/>
                <a:gd name="T8" fmla="*/ 88 w 151"/>
                <a:gd name="T9" fmla="*/ 0 h 151"/>
                <a:gd name="T10" fmla="*/ 74 w 151"/>
                <a:gd name="T11" fmla="*/ 15 h 151"/>
                <a:gd name="T12" fmla="*/ 55 w 151"/>
                <a:gd name="T13" fmla="*/ 7 h 151"/>
                <a:gd name="T14" fmla="*/ 47 w 151"/>
                <a:gd name="T15" fmla="*/ 26 h 151"/>
                <a:gd name="T16" fmla="*/ 26 w 151"/>
                <a:gd name="T17" fmla="*/ 26 h 151"/>
                <a:gd name="T18" fmla="*/ 26 w 151"/>
                <a:gd name="T19" fmla="*/ 47 h 151"/>
                <a:gd name="T20" fmla="*/ 7 w 151"/>
                <a:gd name="T21" fmla="*/ 55 h 151"/>
                <a:gd name="T22" fmla="*/ 15 w 151"/>
                <a:gd name="T23" fmla="*/ 74 h 151"/>
                <a:gd name="T24" fmla="*/ 0 w 151"/>
                <a:gd name="T25" fmla="*/ 88 h 151"/>
                <a:gd name="T26" fmla="*/ 15 w 151"/>
                <a:gd name="T27" fmla="*/ 103 h 151"/>
                <a:gd name="T28" fmla="*/ 7 w 151"/>
                <a:gd name="T29" fmla="*/ 122 h 151"/>
                <a:gd name="T30" fmla="*/ 26 w 151"/>
                <a:gd name="T31" fmla="*/ 130 h 151"/>
                <a:gd name="T32" fmla="*/ 26 w 151"/>
                <a:gd name="T33" fmla="*/ 151 h 151"/>
                <a:gd name="T34" fmla="*/ 26 w 151"/>
                <a:gd name="T35" fmla="*/ 151 h 151"/>
                <a:gd name="T36" fmla="*/ 151 w 151"/>
                <a:gd name="T37" fmla="*/ 26 h 151"/>
                <a:gd name="T38" fmla="*/ 151 w 151"/>
                <a:gd name="T39" fmla="*/ 26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51" h="151">
                  <a:moveTo>
                    <a:pt x="151" y="26"/>
                  </a:moveTo>
                  <a:cubicBezTo>
                    <a:pt x="147" y="22"/>
                    <a:pt x="135" y="29"/>
                    <a:pt x="130" y="26"/>
                  </a:cubicBezTo>
                  <a:cubicBezTo>
                    <a:pt x="126" y="23"/>
                    <a:pt x="127" y="9"/>
                    <a:pt x="122" y="7"/>
                  </a:cubicBezTo>
                  <a:cubicBezTo>
                    <a:pt x="117" y="5"/>
                    <a:pt x="108" y="16"/>
                    <a:pt x="103" y="15"/>
                  </a:cubicBezTo>
                  <a:cubicBezTo>
                    <a:pt x="98" y="14"/>
                    <a:pt x="94" y="0"/>
                    <a:pt x="88" y="0"/>
                  </a:cubicBezTo>
                  <a:cubicBezTo>
                    <a:pt x="83" y="0"/>
                    <a:pt x="79" y="14"/>
                    <a:pt x="74" y="15"/>
                  </a:cubicBezTo>
                  <a:cubicBezTo>
                    <a:pt x="68" y="16"/>
                    <a:pt x="60" y="5"/>
                    <a:pt x="55" y="7"/>
                  </a:cubicBezTo>
                  <a:cubicBezTo>
                    <a:pt x="50" y="9"/>
                    <a:pt x="51" y="23"/>
                    <a:pt x="47" y="26"/>
                  </a:cubicBezTo>
                  <a:cubicBezTo>
                    <a:pt x="42" y="29"/>
                    <a:pt x="30" y="22"/>
                    <a:pt x="26" y="26"/>
                  </a:cubicBezTo>
                  <a:cubicBezTo>
                    <a:pt x="22" y="30"/>
                    <a:pt x="29" y="42"/>
                    <a:pt x="26" y="47"/>
                  </a:cubicBezTo>
                  <a:cubicBezTo>
                    <a:pt x="23" y="51"/>
                    <a:pt x="9" y="50"/>
                    <a:pt x="7" y="55"/>
                  </a:cubicBezTo>
                  <a:cubicBezTo>
                    <a:pt x="5" y="60"/>
                    <a:pt x="16" y="68"/>
                    <a:pt x="15" y="74"/>
                  </a:cubicBezTo>
                  <a:cubicBezTo>
                    <a:pt x="14" y="79"/>
                    <a:pt x="0" y="83"/>
                    <a:pt x="0" y="88"/>
                  </a:cubicBezTo>
                  <a:cubicBezTo>
                    <a:pt x="0" y="94"/>
                    <a:pt x="14" y="98"/>
                    <a:pt x="15" y="103"/>
                  </a:cubicBezTo>
                  <a:cubicBezTo>
                    <a:pt x="16" y="108"/>
                    <a:pt x="5" y="117"/>
                    <a:pt x="7" y="122"/>
                  </a:cubicBezTo>
                  <a:cubicBezTo>
                    <a:pt x="9" y="127"/>
                    <a:pt x="23" y="126"/>
                    <a:pt x="26" y="130"/>
                  </a:cubicBezTo>
                  <a:cubicBezTo>
                    <a:pt x="29" y="135"/>
                    <a:pt x="22" y="147"/>
                    <a:pt x="26" y="151"/>
                  </a:cubicBezTo>
                  <a:cubicBezTo>
                    <a:pt x="26" y="151"/>
                    <a:pt x="26" y="151"/>
                    <a:pt x="26" y="151"/>
                  </a:cubicBezTo>
                  <a:cubicBezTo>
                    <a:pt x="151" y="26"/>
                    <a:pt x="151" y="26"/>
                    <a:pt x="151" y="26"/>
                  </a:cubicBezTo>
                  <a:cubicBezTo>
                    <a:pt x="151" y="26"/>
                    <a:pt x="151" y="26"/>
                    <a:pt x="151" y="26"/>
                  </a:cubicBezTo>
                  <a:close/>
                </a:path>
              </a:pathLst>
            </a:custGeom>
            <a:solidFill>
              <a:srgbClr val="FACB1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/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F5611ECC-A83D-4F37-4506-DAC3D3D3F0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71075" y="749301"/>
              <a:ext cx="450850" cy="450850"/>
            </a:xfrm>
            <a:prstGeom prst="ellipse">
              <a:avLst/>
            </a:prstGeom>
            <a:solidFill>
              <a:srgbClr val="FBE1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/>
            </a:p>
          </p:txBody>
        </p:sp>
        <p:sp>
          <p:nvSpPr>
            <p:cNvPr id="66" name="Freeform 64">
              <a:extLst>
                <a:ext uri="{FF2B5EF4-FFF2-40B4-BE49-F238E27FC236}">
                  <a16:creationId xmlns:a16="http://schemas.microsoft.com/office/drawing/2014/main" id="{A3A4343E-9896-2EAB-18AD-C3C1DD565C51}"/>
                </a:ext>
              </a:extLst>
            </p:cNvPr>
            <p:cNvSpPr>
              <a:spLocks/>
            </p:cNvSpPr>
            <p:nvPr/>
          </p:nvSpPr>
          <p:spPr bwMode="auto">
            <a:xfrm>
              <a:off x="9871075" y="749301"/>
              <a:ext cx="382588" cy="385763"/>
            </a:xfrm>
            <a:custGeom>
              <a:avLst/>
              <a:gdLst>
                <a:gd name="T0" fmla="*/ 59 w 101"/>
                <a:gd name="T1" fmla="*/ 0 h 102"/>
                <a:gd name="T2" fmla="*/ 0 w 101"/>
                <a:gd name="T3" fmla="*/ 59 h 102"/>
                <a:gd name="T4" fmla="*/ 17 w 101"/>
                <a:gd name="T5" fmla="*/ 102 h 102"/>
                <a:gd name="T6" fmla="*/ 101 w 101"/>
                <a:gd name="T7" fmla="*/ 17 h 102"/>
                <a:gd name="T8" fmla="*/ 59 w 101"/>
                <a:gd name="T9" fmla="*/ 0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2">
                  <a:moveTo>
                    <a:pt x="59" y="0"/>
                  </a:moveTo>
                  <a:cubicBezTo>
                    <a:pt x="26" y="0"/>
                    <a:pt x="0" y="27"/>
                    <a:pt x="0" y="59"/>
                  </a:cubicBezTo>
                  <a:cubicBezTo>
                    <a:pt x="0" y="76"/>
                    <a:pt x="6" y="91"/>
                    <a:pt x="17" y="102"/>
                  </a:cubicBezTo>
                  <a:cubicBezTo>
                    <a:pt x="101" y="17"/>
                    <a:pt x="101" y="17"/>
                    <a:pt x="101" y="17"/>
                  </a:cubicBezTo>
                  <a:cubicBezTo>
                    <a:pt x="91" y="6"/>
                    <a:pt x="76" y="0"/>
                    <a:pt x="59" y="0"/>
                  </a:cubicBezTo>
                  <a:close/>
                </a:path>
              </a:pathLst>
            </a:custGeom>
            <a:solidFill>
              <a:srgbClr val="FBEC9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/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7BB81976-CCE6-CBEB-568C-5221DF766A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47275" y="828676"/>
              <a:ext cx="295275" cy="2921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/>
            </a:p>
          </p:txBody>
        </p:sp>
      </p:grpSp>
      <p:sp>
        <p:nvSpPr>
          <p:cNvPr id="27" name="Title 1">
            <a:extLst>
              <a:ext uri="{FF2B5EF4-FFF2-40B4-BE49-F238E27FC236}">
                <a16:creationId xmlns:a16="http://schemas.microsoft.com/office/drawing/2014/main" id="{1F1FC82E-CE3D-19CD-76BD-A355A1063B41}"/>
              </a:ext>
            </a:extLst>
          </p:cNvPr>
          <p:cNvSpPr txBox="1">
            <a:spLocks/>
          </p:cNvSpPr>
          <p:nvPr/>
        </p:nvSpPr>
        <p:spPr>
          <a:xfrm>
            <a:off x="6127814" y="3192221"/>
            <a:ext cx="1868455" cy="413505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Aft>
                <a:spcPts val="1200"/>
              </a:spcAft>
            </a:pPr>
            <a:r>
              <a:rPr lang="en-US" sz="1600" b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Secure Connections</a:t>
            </a:r>
          </a:p>
        </p:txBody>
      </p:sp>
      <p:sp>
        <p:nvSpPr>
          <p:cNvPr id="28" name="Title 1">
            <a:extLst>
              <a:ext uri="{FF2B5EF4-FFF2-40B4-BE49-F238E27FC236}">
                <a16:creationId xmlns:a16="http://schemas.microsoft.com/office/drawing/2014/main" id="{309097E5-A77D-96D4-F85B-4830906465C8}"/>
              </a:ext>
            </a:extLst>
          </p:cNvPr>
          <p:cNvSpPr txBox="1">
            <a:spLocks/>
          </p:cNvSpPr>
          <p:nvPr/>
        </p:nvSpPr>
        <p:spPr>
          <a:xfrm>
            <a:off x="8319756" y="3182133"/>
            <a:ext cx="1513854" cy="413505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Aft>
                <a:spcPts val="1200"/>
              </a:spcAft>
            </a:pPr>
            <a:r>
              <a:rPr lang="en-US" sz="1600" b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Authentication</a:t>
            </a:r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6276F72D-F0DE-E853-9477-66B44E737456}"/>
              </a:ext>
            </a:extLst>
          </p:cNvPr>
          <p:cNvSpPr txBox="1">
            <a:spLocks/>
          </p:cNvSpPr>
          <p:nvPr/>
        </p:nvSpPr>
        <p:spPr>
          <a:xfrm>
            <a:off x="10133537" y="3191658"/>
            <a:ext cx="1513854" cy="413505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Aft>
                <a:spcPts val="1200"/>
              </a:spcAft>
            </a:pPr>
            <a:r>
              <a:rPr lang="en-US" sz="1600" b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Authorization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59CF9C95-D6F6-2E5D-8829-9580D4A693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03168" y="6126589"/>
            <a:ext cx="501650" cy="501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" name="Title 1">
            <a:extLst>
              <a:ext uri="{FF2B5EF4-FFF2-40B4-BE49-F238E27FC236}">
                <a16:creationId xmlns:a16="http://schemas.microsoft.com/office/drawing/2014/main" id="{7695EA95-B38E-094F-1F04-319291E6B15B}"/>
              </a:ext>
            </a:extLst>
          </p:cNvPr>
          <p:cNvSpPr txBox="1">
            <a:spLocks/>
          </p:cNvSpPr>
          <p:nvPr/>
        </p:nvSpPr>
        <p:spPr>
          <a:xfrm>
            <a:off x="4003555" y="6377414"/>
            <a:ext cx="1750888" cy="215925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Aft>
                <a:spcPts val="1200"/>
              </a:spcAft>
            </a:pPr>
            <a:endParaRPr lang="en-US" sz="160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4" name="Freeform 46">
            <a:extLst>
              <a:ext uri="{FF2B5EF4-FFF2-40B4-BE49-F238E27FC236}">
                <a16:creationId xmlns:a16="http://schemas.microsoft.com/office/drawing/2014/main" id="{C8F33F39-2F82-9C2C-9ECF-B9363EEAFB37}"/>
              </a:ext>
            </a:extLst>
          </p:cNvPr>
          <p:cNvSpPr/>
          <p:nvPr/>
        </p:nvSpPr>
        <p:spPr>
          <a:xfrm>
            <a:off x="548661" y="2438286"/>
            <a:ext cx="1746915" cy="3534946"/>
          </a:xfrm>
          <a:prstGeom prst="roundRect">
            <a:avLst>
              <a:gd name="adj" fmla="val 703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35" name="Freeform 46">
            <a:extLst>
              <a:ext uri="{FF2B5EF4-FFF2-40B4-BE49-F238E27FC236}">
                <a16:creationId xmlns:a16="http://schemas.microsoft.com/office/drawing/2014/main" id="{34A7D70B-3491-DE41-8BD2-8B4DC6DE3A30}"/>
              </a:ext>
            </a:extLst>
          </p:cNvPr>
          <p:cNvSpPr/>
          <p:nvPr/>
        </p:nvSpPr>
        <p:spPr>
          <a:xfrm>
            <a:off x="2434438" y="2438286"/>
            <a:ext cx="1746915" cy="3534946"/>
          </a:xfrm>
          <a:prstGeom prst="roundRect">
            <a:avLst>
              <a:gd name="adj" fmla="val 703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36" name="Freeform 46">
            <a:extLst>
              <a:ext uri="{FF2B5EF4-FFF2-40B4-BE49-F238E27FC236}">
                <a16:creationId xmlns:a16="http://schemas.microsoft.com/office/drawing/2014/main" id="{C5C8919E-9E68-14F5-D8B8-5B572B6DDAF9}"/>
              </a:ext>
            </a:extLst>
          </p:cNvPr>
          <p:cNvSpPr/>
          <p:nvPr/>
        </p:nvSpPr>
        <p:spPr>
          <a:xfrm>
            <a:off x="4320215" y="2438286"/>
            <a:ext cx="1746915" cy="3517126"/>
          </a:xfrm>
          <a:prstGeom prst="roundRect">
            <a:avLst>
              <a:gd name="adj" fmla="val 703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C94EE7E3-CF8D-A5D4-D02F-5D9AB2E19261}"/>
              </a:ext>
            </a:extLst>
          </p:cNvPr>
          <p:cNvSpPr/>
          <p:nvPr/>
        </p:nvSpPr>
        <p:spPr>
          <a:xfrm>
            <a:off x="936359" y="2466741"/>
            <a:ext cx="971518" cy="971518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9A7D21EB-3521-8412-E6D7-2E4AD385FD68}"/>
              </a:ext>
            </a:extLst>
          </p:cNvPr>
          <p:cNvSpPr/>
          <p:nvPr/>
        </p:nvSpPr>
        <p:spPr>
          <a:xfrm>
            <a:off x="2822136" y="2466741"/>
            <a:ext cx="971518" cy="971518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B2CD5A5A-CF50-0E3F-F142-975904D84278}"/>
              </a:ext>
            </a:extLst>
          </p:cNvPr>
          <p:cNvSpPr/>
          <p:nvPr/>
        </p:nvSpPr>
        <p:spPr>
          <a:xfrm>
            <a:off x="4707913" y="2466741"/>
            <a:ext cx="971518" cy="971518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080FC8C7-E775-FEB9-23A9-81BB28B01DAD}"/>
              </a:ext>
            </a:extLst>
          </p:cNvPr>
          <p:cNvSpPr/>
          <p:nvPr/>
        </p:nvSpPr>
        <p:spPr>
          <a:xfrm>
            <a:off x="1117209" y="2650883"/>
            <a:ext cx="603235" cy="603235"/>
          </a:xfrm>
          <a:prstGeom prst="ellipse">
            <a:avLst/>
          </a:prstGeom>
          <a:solidFill>
            <a:srgbClr val="FFD100"/>
          </a:solidFill>
          <a:ln>
            <a:noFill/>
          </a:ln>
          <a:effectLst>
            <a:outerShdw dist="635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AF700746-8B76-70C6-4B5A-7518888EBA5F}"/>
              </a:ext>
            </a:extLst>
          </p:cNvPr>
          <p:cNvSpPr/>
          <p:nvPr/>
        </p:nvSpPr>
        <p:spPr>
          <a:xfrm>
            <a:off x="2998452" y="2620095"/>
            <a:ext cx="603235" cy="603235"/>
          </a:xfrm>
          <a:prstGeom prst="ellipse">
            <a:avLst/>
          </a:prstGeom>
          <a:solidFill>
            <a:srgbClr val="FFD100"/>
          </a:solidFill>
          <a:ln>
            <a:noFill/>
          </a:ln>
          <a:effectLst>
            <a:outerShdw dist="635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143B6DC0-99E5-9CBA-C6EA-C1EF058F635F}"/>
              </a:ext>
            </a:extLst>
          </p:cNvPr>
          <p:cNvSpPr/>
          <p:nvPr/>
        </p:nvSpPr>
        <p:spPr>
          <a:xfrm>
            <a:off x="4888763" y="2650883"/>
            <a:ext cx="603235" cy="603235"/>
          </a:xfrm>
          <a:prstGeom prst="ellipse">
            <a:avLst/>
          </a:prstGeom>
          <a:solidFill>
            <a:srgbClr val="FFD100"/>
          </a:solidFill>
          <a:ln>
            <a:noFill/>
          </a:ln>
          <a:effectLst>
            <a:outerShdw dist="635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43" name="Title 1">
            <a:extLst>
              <a:ext uri="{FF2B5EF4-FFF2-40B4-BE49-F238E27FC236}">
                <a16:creationId xmlns:a16="http://schemas.microsoft.com/office/drawing/2014/main" id="{F505341B-8F11-5482-3D70-2A2B78E65E51}"/>
              </a:ext>
            </a:extLst>
          </p:cNvPr>
          <p:cNvSpPr txBox="1">
            <a:spLocks/>
          </p:cNvSpPr>
          <p:nvPr/>
        </p:nvSpPr>
        <p:spPr>
          <a:xfrm>
            <a:off x="685680" y="3725194"/>
            <a:ext cx="1493671" cy="216555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  <a:spcAft>
                <a:spcPts val="1200"/>
              </a:spcAft>
            </a:pPr>
            <a:r>
              <a:rPr 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Use encryption to protect data in transit and at rest, both within the Logic App's endpoint and within the systems and services that the Logic App integrates with.</a:t>
            </a:r>
          </a:p>
          <a:p>
            <a:pPr algn="ctr">
              <a:lnSpc>
                <a:spcPct val="100000"/>
              </a:lnSpc>
              <a:spcAft>
                <a:spcPts val="1200"/>
              </a:spcAft>
            </a:pPr>
            <a:endParaRPr lang="en-US" sz="140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4" name="Title 1">
            <a:extLst>
              <a:ext uri="{FF2B5EF4-FFF2-40B4-BE49-F238E27FC236}">
                <a16:creationId xmlns:a16="http://schemas.microsoft.com/office/drawing/2014/main" id="{ABF5E2D6-394F-603C-78B0-9CC4694BCD3D}"/>
              </a:ext>
            </a:extLst>
          </p:cNvPr>
          <p:cNvSpPr txBox="1">
            <a:spLocks/>
          </p:cNvSpPr>
          <p:nvPr/>
        </p:nvSpPr>
        <p:spPr>
          <a:xfrm>
            <a:off x="2557767" y="3737674"/>
            <a:ext cx="1493671" cy="201758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  <a:spcAft>
                <a:spcPts val="1200"/>
              </a:spcAft>
            </a:pPr>
            <a:r>
              <a:rPr 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Use token management to securely store and manage access tokens, and to validate and refresh tokens as needed.</a:t>
            </a:r>
          </a:p>
        </p:txBody>
      </p:sp>
      <p:sp>
        <p:nvSpPr>
          <p:cNvPr id="45" name="Title 1">
            <a:extLst>
              <a:ext uri="{FF2B5EF4-FFF2-40B4-BE49-F238E27FC236}">
                <a16:creationId xmlns:a16="http://schemas.microsoft.com/office/drawing/2014/main" id="{F0A57A08-6E26-3321-5481-A056D27CD9F6}"/>
              </a:ext>
            </a:extLst>
          </p:cNvPr>
          <p:cNvSpPr txBox="1">
            <a:spLocks/>
          </p:cNvSpPr>
          <p:nvPr/>
        </p:nvSpPr>
        <p:spPr>
          <a:xfrm>
            <a:off x="4443544" y="3725194"/>
            <a:ext cx="1493671" cy="216555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  <a:spcAft>
                <a:spcPts val="1200"/>
              </a:spcAft>
            </a:pPr>
            <a:r>
              <a:rPr 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Use key management to securely store and manage encryption keys and other secrets.</a:t>
            </a:r>
          </a:p>
          <a:p>
            <a:pPr algn="ctr">
              <a:lnSpc>
                <a:spcPct val="100000"/>
              </a:lnSpc>
              <a:spcAft>
                <a:spcPts val="1200"/>
              </a:spcAft>
            </a:pPr>
            <a:endParaRPr lang="en-US" sz="140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6" name="Freeform 46">
            <a:extLst>
              <a:ext uri="{FF2B5EF4-FFF2-40B4-BE49-F238E27FC236}">
                <a16:creationId xmlns:a16="http://schemas.microsoft.com/office/drawing/2014/main" id="{A55F5C32-D006-CAD2-3E4E-83EC1EA20491}"/>
              </a:ext>
            </a:extLst>
          </p:cNvPr>
          <p:cNvSpPr/>
          <p:nvPr/>
        </p:nvSpPr>
        <p:spPr>
          <a:xfrm>
            <a:off x="879770" y="6045641"/>
            <a:ext cx="1084697" cy="80948"/>
          </a:xfrm>
          <a:prstGeom prst="roundRect">
            <a:avLst>
              <a:gd name="adj" fmla="val 50000"/>
            </a:avLst>
          </a:prstGeom>
          <a:solidFill>
            <a:srgbClr val="D010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47" name="Freeform 46">
            <a:extLst>
              <a:ext uri="{FF2B5EF4-FFF2-40B4-BE49-F238E27FC236}">
                <a16:creationId xmlns:a16="http://schemas.microsoft.com/office/drawing/2014/main" id="{A6AA9F84-710D-BB22-1052-F3AAF37EE36A}"/>
              </a:ext>
            </a:extLst>
          </p:cNvPr>
          <p:cNvSpPr/>
          <p:nvPr/>
        </p:nvSpPr>
        <p:spPr>
          <a:xfrm>
            <a:off x="2765547" y="6045641"/>
            <a:ext cx="1084697" cy="80948"/>
          </a:xfrm>
          <a:prstGeom prst="roundRect">
            <a:avLst>
              <a:gd name="adj" fmla="val 50000"/>
            </a:avLst>
          </a:prstGeom>
          <a:solidFill>
            <a:srgbClr val="D010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48" name="Freeform 46">
            <a:extLst>
              <a:ext uri="{FF2B5EF4-FFF2-40B4-BE49-F238E27FC236}">
                <a16:creationId xmlns:a16="http://schemas.microsoft.com/office/drawing/2014/main" id="{93A14876-92C7-3506-05D6-B93C44EB9FB3}"/>
              </a:ext>
            </a:extLst>
          </p:cNvPr>
          <p:cNvSpPr/>
          <p:nvPr/>
        </p:nvSpPr>
        <p:spPr>
          <a:xfrm>
            <a:off x="4651324" y="6045641"/>
            <a:ext cx="1084697" cy="80948"/>
          </a:xfrm>
          <a:prstGeom prst="roundRect">
            <a:avLst>
              <a:gd name="adj" fmla="val 50000"/>
            </a:avLst>
          </a:prstGeom>
          <a:solidFill>
            <a:srgbClr val="D010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49" name="Title 1">
            <a:extLst>
              <a:ext uri="{FF2B5EF4-FFF2-40B4-BE49-F238E27FC236}">
                <a16:creationId xmlns:a16="http://schemas.microsoft.com/office/drawing/2014/main" id="{5B74234A-FC5E-2D2E-A45D-1178845F1880}"/>
              </a:ext>
            </a:extLst>
          </p:cNvPr>
          <p:cNvSpPr txBox="1">
            <a:spLocks/>
          </p:cNvSpPr>
          <p:nvPr/>
        </p:nvSpPr>
        <p:spPr>
          <a:xfrm>
            <a:off x="475558" y="3210041"/>
            <a:ext cx="1868455" cy="413505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  <a:spcAft>
                <a:spcPts val="1200"/>
              </a:spcAft>
            </a:pP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Encryption</a:t>
            </a:r>
          </a:p>
        </p:txBody>
      </p:sp>
      <p:sp>
        <p:nvSpPr>
          <p:cNvPr id="50" name="Title 1">
            <a:extLst>
              <a:ext uri="{FF2B5EF4-FFF2-40B4-BE49-F238E27FC236}">
                <a16:creationId xmlns:a16="http://schemas.microsoft.com/office/drawing/2014/main" id="{51E484F2-65E5-2406-5C89-24F7E5ABB42E}"/>
              </a:ext>
            </a:extLst>
          </p:cNvPr>
          <p:cNvSpPr txBox="1">
            <a:spLocks/>
          </p:cNvSpPr>
          <p:nvPr/>
        </p:nvSpPr>
        <p:spPr>
          <a:xfrm>
            <a:off x="2667500" y="3199953"/>
            <a:ext cx="1513854" cy="413505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Aft>
                <a:spcPts val="1200"/>
              </a:spcAft>
            </a:pPr>
            <a:r>
              <a:rPr lang="en-US" sz="1600" b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Token </a:t>
            </a:r>
            <a:r>
              <a:rPr lang="en-US" sz="1600" b="1" err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Mgmt</a:t>
            </a:r>
            <a:endParaRPr lang="en-US" sz="1600" b="1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1" name="Title 1">
            <a:extLst>
              <a:ext uri="{FF2B5EF4-FFF2-40B4-BE49-F238E27FC236}">
                <a16:creationId xmlns:a16="http://schemas.microsoft.com/office/drawing/2014/main" id="{619AEAD0-D974-AADC-3090-753D5EB4C233}"/>
              </a:ext>
            </a:extLst>
          </p:cNvPr>
          <p:cNvSpPr txBox="1">
            <a:spLocks/>
          </p:cNvSpPr>
          <p:nvPr/>
        </p:nvSpPr>
        <p:spPr>
          <a:xfrm>
            <a:off x="4481281" y="3209478"/>
            <a:ext cx="1513854" cy="413505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  <a:spcAft>
                <a:spcPts val="1200"/>
              </a:spcAft>
            </a:pPr>
            <a:r>
              <a:rPr lang="en-US" sz="1600" b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Key </a:t>
            </a:r>
            <a:r>
              <a:rPr lang="en-US" sz="1600" b="1" err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Mgmt</a:t>
            </a:r>
            <a:endParaRPr lang="en-US" sz="1600" b="1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2" name="Freeform 69">
            <a:extLst>
              <a:ext uri="{FF2B5EF4-FFF2-40B4-BE49-F238E27FC236}">
                <a16:creationId xmlns:a16="http://schemas.microsoft.com/office/drawing/2014/main" id="{8A94F455-1D74-6E86-50A9-F4FF477A3C01}"/>
              </a:ext>
            </a:extLst>
          </p:cNvPr>
          <p:cNvSpPr>
            <a:spLocks noEditPoints="1"/>
          </p:cNvSpPr>
          <p:nvPr/>
        </p:nvSpPr>
        <p:spPr bwMode="auto">
          <a:xfrm>
            <a:off x="1294674" y="2804955"/>
            <a:ext cx="287449" cy="281422"/>
          </a:xfrm>
          <a:custGeom>
            <a:avLst/>
            <a:gdLst>
              <a:gd name="T0" fmla="*/ 83 w 97"/>
              <a:gd name="T1" fmla="*/ 41 h 97"/>
              <a:gd name="T2" fmla="*/ 79 w 97"/>
              <a:gd name="T3" fmla="*/ 31 h 97"/>
              <a:gd name="T4" fmla="*/ 94 w 97"/>
              <a:gd name="T5" fmla="*/ 2 h 97"/>
              <a:gd name="T6" fmla="*/ 71 w 97"/>
              <a:gd name="T7" fmla="*/ 21 h 97"/>
              <a:gd name="T8" fmla="*/ 56 w 97"/>
              <a:gd name="T9" fmla="*/ 14 h 97"/>
              <a:gd name="T10" fmla="*/ 54 w 97"/>
              <a:gd name="T11" fmla="*/ 1 h 97"/>
              <a:gd name="T12" fmla="*/ 40 w 97"/>
              <a:gd name="T13" fmla="*/ 3 h 97"/>
              <a:gd name="T14" fmla="*/ 31 w 97"/>
              <a:gd name="T15" fmla="*/ 18 h 97"/>
              <a:gd name="T16" fmla="*/ 20 w 97"/>
              <a:gd name="T17" fmla="*/ 9 h 97"/>
              <a:gd name="T18" fmla="*/ 8 w 97"/>
              <a:gd name="T19" fmla="*/ 22 h 97"/>
              <a:gd name="T20" fmla="*/ 17 w 97"/>
              <a:gd name="T21" fmla="*/ 32 h 97"/>
              <a:gd name="T22" fmla="*/ 2 w 97"/>
              <a:gd name="T23" fmla="*/ 41 h 97"/>
              <a:gd name="T24" fmla="*/ 0 w 97"/>
              <a:gd name="T25" fmla="*/ 55 h 97"/>
              <a:gd name="T26" fmla="*/ 13 w 97"/>
              <a:gd name="T27" fmla="*/ 57 h 97"/>
              <a:gd name="T28" fmla="*/ 8 w 97"/>
              <a:gd name="T29" fmla="*/ 74 h 97"/>
              <a:gd name="T30" fmla="*/ 8 w 97"/>
              <a:gd name="T31" fmla="*/ 77 h 97"/>
              <a:gd name="T32" fmla="*/ 23 w 97"/>
              <a:gd name="T33" fmla="*/ 89 h 97"/>
              <a:gd name="T34" fmla="*/ 40 w 97"/>
              <a:gd name="T35" fmla="*/ 84 h 97"/>
              <a:gd name="T36" fmla="*/ 42 w 97"/>
              <a:gd name="T37" fmla="*/ 97 h 97"/>
              <a:gd name="T38" fmla="*/ 56 w 97"/>
              <a:gd name="T39" fmla="*/ 95 h 97"/>
              <a:gd name="T40" fmla="*/ 65 w 97"/>
              <a:gd name="T41" fmla="*/ 80 h 97"/>
              <a:gd name="T42" fmla="*/ 76 w 97"/>
              <a:gd name="T43" fmla="*/ 89 h 97"/>
              <a:gd name="T44" fmla="*/ 88 w 97"/>
              <a:gd name="T45" fmla="*/ 74 h 97"/>
              <a:gd name="T46" fmla="*/ 83 w 97"/>
              <a:gd name="T47" fmla="*/ 57 h 97"/>
              <a:gd name="T48" fmla="*/ 96 w 97"/>
              <a:gd name="T49" fmla="*/ 55 h 97"/>
              <a:gd name="T50" fmla="*/ 94 w 97"/>
              <a:gd name="T51" fmla="*/ 41 h 97"/>
              <a:gd name="T52" fmla="*/ 49 w 97"/>
              <a:gd name="T53" fmla="*/ 60 h 97"/>
              <a:gd name="T54" fmla="*/ 48 w 97"/>
              <a:gd name="T55" fmla="*/ 60 h 97"/>
              <a:gd name="T56" fmla="*/ 30 w 97"/>
              <a:gd name="T57" fmla="*/ 39 h 97"/>
              <a:gd name="T58" fmla="*/ 49 w 97"/>
              <a:gd name="T59" fmla="*/ 56 h 97"/>
              <a:gd name="T60" fmla="*/ 91 w 97"/>
              <a:gd name="T61" fmla="*/ 5 h 97"/>
              <a:gd name="T62" fmla="*/ 51 w 97"/>
              <a:gd name="T63" fmla="*/ 60 h 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97" h="97">
                <a:moveTo>
                  <a:pt x="94" y="41"/>
                </a:moveTo>
                <a:cubicBezTo>
                  <a:pt x="83" y="41"/>
                  <a:pt x="83" y="41"/>
                  <a:pt x="83" y="41"/>
                </a:cubicBezTo>
                <a:cubicBezTo>
                  <a:pt x="82" y="39"/>
                  <a:pt x="82" y="37"/>
                  <a:pt x="81" y="35"/>
                </a:cubicBezTo>
                <a:cubicBezTo>
                  <a:pt x="80" y="34"/>
                  <a:pt x="79" y="32"/>
                  <a:pt x="79" y="31"/>
                </a:cubicBezTo>
                <a:cubicBezTo>
                  <a:pt x="95" y="11"/>
                  <a:pt x="95" y="11"/>
                  <a:pt x="95" y="11"/>
                </a:cubicBezTo>
                <a:cubicBezTo>
                  <a:pt x="97" y="8"/>
                  <a:pt x="96" y="4"/>
                  <a:pt x="94" y="2"/>
                </a:cubicBezTo>
                <a:cubicBezTo>
                  <a:pt x="91" y="0"/>
                  <a:pt x="87" y="1"/>
                  <a:pt x="85" y="3"/>
                </a:cubicBezTo>
                <a:cubicBezTo>
                  <a:pt x="71" y="21"/>
                  <a:pt x="71" y="21"/>
                  <a:pt x="71" y="21"/>
                </a:cubicBezTo>
                <a:cubicBezTo>
                  <a:pt x="70" y="20"/>
                  <a:pt x="68" y="19"/>
                  <a:pt x="67" y="18"/>
                </a:cubicBezTo>
                <a:cubicBezTo>
                  <a:pt x="64" y="17"/>
                  <a:pt x="60" y="15"/>
                  <a:pt x="56" y="14"/>
                </a:cubicBezTo>
                <a:cubicBezTo>
                  <a:pt x="56" y="3"/>
                  <a:pt x="56" y="3"/>
                  <a:pt x="56" y="3"/>
                </a:cubicBezTo>
                <a:cubicBezTo>
                  <a:pt x="56" y="2"/>
                  <a:pt x="55" y="1"/>
                  <a:pt x="54" y="1"/>
                </a:cubicBezTo>
                <a:cubicBezTo>
                  <a:pt x="42" y="1"/>
                  <a:pt x="42" y="1"/>
                  <a:pt x="42" y="1"/>
                </a:cubicBezTo>
                <a:cubicBezTo>
                  <a:pt x="41" y="1"/>
                  <a:pt x="40" y="2"/>
                  <a:pt x="40" y="3"/>
                </a:cubicBezTo>
                <a:cubicBezTo>
                  <a:pt x="40" y="14"/>
                  <a:pt x="40" y="14"/>
                  <a:pt x="40" y="14"/>
                </a:cubicBezTo>
                <a:cubicBezTo>
                  <a:pt x="37" y="15"/>
                  <a:pt x="33" y="16"/>
                  <a:pt x="31" y="18"/>
                </a:cubicBezTo>
                <a:cubicBezTo>
                  <a:pt x="23" y="9"/>
                  <a:pt x="23" y="9"/>
                  <a:pt x="23" y="9"/>
                </a:cubicBezTo>
                <a:cubicBezTo>
                  <a:pt x="22" y="9"/>
                  <a:pt x="20" y="9"/>
                  <a:pt x="20" y="9"/>
                </a:cubicBezTo>
                <a:cubicBezTo>
                  <a:pt x="8" y="21"/>
                  <a:pt x="8" y="21"/>
                  <a:pt x="8" y="21"/>
                </a:cubicBezTo>
                <a:cubicBezTo>
                  <a:pt x="8" y="21"/>
                  <a:pt x="8" y="22"/>
                  <a:pt x="8" y="22"/>
                </a:cubicBezTo>
                <a:cubicBezTo>
                  <a:pt x="8" y="23"/>
                  <a:pt x="8" y="23"/>
                  <a:pt x="8" y="24"/>
                </a:cubicBezTo>
                <a:cubicBezTo>
                  <a:pt x="17" y="32"/>
                  <a:pt x="17" y="32"/>
                  <a:pt x="17" y="32"/>
                </a:cubicBezTo>
                <a:cubicBezTo>
                  <a:pt x="15" y="34"/>
                  <a:pt x="14" y="38"/>
                  <a:pt x="13" y="41"/>
                </a:cubicBezTo>
                <a:cubicBezTo>
                  <a:pt x="2" y="41"/>
                  <a:pt x="2" y="41"/>
                  <a:pt x="2" y="41"/>
                </a:cubicBezTo>
                <a:cubicBezTo>
                  <a:pt x="1" y="41"/>
                  <a:pt x="0" y="42"/>
                  <a:pt x="0" y="43"/>
                </a:cubicBezTo>
                <a:cubicBezTo>
                  <a:pt x="0" y="55"/>
                  <a:pt x="0" y="55"/>
                  <a:pt x="0" y="55"/>
                </a:cubicBezTo>
                <a:cubicBezTo>
                  <a:pt x="0" y="56"/>
                  <a:pt x="1" y="57"/>
                  <a:pt x="2" y="57"/>
                </a:cubicBezTo>
                <a:cubicBezTo>
                  <a:pt x="13" y="57"/>
                  <a:pt x="13" y="57"/>
                  <a:pt x="13" y="57"/>
                </a:cubicBezTo>
                <a:cubicBezTo>
                  <a:pt x="14" y="60"/>
                  <a:pt x="15" y="64"/>
                  <a:pt x="17" y="66"/>
                </a:cubicBezTo>
                <a:cubicBezTo>
                  <a:pt x="8" y="74"/>
                  <a:pt x="8" y="74"/>
                  <a:pt x="8" y="74"/>
                </a:cubicBezTo>
                <a:cubicBezTo>
                  <a:pt x="8" y="75"/>
                  <a:pt x="8" y="75"/>
                  <a:pt x="8" y="76"/>
                </a:cubicBezTo>
                <a:cubicBezTo>
                  <a:pt x="8" y="76"/>
                  <a:pt x="8" y="77"/>
                  <a:pt x="8" y="77"/>
                </a:cubicBezTo>
                <a:cubicBezTo>
                  <a:pt x="20" y="89"/>
                  <a:pt x="20" y="89"/>
                  <a:pt x="20" y="89"/>
                </a:cubicBezTo>
                <a:cubicBezTo>
                  <a:pt x="20" y="89"/>
                  <a:pt x="22" y="89"/>
                  <a:pt x="23" y="89"/>
                </a:cubicBezTo>
                <a:cubicBezTo>
                  <a:pt x="31" y="80"/>
                  <a:pt x="31" y="80"/>
                  <a:pt x="31" y="80"/>
                </a:cubicBezTo>
                <a:cubicBezTo>
                  <a:pt x="33" y="82"/>
                  <a:pt x="37" y="83"/>
                  <a:pt x="40" y="84"/>
                </a:cubicBezTo>
                <a:cubicBezTo>
                  <a:pt x="40" y="95"/>
                  <a:pt x="40" y="95"/>
                  <a:pt x="40" y="95"/>
                </a:cubicBezTo>
                <a:cubicBezTo>
                  <a:pt x="40" y="96"/>
                  <a:pt x="41" y="97"/>
                  <a:pt x="42" y="97"/>
                </a:cubicBezTo>
                <a:cubicBezTo>
                  <a:pt x="54" y="97"/>
                  <a:pt x="54" y="97"/>
                  <a:pt x="54" y="97"/>
                </a:cubicBezTo>
                <a:cubicBezTo>
                  <a:pt x="55" y="97"/>
                  <a:pt x="56" y="96"/>
                  <a:pt x="56" y="95"/>
                </a:cubicBezTo>
                <a:cubicBezTo>
                  <a:pt x="56" y="84"/>
                  <a:pt x="56" y="84"/>
                  <a:pt x="56" y="84"/>
                </a:cubicBezTo>
                <a:cubicBezTo>
                  <a:pt x="59" y="83"/>
                  <a:pt x="63" y="82"/>
                  <a:pt x="65" y="80"/>
                </a:cubicBezTo>
                <a:cubicBezTo>
                  <a:pt x="73" y="89"/>
                  <a:pt x="73" y="89"/>
                  <a:pt x="73" y="89"/>
                </a:cubicBezTo>
                <a:cubicBezTo>
                  <a:pt x="74" y="89"/>
                  <a:pt x="76" y="89"/>
                  <a:pt x="76" y="89"/>
                </a:cubicBezTo>
                <a:cubicBezTo>
                  <a:pt x="88" y="77"/>
                  <a:pt x="88" y="77"/>
                  <a:pt x="88" y="77"/>
                </a:cubicBezTo>
                <a:cubicBezTo>
                  <a:pt x="88" y="77"/>
                  <a:pt x="88" y="75"/>
                  <a:pt x="88" y="74"/>
                </a:cubicBezTo>
                <a:cubicBezTo>
                  <a:pt x="79" y="66"/>
                  <a:pt x="79" y="66"/>
                  <a:pt x="79" y="66"/>
                </a:cubicBezTo>
                <a:cubicBezTo>
                  <a:pt x="81" y="64"/>
                  <a:pt x="82" y="60"/>
                  <a:pt x="83" y="57"/>
                </a:cubicBezTo>
                <a:cubicBezTo>
                  <a:pt x="94" y="57"/>
                  <a:pt x="94" y="57"/>
                  <a:pt x="94" y="57"/>
                </a:cubicBezTo>
                <a:cubicBezTo>
                  <a:pt x="95" y="57"/>
                  <a:pt x="96" y="56"/>
                  <a:pt x="96" y="55"/>
                </a:cubicBezTo>
                <a:cubicBezTo>
                  <a:pt x="96" y="43"/>
                  <a:pt x="96" y="43"/>
                  <a:pt x="96" y="43"/>
                </a:cubicBezTo>
                <a:cubicBezTo>
                  <a:pt x="96" y="42"/>
                  <a:pt x="95" y="41"/>
                  <a:pt x="94" y="41"/>
                </a:cubicBezTo>
                <a:close/>
                <a:moveTo>
                  <a:pt x="51" y="60"/>
                </a:moveTo>
                <a:cubicBezTo>
                  <a:pt x="50" y="60"/>
                  <a:pt x="50" y="60"/>
                  <a:pt x="49" y="60"/>
                </a:cubicBezTo>
                <a:cubicBezTo>
                  <a:pt x="49" y="61"/>
                  <a:pt x="49" y="61"/>
                  <a:pt x="49" y="61"/>
                </a:cubicBezTo>
                <a:cubicBezTo>
                  <a:pt x="49" y="61"/>
                  <a:pt x="48" y="60"/>
                  <a:pt x="48" y="60"/>
                </a:cubicBezTo>
                <a:cubicBezTo>
                  <a:pt x="30" y="42"/>
                  <a:pt x="30" y="42"/>
                  <a:pt x="30" y="42"/>
                </a:cubicBezTo>
                <a:cubicBezTo>
                  <a:pt x="29" y="41"/>
                  <a:pt x="29" y="40"/>
                  <a:pt x="30" y="39"/>
                </a:cubicBezTo>
                <a:cubicBezTo>
                  <a:pt x="31" y="38"/>
                  <a:pt x="32" y="38"/>
                  <a:pt x="33" y="39"/>
                </a:cubicBezTo>
                <a:cubicBezTo>
                  <a:pt x="49" y="56"/>
                  <a:pt x="49" y="56"/>
                  <a:pt x="49" y="56"/>
                </a:cubicBezTo>
                <a:cubicBezTo>
                  <a:pt x="88" y="6"/>
                  <a:pt x="88" y="6"/>
                  <a:pt x="88" y="6"/>
                </a:cubicBezTo>
                <a:cubicBezTo>
                  <a:pt x="89" y="5"/>
                  <a:pt x="90" y="5"/>
                  <a:pt x="91" y="5"/>
                </a:cubicBezTo>
                <a:cubicBezTo>
                  <a:pt x="92" y="6"/>
                  <a:pt x="92" y="7"/>
                  <a:pt x="92" y="8"/>
                </a:cubicBezTo>
                <a:lnTo>
                  <a:pt x="51" y="6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d-ID"/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7FB8AA94-80FC-D28C-1044-C1C097FB6D5D}"/>
              </a:ext>
            </a:extLst>
          </p:cNvPr>
          <p:cNvGrpSpPr/>
          <p:nvPr/>
        </p:nvGrpSpPr>
        <p:grpSpPr>
          <a:xfrm>
            <a:off x="3120202" y="2804936"/>
            <a:ext cx="355108" cy="242159"/>
            <a:chOff x="4113213" y="4046538"/>
            <a:chExt cx="360363" cy="211138"/>
          </a:xfrm>
          <a:solidFill>
            <a:schemeClr val="bg1"/>
          </a:solidFill>
        </p:grpSpPr>
        <p:sp>
          <p:nvSpPr>
            <p:cNvPr id="59" name="Freeform 84">
              <a:extLst>
                <a:ext uri="{FF2B5EF4-FFF2-40B4-BE49-F238E27FC236}">
                  <a16:creationId xmlns:a16="http://schemas.microsoft.com/office/drawing/2014/main" id="{CE1E294C-D7CC-D6AC-4597-827861DF5FA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40213" y="4098925"/>
              <a:ext cx="104775" cy="104775"/>
            </a:xfrm>
            <a:custGeom>
              <a:avLst/>
              <a:gdLst>
                <a:gd name="T0" fmla="*/ 14 w 28"/>
                <a:gd name="T1" fmla="*/ 28 h 28"/>
                <a:gd name="T2" fmla="*/ 28 w 28"/>
                <a:gd name="T3" fmla="*/ 14 h 28"/>
                <a:gd name="T4" fmla="*/ 14 w 28"/>
                <a:gd name="T5" fmla="*/ 0 h 28"/>
                <a:gd name="T6" fmla="*/ 0 w 28"/>
                <a:gd name="T7" fmla="*/ 14 h 28"/>
                <a:gd name="T8" fmla="*/ 14 w 28"/>
                <a:gd name="T9" fmla="*/ 28 h 28"/>
                <a:gd name="T10" fmla="*/ 6 w 28"/>
                <a:gd name="T11" fmla="*/ 12 h 28"/>
                <a:gd name="T12" fmla="*/ 8 w 28"/>
                <a:gd name="T13" fmla="*/ 14 h 28"/>
                <a:gd name="T14" fmla="*/ 14 w 28"/>
                <a:gd name="T15" fmla="*/ 20 h 28"/>
                <a:gd name="T16" fmla="*/ 20 w 28"/>
                <a:gd name="T17" fmla="*/ 14 h 28"/>
                <a:gd name="T18" fmla="*/ 14 w 28"/>
                <a:gd name="T19" fmla="*/ 8 h 28"/>
                <a:gd name="T20" fmla="*/ 12 w 28"/>
                <a:gd name="T21" fmla="*/ 6 h 28"/>
                <a:gd name="T22" fmla="*/ 14 w 28"/>
                <a:gd name="T23" fmla="*/ 4 h 28"/>
                <a:gd name="T24" fmla="*/ 24 w 28"/>
                <a:gd name="T25" fmla="*/ 14 h 28"/>
                <a:gd name="T26" fmla="*/ 14 w 28"/>
                <a:gd name="T27" fmla="*/ 24 h 28"/>
                <a:gd name="T28" fmla="*/ 4 w 28"/>
                <a:gd name="T29" fmla="*/ 14 h 28"/>
                <a:gd name="T30" fmla="*/ 6 w 28"/>
                <a:gd name="T31" fmla="*/ 12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8" h="28">
                  <a:moveTo>
                    <a:pt x="14" y="28"/>
                  </a:moveTo>
                  <a:cubicBezTo>
                    <a:pt x="22" y="28"/>
                    <a:pt x="28" y="22"/>
                    <a:pt x="28" y="14"/>
                  </a:cubicBezTo>
                  <a:cubicBezTo>
                    <a:pt x="28" y="6"/>
                    <a:pt x="22" y="0"/>
                    <a:pt x="14" y="0"/>
                  </a:cubicBezTo>
                  <a:cubicBezTo>
                    <a:pt x="6" y="0"/>
                    <a:pt x="0" y="6"/>
                    <a:pt x="0" y="14"/>
                  </a:cubicBezTo>
                  <a:cubicBezTo>
                    <a:pt x="0" y="22"/>
                    <a:pt x="6" y="28"/>
                    <a:pt x="14" y="28"/>
                  </a:cubicBezTo>
                  <a:close/>
                  <a:moveTo>
                    <a:pt x="6" y="12"/>
                  </a:moveTo>
                  <a:cubicBezTo>
                    <a:pt x="7" y="12"/>
                    <a:pt x="8" y="13"/>
                    <a:pt x="8" y="14"/>
                  </a:cubicBezTo>
                  <a:cubicBezTo>
                    <a:pt x="8" y="17"/>
                    <a:pt x="11" y="20"/>
                    <a:pt x="14" y="20"/>
                  </a:cubicBezTo>
                  <a:cubicBezTo>
                    <a:pt x="17" y="20"/>
                    <a:pt x="20" y="17"/>
                    <a:pt x="20" y="14"/>
                  </a:cubicBezTo>
                  <a:cubicBezTo>
                    <a:pt x="20" y="11"/>
                    <a:pt x="17" y="8"/>
                    <a:pt x="14" y="8"/>
                  </a:cubicBezTo>
                  <a:cubicBezTo>
                    <a:pt x="13" y="8"/>
                    <a:pt x="12" y="7"/>
                    <a:pt x="12" y="6"/>
                  </a:cubicBezTo>
                  <a:cubicBezTo>
                    <a:pt x="12" y="5"/>
                    <a:pt x="13" y="4"/>
                    <a:pt x="14" y="4"/>
                  </a:cubicBezTo>
                  <a:cubicBezTo>
                    <a:pt x="20" y="4"/>
                    <a:pt x="24" y="8"/>
                    <a:pt x="24" y="14"/>
                  </a:cubicBezTo>
                  <a:cubicBezTo>
                    <a:pt x="24" y="20"/>
                    <a:pt x="20" y="24"/>
                    <a:pt x="14" y="24"/>
                  </a:cubicBezTo>
                  <a:cubicBezTo>
                    <a:pt x="8" y="24"/>
                    <a:pt x="4" y="20"/>
                    <a:pt x="4" y="14"/>
                  </a:cubicBezTo>
                  <a:cubicBezTo>
                    <a:pt x="4" y="13"/>
                    <a:pt x="5" y="12"/>
                    <a:pt x="6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/>
            </a:p>
          </p:txBody>
        </p:sp>
        <p:sp>
          <p:nvSpPr>
            <p:cNvPr id="60" name="Freeform 85">
              <a:extLst>
                <a:ext uri="{FF2B5EF4-FFF2-40B4-BE49-F238E27FC236}">
                  <a16:creationId xmlns:a16="http://schemas.microsoft.com/office/drawing/2014/main" id="{9A48851B-0E9C-EDD5-33F0-28C01DD89B2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13213" y="4046538"/>
              <a:ext cx="360363" cy="211138"/>
            </a:xfrm>
            <a:custGeom>
              <a:avLst/>
              <a:gdLst>
                <a:gd name="T0" fmla="*/ 0 w 96"/>
                <a:gd name="T1" fmla="*/ 29 h 56"/>
                <a:gd name="T2" fmla="*/ 48 w 96"/>
                <a:gd name="T3" fmla="*/ 56 h 56"/>
                <a:gd name="T4" fmla="*/ 96 w 96"/>
                <a:gd name="T5" fmla="*/ 29 h 56"/>
                <a:gd name="T6" fmla="*/ 96 w 96"/>
                <a:gd name="T7" fmla="*/ 27 h 56"/>
                <a:gd name="T8" fmla="*/ 48 w 96"/>
                <a:gd name="T9" fmla="*/ 0 h 56"/>
                <a:gd name="T10" fmla="*/ 0 w 96"/>
                <a:gd name="T11" fmla="*/ 27 h 56"/>
                <a:gd name="T12" fmla="*/ 0 w 96"/>
                <a:gd name="T13" fmla="*/ 29 h 56"/>
                <a:gd name="T14" fmla="*/ 48 w 96"/>
                <a:gd name="T15" fmla="*/ 10 h 56"/>
                <a:gd name="T16" fmla="*/ 66 w 96"/>
                <a:gd name="T17" fmla="*/ 28 h 56"/>
                <a:gd name="T18" fmla="*/ 48 w 96"/>
                <a:gd name="T19" fmla="*/ 46 h 56"/>
                <a:gd name="T20" fmla="*/ 30 w 96"/>
                <a:gd name="T21" fmla="*/ 28 h 56"/>
                <a:gd name="T22" fmla="*/ 48 w 96"/>
                <a:gd name="T23" fmla="*/ 1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96" h="56">
                  <a:moveTo>
                    <a:pt x="0" y="29"/>
                  </a:moveTo>
                  <a:cubicBezTo>
                    <a:pt x="1" y="30"/>
                    <a:pt x="22" y="56"/>
                    <a:pt x="48" y="56"/>
                  </a:cubicBezTo>
                  <a:cubicBezTo>
                    <a:pt x="74" y="56"/>
                    <a:pt x="95" y="30"/>
                    <a:pt x="96" y="29"/>
                  </a:cubicBezTo>
                  <a:cubicBezTo>
                    <a:pt x="96" y="29"/>
                    <a:pt x="96" y="27"/>
                    <a:pt x="96" y="27"/>
                  </a:cubicBezTo>
                  <a:cubicBezTo>
                    <a:pt x="95" y="26"/>
                    <a:pt x="74" y="0"/>
                    <a:pt x="48" y="0"/>
                  </a:cubicBezTo>
                  <a:cubicBezTo>
                    <a:pt x="22" y="0"/>
                    <a:pt x="1" y="26"/>
                    <a:pt x="0" y="27"/>
                  </a:cubicBezTo>
                  <a:cubicBezTo>
                    <a:pt x="0" y="27"/>
                    <a:pt x="0" y="29"/>
                    <a:pt x="0" y="29"/>
                  </a:cubicBezTo>
                  <a:close/>
                  <a:moveTo>
                    <a:pt x="48" y="10"/>
                  </a:moveTo>
                  <a:cubicBezTo>
                    <a:pt x="58" y="10"/>
                    <a:pt x="66" y="18"/>
                    <a:pt x="66" y="28"/>
                  </a:cubicBezTo>
                  <a:cubicBezTo>
                    <a:pt x="66" y="38"/>
                    <a:pt x="58" y="46"/>
                    <a:pt x="48" y="46"/>
                  </a:cubicBezTo>
                  <a:cubicBezTo>
                    <a:pt x="38" y="46"/>
                    <a:pt x="30" y="38"/>
                    <a:pt x="30" y="28"/>
                  </a:cubicBezTo>
                  <a:cubicBezTo>
                    <a:pt x="30" y="18"/>
                    <a:pt x="38" y="10"/>
                    <a:pt x="48" y="1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/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5B0721AF-FBD3-F7F5-E5B5-B87AE91568DF}"/>
              </a:ext>
            </a:extLst>
          </p:cNvPr>
          <p:cNvGrpSpPr/>
          <p:nvPr/>
        </p:nvGrpSpPr>
        <p:grpSpPr>
          <a:xfrm>
            <a:off x="5065071" y="2822905"/>
            <a:ext cx="246134" cy="228785"/>
            <a:chOff x="6276975" y="3981450"/>
            <a:chExt cx="360363" cy="334963"/>
          </a:xfrm>
          <a:solidFill>
            <a:schemeClr val="bg1"/>
          </a:solidFill>
        </p:grpSpPr>
        <p:sp>
          <p:nvSpPr>
            <p:cNvPr id="55" name="Freeform 98">
              <a:extLst>
                <a:ext uri="{FF2B5EF4-FFF2-40B4-BE49-F238E27FC236}">
                  <a16:creationId xmlns:a16="http://schemas.microsoft.com/office/drawing/2014/main" id="{D3BEE07C-97D2-41AC-47E5-61FF5DB8A35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472238" y="3981450"/>
              <a:ext cx="165100" cy="334963"/>
            </a:xfrm>
            <a:custGeom>
              <a:avLst/>
              <a:gdLst>
                <a:gd name="T0" fmla="*/ 14 w 44"/>
                <a:gd name="T1" fmla="*/ 37 h 89"/>
                <a:gd name="T2" fmla="*/ 12 w 44"/>
                <a:gd name="T3" fmla="*/ 39 h 89"/>
                <a:gd name="T4" fmla="*/ 10 w 44"/>
                <a:gd name="T5" fmla="*/ 37 h 89"/>
                <a:gd name="T6" fmla="*/ 0 w 44"/>
                <a:gd name="T7" fmla="*/ 31 h 89"/>
                <a:gd name="T8" fmla="*/ 0 w 44"/>
                <a:gd name="T9" fmla="*/ 67 h 89"/>
                <a:gd name="T10" fmla="*/ 22 w 44"/>
                <a:gd name="T11" fmla="*/ 89 h 89"/>
                <a:gd name="T12" fmla="*/ 44 w 44"/>
                <a:gd name="T13" fmla="*/ 67 h 89"/>
                <a:gd name="T14" fmla="*/ 40 w 44"/>
                <a:gd name="T15" fmla="*/ 54 h 89"/>
                <a:gd name="T16" fmla="*/ 28 w 44"/>
                <a:gd name="T17" fmla="*/ 26 h 89"/>
                <a:gd name="T18" fmla="*/ 27 w 44"/>
                <a:gd name="T19" fmla="*/ 26 h 89"/>
                <a:gd name="T20" fmla="*/ 22 w 44"/>
                <a:gd name="T21" fmla="*/ 20 h 89"/>
                <a:gd name="T22" fmla="*/ 16 w 44"/>
                <a:gd name="T23" fmla="*/ 5 h 89"/>
                <a:gd name="T24" fmla="*/ 15 w 44"/>
                <a:gd name="T25" fmla="*/ 4 h 89"/>
                <a:gd name="T26" fmla="*/ 1 w 44"/>
                <a:gd name="T27" fmla="*/ 4 h 89"/>
                <a:gd name="T28" fmla="*/ 0 w 44"/>
                <a:gd name="T29" fmla="*/ 5 h 89"/>
                <a:gd name="T30" fmla="*/ 0 w 44"/>
                <a:gd name="T31" fmla="*/ 27 h 89"/>
                <a:gd name="T32" fmla="*/ 14 w 44"/>
                <a:gd name="T33" fmla="*/ 37 h 89"/>
                <a:gd name="T34" fmla="*/ 22 w 44"/>
                <a:gd name="T35" fmla="*/ 85 h 89"/>
                <a:gd name="T36" fmla="*/ 4 w 44"/>
                <a:gd name="T37" fmla="*/ 67 h 89"/>
                <a:gd name="T38" fmla="*/ 22 w 44"/>
                <a:gd name="T39" fmla="*/ 49 h 89"/>
                <a:gd name="T40" fmla="*/ 40 w 44"/>
                <a:gd name="T41" fmla="*/ 67 h 89"/>
                <a:gd name="T42" fmla="*/ 22 w 44"/>
                <a:gd name="T43" fmla="*/ 85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44" h="89">
                  <a:moveTo>
                    <a:pt x="14" y="37"/>
                  </a:moveTo>
                  <a:cubicBezTo>
                    <a:pt x="14" y="38"/>
                    <a:pt x="13" y="39"/>
                    <a:pt x="12" y="39"/>
                  </a:cubicBezTo>
                  <a:cubicBezTo>
                    <a:pt x="11" y="39"/>
                    <a:pt x="10" y="38"/>
                    <a:pt x="10" y="37"/>
                  </a:cubicBezTo>
                  <a:cubicBezTo>
                    <a:pt x="10" y="35"/>
                    <a:pt x="6" y="32"/>
                    <a:pt x="0" y="31"/>
                  </a:cubicBezTo>
                  <a:cubicBezTo>
                    <a:pt x="0" y="67"/>
                    <a:pt x="0" y="67"/>
                    <a:pt x="0" y="67"/>
                  </a:cubicBezTo>
                  <a:cubicBezTo>
                    <a:pt x="0" y="79"/>
                    <a:pt x="10" y="89"/>
                    <a:pt x="22" y="89"/>
                  </a:cubicBezTo>
                  <a:cubicBezTo>
                    <a:pt x="34" y="89"/>
                    <a:pt x="44" y="79"/>
                    <a:pt x="44" y="67"/>
                  </a:cubicBezTo>
                  <a:cubicBezTo>
                    <a:pt x="44" y="62"/>
                    <a:pt x="42" y="58"/>
                    <a:pt x="40" y="54"/>
                  </a:cubicBezTo>
                  <a:cubicBezTo>
                    <a:pt x="28" y="26"/>
                    <a:pt x="28" y="26"/>
                    <a:pt x="28" y="26"/>
                  </a:cubicBezTo>
                  <a:cubicBezTo>
                    <a:pt x="28" y="26"/>
                    <a:pt x="28" y="26"/>
                    <a:pt x="27" y="26"/>
                  </a:cubicBezTo>
                  <a:cubicBezTo>
                    <a:pt x="22" y="20"/>
                    <a:pt x="22" y="20"/>
                    <a:pt x="22" y="20"/>
                  </a:cubicBezTo>
                  <a:cubicBezTo>
                    <a:pt x="16" y="5"/>
                    <a:pt x="16" y="5"/>
                    <a:pt x="16" y="5"/>
                  </a:cubicBezTo>
                  <a:cubicBezTo>
                    <a:pt x="16" y="4"/>
                    <a:pt x="16" y="4"/>
                    <a:pt x="15" y="4"/>
                  </a:cubicBezTo>
                  <a:cubicBezTo>
                    <a:pt x="12" y="0"/>
                    <a:pt x="4" y="0"/>
                    <a:pt x="1" y="4"/>
                  </a:cubicBezTo>
                  <a:cubicBezTo>
                    <a:pt x="0" y="4"/>
                    <a:pt x="0" y="5"/>
                    <a:pt x="0" y="5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8" y="28"/>
                    <a:pt x="14" y="32"/>
                    <a:pt x="14" y="37"/>
                  </a:cubicBezTo>
                  <a:close/>
                  <a:moveTo>
                    <a:pt x="22" y="85"/>
                  </a:moveTo>
                  <a:cubicBezTo>
                    <a:pt x="12" y="85"/>
                    <a:pt x="4" y="77"/>
                    <a:pt x="4" y="67"/>
                  </a:cubicBezTo>
                  <a:cubicBezTo>
                    <a:pt x="4" y="57"/>
                    <a:pt x="12" y="49"/>
                    <a:pt x="22" y="49"/>
                  </a:cubicBezTo>
                  <a:cubicBezTo>
                    <a:pt x="32" y="49"/>
                    <a:pt x="40" y="57"/>
                    <a:pt x="40" y="67"/>
                  </a:cubicBezTo>
                  <a:cubicBezTo>
                    <a:pt x="40" y="77"/>
                    <a:pt x="32" y="85"/>
                    <a:pt x="22" y="8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/>
            </a:p>
          </p:txBody>
        </p:sp>
        <p:sp>
          <p:nvSpPr>
            <p:cNvPr id="56" name="Freeform 99">
              <a:extLst>
                <a:ext uri="{FF2B5EF4-FFF2-40B4-BE49-F238E27FC236}">
                  <a16:creationId xmlns:a16="http://schemas.microsoft.com/office/drawing/2014/main" id="{3939DAAA-A117-75FC-EE2A-8235A4B220E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76975" y="3981450"/>
              <a:ext cx="165100" cy="334963"/>
            </a:xfrm>
            <a:custGeom>
              <a:avLst/>
              <a:gdLst>
                <a:gd name="T0" fmla="*/ 0 w 44"/>
                <a:gd name="T1" fmla="*/ 67 h 89"/>
                <a:gd name="T2" fmla="*/ 22 w 44"/>
                <a:gd name="T3" fmla="*/ 89 h 89"/>
                <a:gd name="T4" fmla="*/ 44 w 44"/>
                <a:gd name="T5" fmla="*/ 67 h 89"/>
                <a:gd name="T6" fmla="*/ 44 w 44"/>
                <a:gd name="T7" fmla="*/ 31 h 89"/>
                <a:gd name="T8" fmla="*/ 34 w 44"/>
                <a:gd name="T9" fmla="*/ 37 h 89"/>
                <a:gd name="T10" fmla="*/ 32 w 44"/>
                <a:gd name="T11" fmla="*/ 39 h 89"/>
                <a:gd name="T12" fmla="*/ 30 w 44"/>
                <a:gd name="T13" fmla="*/ 37 h 89"/>
                <a:gd name="T14" fmla="*/ 44 w 44"/>
                <a:gd name="T15" fmla="*/ 27 h 89"/>
                <a:gd name="T16" fmla="*/ 44 w 44"/>
                <a:gd name="T17" fmla="*/ 5 h 89"/>
                <a:gd name="T18" fmla="*/ 43 w 44"/>
                <a:gd name="T19" fmla="*/ 4 h 89"/>
                <a:gd name="T20" fmla="*/ 29 w 44"/>
                <a:gd name="T21" fmla="*/ 4 h 89"/>
                <a:gd name="T22" fmla="*/ 28 w 44"/>
                <a:gd name="T23" fmla="*/ 4 h 89"/>
                <a:gd name="T24" fmla="*/ 22 w 44"/>
                <a:gd name="T25" fmla="*/ 20 h 89"/>
                <a:gd name="T26" fmla="*/ 17 w 44"/>
                <a:gd name="T27" fmla="*/ 26 h 89"/>
                <a:gd name="T28" fmla="*/ 16 w 44"/>
                <a:gd name="T29" fmla="*/ 26 h 89"/>
                <a:gd name="T30" fmla="*/ 4 w 44"/>
                <a:gd name="T31" fmla="*/ 54 h 89"/>
                <a:gd name="T32" fmla="*/ 0 w 44"/>
                <a:gd name="T33" fmla="*/ 67 h 89"/>
                <a:gd name="T34" fmla="*/ 22 w 44"/>
                <a:gd name="T35" fmla="*/ 85 h 89"/>
                <a:gd name="T36" fmla="*/ 4 w 44"/>
                <a:gd name="T37" fmla="*/ 67 h 89"/>
                <a:gd name="T38" fmla="*/ 22 w 44"/>
                <a:gd name="T39" fmla="*/ 49 h 89"/>
                <a:gd name="T40" fmla="*/ 40 w 44"/>
                <a:gd name="T41" fmla="*/ 67 h 89"/>
                <a:gd name="T42" fmla="*/ 22 w 44"/>
                <a:gd name="T43" fmla="*/ 85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44" h="89">
                  <a:moveTo>
                    <a:pt x="0" y="67"/>
                  </a:moveTo>
                  <a:cubicBezTo>
                    <a:pt x="0" y="79"/>
                    <a:pt x="10" y="89"/>
                    <a:pt x="22" y="89"/>
                  </a:cubicBezTo>
                  <a:cubicBezTo>
                    <a:pt x="34" y="89"/>
                    <a:pt x="44" y="79"/>
                    <a:pt x="44" y="67"/>
                  </a:cubicBezTo>
                  <a:cubicBezTo>
                    <a:pt x="44" y="31"/>
                    <a:pt x="44" y="31"/>
                    <a:pt x="44" y="31"/>
                  </a:cubicBezTo>
                  <a:cubicBezTo>
                    <a:pt x="38" y="32"/>
                    <a:pt x="34" y="35"/>
                    <a:pt x="34" y="37"/>
                  </a:cubicBezTo>
                  <a:cubicBezTo>
                    <a:pt x="34" y="38"/>
                    <a:pt x="33" y="39"/>
                    <a:pt x="32" y="39"/>
                  </a:cubicBezTo>
                  <a:cubicBezTo>
                    <a:pt x="31" y="39"/>
                    <a:pt x="30" y="38"/>
                    <a:pt x="30" y="37"/>
                  </a:cubicBezTo>
                  <a:cubicBezTo>
                    <a:pt x="30" y="32"/>
                    <a:pt x="36" y="28"/>
                    <a:pt x="44" y="27"/>
                  </a:cubicBezTo>
                  <a:cubicBezTo>
                    <a:pt x="44" y="5"/>
                    <a:pt x="44" y="5"/>
                    <a:pt x="44" y="5"/>
                  </a:cubicBezTo>
                  <a:cubicBezTo>
                    <a:pt x="44" y="5"/>
                    <a:pt x="44" y="4"/>
                    <a:pt x="43" y="4"/>
                  </a:cubicBezTo>
                  <a:cubicBezTo>
                    <a:pt x="40" y="0"/>
                    <a:pt x="32" y="0"/>
                    <a:pt x="29" y="4"/>
                  </a:cubicBezTo>
                  <a:cubicBezTo>
                    <a:pt x="28" y="4"/>
                    <a:pt x="28" y="4"/>
                    <a:pt x="28" y="4"/>
                  </a:cubicBezTo>
                  <a:cubicBezTo>
                    <a:pt x="22" y="20"/>
                    <a:pt x="22" y="20"/>
                    <a:pt x="22" y="20"/>
                  </a:cubicBezTo>
                  <a:cubicBezTo>
                    <a:pt x="17" y="26"/>
                    <a:pt x="17" y="26"/>
                    <a:pt x="17" y="26"/>
                  </a:cubicBezTo>
                  <a:cubicBezTo>
                    <a:pt x="16" y="26"/>
                    <a:pt x="16" y="26"/>
                    <a:pt x="16" y="26"/>
                  </a:cubicBezTo>
                  <a:cubicBezTo>
                    <a:pt x="4" y="54"/>
                    <a:pt x="4" y="54"/>
                    <a:pt x="4" y="54"/>
                  </a:cubicBezTo>
                  <a:cubicBezTo>
                    <a:pt x="2" y="58"/>
                    <a:pt x="0" y="62"/>
                    <a:pt x="0" y="67"/>
                  </a:cubicBezTo>
                  <a:close/>
                  <a:moveTo>
                    <a:pt x="22" y="85"/>
                  </a:moveTo>
                  <a:cubicBezTo>
                    <a:pt x="12" y="85"/>
                    <a:pt x="4" y="77"/>
                    <a:pt x="4" y="67"/>
                  </a:cubicBezTo>
                  <a:cubicBezTo>
                    <a:pt x="4" y="57"/>
                    <a:pt x="12" y="49"/>
                    <a:pt x="22" y="49"/>
                  </a:cubicBezTo>
                  <a:cubicBezTo>
                    <a:pt x="32" y="49"/>
                    <a:pt x="40" y="57"/>
                    <a:pt x="40" y="67"/>
                  </a:cubicBezTo>
                  <a:cubicBezTo>
                    <a:pt x="40" y="77"/>
                    <a:pt x="32" y="85"/>
                    <a:pt x="22" y="8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/>
            </a:p>
          </p:txBody>
        </p:sp>
        <p:sp>
          <p:nvSpPr>
            <p:cNvPr id="57" name="Freeform 100">
              <a:extLst>
                <a:ext uri="{FF2B5EF4-FFF2-40B4-BE49-F238E27FC236}">
                  <a16:creationId xmlns:a16="http://schemas.microsoft.com/office/drawing/2014/main" id="{F3E3866C-C852-E89D-CE9E-9B6863250F20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7138" y="4181475"/>
              <a:ext cx="58738" cy="60325"/>
            </a:xfrm>
            <a:custGeom>
              <a:avLst/>
              <a:gdLst>
                <a:gd name="T0" fmla="*/ 14 w 16"/>
                <a:gd name="T1" fmla="*/ 4 h 16"/>
                <a:gd name="T2" fmla="*/ 16 w 16"/>
                <a:gd name="T3" fmla="*/ 2 h 16"/>
                <a:gd name="T4" fmla="*/ 14 w 16"/>
                <a:gd name="T5" fmla="*/ 0 h 16"/>
                <a:gd name="T6" fmla="*/ 0 w 16"/>
                <a:gd name="T7" fmla="*/ 14 h 16"/>
                <a:gd name="T8" fmla="*/ 2 w 16"/>
                <a:gd name="T9" fmla="*/ 16 h 16"/>
                <a:gd name="T10" fmla="*/ 4 w 16"/>
                <a:gd name="T11" fmla="*/ 14 h 16"/>
                <a:gd name="T12" fmla="*/ 14 w 16"/>
                <a:gd name="T13" fmla="*/ 4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" h="16">
                  <a:moveTo>
                    <a:pt x="14" y="4"/>
                  </a:moveTo>
                  <a:cubicBezTo>
                    <a:pt x="15" y="4"/>
                    <a:pt x="16" y="3"/>
                    <a:pt x="16" y="2"/>
                  </a:cubicBezTo>
                  <a:cubicBezTo>
                    <a:pt x="16" y="1"/>
                    <a:pt x="15" y="0"/>
                    <a:pt x="14" y="0"/>
                  </a:cubicBezTo>
                  <a:cubicBezTo>
                    <a:pt x="6" y="0"/>
                    <a:pt x="0" y="6"/>
                    <a:pt x="0" y="14"/>
                  </a:cubicBezTo>
                  <a:cubicBezTo>
                    <a:pt x="0" y="15"/>
                    <a:pt x="1" y="16"/>
                    <a:pt x="2" y="16"/>
                  </a:cubicBezTo>
                  <a:cubicBezTo>
                    <a:pt x="3" y="16"/>
                    <a:pt x="4" y="15"/>
                    <a:pt x="4" y="14"/>
                  </a:cubicBezTo>
                  <a:cubicBezTo>
                    <a:pt x="4" y="9"/>
                    <a:pt x="8" y="4"/>
                    <a:pt x="14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/>
            </a:p>
          </p:txBody>
        </p:sp>
        <p:sp>
          <p:nvSpPr>
            <p:cNvPr id="58" name="Freeform 101">
              <a:extLst>
                <a:ext uri="{FF2B5EF4-FFF2-40B4-BE49-F238E27FC236}">
                  <a16:creationId xmlns:a16="http://schemas.microsoft.com/office/drawing/2014/main" id="{6840B518-301E-114F-BEF0-0D42C2B67C7B}"/>
                </a:ext>
              </a:extLst>
            </p:cNvPr>
            <p:cNvSpPr>
              <a:spLocks/>
            </p:cNvSpPr>
            <p:nvPr/>
          </p:nvSpPr>
          <p:spPr bwMode="auto">
            <a:xfrm>
              <a:off x="6502400" y="4181475"/>
              <a:ext cx="58738" cy="60325"/>
            </a:xfrm>
            <a:custGeom>
              <a:avLst/>
              <a:gdLst>
                <a:gd name="T0" fmla="*/ 14 w 16"/>
                <a:gd name="T1" fmla="*/ 4 h 16"/>
                <a:gd name="T2" fmla="*/ 16 w 16"/>
                <a:gd name="T3" fmla="*/ 2 h 16"/>
                <a:gd name="T4" fmla="*/ 14 w 16"/>
                <a:gd name="T5" fmla="*/ 0 h 16"/>
                <a:gd name="T6" fmla="*/ 0 w 16"/>
                <a:gd name="T7" fmla="*/ 14 h 16"/>
                <a:gd name="T8" fmla="*/ 2 w 16"/>
                <a:gd name="T9" fmla="*/ 16 h 16"/>
                <a:gd name="T10" fmla="*/ 4 w 16"/>
                <a:gd name="T11" fmla="*/ 14 h 16"/>
                <a:gd name="T12" fmla="*/ 14 w 16"/>
                <a:gd name="T13" fmla="*/ 4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" h="16">
                  <a:moveTo>
                    <a:pt x="14" y="4"/>
                  </a:moveTo>
                  <a:cubicBezTo>
                    <a:pt x="15" y="4"/>
                    <a:pt x="16" y="3"/>
                    <a:pt x="16" y="2"/>
                  </a:cubicBezTo>
                  <a:cubicBezTo>
                    <a:pt x="16" y="1"/>
                    <a:pt x="15" y="0"/>
                    <a:pt x="14" y="0"/>
                  </a:cubicBezTo>
                  <a:cubicBezTo>
                    <a:pt x="6" y="0"/>
                    <a:pt x="0" y="6"/>
                    <a:pt x="0" y="14"/>
                  </a:cubicBezTo>
                  <a:cubicBezTo>
                    <a:pt x="0" y="15"/>
                    <a:pt x="1" y="16"/>
                    <a:pt x="2" y="16"/>
                  </a:cubicBezTo>
                  <a:cubicBezTo>
                    <a:pt x="3" y="16"/>
                    <a:pt x="4" y="15"/>
                    <a:pt x="4" y="14"/>
                  </a:cubicBezTo>
                  <a:cubicBezTo>
                    <a:pt x="4" y="9"/>
                    <a:pt x="8" y="4"/>
                    <a:pt x="14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/>
            </a:p>
          </p:txBody>
        </p:sp>
      </p:grpSp>
    </p:spTree>
    <p:extLst>
      <p:ext uri="{BB962C8B-B14F-4D97-AF65-F5344CB8AC3E}">
        <p14:creationId xmlns:p14="http://schemas.microsoft.com/office/powerpoint/2010/main" val="32730610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0719D18-6CE6-931C-BEB9-1568C043EA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Freeform 46">
            <a:extLst>
              <a:ext uri="{FF2B5EF4-FFF2-40B4-BE49-F238E27FC236}">
                <a16:creationId xmlns:a16="http://schemas.microsoft.com/office/drawing/2014/main" id="{01A49190-8DDB-4AFE-4233-D75A3148C39C}"/>
              </a:ext>
            </a:extLst>
          </p:cNvPr>
          <p:cNvSpPr/>
          <p:nvPr/>
        </p:nvSpPr>
        <p:spPr>
          <a:xfrm>
            <a:off x="208108" y="1742170"/>
            <a:ext cx="4313665" cy="3978275"/>
          </a:xfrm>
          <a:prstGeom prst="roundRect">
            <a:avLst>
              <a:gd name="adj" fmla="val 7034"/>
            </a:avLst>
          </a:prstGeom>
          <a:solidFill>
            <a:srgbClr val="FFFFFF">
              <a:lumMod val="95000"/>
            </a:srgbClr>
          </a:solidFill>
          <a:ln w="10795" cap="flat" cmpd="sng" algn="ctr">
            <a:noFill/>
            <a:prstDash val="solid"/>
          </a:ln>
          <a:effectLst/>
        </p:spPr>
        <p:txBody>
          <a:bodyPr wrap="square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30D7524E-09A2-26CE-2DDF-4B304D4B5200}"/>
              </a:ext>
            </a:extLst>
          </p:cNvPr>
          <p:cNvSpPr>
            <a:spLocks noGrp="1"/>
          </p:cNvSpPr>
          <p:nvPr/>
        </p:nvSpPr>
        <p:spPr>
          <a:xfrm>
            <a:off x="12188077" y="6140874"/>
            <a:ext cx="3317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D05A9CD-9176-4D89-A414-3BEEE81BBC77}" type="slidenum">
              <a:rPr lang="en-US" smtClean="0"/>
              <a:pPr/>
              <a:t>43</a:t>
            </a:fld>
            <a:endParaRPr lang="en-US"/>
          </a:p>
        </p:txBody>
      </p:sp>
      <p:sp>
        <p:nvSpPr>
          <p:cNvPr id="4" name="Freeform 46">
            <a:extLst>
              <a:ext uri="{FF2B5EF4-FFF2-40B4-BE49-F238E27FC236}">
                <a16:creationId xmlns:a16="http://schemas.microsoft.com/office/drawing/2014/main" id="{88F49AFB-D957-EA4A-E9E2-607C35F2B05E}"/>
              </a:ext>
            </a:extLst>
          </p:cNvPr>
          <p:cNvSpPr/>
          <p:nvPr/>
        </p:nvSpPr>
        <p:spPr>
          <a:xfrm>
            <a:off x="4925329" y="1742170"/>
            <a:ext cx="2360082" cy="3978275"/>
          </a:xfrm>
          <a:prstGeom prst="roundRect">
            <a:avLst>
              <a:gd name="adj" fmla="val 3858"/>
            </a:avLst>
          </a:prstGeom>
          <a:solidFill>
            <a:srgbClr val="FFD100"/>
          </a:solidFill>
          <a:ln>
            <a:noFill/>
          </a:ln>
          <a:effectLst>
            <a:outerShdw dist="635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5" name="Freeform 46">
            <a:extLst>
              <a:ext uri="{FF2B5EF4-FFF2-40B4-BE49-F238E27FC236}">
                <a16:creationId xmlns:a16="http://schemas.microsoft.com/office/drawing/2014/main" id="{89E95C9F-1BCF-52C3-4079-71EF88540851}"/>
              </a:ext>
            </a:extLst>
          </p:cNvPr>
          <p:cNvSpPr/>
          <p:nvPr/>
        </p:nvSpPr>
        <p:spPr>
          <a:xfrm>
            <a:off x="7416948" y="1742170"/>
            <a:ext cx="2360082" cy="3978275"/>
          </a:xfrm>
          <a:prstGeom prst="roundRect">
            <a:avLst>
              <a:gd name="adj" fmla="val 3858"/>
            </a:avLst>
          </a:prstGeom>
          <a:solidFill>
            <a:srgbClr val="FFD100"/>
          </a:solidFill>
          <a:ln>
            <a:noFill/>
          </a:ln>
          <a:effectLst>
            <a:outerShdw dist="635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6" name="Freeform 46">
            <a:extLst>
              <a:ext uri="{FF2B5EF4-FFF2-40B4-BE49-F238E27FC236}">
                <a16:creationId xmlns:a16="http://schemas.microsoft.com/office/drawing/2014/main" id="{EF5092E9-2A4C-B9F6-2DD7-887C39426346}"/>
              </a:ext>
            </a:extLst>
          </p:cNvPr>
          <p:cNvSpPr/>
          <p:nvPr/>
        </p:nvSpPr>
        <p:spPr>
          <a:xfrm>
            <a:off x="9908566" y="1742170"/>
            <a:ext cx="2360082" cy="3978275"/>
          </a:xfrm>
          <a:prstGeom prst="roundRect">
            <a:avLst>
              <a:gd name="adj" fmla="val 3858"/>
            </a:avLst>
          </a:prstGeom>
          <a:solidFill>
            <a:srgbClr val="FFD100"/>
          </a:solidFill>
          <a:ln>
            <a:noFill/>
          </a:ln>
          <a:effectLst>
            <a:outerShdw dist="635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E6DC6437-6525-F58B-0CAC-297839E4B422}"/>
              </a:ext>
            </a:extLst>
          </p:cNvPr>
          <p:cNvSpPr txBox="1">
            <a:spLocks/>
          </p:cNvSpPr>
          <p:nvPr/>
        </p:nvSpPr>
        <p:spPr>
          <a:xfrm>
            <a:off x="5061105" y="2413696"/>
            <a:ext cx="2088530" cy="139628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Aft>
                <a:spcPts val="1200"/>
              </a:spcAft>
            </a:pPr>
            <a:r>
              <a:rPr lang="en-US" sz="1400" dirty="0">
                <a:solidFill>
                  <a:srgbClr val="494D6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Use monitoring and logging to detect and respond to security incidents, and to improve security over time.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630FAFD-AC72-6FF3-4CB4-D3AF59488DED}"/>
              </a:ext>
            </a:extLst>
          </p:cNvPr>
          <p:cNvSpPr txBox="1">
            <a:spLocks/>
          </p:cNvSpPr>
          <p:nvPr/>
        </p:nvSpPr>
        <p:spPr>
          <a:xfrm>
            <a:off x="5061105" y="1786407"/>
            <a:ext cx="2088530" cy="51658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494D6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Monitoring and Logging 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B3141B7B-324C-987D-E1FF-1D640D7B0CE4}"/>
              </a:ext>
            </a:extLst>
          </p:cNvPr>
          <p:cNvSpPr txBox="1">
            <a:spLocks/>
          </p:cNvSpPr>
          <p:nvPr/>
        </p:nvSpPr>
        <p:spPr>
          <a:xfrm>
            <a:off x="7552724" y="1786407"/>
            <a:ext cx="2088530" cy="51658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US" sz="1600" b="1">
                <a:solidFill>
                  <a:srgbClr val="494D6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Vulnerability Management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B6FACA66-5DA4-50B8-BE17-8BB2494D55D7}"/>
              </a:ext>
            </a:extLst>
          </p:cNvPr>
          <p:cNvSpPr txBox="1">
            <a:spLocks/>
          </p:cNvSpPr>
          <p:nvPr/>
        </p:nvSpPr>
        <p:spPr>
          <a:xfrm>
            <a:off x="10044342" y="1786407"/>
            <a:ext cx="2088530" cy="51658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US" sz="1600" b="1">
                <a:solidFill>
                  <a:srgbClr val="494D6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Compliance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AE158703-16F0-F99C-3BB1-444E9E29B40E}"/>
              </a:ext>
            </a:extLst>
          </p:cNvPr>
          <p:cNvSpPr txBox="1">
            <a:spLocks/>
          </p:cNvSpPr>
          <p:nvPr/>
        </p:nvSpPr>
        <p:spPr>
          <a:xfrm>
            <a:off x="7552724" y="2413696"/>
            <a:ext cx="2088530" cy="139628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Aft>
                <a:spcPts val="1200"/>
              </a:spcAft>
            </a:pPr>
            <a:r>
              <a:rPr lang="en-US" sz="1400">
                <a:solidFill>
                  <a:srgbClr val="494D6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Use vulnerability management to identify and address security vulnerabilities in the Logic App's endpoint and in the systems and services that the Logic App integrates with.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E293C5C3-08DB-8607-356C-299537FF5AD3}"/>
              </a:ext>
            </a:extLst>
          </p:cNvPr>
          <p:cNvSpPr txBox="1">
            <a:spLocks/>
          </p:cNvSpPr>
          <p:nvPr/>
        </p:nvSpPr>
        <p:spPr>
          <a:xfrm>
            <a:off x="10044342" y="2413696"/>
            <a:ext cx="2088530" cy="139628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Aft>
                <a:spcPts val="1200"/>
              </a:spcAft>
            </a:pPr>
            <a:r>
              <a:rPr lang="en-US" sz="1400">
                <a:solidFill>
                  <a:srgbClr val="494D6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Make sure that your integration meets the compliance requirements of your organization, and the industry standards.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C85AC41C-C12C-F1A5-B205-25280C5BDD30}"/>
              </a:ext>
            </a:extLst>
          </p:cNvPr>
          <p:cNvSpPr txBox="1">
            <a:spLocks/>
          </p:cNvSpPr>
          <p:nvPr/>
        </p:nvSpPr>
        <p:spPr>
          <a:xfrm>
            <a:off x="5061105" y="3878960"/>
            <a:ext cx="2088530" cy="105919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0000" indent="-180000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494D6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Real time monitoring</a:t>
            </a:r>
          </a:p>
          <a:p>
            <a:pPr marL="180000" indent="-180000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494D6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Log analytics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BFA04C53-76F9-02BE-C516-F55724C87CC6}"/>
              </a:ext>
            </a:extLst>
          </p:cNvPr>
          <p:cNvSpPr txBox="1">
            <a:spLocks/>
          </p:cNvSpPr>
          <p:nvPr/>
        </p:nvSpPr>
        <p:spPr>
          <a:xfrm>
            <a:off x="7540189" y="4279383"/>
            <a:ext cx="2088530" cy="105919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0000" indent="-180000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>
                <a:solidFill>
                  <a:srgbClr val="494D6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Regular assessments</a:t>
            </a:r>
          </a:p>
          <a:p>
            <a:pPr marL="180000" indent="-180000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>
                <a:solidFill>
                  <a:srgbClr val="494D6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Patch management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2B18CBDB-0200-8649-3A37-B16CFA168F75}"/>
              </a:ext>
            </a:extLst>
          </p:cNvPr>
          <p:cNvSpPr txBox="1">
            <a:spLocks/>
          </p:cNvSpPr>
          <p:nvPr/>
        </p:nvSpPr>
        <p:spPr>
          <a:xfrm>
            <a:off x="10044342" y="3878960"/>
            <a:ext cx="2088530" cy="105919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0000" indent="-180000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>
                <a:solidFill>
                  <a:srgbClr val="494D6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Compliance audits</a:t>
            </a:r>
          </a:p>
          <a:p>
            <a:pPr marL="180000" indent="-180000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>
                <a:solidFill>
                  <a:srgbClr val="494D6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Data protection (GDPR, HIPPA, ITAR are examples)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C9E70E2-627C-E85E-06A3-0C578A4978AC}"/>
              </a:ext>
            </a:extLst>
          </p:cNvPr>
          <p:cNvGrpSpPr/>
          <p:nvPr/>
        </p:nvGrpSpPr>
        <p:grpSpPr>
          <a:xfrm>
            <a:off x="5619611" y="4946294"/>
            <a:ext cx="971518" cy="971518"/>
            <a:chOff x="7187500" y="839949"/>
            <a:chExt cx="1422400" cy="1422400"/>
          </a:xfrm>
        </p:grpSpPr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7C884A93-15C1-0175-9126-A3611EAFA756}"/>
                </a:ext>
              </a:extLst>
            </p:cNvPr>
            <p:cNvSpPr/>
            <p:nvPr/>
          </p:nvSpPr>
          <p:spPr>
            <a:xfrm>
              <a:off x="7187500" y="839949"/>
              <a:ext cx="1422400" cy="1422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27EB00B4-8D12-40C5-3012-06E7F0EB3E29}"/>
                </a:ext>
              </a:extLst>
            </p:cNvPr>
            <p:cNvSpPr/>
            <p:nvPr/>
          </p:nvSpPr>
          <p:spPr>
            <a:xfrm>
              <a:off x="7412941" y="1065390"/>
              <a:ext cx="971519" cy="971519"/>
            </a:xfrm>
            <a:prstGeom prst="ellipse">
              <a:avLst/>
            </a:prstGeom>
            <a:solidFill>
              <a:srgbClr val="D01012"/>
            </a:solidFill>
            <a:ln>
              <a:noFill/>
            </a:ln>
            <a:effectLst>
              <a:outerShdw dist="635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B192ACC5-2A36-9403-08CF-BD64D502301A}"/>
              </a:ext>
            </a:extLst>
          </p:cNvPr>
          <p:cNvGrpSpPr/>
          <p:nvPr/>
        </p:nvGrpSpPr>
        <p:grpSpPr>
          <a:xfrm>
            <a:off x="5937330" y="5285557"/>
            <a:ext cx="336080" cy="292993"/>
            <a:chOff x="1216026" y="5511800"/>
            <a:chExt cx="681038" cy="593725"/>
          </a:xfrm>
          <a:effectLst>
            <a:outerShdw dist="38100" dir="2700000" algn="tl" rotWithShape="0">
              <a:prstClr val="black">
                <a:alpha val="20000"/>
              </a:prstClr>
            </a:outerShdw>
          </a:effectLst>
        </p:grpSpPr>
        <p:sp>
          <p:nvSpPr>
            <p:cNvPr id="55" name="Freeform 437">
              <a:extLst>
                <a:ext uri="{FF2B5EF4-FFF2-40B4-BE49-F238E27FC236}">
                  <a16:creationId xmlns:a16="http://schemas.microsoft.com/office/drawing/2014/main" id="{BEF5D204-DF33-3A1A-9CD5-C5B2C4153F81}"/>
                </a:ext>
              </a:extLst>
            </p:cNvPr>
            <p:cNvSpPr>
              <a:spLocks/>
            </p:cNvSpPr>
            <p:nvPr/>
          </p:nvSpPr>
          <p:spPr bwMode="auto">
            <a:xfrm>
              <a:off x="1216026" y="5511800"/>
              <a:ext cx="681038" cy="593725"/>
            </a:xfrm>
            <a:custGeom>
              <a:avLst/>
              <a:gdLst>
                <a:gd name="T0" fmla="*/ 245 w 429"/>
                <a:gd name="T1" fmla="*/ 0 h 374"/>
                <a:gd name="T2" fmla="*/ 0 w 429"/>
                <a:gd name="T3" fmla="*/ 90 h 374"/>
                <a:gd name="T4" fmla="*/ 0 w 429"/>
                <a:gd name="T5" fmla="*/ 281 h 374"/>
                <a:gd name="T6" fmla="*/ 183 w 429"/>
                <a:gd name="T7" fmla="*/ 374 h 374"/>
                <a:gd name="T8" fmla="*/ 429 w 429"/>
                <a:gd name="T9" fmla="*/ 281 h 374"/>
                <a:gd name="T10" fmla="*/ 429 w 429"/>
                <a:gd name="T11" fmla="*/ 90 h 374"/>
                <a:gd name="T12" fmla="*/ 245 w 429"/>
                <a:gd name="T13" fmla="*/ 0 h 3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29" h="374">
                  <a:moveTo>
                    <a:pt x="245" y="0"/>
                  </a:moveTo>
                  <a:lnTo>
                    <a:pt x="0" y="90"/>
                  </a:lnTo>
                  <a:lnTo>
                    <a:pt x="0" y="281"/>
                  </a:lnTo>
                  <a:lnTo>
                    <a:pt x="183" y="374"/>
                  </a:lnTo>
                  <a:lnTo>
                    <a:pt x="429" y="281"/>
                  </a:lnTo>
                  <a:lnTo>
                    <a:pt x="429" y="90"/>
                  </a:lnTo>
                  <a:lnTo>
                    <a:pt x="245" y="0"/>
                  </a:lnTo>
                  <a:close/>
                </a:path>
              </a:pathLst>
            </a:custGeom>
            <a:solidFill>
              <a:srgbClr val="FCF6C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/>
            </a:p>
          </p:txBody>
        </p:sp>
        <p:sp>
          <p:nvSpPr>
            <p:cNvPr id="56" name="Freeform 438">
              <a:extLst>
                <a:ext uri="{FF2B5EF4-FFF2-40B4-BE49-F238E27FC236}">
                  <a16:creationId xmlns:a16="http://schemas.microsoft.com/office/drawing/2014/main" id="{D4897D1E-0072-B6F1-4D5F-BD68AFDB8815}"/>
                </a:ext>
              </a:extLst>
            </p:cNvPr>
            <p:cNvSpPr>
              <a:spLocks/>
            </p:cNvSpPr>
            <p:nvPr/>
          </p:nvSpPr>
          <p:spPr bwMode="auto">
            <a:xfrm>
              <a:off x="1506538" y="5654675"/>
              <a:ext cx="390525" cy="450850"/>
            </a:xfrm>
            <a:custGeom>
              <a:avLst/>
              <a:gdLst>
                <a:gd name="T0" fmla="*/ 246 w 246"/>
                <a:gd name="T1" fmla="*/ 191 h 284"/>
                <a:gd name="T2" fmla="*/ 0 w 246"/>
                <a:gd name="T3" fmla="*/ 284 h 284"/>
                <a:gd name="T4" fmla="*/ 0 w 246"/>
                <a:gd name="T5" fmla="*/ 93 h 284"/>
                <a:gd name="T6" fmla="*/ 246 w 246"/>
                <a:gd name="T7" fmla="*/ 0 h 284"/>
                <a:gd name="T8" fmla="*/ 246 w 246"/>
                <a:gd name="T9" fmla="*/ 191 h 2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6" h="284">
                  <a:moveTo>
                    <a:pt x="246" y="191"/>
                  </a:moveTo>
                  <a:lnTo>
                    <a:pt x="0" y="284"/>
                  </a:lnTo>
                  <a:lnTo>
                    <a:pt x="0" y="93"/>
                  </a:lnTo>
                  <a:lnTo>
                    <a:pt x="246" y="0"/>
                  </a:lnTo>
                  <a:lnTo>
                    <a:pt x="246" y="191"/>
                  </a:lnTo>
                  <a:close/>
                </a:path>
              </a:pathLst>
            </a:custGeom>
            <a:solidFill>
              <a:srgbClr val="F3B60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/>
            </a:p>
          </p:txBody>
        </p:sp>
        <p:sp>
          <p:nvSpPr>
            <p:cNvPr id="57" name="Freeform 439">
              <a:extLst>
                <a:ext uri="{FF2B5EF4-FFF2-40B4-BE49-F238E27FC236}">
                  <a16:creationId xmlns:a16="http://schemas.microsoft.com/office/drawing/2014/main" id="{3AE1CE82-1608-E121-3A78-DA49EE27D48C}"/>
                </a:ext>
              </a:extLst>
            </p:cNvPr>
            <p:cNvSpPr>
              <a:spLocks/>
            </p:cNvSpPr>
            <p:nvPr/>
          </p:nvSpPr>
          <p:spPr bwMode="auto">
            <a:xfrm>
              <a:off x="1216026" y="5654675"/>
              <a:ext cx="290513" cy="450850"/>
            </a:xfrm>
            <a:custGeom>
              <a:avLst/>
              <a:gdLst>
                <a:gd name="T0" fmla="*/ 0 w 183"/>
                <a:gd name="T1" fmla="*/ 191 h 284"/>
                <a:gd name="T2" fmla="*/ 183 w 183"/>
                <a:gd name="T3" fmla="*/ 284 h 284"/>
                <a:gd name="T4" fmla="*/ 183 w 183"/>
                <a:gd name="T5" fmla="*/ 93 h 284"/>
                <a:gd name="T6" fmla="*/ 0 w 183"/>
                <a:gd name="T7" fmla="*/ 0 h 284"/>
                <a:gd name="T8" fmla="*/ 0 w 183"/>
                <a:gd name="T9" fmla="*/ 191 h 2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3" h="284">
                  <a:moveTo>
                    <a:pt x="0" y="191"/>
                  </a:moveTo>
                  <a:lnTo>
                    <a:pt x="183" y="284"/>
                  </a:lnTo>
                  <a:lnTo>
                    <a:pt x="183" y="93"/>
                  </a:lnTo>
                  <a:lnTo>
                    <a:pt x="0" y="0"/>
                  </a:lnTo>
                  <a:lnTo>
                    <a:pt x="0" y="191"/>
                  </a:lnTo>
                  <a:close/>
                </a:path>
              </a:pathLst>
            </a:custGeom>
            <a:solidFill>
              <a:srgbClr val="FACB1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/>
            </a:p>
          </p:txBody>
        </p:sp>
        <p:sp>
          <p:nvSpPr>
            <p:cNvPr id="58" name="Freeform 440">
              <a:extLst>
                <a:ext uri="{FF2B5EF4-FFF2-40B4-BE49-F238E27FC236}">
                  <a16:creationId xmlns:a16="http://schemas.microsoft.com/office/drawing/2014/main" id="{E1060D32-5A84-6262-441E-869C91191D00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7326" y="5681663"/>
              <a:ext cx="147638" cy="71438"/>
            </a:xfrm>
            <a:custGeom>
              <a:avLst/>
              <a:gdLst>
                <a:gd name="T0" fmla="*/ 39 w 39"/>
                <a:gd name="T1" fmla="*/ 0 h 19"/>
                <a:gd name="T2" fmla="*/ 39 w 39"/>
                <a:gd name="T3" fmla="*/ 12 h 19"/>
                <a:gd name="T4" fmla="*/ 20 w 39"/>
                <a:gd name="T5" fmla="*/ 19 h 19"/>
                <a:gd name="T6" fmla="*/ 0 w 39"/>
                <a:gd name="T7" fmla="*/ 12 h 19"/>
                <a:gd name="T8" fmla="*/ 0 w 39"/>
                <a:gd name="T9" fmla="*/ 0 h 19"/>
                <a:gd name="T10" fmla="*/ 20 w 39"/>
                <a:gd name="T11" fmla="*/ 6 h 19"/>
                <a:gd name="T12" fmla="*/ 39 w 39"/>
                <a:gd name="T13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" h="19">
                  <a:moveTo>
                    <a:pt x="39" y="0"/>
                  </a:moveTo>
                  <a:cubicBezTo>
                    <a:pt x="39" y="12"/>
                    <a:pt x="39" y="12"/>
                    <a:pt x="39" y="12"/>
                  </a:cubicBezTo>
                  <a:cubicBezTo>
                    <a:pt x="39" y="16"/>
                    <a:pt x="30" y="19"/>
                    <a:pt x="20" y="19"/>
                  </a:cubicBezTo>
                  <a:cubicBezTo>
                    <a:pt x="9" y="19"/>
                    <a:pt x="0" y="16"/>
                    <a:pt x="0" y="1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"/>
                    <a:pt x="9" y="6"/>
                    <a:pt x="20" y="6"/>
                  </a:cubicBezTo>
                  <a:cubicBezTo>
                    <a:pt x="30" y="6"/>
                    <a:pt x="39" y="3"/>
                    <a:pt x="39" y="0"/>
                  </a:cubicBezTo>
                  <a:close/>
                </a:path>
              </a:pathLst>
            </a:custGeom>
            <a:solidFill>
              <a:srgbClr val="F3B60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/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541D47C5-F056-1B0B-7E20-85DD58EEB7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7326" y="5654675"/>
              <a:ext cx="147638" cy="49213"/>
            </a:xfrm>
            <a:prstGeom prst="ellipse">
              <a:avLst/>
            </a:prstGeom>
            <a:solidFill>
              <a:srgbClr val="FCF6C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/>
            </a:p>
          </p:txBody>
        </p:sp>
        <p:sp>
          <p:nvSpPr>
            <p:cNvPr id="60" name="Freeform 442">
              <a:extLst>
                <a:ext uri="{FF2B5EF4-FFF2-40B4-BE49-F238E27FC236}">
                  <a16:creationId xmlns:a16="http://schemas.microsoft.com/office/drawing/2014/main" id="{696969B0-C219-DE16-2100-E8BCF1AD1C63}"/>
                </a:ext>
              </a:extLst>
            </p:cNvPr>
            <p:cNvSpPr>
              <a:spLocks/>
            </p:cNvSpPr>
            <p:nvPr/>
          </p:nvSpPr>
          <p:spPr bwMode="auto">
            <a:xfrm>
              <a:off x="1314451" y="5605463"/>
              <a:ext cx="142875" cy="76200"/>
            </a:xfrm>
            <a:custGeom>
              <a:avLst/>
              <a:gdLst>
                <a:gd name="T0" fmla="*/ 38 w 38"/>
                <a:gd name="T1" fmla="*/ 0 h 20"/>
                <a:gd name="T2" fmla="*/ 38 w 38"/>
                <a:gd name="T3" fmla="*/ 13 h 20"/>
                <a:gd name="T4" fmla="*/ 19 w 38"/>
                <a:gd name="T5" fmla="*/ 20 h 20"/>
                <a:gd name="T6" fmla="*/ 0 w 38"/>
                <a:gd name="T7" fmla="*/ 13 h 20"/>
                <a:gd name="T8" fmla="*/ 0 w 38"/>
                <a:gd name="T9" fmla="*/ 0 h 20"/>
                <a:gd name="T10" fmla="*/ 19 w 38"/>
                <a:gd name="T11" fmla="*/ 7 h 20"/>
                <a:gd name="T12" fmla="*/ 38 w 38"/>
                <a:gd name="T13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8" h="20">
                  <a:moveTo>
                    <a:pt x="38" y="0"/>
                  </a:moveTo>
                  <a:cubicBezTo>
                    <a:pt x="38" y="13"/>
                    <a:pt x="38" y="13"/>
                    <a:pt x="38" y="13"/>
                  </a:cubicBezTo>
                  <a:cubicBezTo>
                    <a:pt x="38" y="17"/>
                    <a:pt x="30" y="20"/>
                    <a:pt x="19" y="20"/>
                  </a:cubicBezTo>
                  <a:cubicBezTo>
                    <a:pt x="9" y="20"/>
                    <a:pt x="0" y="17"/>
                    <a:pt x="0" y="1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4"/>
                    <a:pt x="9" y="7"/>
                    <a:pt x="19" y="7"/>
                  </a:cubicBezTo>
                  <a:cubicBezTo>
                    <a:pt x="30" y="7"/>
                    <a:pt x="38" y="4"/>
                    <a:pt x="38" y="0"/>
                  </a:cubicBezTo>
                  <a:close/>
                </a:path>
              </a:pathLst>
            </a:custGeom>
            <a:solidFill>
              <a:srgbClr val="F3B60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/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785ACAE1-E139-7C2A-47E9-BDBAFAD4BB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14451" y="5583238"/>
              <a:ext cx="142875" cy="49213"/>
            </a:xfrm>
            <a:prstGeom prst="ellipse">
              <a:avLst/>
            </a:prstGeom>
            <a:solidFill>
              <a:srgbClr val="FCF6C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/>
            </a:p>
          </p:txBody>
        </p:sp>
        <p:sp>
          <p:nvSpPr>
            <p:cNvPr id="62" name="Freeform 444">
              <a:extLst>
                <a:ext uri="{FF2B5EF4-FFF2-40B4-BE49-F238E27FC236}">
                  <a16:creationId xmlns:a16="http://schemas.microsoft.com/office/drawing/2014/main" id="{EDCB1B69-4C5A-C18E-8A1B-13754EF1E70C}"/>
                </a:ext>
              </a:extLst>
            </p:cNvPr>
            <p:cNvSpPr>
              <a:spLocks/>
            </p:cNvSpPr>
            <p:nvPr/>
          </p:nvSpPr>
          <p:spPr bwMode="auto">
            <a:xfrm>
              <a:off x="1506538" y="5534025"/>
              <a:ext cx="147638" cy="71438"/>
            </a:xfrm>
            <a:custGeom>
              <a:avLst/>
              <a:gdLst>
                <a:gd name="T0" fmla="*/ 39 w 39"/>
                <a:gd name="T1" fmla="*/ 0 h 19"/>
                <a:gd name="T2" fmla="*/ 39 w 39"/>
                <a:gd name="T3" fmla="*/ 13 h 19"/>
                <a:gd name="T4" fmla="*/ 19 w 39"/>
                <a:gd name="T5" fmla="*/ 19 h 19"/>
                <a:gd name="T6" fmla="*/ 0 w 39"/>
                <a:gd name="T7" fmla="*/ 13 h 19"/>
                <a:gd name="T8" fmla="*/ 0 w 39"/>
                <a:gd name="T9" fmla="*/ 0 h 19"/>
                <a:gd name="T10" fmla="*/ 19 w 39"/>
                <a:gd name="T11" fmla="*/ 7 h 19"/>
                <a:gd name="T12" fmla="*/ 39 w 39"/>
                <a:gd name="T13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" h="19">
                  <a:moveTo>
                    <a:pt x="39" y="0"/>
                  </a:moveTo>
                  <a:cubicBezTo>
                    <a:pt x="39" y="13"/>
                    <a:pt x="39" y="13"/>
                    <a:pt x="39" y="13"/>
                  </a:cubicBezTo>
                  <a:cubicBezTo>
                    <a:pt x="39" y="17"/>
                    <a:pt x="30" y="19"/>
                    <a:pt x="19" y="19"/>
                  </a:cubicBezTo>
                  <a:cubicBezTo>
                    <a:pt x="9" y="19"/>
                    <a:pt x="0" y="17"/>
                    <a:pt x="0" y="1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4"/>
                    <a:pt x="9" y="7"/>
                    <a:pt x="19" y="7"/>
                  </a:cubicBezTo>
                  <a:cubicBezTo>
                    <a:pt x="30" y="7"/>
                    <a:pt x="39" y="4"/>
                    <a:pt x="39" y="0"/>
                  </a:cubicBezTo>
                  <a:close/>
                </a:path>
              </a:pathLst>
            </a:custGeom>
            <a:solidFill>
              <a:srgbClr val="F3B60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/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FEB8D81F-C363-64CB-479E-FB601D64BC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6538" y="5511800"/>
              <a:ext cx="147638" cy="49213"/>
            </a:xfrm>
            <a:prstGeom prst="ellipse">
              <a:avLst/>
            </a:prstGeom>
            <a:solidFill>
              <a:srgbClr val="FCF6C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/>
            </a:p>
          </p:txBody>
        </p:sp>
        <p:sp>
          <p:nvSpPr>
            <p:cNvPr id="64" name="Freeform 446">
              <a:extLst>
                <a:ext uri="{FF2B5EF4-FFF2-40B4-BE49-F238E27FC236}">
                  <a16:creationId xmlns:a16="http://schemas.microsoft.com/office/drawing/2014/main" id="{3634A37C-04F5-02AC-E5D1-E4512E4123FF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4176" y="5605463"/>
              <a:ext cx="144463" cy="76200"/>
            </a:xfrm>
            <a:custGeom>
              <a:avLst/>
              <a:gdLst>
                <a:gd name="T0" fmla="*/ 38 w 38"/>
                <a:gd name="T1" fmla="*/ 0 h 20"/>
                <a:gd name="T2" fmla="*/ 38 w 38"/>
                <a:gd name="T3" fmla="*/ 13 h 20"/>
                <a:gd name="T4" fmla="*/ 19 w 38"/>
                <a:gd name="T5" fmla="*/ 20 h 20"/>
                <a:gd name="T6" fmla="*/ 0 w 38"/>
                <a:gd name="T7" fmla="*/ 13 h 20"/>
                <a:gd name="T8" fmla="*/ 0 w 38"/>
                <a:gd name="T9" fmla="*/ 0 h 20"/>
                <a:gd name="T10" fmla="*/ 19 w 38"/>
                <a:gd name="T11" fmla="*/ 7 h 20"/>
                <a:gd name="T12" fmla="*/ 38 w 38"/>
                <a:gd name="T13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8" h="20">
                  <a:moveTo>
                    <a:pt x="38" y="0"/>
                  </a:moveTo>
                  <a:cubicBezTo>
                    <a:pt x="38" y="13"/>
                    <a:pt x="38" y="13"/>
                    <a:pt x="38" y="13"/>
                  </a:cubicBezTo>
                  <a:cubicBezTo>
                    <a:pt x="38" y="17"/>
                    <a:pt x="29" y="20"/>
                    <a:pt x="19" y="20"/>
                  </a:cubicBezTo>
                  <a:cubicBezTo>
                    <a:pt x="8" y="20"/>
                    <a:pt x="0" y="17"/>
                    <a:pt x="0" y="1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4"/>
                    <a:pt x="8" y="7"/>
                    <a:pt x="19" y="7"/>
                  </a:cubicBezTo>
                  <a:cubicBezTo>
                    <a:pt x="29" y="7"/>
                    <a:pt x="38" y="4"/>
                    <a:pt x="38" y="0"/>
                  </a:cubicBezTo>
                  <a:close/>
                </a:path>
              </a:pathLst>
            </a:custGeom>
            <a:solidFill>
              <a:srgbClr val="F3B60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/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AF6AF467-76FC-56BC-04B9-2CB2048437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54176" y="5583238"/>
              <a:ext cx="144463" cy="49213"/>
            </a:xfrm>
            <a:prstGeom prst="ellipse">
              <a:avLst/>
            </a:prstGeom>
            <a:solidFill>
              <a:srgbClr val="FCF6C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C9DB446-BA14-8860-09E9-A1A16CFE9A7D}"/>
              </a:ext>
            </a:extLst>
          </p:cNvPr>
          <p:cNvGrpSpPr/>
          <p:nvPr/>
        </p:nvGrpSpPr>
        <p:grpSpPr>
          <a:xfrm>
            <a:off x="8111230" y="4946294"/>
            <a:ext cx="971518" cy="971518"/>
            <a:chOff x="7187500" y="839949"/>
            <a:chExt cx="1422400" cy="1422400"/>
          </a:xfrm>
        </p:grpSpPr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4FD13B51-3372-C455-5E01-FB4E2FD2B2F6}"/>
                </a:ext>
              </a:extLst>
            </p:cNvPr>
            <p:cNvSpPr/>
            <p:nvPr/>
          </p:nvSpPr>
          <p:spPr>
            <a:xfrm>
              <a:off x="7187500" y="839949"/>
              <a:ext cx="1422400" cy="1422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3B62078D-601C-A02A-F45B-09467E16EDE5}"/>
                </a:ext>
              </a:extLst>
            </p:cNvPr>
            <p:cNvSpPr/>
            <p:nvPr/>
          </p:nvSpPr>
          <p:spPr>
            <a:xfrm>
              <a:off x="7412941" y="1065390"/>
              <a:ext cx="971519" cy="971519"/>
            </a:xfrm>
            <a:prstGeom prst="ellipse">
              <a:avLst/>
            </a:prstGeom>
            <a:solidFill>
              <a:srgbClr val="D01012"/>
            </a:solidFill>
            <a:ln>
              <a:noFill/>
            </a:ln>
            <a:effectLst>
              <a:outerShdw dist="635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F47EFD84-6C8F-6F3C-6740-EECEC276DD68}"/>
              </a:ext>
            </a:extLst>
          </p:cNvPr>
          <p:cNvGrpSpPr/>
          <p:nvPr/>
        </p:nvGrpSpPr>
        <p:grpSpPr>
          <a:xfrm>
            <a:off x="8428949" y="5285557"/>
            <a:ext cx="336080" cy="292993"/>
            <a:chOff x="1216026" y="5511800"/>
            <a:chExt cx="681038" cy="593725"/>
          </a:xfrm>
          <a:effectLst>
            <a:outerShdw dist="38100" dir="2700000" algn="tl" rotWithShape="0">
              <a:prstClr val="black">
                <a:alpha val="20000"/>
              </a:prstClr>
            </a:outerShdw>
          </a:effectLst>
        </p:grpSpPr>
        <p:sp>
          <p:nvSpPr>
            <p:cNvPr id="42" name="Freeform 437">
              <a:extLst>
                <a:ext uri="{FF2B5EF4-FFF2-40B4-BE49-F238E27FC236}">
                  <a16:creationId xmlns:a16="http://schemas.microsoft.com/office/drawing/2014/main" id="{5983D0EB-D6F3-CADD-4674-8A696FFFA46A}"/>
                </a:ext>
              </a:extLst>
            </p:cNvPr>
            <p:cNvSpPr>
              <a:spLocks/>
            </p:cNvSpPr>
            <p:nvPr/>
          </p:nvSpPr>
          <p:spPr bwMode="auto">
            <a:xfrm>
              <a:off x="1216026" y="5511800"/>
              <a:ext cx="681038" cy="593725"/>
            </a:xfrm>
            <a:custGeom>
              <a:avLst/>
              <a:gdLst>
                <a:gd name="T0" fmla="*/ 245 w 429"/>
                <a:gd name="T1" fmla="*/ 0 h 374"/>
                <a:gd name="T2" fmla="*/ 0 w 429"/>
                <a:gd name="T3" fmla="*/ 90 h 374"/>
                <a:gd name="T4" fmla="*/ 0 w 429"/>
                <a:gd name="T5" fmla="*/ 281 h 374"/>
                <a:gd name="T6" fmla="*/ 183 w 429"/>
                <a:gd name="T7" fmla="*/ 374 h 374"/>
                <a:gd name="T8" fmla="*/ 429 w 429"/>
                <a:gd name="T9" fmla="*/ 281 h 374"/>
                <a:gd name="T10" fmla="*/ 429 w 429"/>
                <a:gd name="T11" fmla="*/ 90 h 374"/>
                <a:gd name="T12" fmla="*/ 245 w 429"/>
                <a:gd name="T13" fmla="*/ 0 h 3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29" h="374">
                  <a:moveTo>
                    <a:pt x="245" y="0"/>
                  </a:moveTo>
                  <a:lnTo>
                    <a:pt x="0" y="90"/>
                  </a:lnTo>
                  <a:lnTo>
                    <a:pt x="0" y="281"/>
                  </a:lnTo>
                  <a:lnTo>
                    <a:pt x="183" y="374"/>
                  </a:lnTo>
                  <a:lnTo>
                    <a:pt x="429" y="281"/>
                  </a:lnTo>
                  <a:lnTo>
                    <a:pt x="429" y="90"/>
                  </a:lnTo>
                  <a:lnTo>
                    <a:pt x="245" y="0"/>
                  </a:ln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/>
            </a:p>
          </p:txBody>
        </p:sp>
        <p:sp>
          <p:nvSpPr>
            <p:cNvPr id="43" name="Freeform 438">
              <a:extLst>
                <a:ext uri="{FF2B5EF4-FFF2-40B4-BE49-F238E27FC236}">
                  <a16:creationId xmlns:a16="http://schemas.microsoft.com/office/drawing/2014/main" id="{43FFF97F-05B8-F0E5-559C-E98F0B976728}"/>
                </a:ext>
              </a:extLst>
            </p:cNvPr>
            <p:cNvSpPr>
              <a:spLocks/>
            </p:cNvSpPr>
            <p:nvPr/>
          </p:nvSpPr>
          <p:spPr bwMode="auto">
            <a:xfrm>
              <a:off x="1506538" y="5654675"/>
              <a:ext cx="390525" cy="450850"/>
            </a:xfrm>
            <a:custGeom>
              <a:avLst/>
              <a:gdLst>
                <a:gd name="T0" fmla="*/ 246 w 246"/>
                <a:gd name="T1" fmla="*/ 191 h 284"/>
                <a:gd name="T2" fmla="*/ 0 w 246"/>
                <a:gd name="T3" fmla="*/ 284 h 284"/>
                <a:gd name="T4" fmla="*/ 0 w 246"/>
                <a:gd name="T5" fmla="*/ 93 h 284"/>
                <a:gd name="T6" fmla="*/ 246 w 246"/>
                <a:gd name="T7" fmla="*/ 0 h 284"/>
                <a:gd name="T8" fmla="*/ 246 w 246"/>
                <a:gd name="T9" fmla="*/ 191 h 2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6" h="284">
                  <a:moveTo>
                    <a:pt x="246" y="191"/>
                  </a:moveTo>
                  <a:lnTo>
                    <a:pt x="0" y="284"/>
                  </a:lnTo>
                  <a:lnTo>
                    <a:pt x="0" y="93"/>
                  </a:lnTo>
                  <a:lnTo>
                    <a:pt x="246" y="0"/>
                  </a:lnTo>
                  <a:lnTo>
                    <a:pt x="246" y="191"/>
                  </a:lnTo>
                  <a:close/>
                </a:path>
              </a:pathLst>
            </a:custGeom>
            <a:solidFill>
              <a:srgbClr val="007C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/>
            </a:p>
          </p:txBody>
        </p:sp>
        <p:sp>
          <p:nvSpPr>
            <p:cNvPr id="44" name="Freeform 439">
              <a:extLst>
                <a:ext uri="{FF2B5EF4-FFF2-40B4-BE49-F238E27FC236}">
                  <a16:creationId xmlns:a16="http://schemas.microsoft.com/office/drawing/2014/main" id="{11D41B31-C5F2-0649-7B64-71EF6E9EF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1216026" y="5654675"/>
              <a:ext cx="290513" cy="450850"/>
            </a:xfrm>
            <a:custGeom>
              <a:avLst/>
              <a:gdLst>
                <a:gd name="T0" fmla="*/ 0 w 183"/>
                <a:gd name="T1" fmla="*/ 191 h 284"/>
                <a:gd name="T2" fmla="*/ 183 w 183"/>
                <a:gd name="T3" fmla="*/ 284 h 284"/>
                <a:gd name="T4" fmla="*/ 183 w 183"/>
                <a:gd name="T5" fmla="*/ 93 h 284"/>
                <a:gd name="T6" fmla="*/ 0 w 183"/>
                <a:gd name="T7" fmla="*/ 0 h 284"/>
                <a:gd name="T8" fmla="*/ 0 w 183"/>
                <a:gd name="T9" fmla="*/ 191 h 2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3" h="284">
                  <a:moveTo>
                    <a:pt x="0" y="191"/>
                  </a:moveTo>
                  <a:lnTo>
                    <a:pt x="183" y="284"/>
                  </a:lnTo>
                  <a:lnTo>
                    <a:pt x="183" y="93"/>
                  </a:lnTo>
                  <a:lnTo>
                    <a:pt x="0" y="0"/>
                  </a:lnTo>
                  <a:lnTo>
                    <a:pt x="0" y="191"/>
                  </a:lnTo>
                  <a:close/>
                </a:path>
              </a:pathLst>
            </a:custGeom>
            <a:solidFill>
              <a:srgbClr val="007C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/>
            </a:p>
          </p:txBody>
        </p:sp>
        <p:sp>
          <p:nvSpPr>
            <p:cNvPr id="45" name="Freeform 440">
              <a:extLst>
                <a:ext uri="{FF2B5EF4-FFF2-40B4-BE49-F238E27FC236}">
                  <a16:creationId xmlns:a16="http://schemas.microsoft.com/office/drawing/2014/main" id="{7229AED3-CC5B-3E41-3612-8B122F9519CA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7326" y="5681663"/>
              <a:ext cx="147638" cy="71438"/>
            </a:xfrm>
            <a:custGeom>
              <a:avLst/>
              <a:gdLst>
                <a:gd name="T0" fmla="*/ 39 w 39"/>
                <a:gd name="T1" fmla="*/ 0 h 19"/>
                <a:gd name="T2" fmla="*/ 39 w 39"/>
                <a:gd name="T3" fmla="*/ 12 h 19"/>
                <a:gd name="T4" fmla="*/ 20 w 39"/>
                <a:gd name="T5" fmla="*/ 19 h 19"/>
                <a:gd name="T6" fmla="*/ 0 w 39"/>
                <a:gd name="T7" fmla="*/ 12 h 19"/>
                <a:gd name="T8" fmla="*/ 0 w 39"/>
                <a:gd name="T9" fmla="*/ 0 h 19"/>
                <a:gd name="T10" fmla="*/ 20 w 39"/>
                <a:gd name="T11" fmla="*/ 6 h 19"/>
                <a:gd name="T12" fmla="*/ 39 w 39"/>
                <a:gd name="T13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" h="19">
                  <a:moveTo>
                    <a:pt x="39" y="0"/>
                  </a:moveTo>
                  <a:cubicBezTo>
                    <a:pt x="39" y="12"/>
                    <a:pt x="39" y="12"/>
                    <a:pt x="39" y="12"/>
                  </a:cubicBezTo>
                  <a:cubicBezTo>
                    <a:pt x="39" y="16"/>
                    <a:pt x="30" y="19"/>
                    <a:pt x="20" y="19"/>
                  </a:cubicBezTo>
                  <a:cubicBezTo>
                    <a:pt x="9" y="19"/>
                    <a:pt x="0" y="16"/>
                    <a:pt x="0" y="1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"/>
                    <a:pt x="9" y="6"/>
                    <a:pt x="20" y="6"/>
                  </a:cubicBezTo>
                  <a:cubicBezTo>
                    <a:pt x="30" y="6"/>
                    <a:pt x="39" y="3"/>
                    <a:pt x="39" y="0"/>
                  </a:cubicBezTo>
                  <a:close/>
                </a:path>
              </a:pathLst>
            </a:custGeom>
            <a:solidFill>
              <a:srgbClr val="007C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08AEF924-092F-64D2-BD45-792EFEC9C5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7326" y="5654675"/>
              <a:ext cx="147638" cy="49213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/>
            </a:p>
          </p:txBody>
        </p:sp>
        <p:sp>
          <p:nvSpPr>
            <p:cNvPr id="47" name="Freeform 442">
              <a:extLst>
                <a:ext uri="{FF2B5EF4-FFF2-40B4-BE49-F238E27FC236}">
                  <a16:creationId xmlns:a16="http://schemas.microsoft.com/office/drawing/2014/main" id="{4DBEAD98-3FF2-F0F3-26A9-B56805020EB6}"/>
                </a:ext>
              </a:extLst>
            </p:cNvPr>
            <p:cNvSpPr>
              <a:spLocks/>
            </p:cNvSpPr>
            <p:nvPr/>
          </p:nvSpPr>
          <p:spPr bwMode="auto">
            <a:xfrm>
              <a:off x="1314451" y="5605463"/>
              <a:ext cx="142875" cy="76200"/>
            </a:xfrm>
            <a:custGeom>
              <a:avLst/>
              <a:gdLst>
                <a:gd name="T0" fmla="*/ 38 w 38"/>
                <a:gd name="T1" fmla="*/ 0 h 20"/>
                <a:gd name="T2" fmla="*/ 38 w 38"/>
                <a:gd name="T3" fmla="*/ 13 h 20"/>
                <a:gd name="T4" fmla="*/ 19 w 38"/>
                <a:gd name="T5" fmla="*/ 20 h 20"/>
                <a:gd name="T6" fmla="*/ 0 w 38"/>
                <a:gd name="T7" fmla="*/ 13 h 20"/>
                <a:gd name="T8" fmla="*/ 0 w 38"/>
                <a:gd name="T9" fmla="*/ 0 h 20"/>
                <a:gd name="T10" fmla="*/ 19 w 38"/>
                <a:gd name="T11" fmla="*/ 7 h 20"/>
                <a:gd name="T12" fmla="*/ 38 w 38"/>
                <a:gd name="T13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8" h="20">
                  <a:moveTo>
                    <a:pt x="38" y="0"/>
                  </a:moveTo>
                  <a:cubicBezTo>
                    <a:pt x="38" y="13"/>
                    <a:pt x="38" y="13"/>
                    <a:pt x="38" y="13"/>
                  </a:cubicBezTo>
                  <a:cubicBezTo>
                    <a:pt x="38" y="17"/>
                    <a:pt x="30" y="20"/>
                    <a:pt x="19" y="20"/>
                  </a:cubicBezTo>
                  <a:cubicBezTo>
                    <a:pt x="9" y="20"/>
                    <a:pt x="0" y="17"/>
                    <a:pt x="0" y="1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4"/>
                    <a:pt x="9" y="7"/>
                    <a:pt x="19" y="7"/>
                  </a:cubicBezTo>
                  <a:cubicBezTo>
                    <a:pt x="30" y="7"/>
                    <a:pt x="38" y="4"/>
                    <a:pt x="38" y="0"/>
                  </a:cubicBezTo>
                  <a:close/>
                </a:path>
              </a:pathLst>
            </a:custGeom>
            <a:solidFill>
              <a:srgbClr val="007C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A4D91BD5-B541-31AD-9C55-31386B5970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14451" y="5583238"/>
              <a:ext cx="142875" cy="49213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/>
            </a:p>
          </p:txBody>
        </p:sp>
        <p:sp>
          <p:nvSpPr>
            <p:cNvPr id="49" name="Freeform 444">
              <a:extLst>
                <a:ext uri="{FF2B5EF4-FFF2-40B4-BE49-F238E27FC236}">
                  <a16:creationId xmlns:a16="http://schemas.microsoft.com/office/drawing/2014/main" id="{C6FDABF1-139C-9164-8F09-A616E473220B}"/>
                </a:ext>
              </a:extLst>
            </p:cNvPr>
            <p:cNvSpPr>
              <a:spLocks/>
            </p:cNvSpPr>
            <p:nvPr/>
          </p:nvSpPr>
          <p:spPr bwMode="auto">
            <a:xfrm>
              <a:off x="1506538" y="5534025"/>
              <a:ext cx="147638" cy="71438"/>
            </a:xfrm>
            <a:custGeom>
              <a:avLst/>
              <a:gdLst>
                <a:gd name="T0" fmla="*/ 39 w 39"/>
                <a:gd name="T1" fmla="*/ 0 h 19"/>
                <a:gd name="T2" fmla="*/ 39 w 39"/>
                <a:gd name="T3" fmla="*/ 13 h 19"/>
                <a:gd name="T4" fmla="*/ 19 w 39"/>
                <a:gd name="T5" fmla="*/ 19 h 19"/>
                <a:gd name="T6" fmla="*/ 0 w 39"/>
                <a:gd name="T7" fmla="*/ 13 h 19"/>
                <a:gd name="T8" fmla="*/ 0 w 39"/>
                <a:gd name="T9" fmla="*/ 0 h 19"/>
                <a:gd name="T10" fmla="*/ 19 w 39"/>
                <a:gd name="T11" fmla="*/ 7 h 19"/>
                <a:gd name="T12" fmla="*/ 39 w 39"/>
                <a:gd name="T13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" h="19">
                  <a:moveTo>
                    <a:pt x="39" y="0"/>
                  </a:moveTo>
                  <a:cubicBezTo>
                    <a:pt x="39" y="13"/>
                    <a:pt x="39" y="13"/>
                    <a:pt x="39" y="13"/>
                  </a:cubicBezTo>
                  <a:cubicBezTo>
                    <a:pt x="39" y="17"/>
                    <a:pt x="30" y="19"/>
                    <a:pt x="19" y="19"/>
                  </a:cubicBezTo>
                  <a:cubicBezTo>
                    <a:pt x="9" y="19"/>
                    <a:pt x="0" y="17"/>
                    <a:pt x="0" y="1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4"/>
                    <a:pt x="9" y="7"/>
                    <a:pt x="19" y="7"/>
                  </a:cubicBezTo>
                  <a:cubicBezTo>
                    <a:pt x="30" y="7"/>
                    <a:pt x="39" y="4"/>
                    <a:pt x="39" y="0"/>
                  </a:cubicBezTo>
                  <a:close/>
                </a:path>
              </a:pathLst>
            </a:custGeom>
            <a:solidFill>
              <a:srgbClr val="007C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C8117C33-2F88-1AC1-5225-5EF298252E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6538" y="5511800"/>
              <a:ext cx="147638" cy="49213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/>
            </a:p>
          </p:txBody>
        </p:sp>
        <p:sp>
          <p:nvSpPr>
            <p:cNvPr id="51" name="Freeform 446">
              <a:extLst>
                <a:ext uri="{FF2B5EF4-FFF2-40B4-BE49-F238E27FC236}">
                  <a16:creationId xmlns:a16="http://schemas.microsoft.com/office/drawing/2014/main" id="{33069C0F-F016-ADDC-8429-84E45FE5144B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4176" y="5605463"/>
              <a:ext cx="144463" cy="76200"/>
            </a:xfrm>
            <a:custGeom>
              <a:avLst/>
              <a:gdLst>
                <a:gd name="T0" fmla="*/ 38 w 38"/>
                <a:gd name="T1" fmla="*/ 0 h 20"/>
                <a:gd name="T2" fmla="*/ 38 w 38"/>
                <a:gd name="T3" fmla="*/ 13 h 20"/>
                <a:gd name="T4" fmla="*/ 19 w 38"/>
                <a:gd name="T5" fmla="*/ 20 h 20"/>
                <a:gd name="T6" fmla="*/ 0 w 38"/>
                <a:gd name="T7" fmla="*/ 13 h 20"/>
                <a:gd name="T8" fmla="*/ 0 w 38"/>
                <a:gd name="T9" fmla="*/ 0 h 20"/>
                <a:gd name="T10" fmla="*/ 19 w 38"/>
                <a:gd name="T11" fmla="*/ 7 h 20"/>
                <a:gd name="T12" fmla="*/ 38 w 38"/>
                <a:gd name="T13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8" h="20">
                  <a:moveTo>
                    <a:pt x="38" y="0"/>
                  </a:moveTo>
                  <a:cubicBezTo>
                    <a:pt x="38" y="13"/>
                    <a:pt x="38" y="13"/>
                    <a:pt x="38" y="13"/>
                  </a:cubicBezTo>
                  <a:cubicBezTo>
                    <a:pt x="38" y="17"/>
                    <a:pt x="29" y="20"/>
                    <a:pt x="19" y="20"/>
                  </a:cubicBezTo>
                  <a:cubicBezTo>
                    <a:pt x="8" y="20"/>
                    <a:pt x="0" y="17"/>
                    <a:pt x="0" y="1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4"/>
                    <a:pt x="8" y="7"/>
                    <a:pt x="19" y="7"/>
                  </a:cubicBezTo>
                  <a:cubicBezTo>
                    <a:pt x="29" y="7"/>
                    <a:pt x="38" y="4"/>
                    <a:pt x="38" y="0"/>
                  </a:cubicBezTo>
                  <a:close/>
                </a:path>
              </a:pathLst>
            </a:custGeom>
            <a:solidFill>
              <a:srgbClr val="007C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B91D5F76-1FCF-A871-7574-47EEE98614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54176" y="5583238"/>
              <a:ext cx="144463" cy="49213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386903D-ABF6-8113-0C0A-6302EA9918D7}"/>
              </a:ext>
            </a:extLst>
          </p:cNvPr>
          <p:cNvGrpSpPr/>
          <p:nvPr/>
        </p:nvGrpSpPr>
        <p:grpSpPr>
          <a:xfrm>
            <a:off x="10602848" y="4946294"/>
            <a:ext cx="971518" cy="971518"/>
            <a:chOff x="7187500" y="839949"/>
            <a:chExt cx="1422400" cy="1422400"/>
          </a:xfrm>
        </p:grpSpPr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F55D79A4-183A-C70A-87C0-5B15D3E9F7CC}"/>
                </a:ext>
              </a:extLst>
            </p:cNvPr>
            <p:cNvSpPr/>
            <p:nvPr/>
          </p:nvSpPr>
          <p:spPr>
            <a:xfrm>
              <a:off x="7187500" y="839949"/>
              <a:ext cx="1422400" cy="1422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CA8EE286-A648-58DE-14D1-81C170B8099F}"/>
                </a:ext>
              </a:extLst>
            </p:cNvPr>
            <p:cNvSpPr/>
            <p:nvPr/>
          </p:nvSpPr>
          <p:spPr>
            <a:xfrm>
              <a:off x="7412941" y="1065390"/>
              <a:ext cx="971519" cy="971519"/>
            </a:xfrm>
            <a:prstGeom prst="ellipse">
              <a:avLst/>
            </a:prstGeom>
            <a:solidFill>
              <a:srgbClr val="D01012"/>
            </a:solidFill>
            <a:ln>
              <a:noFill/>
            </a:ln>
            <a:effectLst>
              <a:outerShdw dist="635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59964DFE-9259-CED8-577D-517176F87CF2}"/>
              </a:ext>
            </a:extLst>
          </p:cNvPr>
          <p:cNvGrpSpPr/>
          <p:nvPr/>
        </p:nvGrpSpPr>
        <p:grpSpPr>
          <a:xfrm>
            <a:off x="10920567" y="5285557"/>
            <a:ext cx="336080" cy="292993"/>
            <a:chOff x="1216026" y="5511800"/>
            <a:chExt cx="681038" cy="593725"/>
          </a:xfrm>
          <a:effectLst>
            <a:outerShdw dist="38100" dir="2700000" algn="tl" rotWithShape="0">
              <a:prstClr val="black">
                <a:alpha val="20000"/>
              </a:prstClr>
            </a:outerShdw>
          </a:effectLst>
        </p:grpSpPr>
        <p:sp>
          <p:nvSpPr>
            <p:cNvPr id="29" name="Freeform 437">
              <a:extLst>
                <a:ext uri="{FF2B5EF4-FFF2-40B4-BE49-F238E27FC236}">
                  <a16:creationId xmlns:a16="http://schemas.microsoft.com/office/drawing/2014/main" id="{10BFD9FA-BF26-2FC6-5450-66B2E6B3DFD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16026" y="5511800"/>
              <a:ext cx="681038" cy="593725"/>
            </a:xfrm>
            <a:custGeom>
              <a:avLst/>
              <a:gdLst>
                <a:gd name="T0" fmla="*/ 245 w 429"/>
                <a:gd name="T1" fmla="*/ 0 h 374"/>
                <a:gd name="T2" fmla="*/ 0 w 429"/>
                <a:gd name="T3" fmla="*/ 90 h 374"/>
                <a:gd name="T4" fmla="*/ 0 w 429"/>
                <a:gd name="T5" fmla="*/ 281 h 374"/>
                <a:gd name="T6" fmla="*/ 183 w 429"/>
                <a:gd name="T7" fmla="*/ 374 h 374"/>
                <a:gd name="T8" fmla="*/ 429 w 429"/>
                <a:gd name="T9" fmla="*/ 281 h 374"/>
                <a:gd name="T10" fmla="*/ 429 w 429"/>
                <a:gd name="T11" fmla="*/ 90 h 374"/>
                <a:gd name="T12" fmla="*/ 245 w 429"/>
                <a:gd name="T13" fmla="*/ 0 h 3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29" h="374">
                  <a:moveTo>
                    <a:pt x="245" y="0"/>
                  </a:moveTo>
                  <a:lnTo>
                    <a:pt x="0" y="90"/>
                  </a:lnTo>
                  <a:lnTo>
                    <a:pt x="0" y="281"/>
                  </a:lnTo>
                  <a:lnTo>
                    <a:pt x="183" y="374"/>
                  </a:lnTo>
                  <a:lnTo>
                    <a:pt x="429" y="281"/>
                  </a:lnTo>
                  <a:lnTo>
                    <a:pt x="429" y="90"/>
                  </a:lnTo>
                  <a:lnTo>
                    <a:pt x="245" y="0"/>
                  </a:lnTo>
                  <a:close/>
                </a:path>
              </a:pathLst>
            </a:custGeom>
            <a:solidFill>
              <a:srgbClr val="00FE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/>
            </a:p>
          </p:txBody>
        </p:sp>
        <p:sp>
          <p:nvSpPr>
            <p:cNvPr id="30" name="Freeform 438">
              <a:extLst>
                <a:ext uri="{FF2B5EF4-FFF2-40B4-BE49-F238E27FC236}">
                  <a16:creationId xmlns:a16="http://schemas.microsoft.com/office/drawing/2014/main" id="{69D8A1CB-415C-E5D2-52B9-C3CA56E36613}"/>
                </a:ext>
              </a:extLst>
            </p:cNvPr>
            <p:cNvSpPr>
              <a:spLocks/>
            </p:cNvSpPr>
            <p:nvPr/>
          </p:nvSpPr>
          <p:spPr bwMode="auto">
            <a:xfrm>
              <a:off x="1506538" y="5654675"/>
              <a:ext cx="390525" cy="450850"/>
            </a:xfrm>
            <a:custGeom>
              <a:avLst/>
              <a:gdLst>
                <a:gd name="T0" fmla="*/ 246 w 246"/>
                <a:gd name="T1" fmla="*/ 191 h 284"/>
                <a:gd name="T2" fmla="*/ 0 w 246"/>
                <a:gd name="T3" fmla="*/ 284 h 284"/>
                <a:gd name="T4" fmla="*/ 0 w 246"/>
                <a:gd name="T5" fmla="*/ 93 h 284"/>
                <a:gd name="T6" fmla="*/ 246 w 246"/>
                <a:gd name="T7" fmla="*/ 0 h 284"/>
                <a:gd name="T8" fmla="*/ 246 w 246"/>
                <a:gd name="T9" fmla="*/ 191 h 2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6" h="284">
                  <a:moveTo>
                    <a:pt x="246" y="191"/>
                  </a:moveTo>
                  <a:lnTo>
                    <a:pt x="0" y="284"/>
                  </a:lnTo>
                  <a:lnTo>
                    <a:pt x="0" y="93"/>
                  </a:lnTo>
                  <a:lnTo>
                    <a:pt x="246" y="0"/>
                  </a:lnTo>
                  <a:lnTo>
                    <a:pt x="246" y="191"/>
                  </a:lnTo>
                  <a:close/>
                </a:path>
              </a:pathLst>
            </a:custGeom>
            <a:solidFill>
              <a:srgbClr val="00B0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/>
            </a:p>
          </p:txBody>
        </p:sp>
        <p:sp>
          <p:nvSpPr>
            <p:cNvPr id="31" name="Freeform 439">
              <a:extLst>
                <a:ext uri="{FF2B5EF4-FFF2-40B4-BE49-F238E27FC236}">
                  <a16:creationId xmlns:a16="http://schemas.microsoft.com/office/drawing/2014/main" id="{FAA9FE2E-9C6C-FA33-6857-A52BF5C3F2AF}"/>
                </a:ext>
              </a:extLst>
            </p:cNvPr>
            <p:cNvSpPr>
              <a:spLocks/>
            </p:cNvSpPr>
            <p:nvPr/>
          </p:nvSpPr>
          <p:spPr bwMode="auto">
            <a:xfrm>
              <a:off x="1216026" y="5654675"/>
              <a:ext cx="290513" cy="450850"/>
            </a:xfrm>
            <a:custGeom>
              <a:avLst/>
              <a:gdLst>
                <a:gd name="T0" fmla="*/ 0 w 183"/>
                <a:gd name="T1" fmla="*/ 191 h 284"/>
                <a:gd name="T2" fmla="*/ 183 w 183"/>
                <a:gd name="T3" fmla="*/ 284 h 284"/>
                <a:gd name="T4" fmla="*/ 183 w 183"/>
                <a:gd name="T5" fmla="*/ 93 h 284"/>
                <a:gd name="T6" fmla="*/ 0 w 183"/>
                <a:gd name="T7" fmla="*/ 0 h 284"/>
                <a:gd name="T8" fmla="*/ 0 w 183"/>
                <a:gd name="T9" fmla="*/ 191 h 2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3" h="284">
                  <a:moveTo>
                    <a:pt x="0" y="191"/>
                  </a:moveTo>
                  <a:lnTo>
                    <a:pt x="183" y="284"/>
                  </a:lnTo>
                  <a:lnTo>
                    <a:pt x="183" y="93"/>
                  </a:lnTo>
                  <a:lnTo>
                    <a:pt x="0" y="0"/>
                  </a:lnTo>
                  <a:lnTo>
                    <a:pt x="0" y="191"/>
                  </a:lnTo>
                  <a:close/>
                </a:path>
              </a:pathLst>
            </a:custGeom>
            <a:solidFill>
              <a:srgbClr val="00B0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/>
            </a:p>
          </p:txBody>
        </p:sp>
        <p:sp>
          <p:nvSpPr>
            <p:cNvPr id="32" name="Freeform 440">
              <a:extLst>
                <a:ext uri="{FF2B5EF4-FFF2-40B4-BE49-F238E27FC236}">
                  <a16:creationId xmlns:a16="http://schemas.microsoft.com/office/drawing/2014/main" id="{3B45B777-9241-CB03-8FBB-810DCAE30AC3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7326" y="5681663"/>
              <a:ext cx="147638" cy="71438"/>
            </a:xfrm>
            <a:custGeom>
              <a:avLst/>
              <a:gdLst>
                <a:gd name="T0" fmla="*/ 39 w 39"/>
                <a:gd name="T1" fmla="*/ 0 h 19"/>
                <a:gd name="T2" fmla="*/ 39 w 39"/>
                <a:gd name="T3" fmla="*/ 12 h 19"/>
                <a:gd name="T4" fmla="*/ 20 w 39"/>
                <a:gd name="T5" fmla="*/ 19 h 19"/>
                <a:gd name="T6" fmla="*/ 0 w 39"/>
                <a:gd name="T7" fmla="*/ 12 h 19"/>
                <a:gd name="T8" fmla="*/ 0 w 39"/>
                <a:gd name="T9" fmla="*/ 0 h 19"/>
                <a:gd name="T10" fmla="*/ 20 w 39"/>
                <a:gd name="T11" fmla="*/ 6 h 19"/>
                <a:gd name="T12" fmla="*/ 39 w 39"/>
                <a:gd name="T13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" h="19">
                  <a:moveTo>
                    <a:pt x="39" y="0"/>
                  </a:moveTo>
                  <a:cubicBezTo>
                    <a:pt x="39" y="12"/>
                    <a:pt x="39" y="12"/>
                    <a:pt x="39" y="12"/>
                  </a:cubicBezTo>
                  <a:cubicBezTo>
                    <a:pt x="39" y="16"/>
                    <a:pt x="30" y="19"/>
                    <a:pt x="20" y="19"/>
                  </a:cubicBezTo>
                  <a:cubicBezTo>
                    <a:pt x="9" y="19"/>
                    <a:pt x="0" y="16"/>
                    <a:pt x="0" y="1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"/>
                    <a:pt x="9" y="6"/>
                    <a:pt x="20" y="6"/>
                  </a:cubicBezTo>
                  <a:cubicBezTo>
                    <a:pt x="30" y="6"/>
                    <a:pt x="39" y="3"/>
                    <a:pt x="39" y="0"/>
                  </a:cubicBezTo>
                  <a:close/>
                </a:path>
              </a:pathLst>
            </a:custGeom>
            <a:solidFill>
              <a:srgbClr val="00B0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E65D3322-D91C-E494-FB75-99FD0B8526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7326" y="5654675"/>
              <a:ext cx="147638" cy="49213"/>
            </a:xfrm>
            <a:prstGeom prst="ellipse">
              <a:avLst/>
            </a:prstGeom>
            <a:solidFill>
              <a:srgbClr val="00FE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/>
            </a:p>
          </p:txBody>
        </p:sp>
        <p:sp>
          <p:nvSpPr>
            <p:cNvPr id="34" name="Freeform 442">
              <a:extLst>
                <a:ext uri="{FF2B5EF4-FFF2-40B4-BE49-F238E27FC236}">
                  <a16:creationId xmlns:a16="http://schemas.microsoft.com/office/drawing/2014/main" id="{AD6FA6B5-BBCF-6EE4-A3DE-48B48ABC57C6}"/>
                </a:ext>
              </a:extLst>
            </p:cNvPr>
            <p:cNvSpPr>
              <a:spLocks/>
            </p:cNvSpPr>
            <p:nvPr/>
          </p:nvSpPr>
          <p:spPr bwMode="auto">
            <a:xfrm>
              <a:off x="1314451" y="5605463"/>
              <a:ext cx="142875" cy="76200"/>
            </a:xfrm>
            <a:custGeom>
              <a:avLst/>
              <a:gdLst>
                <a:gd name="T0" fmla="*/ 38 w 38"/>
                <a:gd name="T1" fmla="*/ 0 h 20"/>
                <a:gd name="T2" fmla="*/ 38 w 38"/>
                <a:gd name="T3" fmla="*/ 13 h 20"/>
                <a:gd name="T4" fmla="*/ 19 w 38"/>
                <a:gd name="T5" fmla="*/ 20 h 20"/>
                <a:gd name="T6" fmla="*/ 0 w 38"/>
                <a:gd name="T7" fmla="*/ 13 h 20"/>
                <a:gd name="T8" fmla="*/ 0 w 38"/>
                <a:gd name="T9" fmla="*/ 0 h 20"/>
                <a:gd name="T10" fmla="*/ 19 w 38"/>
                <a:gd name="T11" fmla="*/ 7 h 20"/>
                <a:gd name="T12" fmla="*/ 38 w 38"/>
                <a:gd name="T13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8" h="20">
                  <a:moveTo>
                    <a:pt x="38" y="0"/>
                  </a:moveTo>
                  <a:cubicBezTo>
                    <a:pt x="38" y="13"/>
                    <a:pt x="38" y="13"/>
                    <a:pt x="38" y="13"/>
                  </a:cubicBezTo>
                  <a:cubicBezTo>
                    <a:pt x="38" y="17"/>
                    <a:pt x="30" y="20"/>
                    <a:pt x="19" y="20"/>
                  </a:cubicBezTo>
                  <a:cubicBezTo>
                    <a:pt x="9" y="20"/>
                    <a:pt x="0" y="17"/>
                    <a:pt x="0" y="1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4"/>
                    <a:pt x="9" y="7"/>
                    <a:pt x="19" y="7"/>
                  </a:cubicBezTo>
                  <a:cubicBezTo>
                    <a:pt x="30" y="7"/>
                    <a:pt x="38" y="4"/>
                    <a:pt x="38" y="0"/>
                  </a:cubicBezTo>
                  <a:close/>
                </a:path>
              </a:pathLst>
            </a:custGeom>
            <a:solidFill>
              <a:srgbClr val="00B0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612DC49C-D881-A90E-E2E3-10631E3F0E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14451" y="5583238"/>
              <a:ext cx="142875" cy="49213"/>
            </a:xfrm>
            <a:prstGeom prst="ellipse">
              <a:avLst/>
            </a:prstGeom>
            <a:solidFill>
              <a:srgbClr val="00FE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/>
            </a:p>
          </p:txBody>
        </p:sp>
        <p:sp>
          <p:nvSpPr>
            <p:cNvPr id="36" name="Freeform 444">
              <a:extLst>
                <a:ext uri="{FF2B5EF4-FFF2-40B4-BE49-F238E27FC236}">
                  <a16:creationId xmlns:a16="http://schemas.microsoft.com/office/drawing/2014/main" id="{88089049-D478-B86B-1262-C041F816912C}"/>
                </a:ext>
              </a:extLst>
            </p:cNvPr>
            <p:cNvSpPr>
              <a:spLocks/>
            </p:cNvSpPr>
            <p:nvPr/>
          </p:nvSpPr>
          <p:spPr bwMode="auto">
            <a:xfrm>
              <a:off x="1506538" y="5534025"/>
              <a:ext cx="147638" cy="71438"/>
            </a:xfrm>
            <a:custGeom>
              <a:avLst/>
              <a:gdLst>
                <a:gd name="T0" fmla="*/ 39 w 39"/>
                <a:gd name="T1" fmla="*/ 0 h 19"/>
                <a:gd name="T2" fmla="*/ 39 w 39"/>
                <a:gd name="T3" fmla="*/ 13 h 19"/>
                <a:gd name="T4" fmla="*/ 19 w 39"/>
                <a:gd name="T5" fmla="*/ 19 h 19"/>
                <a:gd name="T6" fmla="*/ 0 w 39"/>
                <a:gd name="T7" fmla="*/ 13 h 19"/>
                <a:gd name="T8" fmla="*/ 0 w 39"/>
                <a:gd name="T9" fmla="*/ 0 h 19"/>
                <a:gd name="T10" fmla="*/ 19 w 39"/>
                <a:gd name="T11" fmla="*/ 7 h 19"/>
                <a:gd name="T12" fmla="*/ 39 w 39"/>
                <a:gd name="T13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" h="19">
                  <a:moveTo>
                    <a:pt x="39" y="0"/>
                  </a:moveTo>
                  <a:cubicBezTo>
                    <a:pt x="39" y="13"/>
                    <a:pt x="39" y="13"/>
                    <a:pt x="39" y="13"/>
                  </a:cubicBezTo>
                  <a:cubicBezTo>
                    <a:pt x="39" y="17"/>
                    <a:pt x="30" y="19"/>
                    <a:pt x="19" y="19"/>
                  </a:cubicBezTo>
                  <a:cubicBezTo>
                    <a:pt x="9" y="19"/>
                    <a:pt x="0" y="17"/>
                    <a:pt x="0" y="1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4"/>
                    <a:pt x="9" y="7"/>
                    <a:pt x="19" y="7"/>
                  </a:cubicBezTo>
                  <a:cubicBezTo>
                    <a:pt x="30" y="7"/>
                    <a:pt x="39" y="4"/>
                    <a:pt x="39" y="0"/>
                  </a:cubicBezTo>
                  <a:close/>
                </a:path>
              </a:pathLst>
            </a:custGeom>
            <a:solidFill>
              <a:srgbClr val="00B0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DB58B299-3084-6A3E-2EF7-BA38564F41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6538" y="5511800"/>
              <a:ext cx="147638" cy="49213"/>
            </a:xfrm>
            <a:prstGeom prst="ellipse">
              <a:avLst/>
            </a:prstGeom>
            <a:solidFill>
              <a:srgbClr val="00FE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/>
            </a:p>
          </p:txBody>
        </p:sp>
        <p:sp>
          <p:nvSpPr>
            <p:cNvPr id="38" name="Freeform 446">
              <a:extLst>
                <a:ext uri="{FF2B5EF4-FFF2-40B4-BE49-F238E27FC236}">
                  <a16:creationId xmlns:a16="http://schemas.microsoft.com/office/drawing/2014/main" id="{154AE807-A4A8-B20D-4DD0-5847205CF066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4176" y="5605463"/>
              <a:ext cx="144463" cy="76200"/>
            </a:xfrm>
            <a:custGeom>
              <a:avLst/>
              <a:gdLst>
                <a:gd name="T0" fmla="*/ 38 w 38"/>
                <a:gd name="T1" fmla="*/ 0 h 20"/>
                <a:gd name="T2" fmla="*/ 38 w 38"/>
                <a:gd name="T3" fmla="*/ 13 h 20"/>
                <a:gd name="T4" fmla="*/ 19 w 38"/>
                <a:gd name="T5" fmla="*/ 20 h 20"/>
                <a:gd name="T6" fmla="*/ 0 w 38"/>
                <a:gd name="T7" fmla="*/ 13 h 20"/>
                <a:gd name="T8" fmla="*/ 0 w 38"/>
                <a:gd name="T9" fmla="*/ 0 h 20"/>
                <a:gd name="T10" fmla="*/ 19 w 38"/>
                <a:gd name="T11" fmla="*/ 7 h 20"/>
                <a:gd name="T12" fmla="*/ 38 w 38"/>
                <a:gd name="T13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8" h="20">
                  <a:moveTo>
                    <a:pt x="38" y="0"/>
                  </a:moveTo>
                  <a:cubicBezTo>
                    <a:pt x="38" y="13"/>
                    <a:pt x="38" y="13"/>
                    <a:pt x="38" y="13"/>
                  </a:cubicBezTo>
                  <a:cubicBezTo>
                    <a:pt x="38" y="17"/>
                    <a:pt x="29" y="20"/>
                    <a:pt x="19" y="20"/>
                  </a:cubicBezTo>
                  <a:cubicBezTo>
                    <a:pt x="8" y="20"/>
                    <a:pt x="0" y="17"/>
                    <a:pt x="0" y="1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4"/>
                    <a:pt x="8" y="7"/>
                    <a:pt x="19" y="7"/>
                  </a:cubicBezTo>
                  <a:cubicBezTo>
                    <a:pt x="29" y="7"/>
                    <a:pt x="38" y="4"/>
                    <a:pt x="38" y="0"/>
                  </a:cubicBezTo>
                  <a:close/>
                </a:path>
              </a:pathLst>
            </a:custGeom>
            <a:solidFill>
              <a:srgbClr val="00B0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4CF50774-CCF9-474F-3C19-78283534FE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54176" y="5583238"/>
              <a:ext cx="144463" cy="49213"/>
            </a:xfrm>
            <a:prstGeom prst="ellipse">
              <a:avLst/>
            </a:prstGeom>
            <a:solidFill>
              <a:srgbClr val="00FE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/>
            </a:p>
          </p:txBody>
        </p:sp>
      </p:grpSp>
      <p:pic>
        <p:nvPicPr>
          <p:cNvPr id="22" name="Picture 21">
            <a:extLst>
              <a:ext uri="{FF2B5EF4-FFF2-40B4-BE49-F238E27FC236}">
                <a16:creationId xmlns:a16="http://schemas.microsoft.com/office/drawing/2014/main" id="{B6D9EA96-8030-BE35-014F-E21F01C3E6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299925" y="1785558"/>
            <a:ext cx="3119481" cy="3978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2" descr="A white robot with a black background&#10;&#10;Description automatically generated">
            <a:extLst>
              <a:ext uri="{FF2B5EF4-FFF2-40B4-BE49-F238E27FC236}">
                <a16:creationId xmlns:a16="http://schemas.microsoft.com/office/drawing/2014/main" id="{ABC874AF-C309-9169-BADB-7779E350E5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6974" y="2622001"/>
            <a:ext cx="3518873" cy="3518873"/>
          </a:xfrm>
          <a:prstGeom prst="rect">
            <a:avLst/>
          </a:prstGeom>
        </p:spPr>
      </p:pic>
      <p:pic>
        <p:nvPicPr>
          <p:cNvPr id="24" name="Picture 23" descr="A pink toy block on a black background">
            <a:extLst>
              <a:ext uri="{FF2B5EF4-FFF2-40B4-BE49-F238E27FC236}">
                <a16:creationId xmlns:a16="http://schemas.microsoft.com/office/drawing/2014/main" id="{D3E8ACFC-39BF-82AD-5CF9-53F693853A5B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5822" y="4555656"/>
            <a:ext cx="1565833" cy="1565833"/>
          </a:xfrm>
          <a:prstGeom prst="rect">
            <a:avLst/>
          </a:prstGeom>
        </p:spPr>
      </p:pic>
      <p:pic>
        <p:nvPicPr>
          <p:cNvPr id="25" name="Picture 24" descr="A blue and green lego logo&#10;&#10;Description automatically generated">
            <a:extLst>
              <a:ext uri="{FF2B5EF4-FFF2-40B4-BE49-F238E27FC236}">
                <a16:creationId xmlns:a16="http://schemas.microsoft.com/office/drawing/2014/main" id="{A837BA5A-565C-866F-0680-011567EF6618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9798" y="4775208"/>
            <a:ext cx="1346281" cy="1346281"/>
          </a:xfrm>
          <a:prstGeom prst="rect">
            <a:avLst/>
          </a:prstGeom>
        </p:spPr>
      </p:pic>
      <p:pic>
        <p:nvPicPr>
          <p:cNvPr id="26" name="Picture 25" descr="A blue and blue lego&#10;&#10;Description automatically generated">
            <a:extLst>
              <a:ext uri="{FF2B5EF4-FFF2-40B4-BE49-F238E27FC236}">
                <a16:creationId xmlns:a16="http://schemas.microsoft.com/office/drawing/2014/main" id="{F5E2A0D1-04E5-3D5B-5CFE-A9EE8DBFDFD0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41497" y="4833906"/>
            <a:ext cx="1196293" cy="1196293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19D8D173-808F-CE6A-9E64-CF61BC623B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52320" y="6140874"/>
            <a:ext cx="501650" cy="501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Title 1">
            <a:extLst>
              <a:ext uri="{FF2B5EF4-FFF2-40B4-BE49-F238E27FC236}">
                <a16:creationId xmlns:a16="http://schemas.microsoft.com/office/drawing/2014/main" id="{73067FCD-C8FE-B7C1-5065-3649EE219AF4}"/>
              </a:ext>
            </a:extLst>
          </p:cNvPr>
          <p:cNvSpPr txBox="1">
            <a:spLocks/>
          </p:cNvSpPr>
          <p:nvPr/>
        </p:nvSpPr>
        <p:spPr>
          <a:xfrm>
            <a:off x="141998" y="722581"/>
            <a:ext cx="10515600" cy="1325563"/>
          </a:xfrm>
          <a:prstGeom prst="rect">
            <a:avLst/>
          </a:prstGeom>
        </p:spPr>
        <p:txBody>
          <a:bodyPr vert="horz" lIns="0" tIns="45720" rIns="0" bIns="45720" rtlCol="0" anchor="ctr">
            <a:normAutofit/>
          </a:bodyPr>
          <a:lstStyle>
            <a:defPPr>
              <a:defRPr lang="en-US"/>
            </a:defPPr>
            <a:lvl1pPr marL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0" kern="1200">
                <a:solidFill>
                  <a:srgbClr val="9C3C9A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a-DK" dirty="0">
                <a:solidFill>
                  <a:srgbClr val="1E275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Security Considerations</a:t>
            </a:r>
            <a:endParaRPr lang="en-US" dirty="0">
              <a:solidFill>
                <a:srgbClr val="1E275C"/>
              </a:solidFill>
            </a:endParaRPr>
          </a:p>
        </p:txBody>
      </p:sp>
      <p:sp>
        <p:nvSpPr>
          <p:cNvPr id="70" name="Title 1">
            <a:extLst>
              <a:ext uri="{FF2B5EF4-FFF2-40B4-BE49-F238E27FC236}">
                <a16:creationId xmlns:a16="http://schemas.microsoft.com/office/drawing/2014/main" id="{A63F7FE6-0399-CBAD-1242-4E83501BFC6D}"/>
              </a:ext>
            </a:extLst>
          </p:cNvPr>
          <p:cNvSpPr txBox="1">
            <a:spLocks/>
          </p:cNvSpPr>
          <p:nvPr/>
        </p:nvSpPr>
        <p:spPr>
          <a:xfrm>
            <a:off x="368769" y="5862104"/>
            <a:ext cx="4360159" cy="41309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en-US" sz="1400" dirty="0">
                <a:solidFill>
                  <a:srgbClr val="494D6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*R2D2 is not to scale.  </a:t>
            </a:r>
          </a:p>
        </p:txBody>
      </p:sp>
    </p:spTree>
    <p:extLst>
      <p:ext uri="{BB962C8B-B14F-4D97-AF65-F5344CB8AC3E}">
        <p14:creationId xmlns:p14="http://schemas.microsoft.com/office/powerpoint/2010/main" val="40131701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83BC4C-052E-78F5-CCEB-394EA620F5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F4C9103-BA5A-BFA1-5BA5-8A4159316BE8}"/>
              </a:ext>
            </a:extLst>
          </p:cNvPr>
          <p:cNvSpPr>
            <a:spLocks noGrp="1"/>
          </p:cNvSpPr>
          <p:nvPr/>
        </p:nvSpPr>
        <p:spPr>
          <a:xfrm>
            <a:off x="319395" y="1310356"/>
            <a:ext cx="11381889" cy="44023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>
                <a:hlinkClick r:id="rId2"/>
              </a:rPr>
              <a:t>https://azureintegrations.com/</a:t>
            </a:r>
            <a:endParaRPr lang="en-GB"/>
          </a:p>
          <a:p>
            <a:r>
              <a:rPr lang="en-GB">
                <a:hlinkClick r:id="rId3"/>
              </a:rPr>
              <a:t>https://www.atomicax.com/content/odata-experiment-deep-dive-odata-and-how-use-it</a:t>
            </a:r>
            <a:endParaRPr lang="en-GB"/>
          </a:p>
          <a:p>
            <a:r>
              <a:rPr lang="en-GB">
                <a:hlinkClick r:id="rId4"/>
              </a:rPr>
              <a:t>https://dynamics365musings.com/</a:t>
            </a:r>
            <a:endParaRPr lang="en-GB"/>
          </a:p>
          <a:p>
            <a:r>
              <a:rPr lang="en-GB">
                <a:hlinkClick r:id="rId5"/>
              </a:rPr>
              <a:t>https://learn.microsoft.com/en-us/dynamics365/fin-ops-core/dev-itpro/data-entities/priority-based-throttling</a:t>
            </a:r>
            <a:endParaRPr lang="en-GB"/>
          </a:p>
          <a:p>
            <a:r>
              <a:rPr lang="en-GB">
                <a:hlinkClick r:id="rId6"/>
              </a:rPr>
              <a:t>https://community.dynamics.com/blogs/post/?postid=58b34404-f895-4a1e-abfa-50532847a1d8</a:t>
            </a:r>
            <a:endParaRPr lang="en-GB"/>
          </a:p>
          <a:p>
            <a:endParaRPr lang="en-GB"/>
          </a:p>
          <a:p>
            <a:endParaRPr lang="en-GB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ACA68E1-7AF6-830F-F6AF-38E13274C65B}"/>
              </a:ext>
            </a:extLst>
          </p:cNvPr>
          <p:cNvSpPr>
            <a:spLocks noGrp="1"/>
          </p:cNvSpPr>
          <p:nvPr/>
        </p:nvSpPr>
        <p:spPr>
          <a:xfrm>
            <a:off x="319396" y="320155"/>
            <a:ext cx="11381889" cy="8800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>
                <a:solidFill>
                  <a:srgbClr val="9C3C9A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 sz="4400" b="1">
                <a:latin typeface="Segoe UI" panose="020B0502040204020203" pitchFamily="34" charset="0"/>
                <a:ea typeface="Source Sans Pro Black" panose="020B0803030403020204" pitchFamily="34" charset="0"/>
                <a:cs typeface="Segoe UI" panose="020B0502040204020203" pitchFamily="34" charset="0"/>
              </a:rPr>
              <a:t>References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3430A9-3043-5746-3880-E2474484EF1E}"/>
              </a:ext>
            </a:extLst>
          </p:cNvPr>
          <p:cNvSpPr>
            <a:spLocks noGrp="1"/>
          </p:cNvSpPr>
          <p:nvPr/>
        </p:nvSpPr>
        <p:spPr>
          <a:xfrm>
            <a:off x="11785293" y="6309246"/>
            <a:ext cx="3317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D05A9CD-9176-4D89-A414-3BEEE81BBC77}" type="slidenum">
              <a:rPr lang="en-US" smtClean="0"/>
              <a:pPr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0931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D7220C-703E-1810-7B26-49256FB063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19B2C5-0CE3-847F-36D6-35CD1ABA53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5A9CD-9176-4D89-A414-3BEEE81BBC77}" type="slidenum">
              <a:rPr lang="en-US" smtClean="0"/>
              <a:pPr/>
              <a:t>45</a:t>
            </a:fld>
            <a:endParaRPr lang="en-US"/>
          </a:p>
        </p:txBody>
      </p:sp>
      <p:pic>
        <p:nvPicPr>
          <p:cNvPr id="1026" name="Picture 2" descr="Review: Turbo Overkill – Destructoid">
            <a:extLst>
              <a:ext uri="{FF2B5EF4-FFF2-40B4-BE49-F238E27FC236}">
                <a16:creationId xmlns:a16="http://schemas.microsoft.com/office/drawing/2014/main" id="{2832DCA7-B116-3F56-5020-C77A1DAF34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68404" y="-150561"/>
            <a:ext cx="13656160" cy="76815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BA3A267B-6F56-C0B2-C041-2BBFD0A1387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2936875"/>
            <a:ext cx="10723563" cy="1352550"/>
          </a:xfrm>
        </p:spPr>
        <p:txBody>
          <a:bodyPr>
            <a:normAutofit/>
          </a:bodyPr>
          <a:lstStyle/>
          <a:p>
            <a:r>
              <a:rPr lang="en-US" sz="8159" spc="0" dirty="0">
                <a:ln>
                  <a:noFill/>
                </a:ln>
                <a:solidFill>
                  <a:schemeClr val="bg1"/>
                </a:solidFill>
                <a:latin typeface="Segoe UI" panose="020B0502040204020203" pitchFamily="34" charset="0"/>
                <a:ea typeface="Source Sans Pro Black" panose="020B0803030403020204" pitchFamily="34" charset="0"/>
              </a:rPr>
              <a:t>Questions?</a:t>
            </a:r>
            <a:endParaRPr lang="en-US" sz="8159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985204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8D9A06B-A7F5-52E7-2851-B6239ABD2A63}"/>
              </a:ext>
            </a:extLst>
          </p:cNvPr>
          <p:cNvSpPr txBox="1"/>
          <p:nvPr/>
        </p:nvSpPr>
        <p:spPr>
          <a:xfrm>
            <a:off x="5879207" y="1925392"/>
            <a:ext cx="4752304" cy="2539157"/>
          </a:xfrm>
          <a:prstGeom prst="rect">
            <a:avLst/>
          </a:prstGeom>
          <a:noFill/>
        </p:spPr>
        <p:txBody>
          <a:bodyPr wrap="square" lIns="182880" tIns="146304" rIns="182880" bIns="146304" rtlCol="0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5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Fill out surveys in Whova App!</a:t>
            </a:r>
          </a:p>
        </p:txBody>
      </p:sp>
    </p:spTree>
    <p:extLst>
      <p:ext uri="{BB962C8B-B14F-4D97-AF65-F5344CB8AC3E}">
        <p14:creationId xmlns:p14="http://schemas.microsoft.com/office/powerpoint/2010/main" val="2470937028"/>
      </p:ext>
    </p:extLst>
  </p:cSld>
  <p:clrMapOvr>
    <a:masterClrMapping/>
  </p:clrMapOvr>
  <p:transition spd="med"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02C7D1-5CAB-3231-D9EB-D98E820F10FC}"/>
              </a:ext>
            </a:extLst>
          </p:cNvPr>
          <p:cNvSpPr/>
          <p:nvPr/>
        </p:nvSpPr>
        <p:spPr bwMode="auto">
          <a:xfrm>
            <a:off x="0" y="0"/>
            <a:ext cx="12436475" cy="6994525"/>
          </a:xfrm>
          <a:prstGeom prst="rect">
            <a:avLst/>
          </a:prstGeom>
          <a:solidFill>
            <a:schemeClr val="accent2">
              <a:alpha val="62316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4" name="Text Box 3">
            <a:extLst>
              <a:ext uri="{FF2B5EF4-FFF2-40B4-BE49-F238E27FC236}">
                <a16:creationId xmlns:a16="http://schemas.microsoft.com/office/drawing/2014/main" id="{42712E4A-C4AB-5C53-E90C-010686EB0BDF}"/>
              </a:ext>
            </a:extLst>
          </p:cNvPr>
          <p:cNvSpPr txBox="1">
            <a:spLocks noChangeArrowheads="1"/>
          </p:cNvSpPr>
          <p:nvPr/>
        </p:nvSpPr>
        <p:spPr bwMode="blackWhite">
          <a:xfrm>
            <a:off x="274637" y="6469062"/>
            <a:ext cx="11887199" cy="40318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182880" tIns="146304" rIns="182880" bIns="146304" numCol="1" anchor="t" anchorCtr="0" compatLnSpc="1">
            <a:prstTxWarp prst="textNoShape">
              <a:avLst/>
            </a:prstTxWarp>
            <a:spAutoFit/>
          </a:bodyPr>
          <a:lstStyle/>
          <a:p>
            <a:pPr algn="r" defTabSz="932290" eaLnBrk="0" hangingPunct="0"/>
            <a:r>
              <a:rPr lang="en-US" sz="7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anose="020B0502040204020203" pitchFamily="34" charset="0"/>
                <a:cs typeface="Segoe UI" panose="020B0502040204020203" pitchFamily="34" charset="0"/>
              </a:rPr>
              <a:t>© 2025 Dynamic Communities. All rights reserved.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3CBF911-2A9C-2643-6C42-D2B79AB682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1674" y="2143331"/>
            <a:ext cx="8173126" cy="18923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7B8C8DA-E0EC-DDB1-8F81-26819E054EA0}"/>
              </a:ext>
            </a:extLst>
          </p:cNvPr>
          <p:cNvSpPr txBox="1"/>
          <p:nvPr/>
        </p:nvSpPr>
        <p:spPr>
          <a:xfrm>
            <a:off x="3680923" y="3928051"/>
            <a:ext cx="7638386" cy="821763"/>
          </a:xfrm>
          <a:prstGeom prst="rect">
            <a:avLst/>
          </a:prstGeom>
          <a:noFill/>
        </p:spPr>
        <p:txBody>
          <a:bodyPr wrap="square" lIns="182880" tIns="146304" rIns="182880" bIns="146304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3800" dirty="0">
                <a:latin typeface="segoe ui black"/>
                <a:ea typeface="segoe ui black"/>
                <a:cs typeface="Poppins SemiBold"/>
              </a:rPr>
              <a:t>FINANCE &amp; SUPPLY CHAIN/F&amp;O</a:t>
            </a:r>
          </a:p>
        </p:txBody>
      </p:sp>
    </p:spTree>
    <p:extLst>
      <p:ext uri="{BB962C8B-B14F-4D97-AF65-F5344CB8AC3E}">
        <p14:creationId xmlns:p14="http://schemas.microsoft.com/office/powerpoint/2010/main" val="883187606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LEgy2WGaKMRMxuq9KCAgQ"/>
</p:tagLst>
</file>

<file path=ppt/theme/theme1.xml><?xml version="1.0" encoding="utf-8"?>
<a:theme xmlns:a="http://schemas.openxmlformats.org/drawingml/2006/main" name="primary with bullets">
  <a:themeElements>
    <a:clrScheme name="Custom 6">
      <a:dk1>
        <a:srgbClr val="3F454F"/>
      </a:dk1>
      <a:lt1>
        <a:srgbClr val="FFFFFF"/>
      </a:lt1>
      <a:dk2>
        <a:srgbClr val="84BD00"/>
      </a:dk2>
      <a:lt2>
        <a:srgbClr val="EAEAEA"/>
      </a:lt2>
      <a:accent1>
        <a:srgbClr val="0095C8"/>
      </a:accent1>
      <a:accent2>
        <a:srgbClr val="001E60"/>
      </a:accent2>
      <a:accent3>
        <a:srgbClr val="E4002B"/>
      </a:accent3>
      <a:accent4>
        <a:srgbClr val="FFB81C"/>
      </a:accent4>
      <a:accent5>
        <a:srgbClr val="3D1B52"/>
      </a:accent5>
      <a:accent6>
        <a:srgbClr val="F2C818"/>
      </a:accent6>
      <a:hlink>
        <a:srgbClr val="0095C8"/>
      </a:hlink>
      <a:folHlink>
        <a:srgbClr val="84BD00"/>
      </a:folHlink>
    </a:clrScheme>
    <a:fontScheme name="Custom 6">
      <a:majorFont>
        <a:latin typeface="segoe ui black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defTabSz="932472" fontAlgn="base">
          <a:lnSpc>
            <a:spcPct val="90000"/>
          </a:lnSpc>
          <a:spcBef>
            <a:spcPct val="0"/>
          </a:spcBef>
          <a:spcAft>
            <a:spcPct val="0"/>
          </a:spcAft>
          <a:defRPr sz="2400" dirty="0" err="1" smtClean="0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182880" tIns="146304" rIns="182880" bIns="146304" rtlCol="0">
        <a:spAutoFit/>
      </a:bodyPr>
      <a:lstStyle>
        <a:defPPr>
          <a:lnSpc>
            <a:spcPct val="90000"/>
          </a:lnSpc>
          <a:spcAft>
            <a:spcPts val="600"/>
          </a:spcAft>
          <a:defRPr sz="2400" dirty="0" err="1" smtClean="0">
            <a:gradFill>
              <a:gsLst>
                <a:gs pos="2917">
                  <a:schemeClr val="tx1"/>
                </a:gs>
                <a:gs pos="30000">
                  <a:schemeClr val="tx1"/>
                </a:gs>
              </a:gsLst>
              <a:lin ang="5400000" scaled="0"/>
            </a:gra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BCUG-NAVUG Summit 2018 speaker template.pptx" id="{E4180D32-CB38-412B-90E4-C6A367F14268}" vid="{5ABA93EF-FCBD-4FE3-891E-C6F4305AB830}"/>
    </a:ext>
  </a:extLst>
</a:theme>
</file>

<file path=ppt/theme/theme2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1f9c791-4e7e-42f3-b110-f2d048dfe1f4">
      <Terms xmlns="http://schemas.microsoft.com/office/infopath/2007/PartnerControls"/>
    </lcf76f155ced4ddcb4097134ff3c332f>
    <TaxCatchAll xmlns="c32e8f56-b4af-4143-8a45-c6aec7ec7059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BA75DAF83DD3048B0119C871633221C" ma:contentTypeVersion="12" ma:contentTypeDescription="Create a new document." ma:contentTypeScope="" ma:versionID="104080db1cd04971f2b37a5aa1a8aa92">
  <xsd:schema xmlns:xsd="http://www.w3.org/2001/XMLSchema" xmlns:xs="http://www.w3.org/2001/XMLSchema" xmlns:p="http://schemas.microsoft.com/office/2006/metadata/properties" xmlns:ns2="81f9c791-4e7e-42f3-b110-f2d048dfe1f4" xmlns:ns3="c32e8f56-b4af-4143-8a45-c6aec7ec7059" targetNamespace="http://schemas.microsoft.com/office/2006/metadata/properties" ma:root="true" ma:fieldsID="71f16d0d2125ff20b7d31cc6d8c34b62" ns2:_="" ns3:_="">
    <xsd:import namespace="81f9c791-4e7e-42f3-b110-f2d048dfe1f4"/>
    <xsd:import namespace="c32e8f56-b4af-4143-8a45-c6aec7ec705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f9c791-4e7e-42f3-b110-f2d048dfe1f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f3fc197d-f5e7-4c43-938a-9929e935775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32e8f56-b4af-4143-8a45-c6aec7ec7059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4" nillable="true" ma:displayName="Taxonomy Catch All Column" ma:hidden="true" ma:list="{b5e555c1-6094-442e-ab48-ec10f99c704e}" ma:internalName="TaxCatchAll" ma:showField="CatchAllData" ma:web="c32e8f56-b4af-4143-8a45-c6aec7ec705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990F116-B58F-4255-B05B-DA3808E0E5C6}">
  <ds:schemaRefs>
    <ds:schemaRef ds:uri="http://schemas.microsoft.com/office/infopath/2007/PartnerControls"/>
    <ds:schemaRef ds:uri="http://schemas.microsoft.com/office/2006/documentManagement/types"/>
    <ds:schemaRef ds:uri="http://purl.org/dc/dcmitype/"/>
    <ds:schemaRef ds:uri="http://schemas.microsoft.com/office/2006/metadata/properties"/>
    <ds:schemaRef ds:uri="c32e8f56-b4af-4143-8a45-c6aec7ec7059"/>
    <ds:schemaRef ds:uri="http://www.w3.org/XML/1998/namespace"/>
    <ds:schemaRef ds:uri="http://purl.org/dc/terms/"/>
    <ds:schemaRef ds:uri="http://schemas.openxmlformats.org/package/2006/metadata/core-properties"/>
    <ds:schemaRef ds:uri="81f9c791-4e7e-42f3-b110-f2d048dfe1f4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758FDAC0-319D-4A54-8D8E-1D42CB1F800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8176F29-AA73-49E7-B07D-8216969C77E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1f9c791-4e7e-42f3-b110-f2d048dfe1f4"/>
    <ds:schemaRef ds:uri="c32e8f56-b4af-4143-8a45-c6aec7ec705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243</TotalTime>
  <Words>1605</Words>
  <Application>Microsoft Office PowerPoint</Application>
  <PresentationFormat>Custom</PresentationFormat>
  <Paragraphs>239</Paragraphs>
  <Slides>47</Slides>
  <Notes>0</Notes>
  <HiddenSlides>4</HiddenSlides>
  <MMClips>0</MMClips>
  <ScaleCrop>false</ScaleCrop>
  <HeadingPairs>
    <vt:vector size="8" baseType="variant">
      <vt:variant>
        <vt:lpstr>Fonts Used</vt:lpstr>
      </vt:variant>
      <vt:variant>
        <vt:i4>13</vt:i4>
      </vt:variant>
      <vt:variant>
        <vt:lpstr>Theme</vt:lpstr>
      </vt:variant>
      <vt:variant>
        <vt:i4>3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64" baseType="lpstr">
      <vt:lpstr>Arial</vt:lpstr>
      <vt:lpstr>Calibri</vt:lpstr>
      <vt:lpstr>Calibri Light</vt:lpstr>
      <vt:lpstr>Lucida Sans Unicode</vt:lpstr>
      <vt:lpstr>open sans</vt:lpstr>
      <vt:lpstr>Poppins</vt:lpstr>
      <vt:lpstr>Poppins SemiBold</vt:lpstr>
      <vt:lpstr>Segoe</vt:lpstr>
      <vt:lpstr>segoe ui</vt:lpstr>
      <vt:lpstr>segoe ui</vt:lpstr>
      <vt:lpstr>segoe ui black</vt:lpstr>
      <vt:lpstr>Verdana</vt:lpstr>
      <vt:lpstr>Wingdings</vt:lpstr>
      <vt:lpstr>primary with bullets</vt:lpstr>
      <vt:lpstr>1_Custom Design</vt:lpstr>
      <vt:lpstr>Custom Design</vt:lpstr>
      <vt:lpstr>think-cell Slide</vt:lpstr>
      <vt:lpstr>PowerPoint Presentation</vt:lpstr>
      <vt:lpstr>PowerPoint Presentation</vt:lpstr>
      <vt:lpstr>Integration Overkill: Turbocharging Dynamics F&amp;O with Unstoppable Patterns (IOTDF&amp;OWUP)</vt:lpstr>
      <vt:lpstr>PowerPoint Presentation</vt:lpstr>
      <vt:lpstr>Session Agenda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Questions?</vt:lpstr>
      <vt:lpstr>PowerPoint Presentation</vt:lpstr>
      <vt:lpstr>PowerPoint Presentation</vt:lpstr>
    </vt:vector>
  </TitlesOfParts>
  <Manager/>
  <Company>Dynamic Communities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About this Template</dc:title>
  <dc:subject>Cross UG Summit 2017</dc:subject>
  <dc:creator>Ty Hagerott</dc:creator>
  <cp:keywords>Dynamic Communities</cp:keywords>
  <dc:description>Template: Mitchell Derrey; Silver Fox Productions_x000d_
Formatting: _x000d_
Audience Type:</dc:description>
  <cp:lastModifiedBy>Nathan Clouse</cp:lastModifiedBy>
  <cp:revision>26</cp:revision>
  <dcterms:created xsi:type="dcterms:W3CDTF">2018-06-21T13:40:22Z</dcterms:created>
  <dcterms:modified xsi:type="dcterms:W3CDTF">2025-10-22T11:29:22Z</dcterms:modified>
  <cp:category>Dynamic Communities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0x010100BBA75DAF83DD3048B0119C871633221C</vt:lpwstr>
  </property>
  <property fmtid="{D5CDD505-2E9C-101B-9397-08002B2CF9AE}" pid="3" name="Product">
    <vt:lpwstr/>
  </property>
  <property fmtid="{D5CDD505-2E9C-101B-9397-08002B2CF9AE}" pid="4" name="Event1">
    <vt:lpwstr>622;#Unassigned|2c8af875-f38a-40b8-a0a9-056aed3fc8c0</vt:lpwstr>
  </property>
  <property fmtid="{D5CDD505-2E9C-101B-9397-08002B2CF9AE}" pid="5" name="Audience">
    <vt:lpwstr/>
  </property>
  <property fmtid="{D5CDD505-2E9C-101B-9397-08002B2CF9AE}" pid="6" name="Event Venue">
    <vt:lpwstr/>
  </property>
  <property fmtid="{D5CDD505-2E9C-101B-9397-08002B2CF9AE}" pid="7" name="Track">
    <vt:lpwstr/>
  </property>
  <property fmtid="{D5CDD505-2E9C-101B-9397-08002B2CF9AE}" pid="8" name="Event Location">
    <vt:lpwstr/>
  </property>
  <property fmtid="{D5CDD505-2E9C-101B-9397-08002B2CF9AE}" pid="9" name="Campaign">
    <vt:lpwstr/>
  </property>
  <property fmtid="{D5CDD505-2E9C-101B-9397-08002B2CF9AE}" pid="10" name="IsMyDocuments">
    <vt:bool>true</vt:bool>
  </property>
  <property fmtid="{D5CDD505-2E9C-101B-9397-08002B2CF9AE}" pid="11" name="MediaServiceImageTags">
    <vt:lpwstr/>
  </property>
</Properties>
</file>