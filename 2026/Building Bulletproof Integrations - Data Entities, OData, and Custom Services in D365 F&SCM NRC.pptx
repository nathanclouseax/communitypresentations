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0"/>
  </p:notesMasterIdLst>
  <p:sldIdLst>
    <p:sldId id="256" r:id="rId5"/>
    <p:sldId id="257" r:id="rId6"/>
    <p:sldId id="303" r:id="rId7"/>
    <p:sldId id="258" r:id="rId8"/>
    <p:sldId id="259" r:id="rId9"/>
    <p:sldId id="260" r:id="rId10"/>
    <p:sldId id="261" r:id="rId11"/>
    <p:sldId id="262" r:id="rId12"/>
    <p:sldId id="297" r:id="rId13"/>
    <p:sldId id="298" r:id="rId14"/>
    <p:sldId id="299" r:id="rId15"/>
    <p:sldId id="263" r:id="rId16"/>
    <p:sldId id="264" r:id="rId17"/>
    <p:sldId id="300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301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9" r:id="rId38"/>
    <p:sldId id="290" r:id="rId39"/>
    <p:sldId id="292" r:id="rId40"/>
    <p:sldId id="293" r:id="rId41"/>
    <p:sldId id="294" r:id="rId42"/>
    <p:sldId id="295" r:id="rId43"/>
    <p:sldId id="296" r:id="rId44"/>
    <p:sldId id="291" r:id="rId45"/>
    <p:sldId id="283" r:id="rId46"/>
    <p:sldId id="284" r:id="rId47"/>
    <p:sldId id="285" r:id="rId48"/>
    <p:sldId id="302" r:id="rId49"/>
  </p:sldIdLst>
  <p:sldSz cx="12192000" cy="6858000"/>
  <p:notesSz cx="6858000" cy="9144000"/>
  <p:embeddedFontLs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Open Sans ExtraBold" panose="020B0906030804020204" pitchFamily="34" charset="0"/>
      <p:bold r:id="rId55"/>
      <p:boldItalic r:id="rId56"/>
    </p:embeddedFont>
    <p:embeddedFont>
      <p:font typeface="Open Sans Light" panose="020B0306030504020204" pitchFamily="34" charset="0"/>
      <p:regular r:id="rId57"/>
      <p:italic r:id="rId58"/>
    </p:embeddedFont>
    <p:embeddedFont>
      <p:font typeface="Open Sans SemiBold" panose="020B0706030804020204" pitchFamily="34" charset="0"/>
      <p:bold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5" roundtripDataSignature="AMtx7mgNwEorXUnfNawNB4oXubkMVK8W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BCC36-636B-7206-8F79-4EF0D88E4335}" v="19" dt="2026-05-12T23:15:28.822"/>
    <p1510:client id="{BEFA852F-4BF4-F82C-82B9-1D3701C156B9}" v="472" dt="2026-05-13T13:38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8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9.fntdata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97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B228F890-3945-533D-1B4E-B040EE47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>
            <a:extLst>
              <a:ext uri="{FF2B5EF4-FFF2-40B4-BE49-F238E27FC236}">
                <a16:creationId xmlns:a16="http://schemas.microsoft.com/office/drawing/2014/main" id="{E073A44F-31C7-80D9-E5FB-067165DAA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8:notes">
            <a:extLst>
              <a:ext uri="{FF2B5EF4-FFF2-40B4-BE49-F238E27FC236}">
                <a16:creationId xmlns:a16="http://schemas.microsoft.com/office/drawing/2014/main" id="{95764D7E-2F88-A7E3-737B-CDC24BAC8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0975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F5FA66B2-9C15-7812-7EC2-866E5CCB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>
            <a:extLst>
              <a:ext uri="{FF2B5EF4-FFF2-40B4-BE49-F238E27FC236}">
                <a16:creationId xmlns:a16="http://schemas.microsoft.com/office/drawing/2014/main" id="{E0CCDDCE-8B3D-CB16-97B8-31E968B61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:notes">
            <a:extLst>
              <a:ext uri="{FF2B5EF4-FFF2-40B4-BE49-F238E27FC236}">
                <a16:creationId xmlns:a16="http://schemas.microsoft.com/office/drawing/2014/main" id="{2E03BDD7-5F27-92CA-EDCA-8518B81BC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0794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>
          <a:extLst>
            <a:ext uri="{FF2B5EF4-FFF2-40B4-BE49-F238E27FC236}">
              <a16:creationId xmlns:a16="http://schemas.microsoft.com/office/drawing/2014/main" id="{6CD8C279-FDEB-B4AC-3DCA-48A405C2D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:notes">
            <a:extLst>
              <a:ext uri="{FF2B5EF4-FFF2-40B4-BE49-F238E27FC236}">
                <a16:creationId xmlns:a16="http://schemas.microsoft.com/office/drawing/2014/main" id="{86516D37-7514-1DDC-05A2-C33A54C10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8:notes">
            <a:extLst>
              <a:ext uri="{FF2B5EF4-FFF2-40B4-BE49-F238E27FC236}">
                <a16:creationId xmlns:a16="http://schemas.microsoft.com/office/drawing/2014/main" id="{8AD83081-3C1A-FD4F-F0A2-8966D6C61B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12031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>
          <a:extLst>
            <a:ext uri="{FF2B5EF4-FFF2-40B4-BE49-F238E27FC236}">
              <a16:creationId xmlns:a16="http://schemas.microsoft.com/office/drawing/2014/main" id="{7CF13BE0-04B2-8966-6F5F-89BC736B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8:notes">
            <a:extLst>
              <a:ext uri="{FF2B5EF4-FFF2-40B4-BE49-F238E27FC236}">
                <a16:creationId xmlns:a16="http://schemas.microsoft.com/office/drawing/2014/main" id="{A45F74AD-41FB-E1DB-F3E8-D8144543CA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8:notes">
            <a:extLst>
              <a:ext uri="{FF2B5EF4-FFF2-40B4-BE49-F238E27FC236}">
                <a16:creationId xmlns:a16="http://schemas.microsoft.com/office/drawing/2014/main" id="{D2BA84B9-A9FD-5E2F-E6C1-8A0368519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804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5" descr="A green and yellow background with buildings and mountains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83353" y="-1"/>
            <a:ext cx="12816729" cy="720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5" descr="A colorful logo with palm trees vegas sign 2026 dynamicscon 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8092" y="222099"/>
            <a:ext cx="6115816" cy="6413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5" descr="Superheroes flying"/>
          <p:cNvPicPr preferRelativeResize="0"/>
          <p:nvPr/>
        </p:nvPicPr>
        <p:blipFill rotWithShape="1">
          <a:blip r:embed="rId4">
            <a:alphaModFix amt="70000"/>
          </a:blip>
          <a:srcRect/>
          <a:stretch/>
        </p:blipFill>
        <p:spPr>
          <a:xfrm flipH="1">
            <a:off x="10425599" y="3087709"/>
            <a:ext cx="4433677" cy="34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5" descr="Superheroes fly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426109" y="2219310"/>
            <a:ext cx="6659140" cy="513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5" descr="Superheroes flying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 flipH="1">
            <a:off x="10805597" y="1607870"/>
            <a:ext cx="3339512" cy="257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6"/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 flipH="1">
            <a:off x="10539100" y="3665022"/>
            <a:ext cx="3305799" cy="255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6" descr="A green cityscape with a pyramid and a ferris wheel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8090" y="-255401"/>
            <a:ext cx="12605944" cy="7113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6" descr="Superheroes fly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6144882" y="470209"/>
            <a:ext cx="6659140" cy="513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6" descr="Superheroes flying"/>
          <p:cNvPicPr preferRelativeResize="0"/>
          <p:nvPr/>
        </p:nvPicPr>
        <p:blipFill rotWithShape="1">
          <a:blip r:embed="rId4">
            <a:alphaModFix amt="85000"/>
          </a:blip>
          <a:srcRect/>
          <a:stretch/>
        </p:blipFill>
        <p:spPr>
          <a:xfrm flipH="1">
            <a:off x="10037130" y="1979249"/>
            <a:ext cx="5487977" cy="423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6" descr="A yellow text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9427" y="1279081"/>
            <a:ext cx="7553145" cy="404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ntent Sunrise">
  <p:cSld name="Title and 2 Content Sunris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7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7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37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body" idx="2"/>
          </p:nvPr>
        </p:nvSpPr>
        <p:spPr>
          <a:xfrm>
            <a:off x="6150721" y="1347708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37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Sunrise">
  <p:cSld name="Title and Subtitle Sunris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38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8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831850" y="20240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7D22"/>
              </a:buClr>
              <a:buSzPts val="7200"/>
              <a:buFont typeface="Open Sans ExtraBold"/>
              <a:buNone/>
              <a:defRPr sz="7200" b="1" i="0">
                <a:solidFill>
                  <a:srgbClr val="3A7D2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1"/>
          </p:nvPr>
        </p:nvSpPr>
        <p:spPr>
          <a:xfrm>
            <a:off x="831850" y="350841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2A000"/>
              </a:buClr>
              <a:buSzPts val="3200"/>
              <a:buNone/>
              <a:defRPr sz="3200" b="1" i="0">
                <a:solidFill>
                  <a:srgbClr val="D2A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37" name="Google Shape;37;p38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8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8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Sunrise">
  <p:cSld name="1_Title and Content Sunris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D3F7B"/>
              </a:gs>
              <a:gs pos="50000">
                <a:srgbClr val="9C3C9A"/>
              </a:gs>
              <a:gs pos="100000">
                <a:srgbClr val="3B459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39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9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9"/>
          <p:cNvSpPr txBox="1">
            <a:spLocks noGrp="1"/>
          </p:cNvSpPr>
          <p:nvPr>
            <p:ph type="body" idx="1"/>
          </p:nvPr>
        </p:nvSpPr>
        <p:spPr>
          <a:xfrm>
            <a:off x="394315" y="1357460"/>
            <a:ext cx="11381889" cy="4402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9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39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9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9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Subtitle_Dusk">
  <p:cSld name="3_Title and Subtitle_Dus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0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0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0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body" idx="2"/>
          </p:nvPr>
        </p:nvSpPr>
        <p:spPr>
          <a:xfrm>
            <a:off x="6150721" y="1347708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4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0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4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4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4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40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0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40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40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_Dusk">
  <p:cSld name="2_Title and Subtitle_Dus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1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1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body" idx="1"/>
          </p:nvPr>
        </p:nvSpPr>
        <p:spPr>
          <a:xfrm>
            <a:off x="394315" y="1357460"/>
            <a:ext cx="11381889" cy="4402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4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4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4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4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41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4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1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1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1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1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Text, and 2 Images Sunrise">
  <p:cSld name="Title, 2 Text, and 2 Images Sunris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42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2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2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4301971" cy="444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body" idx="2"/>
          </p:nvPr>
        </p:nvSpPr>
        <p:spPr>
          <a:xfrm>
            <a:off x="4810926" y="1352141"/>
            <a:ext cx="2570148" cy="217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2"/>
          <p:cNvSpPr txBox="1">
            <a:spLocks noGrp="1"/>
          </p:cNvSpPr>
          <p:nvPr>
            <p:ph type="body" idx="3"/>
          </p:nvPr>
        </p:nvSpPr>
        <p:spPr>
          <a:xfrm>
            <a:off x="4810926" y="3633699"/>
            <a:ext cx="2570148" cy="2126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4"/>
          </p:nvPr>
        </p:nvSpPr>
        <p:spPr>
          <a:xfrm>
            <a:off x="7478697" y="1347708"/>
            <a:ext cx="4301971" cy="444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2" name="Google Shape;92;p42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2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2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_Dusk">
  <p:cSld name="1_Title and Subtitle_Dus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3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3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 txBox="1">
            <a:spLocks noGrp="1"/>
          </p:cNvSpPr>
          <p:nvPr>
            <p:ph type="title"/>
          </p:nvPr>
        </p:nvSpPr>
        <p:spPr>
          <a:xfrm>
            <a:off x="831850" y="20240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7A15"/>
              </a:buClr>
              <a:buSzPts val="7200"/>
              <a:buFont typeface="Open Sans ExtraBold"/>
              <a:buNone/>
              <a:defRPr sz="7200" b="1" i="0">
                <a:solidFill>
                  <a:srgbClr val="E97A1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body" idx="1"/>
          </p:nvPr>
        </p:nvSpPr>
        <p:spPr>
          <a:xfrm>
            <a:off x="831850" y="350841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6010"/>
              </a:buClr>
              <a:buSzPts val="3200"/>
              <a:buNone/>
              <a:defRPr sz="3200" b="1" i="0">
                <a:solidFill>
                  <a:srgbClr val="B8601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00" name="Google Shape;100;p4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4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3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3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3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3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3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Subtitle_Dusk">
  <p:cSld name="10_Title and Subtitle_Dus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4"/>
          <p:cNvSpPr/>
          <p:nvPr/>
        </p:nvSpPr>
        <p:spPr>
          <a:xfrm>
            <a:off x="302579" y="266855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4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 ExtraBold"/>
              <a:buNone/>
              <a:defRPr sz="4400" b="1" i="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mages, and Text Sunrise">
  <p:cSld name="Title, Images, and Text Sunris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5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5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body" idx="1"/>
          </p:nvPr>
        </p:nvSpPr>
        <p:spPr>
          <a:xfrm>
            <a:off x="394316" y="3963177"/>
            <a:ext cx="11381889" cy="17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5"/>
          <p:cNvSpPr txBox="1">
            <a:spLocks noGrp="1"/>
          </p:cNvSpPr>
          <p:nvPr>
            <p:ph type="body" idx="2"/>
          </p:nvPr>
        </p:nvSpPr>
        <p:spPr>
          <a:xfrm>
            <a:off x="6151106" y="1347708"/>
            <a:ext cx="5628821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5"/>
          <p:cNvSpPr txBox="1">
            <a:spLocks noGrp="1"/>
          </p:cNvSpPr>
          <p:nvPr>
            <p:ph type="body" idx="3"/>
          </p:nvPr>
        </p:nvSpPr>
        <p:spPr>
          <a:xfrm>
            <a:off x="406507" y="1347708"/>
            <a:ext cx="5628821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2" name="Google Shape;122;p45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5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5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Images Sunrise">
  <p:cSld name="Title, Text, and Images Sunris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46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6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6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6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11381889" cy="17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46"/>
          <p:cNvSpPr txBox="1">
            <a:spLocks noGrp="1"/>
          </p:cNvSpPr>
          <p:nvPr>
            <p:ph type="body" idx="2"/>
          </p:nvPr>
        </p:nvSpPr>
        <p:spPr>
          <a:xfrm>
            <a:off x="6137983" y="3183603"/>
            <a:ext cx="5628821" cy="25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6"/>
          <p:cNvSpPr txBox="1">
            <a:spLocks noGrp="1"/>
          </p:cNvSpPr>
          <p:nvPr>
            <p:ph type="body" idx="3"/>
          </p:nvPr>
        </p:nvSpPr>
        <p:spPr>
          <a:xfrm>
            <a:off x="393384" y="3183603"/>
            <a:ext cx="5628821" cy="25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2" name="Google Shape;132;p46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6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6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3 Images, and Text Sunrise">
  <p:cSld name="Title, 3 Images, and Text Sunris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47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7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7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7"/>
          <p:cNvSpPr txBox="1">
            <a:spLocks noGrp="1"/>
          </p:cNvSpPr>
          <p:nvPr>
            <p:ph type="body" idx="1"/>
          </p:nvPr>
        </p:nvSpPr>
        <p:spPr>
          <a:xfrm>
            <a:off x="394316" y="3963176"/>
            <a:ext cx="11381889" cy="180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47"/>
          <p:cNvSpPr txBox="1">
            <a:spLocks noGrp="1"/>
          </p:cNvSpPr>
          <p:nvPr>
            <p:ph type="body" idx="2"/>
          </p:nvPr>
        </p:nvSpPr>
        <p:spPr>
          <a:xfrm>
            <a:off x="392451" y="1358222"/>
            <a:ext cx="3739363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47"/>
          <p:cNvSpPr txBox="1">
            <a:spLocks noGrp="1"/>
          </p:cNvSpPr>
          <p:nvPr>
            <p:ph type="body" idx="3"/>
          </p:nvPr>
        </p:nvSpPr>
        <p:spPr>
          <a:xfrm>
            <a:off x="8032426" y="1347708"/>
            <a:ext cx="3739363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47"/>
          <p:cNvSpPr txBox="1">
            <a:spLocks noGrp="1"/>
          </p:cNvSpPr>
          <p:nvPr>
            <p:ph type="body" idx="4"/>
          </p:nvPr>
        </p:nvSpPr>
        <p:spPr>
          <a:xfrm>
            <a:off x="4212438" y="1356863"/>
            <a:ext cx="3739363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3" name="Google Shape;143;p47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7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7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3 Images Sunrise">
  <p:cSld name="Title, Text, and 3 Images Sunris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48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8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8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48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11381889" cy="17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48"/>
          <p:cNvSpPr txBox="1">
            <a:spLocks noGrp="1"/>
          </p:cNvSpPr>
          <p:nvPr>
            <p:ph type="body" idx="2"/>
          </p:nvPr>
        </p:nvSpPr>
        <p:spPr>
          <a:xfrm>
            <a:off x="392451" y="3209036"/>
            <a:ext cx="3739363" cy="25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8"/>
          <p:cNvSpPr txBox="1">
            <a:spLocks noGrp="1"/>
          </p:cNvSpPr>
          <p:nvPr>
            <p:ph type="body" idx="3"/>
          </p:nvPr>
        </p:nvSpPr>
        <p:spPr>
          <a:xfrm>
            <a:off x="8032426" y="3198522"/>
            <a:ext cx="3739363" cy="25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48"/>
          <p:cNvSpPr txBox="1">
            <a:spLocks noGrp="1"/>
          </p:cNvSpPr>
          <p:nvPr>
            <p:ph type="body" idx="4"/>
          </p:nvPr>
        </p:nvSpPr>
        <p:spPr>
          <a:xfrm>
            <a:off x="4212438" y="3207677"/>
            <a:ext cx="3739363" cy="25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4" name="Google Shape;154;p48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8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8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4 Images Sunrise">
  <p:cSld name="Title, Text, and 4 Images Sunrise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9" descr="A green and yellow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9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9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  <a:defRPr sz="4400" b="1" i="0">
                <a:solidFill>
                  <a:srgbClr val="57B53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9"/>
          <p:cNvSpPr txBox="1">
            <a:spLocks noGrp="1"/>
          </p:cNvSpPr>
          <p:nvPr>
            <p:ph type="body" idx="1"/>
          </p:nvPr>
        </p:nvSpPr>
        <p:spPr>
          <a:xfrm>
            <a:off x="3056199" y="1347708"/>
            <a:ext cx="6036643" cy="442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49"/>
          <p:cNvSpPr txBox="1">
            <a:spLocks noGrp="1"/>
          </p:cNvSpPr>
          <p:nvPr>
            <p:ph type="body" idx="2"/>
          </p:nvPr>
        </p:nvSpPr>
        <p:spPr>
          <a:xfrm>
            <a:off x="394316" y="1347708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9"/>
          <p:cNvSpPr txBox="1">
            <a:spLocks noGrp="1"/>
          </p:cNvSpPr>
          <p:nvPr>
            <p:ph type="body" idx="3"/>
          </p:nvPr>
        </p:nvSpPr>
        <p:spPr>
          <a:xfrm>
            <a:off x="394316" y="3578624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9"/>
          <p:cNvSpPr txBox="1">
            <a:spLocks noGrp="1"/>
          </p:cNvSpPr>
          <p:nvPr>
            <p:ph type="body" idx="4"/>
          </p:nvPr>
        </p:nvSpPr>
        <p:spPr>
          <a:xfrm>
            <a:off x="9206057" y="1347708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49"/>
          <p:cNvSpPr txBox="1">
            <a:spLocks noGrp="1"/>
          </p:cNvSpPr>
          <p:nvPr>
            <p:ph type="body" idx="5"/>
          </p:nvPr>
        </p:nvSpPr>
        <p:spPr>
          <a:xfrm>
            <a:off x="9206057" y="3578624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6" name="Google Shape;166;p49" descr="A bright light in the dark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4020">
            <a:off x="10674513" y="4210539"/>
            <a:ext cx="2613910" cy="422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49" descr="Vegas sky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76177"/>
            <a:ext cx="12192000" cy="70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49" descr="A logo with palm trees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190" y="5526108"/>
            <a:ext cx="1584519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Subtitle_Dusk">
  <p:cSld name="4_Title and Subtitle_Dusk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50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0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0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50"/>
          <p:cNvSpPr txBox="1">
            <a:spLocks noGrp="1"/>
          </p:cNvSpPr>
          <p:nvPr>
            <p:ph type="body" idx="1"/>
          </p:nvPr>
        </p:nvSpPr>
        <p:spPr>
          <a:xfrm>
            <a:off x="394316" y="3963177"/>
            <a:ext cx="11381889" cy="17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50"/>
          <p:cNvSpPr txBox="1">
            <a:spLocks noGrp="1"/>
          </p:cNvSpPr>
          <p:nvPr>
            <p:ph type="body" idx="2"/>
          </p:nvPr>
        </p:nvSpPr>
        <p:spPr>
          <a:xfrm>
            <a:off x="6151106" y="1347708"/>
            <a:ext cx="5628821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50"/>
          <p:cNvSpPr txBox="1">
            <a:spLocks noGrp="1"/>
          </p:cNvSpPr>
          <p:nvPr>
            <p:ph type="body" idx="3"/>
          </p:nvPr>
        </p:nvSpPr>
        <p:spPr>
          <a:xfrm>
            <a:off x="406507" y="1347708"/>
            <a:ext cx="5628821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6" name="Google Shape;176;p5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5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5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5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0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5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0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0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0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0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50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Subtitle_Dusk">
  <p:cSld name="5_Title and Subtitle_Dus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51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1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1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51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11381889" cy="17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51"/>
          <p:cNvSpPr txBox="1">
            <a:spLocks noGrp="1"/>
          </p:cNvSpPr>
          <p:nvPr>
            <p:ph type="body" idx="2"/>
          </p:nvPr>
        </p:nvSpPr>
        <p:spPr>
          <a:xfrm>
            <a:off x="6137983" y="3183603"/>
            <a:ext cx="5628821" cy="25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51"/>
          <p:cNvSpPr txBox="1">
            <a:spLocks noGrp="1"/>
          </p:cNvSpPr>
          <p:nvPr>
            <p:ph type="body" idx="3"/>
          </p:nvPr>
        </p:nvSpPr>
        <p:spPr>
          <a:xfrm>
            <a:off x="393384" y="3183603"/>
            <a:ext cx="5628821" cy="25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5" name="Google Shape;195;p5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51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5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1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51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51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1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51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Subtitle_Dusk">
  <p:cSld name="6_Title and Subtitle_Dusk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52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2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2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52"/>
          <p:cNvSpPr txBox="1">
            <a:spLocks noGrp="1"/>
          </p:cNvSpPr>
          <p:nvPr>
            <p:ph type="body" idx="1"/>
          </p:nvPr>
        </p:nvSpPr>
        <p:spPr>
          <a:xfrm>
            <a:off x="394316" y="3963176"/>
            <a:ext cx="11381889" cy="1806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52"/>
          <p:cNvSpPr txBox="1">
            <a:spLocks noGrp="1"/>
          </p:cNvSpPr>
          <p:nvPr>
            <p:ph type="body" idx="2"/>
          </p:nvPr>
        </p:nvSpPr>
        <p:spPr>
          <a:xfrm>
            <a:off x="392451" y="1358222"/>
            <a:ext cx="3739363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52"/>
          <p:cNvSpPr txBox="1">
            <a:spLocks noGrp="1"/>
          </p:cNvSpPr>
          <p:nvPr>
            <p:ph type="body" idx="3"/>
          </p:nvPr>
        </p:nvSpPr>
        <p:spPr>
          <a:xfrm>
            <a:off x="8032426" y="1347708"/>
            <a:ext cx="3739363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52"/>
          <p:cNvSpPr txBox="1">
            <a:spLocks noGrp="1"/>
          </p:cNvSpPr>
          <p:nvPr>
            <p:ph type="body" idx="4"/>
          </p:nvPr>
        </p:nvSpPr>
        <p:spPr>
          <a:xfrm>
            <a:off x="4212438" y="1356863"/>
            <a:ext cx="3739363" cy="251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5" name="Google Shape;215;p52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52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52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52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52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52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52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52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52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2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2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2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Subtitle_Dusk">
  <p:cSld name="7_Title and Subtitle_Dusk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53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3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3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3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11381889" cy="17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53"/>
          <p:cNvSpPr txBox="1">
            <a:spLocks noGrp="1"/>
          </p:cNvSpPr>
          <p:nvPr>
            <p:ph type="body" idx="2"/>
          </p:nvPr>
        </p:nvSpPr>
        <p:spPr>
          <a:xfrm>
            <a:off x="392451" y="3209036"/>
            <a:ext cx="3739363" cy="25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53"/>
          <p:cNvSpPr txBox="1">
            <a:spLocks noGrp="1"/>
          </p:cNvSpPr>
          <p:nvPr>
            <p:ph type="body" idx="3"/>
          </p:nvPr>
        </p:nvSpPr>
        <p:spPr>
          <a:xfrm>
            <a:off x="8032426" y="3198522"/>
            <a:ext cx="3739363" cy="25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53"/>
          <p:cNvSpPr txBox="1">
            <a:spLocks noGrp="1"/>
          </p:cNvSpPr>
          <p:nvPr>
            <p:ph type="body" idx="4"/>
          </p:nvPr>
        </p:nvSpPr>
        <p:spPr>
          <a:xfrm>
            <a:off x="4212438" y="3207677"/>
            <a:ext cx="3739363" cy="25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5" name="Google Shape;235;p5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3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53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53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3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3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3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Subtitle _Dusk">
  <p:cSld name="8_Title and Subtitle _Dusk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54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4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4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4"/>
          <p:cNvSpPr txBox="1">
            <a:spLocks noGrp="1"/>
          </p:cNvSpPr>
          <p:nvPr>
            <p:ph type="body" idx="1"/>
          </p:nvPr>
        </p:nvSpPr>
        <p:spPr>
          <a:xfrm>
            <a:off x="3056199" y="1347708"/>
            <a:ext cx="6036643" cy="442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54"/>
          <p:cNvSpPr txBox="1">
            <a:spLocks noGrp="1"/>
          </p:cNvSpPr>
          <p:nvPr>
            <p:ph type="body" idx="2"/>
          </p:nvPr>
        </p:nvSpPr>
        <p:spPr>
          <a:xfrm>
            <a:off x="394316" y="1347708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54"/>
          <p:cNvSpPr txBox="1">
            <a:spLocks noGrp="1"/>
          </p:cNvSpPr>
          <p:nvPr>
            <p:ph type="body" idx="3"/>
          </p:nvPr>
        </p:nvSpPr>
        <p:spPr>
          <a:xfrm>
            <a:off x="394316" y="3578624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54"/>
          <p:cNvSpPr txBox="1">
            <a:spLocks noGrp="1"/>
          </p:cNvSpPr>
          <p:nvPr>
            <p:ph type="body" idx="4"/>
          </p:nvPr>
        </p:nvSpPr>
        <p:spPr>
          <a:xfrm>
            <a:off x="9206057" y="1347708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54"/>
          <p:cNvSpPr txBox="1">
            <a:spLocks noGrp="1"/>
          </p:cNvSpPr>
          <p:nvPr>
            <p:ph type="body" idx="5"/>
          </p:nvPr>
        </p:nvSpPr>
        <p:spPr>
          <a:xfrm>
            <a:off x="9206057" y="3578624"/>
            <a:ext cx="2570148" cy="2162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6" name="Google Shape;256;p54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54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54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4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54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54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54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54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54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54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54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54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Subtitle_Dusk">
  <p:cSld name="9_Title and Subtitle_Dusk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55" descr="A yellow and orange striped pattern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5"/>
          <p:cNvSpPr/>
          <p:nvPr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5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  <a:defRPr sz="4400" b="1" i="0">
                <a:solidFill>
                  <a:srgbClr val="EB8325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55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4301971" cy="444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55"/>
          <p:cNvSpPr txBox="1">
            <a:spLocks noGrp="1"/>
          </p:cNvSpPr>
          <p:nvPr>
            <p:ph type="body" idx="2"/>
          </p:nvPr>
        </p:nvSpPr>
        <p:spPr>
          <a:xfrm>
            <a:off x="4810926" y="1352141"/>
            <a:ext cx="2570148" cy="217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55"/>
          <p:cNvSpPr txBox="1">
            <a:spLocks noGrp="1"/>
          </p:cNvSpPr>
          <p:nvPr>
            <p:ph type="body" idx="3"/>
          </p:nvPr>
        </p:nvSpPr>
        <p:spPr>
          <a:xfrm>
            <a:off x="4810926" y="3633699"/>
            <a:ext cx="2570148" cy="2126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55"/>
          <p:cNvSpPr txBox="1">
            <a:spLocks noGrp="1"/>
          </p:cNvSpPr>
          <p:nvPr>
            <p:ph type="body" idx="4"/>
          </p:nvPr>
        </p:nvSpPr>
        <p:spPr>
          <a:xfrm>
            <a:off x="7478697" y="1347708"/>
            <a:ext cx="4301971" cy="444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6" name="Google Shape;276;p55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22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55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877" y="6395018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55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0955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55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710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5" descr="A group of palm tree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9511" y="6267311"/>
            <a:ext cx="1836510" cy="59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55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1366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55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621" y="6395020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55" descr="A group of palm tre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0194" y="6395019"/>
            <a:ext cx="1439456" cy="46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5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9933341" y="6193892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55" descr="A green palm tree on a black background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2504584" y="6235607"/>
            <a:ext cx="743589" cy="66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5" descr="A logo with palm trees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122" y="5736692"/>
            <a:ext cx="105634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5" descr="A green palm tree on a black background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1010806" y="5593532"/>
            <a:ext cx="1438602" cy="128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rsmus.com/" TargetMode="External"/><Relationship Id="rId7" Type="http://schemas.openxmlformats.org/officeDocument/2006/relationships/hyperlink" Target="https://mvp.microsoft.com/en-US/MVP/profile/6c08dbff-03c6-ec11-a7b5-0022482d3c4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in/peter-ramer/" TargetMode="External"/><Relationship Id="rId5" Type="http://schemas.openxmlformats.org/officeDocument/2006/relationships/hyperlink" Target="http://dynamics365musings.com/" TargetMode="External"/><Relationship Id="rId10" Type="http://schemas.openxmlformats.org/officeDocument/2006/relationships/image" Target="../media/image21.png"/><Relationship Id="rId4" Type="http://schemas.openxmlformats.org/officeDocument/2006/relationships/hyperlink" Target="mailto:peter.ramer@rsmus.com" TargetMode="External"/><Relationship Id="rId9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hyperlink" Target="mailto:nathan.clouse@armanino.com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NathanClouseAX" TargetMode="External"/><Relationship Id="rId5" Type="http://schemas.openxmlformats.org/officeDocument/2006/relationships/hyperlink" Target="https://www.dynamics.fo/" TargetMode="External"/><Relationship Id="rId4" Type="http://schemas.openxmlformats.org/officeDocument/2006/relationships/hyperlink" Target="https://www.atomicax.co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dynamics365musings.com/d365-data-entity/" TargetMode="External"/><Relationship Id="rId7" Type="http://schemas.openxmlformats.org/officeDocument/2006/relationships/hyperlink" Target="https://dynamics365musings.com/update-data-from-excel-in-d365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ynamics365musings.com/export-data-to-excel-in-d365/" TargetMode="External"/><Relationship Id="rId5" Type="http://schemas.openxmlformats.org/officeDocument/2006/relationships/hyperlink" Target="https://dynamics365musings.com/use-a-d365-data-entity/" TargetMode="External"/><Relationship Id="rId4" Type="http://schemas.openxmlformats.org/officeDocument/2006/relationships/hyperlink" Target="https://dynamics365musings.com/create-a-d365-data-entity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ynamics365musings.com/create-a-custom-service-in-d365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hyperlink" Target="https://dynamics365musings.com/setup-postman-to-call-d365-services/" TargetMode="External"/><Relationship Id="rId4" Type="http://schemas.openxmlformats.org/officeDocument/2006/relationships/hyperlink" Target="https://dynamics365musings.com/create-a-complex-service-in-d365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hyperlink" Target="mailto:nathan.clouse@armanino.com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NathanClouseAX" TargetMode="External"/><Relationship Id="rId5" Type="http://schemas.openxmlformats.org/officeDocument/2006/relationships/hyperlink" Target="https://www.dynamics.fo/" TargetMode="External"/><Relationship Id="rId4" Type="http://schemas.openxmlformats.org/officeDocument/2006/relationships/hyperlink" Target="https://www.atomicax.com/" TargetMode="External"/><Relationship Id="rId9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hyperlink" Target="mailto:peter.ramer@rsmus.com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vp.microsoft.com/en-US/MVP/profile/6c08dbff-03c6-ec11-a7b5-0022482d3c49" TargetMode="External"/><Relationship Id="rId5" Type="http://schemas.openxmlformats.org/officeDocument/2006/relationships/hyperlink" Target="https://www.linkedin.com/in/peter-ramer/" TargetMode="External"/><Relationship Id="rId4" Type="http://schemas.openxmlformats.org/officeDocument/2006/relationships/hyperlink" Target="http://dynamics365musings.com/" TargetMode="External"/><Relationship Id="rId9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772A27-C425-8DA3-5313-C4786821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Bulletproof Integrations - Data Entities, OData, and Custom Services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EF822-B9D3-1319-3E9A-1A01857B1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dirty="0"/>
              <a:t>Peter Ramer</a:t>
            </a:r>
            <a:endParaRPr dirty="0"/>
          </a:p>
        </p:txBody>
      </p:sp>
      <p:sp>
        <p:nvSpPr>
          <p:cNvPr id="301" name="Google Shape;301;p3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r>
              <a:rPr lang="en-US" sz="1765"/>
              <a:t>Director of Managed Application Services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r>
              <a:rPr lang="en-US" sz="1765" u="sng">
                <a:solidFill>
                  <a:schemeClr val="hlink"/>
                </a:solidFill>
                <a:hlinkClick r:id="rId3"/>
              </a:rPr>
              <a:t>RSM</a:t>
            </a:r>
            <a:endParaRPr sz="1765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endParaRPr sz="1765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None/>
            </a:pPr>
            <a:r>
              <a:rPr lang="en-US" sz="1176">
                <a:solidFill>
                  <a:srgbClr val="3F454F"/>
                </a:solidFill>
              </a:rPr>
              <a:t>Email: </a:t>
            </a:r>
            <a:r>
              <a:rPr lang="en-US" sz="1176" u="sng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peter.ramer@rsmus.com</a:t>
            </a:r>
            <a:r>
              <a:rPr lang="en-US" sz="1176">
                <a:solidFill>
                  <a:srgbClr val="002060"/>
                </a:solidFill>
              </a:rPr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None/>
            </a:pPr>
            <a:r>
              <a:rPr lang="en-US" sz="1176">
                <a:solidFill>
                  <a:srgbClr val="3F454F"/>
                </a:solidFill>
              </a:rPr>
              <a:t>Blog: </a:t>
            </a:r>
            <a:r>
              <a:rPr lang="en-US" sz="1176" u="sng">
                <a:solidFill>
                  <a:srgbClr val="00206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http://dynamics365musings.com/</a:t>
            </a:r>
            <a:endParaRPr sz="1176" u="sng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95C8"/>
              </a:buClr>
              <a:buSzPts val="1176"/>
              <a:buNone/>
            </a:pPr>
            <a:r>
              <a:rPr lang="en-US" sz="1176" u="sng">
                <a:solidFill>
                  <a:srgbClr val="0095C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1176">
                <a:solidFill>
                  <a:srgbClr val="3F454F"/>
                </a:solidFill>
              </a:rPr>
              <a:t> | </a:t>
            </a:r>
            <a:r>
              <a:rPr lang="en-US" sz="1176" u="sng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MVP Profile</a:t>
            </a:r>
            <a:endParaRPr sz="1176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76"/>
              <a:buNone/>
            </a:pPr>
            <a:endParaRPr sz="1176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None/>
            </a:pPr>
            <a:r>
              <a:rPr lang="en-US" sz="1176">
                <a:solidFill>
                  <a:srgbClr val="3F454F"/>
                </a:solidFill>
              </a:rPr>
              <a:t>Background:</a:t>
            </a:r>
            <a:endParaRPr sz="1176"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Char char="•"/>
            </a:pPr>
            <a:r>
              <a:rPr lang="en-US" sz="1176">
                <a:solidFill>
                  <a:srgbClr val="3F454F"/>
                </a:solidFill>
              </a:rPr>
              <a:t>Awarded Microsoft MVP in Business Applications since 2022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Char char="•"/>
            </a:pPr>
            <a:r>
              <a:rPr lang="en-US" sz="1176">
                <a:solidFill>
                  <a:srgbClr val="3F454F"/>
                </a:solidFill>
              </a:rPr>
              <a:t>Been working with AX since 2006 and D365FO since 2016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Char char="•"/>
            </a:pPr>
            <a:r>
              <a:rPr lang="en-US" sz="1176">
                <a:solidFill>
                  <a:srgbClr val="3F454F"/>
                </a:solidFill>
              </a:rPr>
              <a:t>Have written code that was then purchased and included into the standard F&amp;O product.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Char char="•"/>
            </a:pPr>
            <a:r>
              <a:rPr lang="en-US" sz="1176">
                <a:solidFill>
                  <a:srgbClr val="3F454F"/>
                </a:solidFill>
              </a:rPr>
              <a:t>Have a blog and YouTube channel that contains lots of technical tutorials.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endParaRPr sz="1765"/>
          </a:p>
        </p:txBody>
      </p:sp>
      <p:pic>
        <p:nvPicPr>
          <p:cNvPr id="302" name="Google Shape;302;p3" descr="A blue and white rectangular sign with white text  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27799" y="3665325"/>
            <a:ext cx="1167158" cy="184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" descr="A person in a suit smiling  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37797" y="1203152"/>
            <a:ext cx="3689103" cy="3972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AA7A30B6-3160-D30F-E607-76398009474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/>
              <a:t>Nathan Clouse</a:t>
            </a:r>
            <a:endParaRPr/>
          </a:p>
        </p:txBody>
      </p:sp>
      <p:sp>
        <p:nvSpPr>
          <p:cNvPr id="309" name="Google Shape;309;p4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r>
              <a:rPr lang="en-US" sz="1765"/>
              <a:t>Sr. Technical </a:t>
            </a:r>
            <a:r>
              <a:rPr lang="en-US" sz="1765" dirty="0"/>
              <a:t>Architect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r>
              <a:rPr lang="en-US" sz="1765" dirty="0"/>
              <a:t>HSO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endParaRPr sz="1765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 dirty="0">
                <a:solidFill>
                  <a:srgbClr val="3F454F"/>
                </a:solidFill>
              </a:rPr>
              <a:t>Email: </a:t>
            </a:r>
            <a:r>
              <a:rPr lang="en-US" sz="1100" u="sng" dirty="0">
                <a:solidFill>
                  <a:srgbClr val="3F454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nathan.clouse@armanino.com</a:t>
            </a:r>
            <a:endParaRPr sz="1100" dirty="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 dirty="0">
                <a:solidFill>
                  <a:srgbClr val="3F454F"/>
                </a:solidFill>
              </a:rPr>
              <a:t>Blog #1: </a:t>
            </a:r>
            <a:r>
              <a:rPr lang="en-US" sz="1100" u="sng" dirty="0">
                <a:solidFill>
                  <a:srgbClr val="3F454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https://www.atomicax.com</a:t>
            </a:r>
            <a:endParaRPr sz="1100" dirty="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 dirty="0">
                <a:solidFill>
                  <a:srgbClr val="3F454F"/>
                </a:solidFill>
              </a:rPr>
              <a:t>Blog #2: </a:t>
            </a:r>
            <a:r>
              <a:rPr lang="en-US" sz="1100" u="sng" dirty="0">
                <a:solidFill>
                  <a:srgbClr val="3F454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https://www.dynamics.fo</a:t>
            </a:r>
            <a:endParaRPr sz="1100" dirty="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 dirty="0">
                <a:solidFill>
                  <a:srgbClr val="3F454F"/>
                </a:solidFill>
              </a:rPr>
              <a:t>GitHub: </a:t>
            </a:r>
            <a:r>
              <a:rPr lang="en-US" sz="1100" u="sng" dirty="0">
                <a:solidFill>
                  <a:srgbClr val="3F454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https://github.com/NathanClouseAX</a:t>
            </a:r>
            <a:endParaRPr sz="1100" dirty="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 dirty="0">
                <a:solidFill>
                  <a:srgbClr val="3F454F"/>
                </a:solidFill>
              </a:rPr>
              <a:t>@NathanClouseAX on most platforms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200"/>
              <a:buNone/>
            </a:pPr>
            <a:r>
              <a:rPr lang="en-US" sz="1200" dirty="0">
                <a:solidFill>
                  <a:srgbClr val="3F454F"/>
                </a:solidFill>
              </a:rPr>
              <a:t>Background:</a:t>
            </a:r>
            <a:endParaRPr sz="1200" dirty="0"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200"/>
              <a:buChar char="•"/>
            </a:pPr>
            <a:r>
              <a:rPr lang="en-US" sz="1200" dirty="0">
                <a:solidFill>
                  <a:srgbClr val="3F454F"/>
                </a:solidFill>
              </a:rPr>
              <a:t>Awarded Microsoft MVP in Business Applications since 2019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200"/>
              <a:buChar char="•"/>
            </a:pPr>
            <a:r>
              <a:rPr lang="en-US" sz="1200" dirty="0">
                <a:solidFill>
                  <a:srgbClr val="3F454F"/>
                </a:solidFill>
              </a:rPr>
              <a:t>Been working with AX since 2009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200"/>
              <a:buChar char="•"/>
            </a:pPr>
            <a:r>
              <a:rPr lang="en-US" sz="1200" dirty="0">
                <a:solidFill>
                  <a:srgbClr val="3F454F"/>
                </a:solidFill>
              </a:rPr>
              <a:t>Been working with D365FO since 2017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200"/>
              <a:buChar char="•"/>
            </a:pPr>
            <a:r>
              <a:rPr lang="en-US" sz="1200" dirty="0">
                <a:solidFill>
                  <a:srgbClr val="3F454F"/>
                </a:solidFill>
              </a:rPr>
              <a:t>Have spoken at Summit, Focus, and local chapters around various  AX/D365FO technical topics plus other groups events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endParaRPr sz="1765" dirty="0"/>
          </a:p>
        </p:txBody>
      </p:sp>
      <p:pic>
        <p:nvPicPr>
          <p:cNvPr id="310" name="Google Shape;310;p4" descr="A blue and white rectangular sign with white text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7799" y="3665325"/>
            <a:ext cx="1167158" cy="184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7371" y="1158386"/>
            <a:ext cx="2900518" cy="2900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"/>
          <p:cNvSpPr txBox="1">
            <a:spLocks noGrp="1"/>
          </p:cNvSpPr>
          <p:nvPr>
            <p:ph type="title"/>
          </p:nvPr>
        </p:nvSpPr>
        <p:spPr>
          <a:xfrm>
            <a:off x="831850" y="1500000"/>
            <a:ext cx="105156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7D22"/>
              </a:buClr>
              <a:buSzPts val="5400"/>
              <a:buFont typeface="Open Sans ExtraBold"/>
              <a:buNone/>
            </a:pPr>
            <a:r>
              <a:rPr lang="en-US" sz="5400" b="1"/>
              <a:t>Section 1: Resilient Integration Architectures</a:t>
            </a:r>
            <a:endParaRPr/>
          </a:p>
        </p:txBody>
      </p:sp>
      <p:sp>
        <p:nvSpPr>
          <p:cNvPr id="317" name="Google Shape;317;p5"/>
          <p:cNvSpPr txBox="1">
            <a:spLocks noGrp="1"/>
          </p:cNvSpPr>
          <p:nvPr>
            <p:ph type="body" idx="1"/>
          </p:nvPr>
        </p:nvSpPr>
        <p:spPr>
          <a:xfrm>
            <a:off x="831850" y="4050000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A000"/>
              </a:buClr>
              <a:buSzPts val="3200"/>
              <a:buNone/>
            </a:pPr>
            <a:r>
              <a:rPr lang="en-US" i="1"/>
              <a:t>Choose the right channel. Build for failure. Plan for scale.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"/>
          <p:cNvSpPr txBox="1">
            <a:spLocks noGrp="1"/>
          </p:cNvSpPr>
          <p:nvPr>
            <p:ph type="body" idx="1"/>
          </p:nvPr>
        </p:nvSpPr>
        <p:spPr>
          <a:xfrm>
            <a:off x="394315" y="1357460"/>
            <a:ext cx="11381889" cy="4402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Wrong channel for the workload — OData under bulk load, DMF for sub-second calls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Throttled by the platform with no Retry-After handling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Lock contention on hot tables (NumberSequenceTable, ledger journals)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Duplicate posts after a transient timeout — no idempotency key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Schema drift: caller assumes fields that the next entity version drops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/>
              <a:t>The cost shows up downstream: missing invoices, duplicate orders, broken reports.</a:t>
            </a:r>
            <a:endParaRPr/>
          </a:p>
        </p:txBody>
      </p:sp>
      <p:sp>
        <p:nvSpPr>
          <p:cNvPr id="323" name="Google Shape;323;p6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Why Integrations Fail in Production</a:t>
            </a:r>
            <a:endParaRPr/>
          </a:p>
        </p:txBody>
      </p: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D6A1CD89-27B2-F0C4-8192-74ADDF9050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</a:pPr>
            <a:r>
              <a:rPr lang="en-US" b="1"/>
              <a:t>Three Integration Channels in F&amp;SCM</a:t>
            </a:r>
            <a:endParaRPr/>
          </a:p>
        </p:txBody>
      </p:sp>
      <p:sp>
        <p:nvSpPr>
          <p:cNvPr id="329" name="Google Shape;329;p7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Data Management Framework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Recurring Integrations API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Asynchronous, batch-oriented, file-based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Handles thousands of rows safely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Decision rule of thumb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OData: &lt;= a few hundred rows per call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DMF: scheduled or thousands of rows</a:t>
            </a:r>
            <a:endParaRPr/>
          </a:p>
          <a:p>
            <a:pPr marL="685800" lvl="1" indent="-228600">
              <a:buSzPts val="2200"/>
            </a:pPr>
            <a:r>
              <a:rPr lang="en-US" sz="2200"/>
              <a:t>Custom service: when no entity fits, and you need to run business logic and return a result</a:t>
            </a:r>
            <a:endParaRPr/>
          </a:p>
        </p:txBody>
      </p:sp>
      <p:grpSp>
        <p:nvGrpSpPr>
          <p:cNvPr id="330" name="Google Shape;330;p7"/>
          <p:cNvGrpSpPr/>
          <p:nvPr/>
        </p:nvGrpSpPr>
        <p:grpSpPr>
          <a:xfrm>
            <a:off x="6086327" y="1355210"/>
            <a:ext cx="5689878" cy="4406491"/>
            <a:chOff x="-64394" y="7502"/>
            <a:chExt cx="5689878" cy="4406491"/>
          </a:xfrm>
        </p:grpSpPr>
        <p:sp>
          <p:nvSpPr>
            <p:cNvPr id="331" name="Google Shape;331;p7"/>
            <p:cNvSpPr/>
            <p:nvPr/>
          </p:nvSpPr>
          <p:spPr>
            <a:xfrm>
              <a:off x="0" y="332222"/>
              <a:ext cx="5625484" cy="16632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-64394" y="203433"/>
              <a:ext cx="5625484" cy="166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6600" tIns="458200" rIns="436600" bIns="1564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/data/{EntitySet} on the AOS endpoint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CRUD over public data entities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Best for interactive, low-volume calls</a:t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281274" y="7502"/>
              <a:ext cx="3937838" cy="649440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 txBox="1"/>
            <p:nvPr/>
          </p:nvSpPr>
          <p:spPr>
            <a:xfrm>
              <a:off x="312977" y="39205"/>
              <a:ext cx="3874432" cy="586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825" tIns="0" rIns="1488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OData (REST/JSON, V4)</a:t>
              </a:r>
              <a:endParaRPr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0" y="2438943"/>
              <a:ext cx="5625484" cy="197505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 txBox="1"/>
            <p:nvPr/>
          </p:nvSpPr>
          <p:spPr>
            <a:xfrm>
              <a:off x="0" y="2438943"/>
              <a:ext cx="5625484" cy="1975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6600" tIns="458200" rIns="436600" bIns="1564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/api/services/{Group}/{Service}/{Op}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X++ classes exposed as REST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Best for business actions, not data shapes</a:t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281274" y="2114222"/>
              <a:ext cx="3937838" cy="649440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 txBox="1"/>
            <p:nvPr/>
          </p:nvSpPr>
          <p:spPr>
            <a:xfrm>
              <a:off x="312977" y="2145925"/>
              <a:ext cx="3874432" cy="586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8825" tIns="0" rIns="1488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Custom Services</a:t>
              </a:r>
              <a:endParaRPr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B4F6CA-A1B2-E0EE-EC44-FB0E1228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9AC56-0ACD-EEE0-BD4F-FAA38847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4059" y="-3207813"/>
            <a:ext cx="29099694" cy="77160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596E57-45CE-0D88-BF85-1CDE32AD4A0B}"/>
              </a:ext>
            </a:extLst>
          </p:cNvPr>
          <p:cNvSpPr/>
          <p:nvPr/>
        </p:nvSpPr>
        <p:spPr>
          <a:xfrm>
            <a:off x="1629178" y="-2155209"/>
            <a:ext cx="13372697" cy="5986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E3DEE-FBAC-56CF-8579-3EEDC5FE1AC5}"/>
              </a:ext>
            </a:extLst>
          </p:cNvPr>
          <p:cNvSpPr/>
          <p:nvPr/>
        </p:nvSpPr>
        <p:spPr>
          <a:xfrm>
            <a:off x="7683191" y="335856"/>
            <a:ext cx="13372697" cy="5986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27128-B979-4E38-45ED-8B553025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D29B94-4CB3-7E83-6B23-7558E1CE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2F3FB-91CA-923E-8836-CF111D1CA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2582"/>
            <a:ext cx="12192000" cy="32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45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F8F00685-7025-C0B0-647C-1E4CFABB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">
            <a:extLst>
              <a:ext uri="{FF2B5EF4-FFF2-40B4-BE49-F238E27FC236}">
                <a16:creationId xmlns:a16="http://schemas.microsoft.com/office/drawing/2014/main" id="{13A6F135-336F-094C-0349-D0BF0F332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3700"/>
            </a:pPr>
            <a:r>
              <a:rPr lang="en-US" sz="3700"/>
              <a:t>Data Entities</a:t>
            </a:r>
            <a:endParaRPr/>
          </a:p>
        </p:txBody>
      </p:sp>
      <p:grpSp>
        <p:nvGrpSpPr>
          <p:cNvPr id="344" name="Google Shape;344;p8">
            <a:extLst>
              <a:ext uri="{FF2B5EF4-FFF2-40B4-BE49-F238E27FC236}">
                <a16:creationId xmlns:a16="http://schemas.microsoft.com/office/drawing/2014/main" id="{226406EA-D5AA-E989-39B9-7A02DB4B3958}"/>
              </a:ext>
            </a:extLst>
          </p:cNvPr>
          <p:cNvGrpSpPr/>
          <p:nvPr/>
        </p:nvGrpSpPr>
        <p:grpSpPr>
          <a:xfrm>
            <a:off x="394315" y="1359609"/>
            <a:ext cx="11381889" cy="4398017"/>
            <a:chOff x="0" y="2149"/>
            <a:chExt cx="11381889" cy="4398017"/>
          </a:xfrm>
        </p:grpSpPr>
        <p:cxnSp>
          <p:nvCxnSpPr>
            <p:cNvPr id="345" name="Google Shape;345;p8">
              <a:extLst>
                <a:ext uri="{FF2B5EF4-FFF2-40B4-BE49-F238E27FC236}">
                  <a16:creationId xmlns:a16="http://schemas.microsoft.com/office/drawing/2014/main" id="{5DB2E937-E813-6FC2-3002-B3AF222D3DF4}"/>
                </a:ext>
              </a:extLst>
            </p:cNvPr>
            <p:cNvCxnSpPr/>
            <p:nvPr/>
          </p:nvCxnSpPr>
          <p:spPr>
            <a:xfrm>
              <a:off x="0" y="2149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6" name="Google Shape;346;p8">
              <a:extLst>
                <a:ext uri="{FF2B5EF4-FFF2-40B4-BE49-F238E27FC236}">
                  <a16:creationId xmlns:a16="http://schemas.microsoft.com/office/drawing/2014/main" id="{88A60CC9-F19D-915D-563A-F15C6476E2E0}"/>
                </a:ext>
              </a:extLst>
            </p:cNvPr>
            <p:cNvSpPr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8">
              <a:extLst>
                <a:ext uri="{FF2B5EF4-FFF2-40B4-BE49-F238E27FC236}">
                  <a16:creationId xmlns:a16="http://schemas.microsoft.com/office/drawing/2014/main" id="{AEAA1115-8505-1BD2-0C90-A88E7902864B}"/>
                </a:ext>
              </a:extLst>
            </p:cNvPr>
            <p:cNvSpPr txBox="1"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200" dirty="0">
                  <a:solidFill>
                    <a:schemeClr val="dk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What is a Data Entity?</a:t>
              </a:r>
              <a:endParaRPr lang="en-US">
                <a:solidFill>
                  <a:schemeClr val="dk1"/>
                </a:solidFill>
              </a:endParaRPr>
            </a:p>
          </p:txBody>
        </p:sp>
        <p:cxnSp>
          <p:nvCxnSpPr>
            <p:cNvPr id="348" name="Google Shape;348;p8">
              <a:extLst>
                <a:ext uri="{FF2B5EF4-FFF2-40B4-BE49-F238E27FC236}">
                  <a16:creationId xmlns:a16="http://schemas.microsoft.com/office/drawing/2014/main" id="{FD51846B-4844-0104-8812-0391AB906E5C}"/>
                </a:ext>
              </a:extLst>
            </p:cNvPr>
            <p:cNvCxnSpPr/>
            <p:nvPr/>
          </p:nvCxnSpPr>
          <p:spPr>
            <a:xfrm>
              <a:off x="0" y="735152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9" name="Google Shape;349;p8">
              <a:extLst>
                <a:ext uri="{FF2B5EF4-FFF2-40B4-BE49-F238E27FC236}">
                  <a16:creationId xmlns:a16="http://schemas.microsoft.com/office/drawing/2014/main" id="{78851BAF-D688-3E87-00D7-F535FAE00128}"/>
                </a:ext>
              </a:extLst>
            </p:cNvPr>
            <p:cNvSpPr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8">
              <a:extLst>
                <a:ext uri="{FF2B5EF4-FFF2-40B4-BE49-F238E27FC236}">
                  <a16:creationId xmlns:a16="http://schemas.microsoft.com/office/drawing/2014/main" id="{9D0637A6-D91C-3B1D-FEE4-90CCA0583E8B}"/>
                </a:ext>
              </a:extLst>
            </p:cNvPr>
            <p:cNvSpPr txBox="1"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dirty="0">
                  <a:solidFill>
                    <a:schemeClr val="dk1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How To Create A D365 Data Entity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51" name="Google Shape;351;p8">
              <a:extLst>
                <a:ext uri="{FF2B5EF4-FFF2-40B4-BE49-F238E27FC236}">
                  <a16:creationId xmlns:a16="http://schemas.microsoft.com/office/drawing/2014/main" id="{9B35BBA9-F7D7-A7DF-4D1E-B7C35B712459}"/>
                </a:ext>
              </a:extLst>
            </p:cNvPr>
            <p:cNvCxnSpPr/>
            <p:nvPr/>
          </p:nvCxnSpPr>
          <p:spPr>
            <a:xfrm>
              <a:off x="0" y="1468155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52" name="Google Shape;352;p8">
              <a:extLst>
                <a:ext uri="{FF2B5EF4-FFF2-40B4-BE49-F238E27FC236}">
                  <a16:creationId xmlns:a16="http://schemas.microsoft.com/office/drawing/2014/main" id="{199A2656-D6A1-A733-B418-7AF16039A389}"/>
                </a:ext>
              </a:extLst>
            </p:cNvPr>
            <p:cNvSpPr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>
              <a:extLst>
                <a:ext uri="{FF2B5EF4-FFF2-40B4-BE49-F238E27FC236}">
                  <a16:creationId xmlns:a16="http://schemas.microsoft.com/office/drawing/2014/main" id="{BF77EF2D-E80A-D606-36D7-26B0D309CB14}"/>
                </a:ext>
              </a:extLst>
            </p:cNvPr>
            <p:cNvSpPr txBox="1"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200" dirty="0">
                  <a:solidFill>
                    <a:schemeClr val="dk1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How To Use A D365 Data Entity</a:t>
              </a:r>
              <a:endParaRPr lang="en-US">
                <a:solidFill>
                  <a:schemeClr val="dk1"/>
                </a:solidFill>
              </a:endParaRPr>
            </a:p>
          </p:txBody>
        </p:sp>
        <p:cxnSp>
          <p:nvCxnSpPr>
            <p:cNvPr id="354" name="Google Shape;354;p8">
              <a:extLst>
                <a:ext uri="{FF2B5EF4-FFF2-40B4-BE49-F238E27FC236}">
                  <a16:creationId xmlns:a16="http://schemas.microsoft.com/office/drawing/2014/main" id="{97E4FB67-95E9-7F2C-64F5-DCD35C1F8458}"/>
                </a:ext>
              </a:extLst>
            </p:cNvPr>
            <p:cNvCxnSpPr/>
            <p:nvPr/>
          </p:nvCxnSpPr>
          <p:spPr>
            <a:xfrm>
              <a:off x="0" y="2201158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55" name="Google Shape;355;p8">
              <a:extLst>
                <a:ext uri="{FF2B5EF4-FFF2-40B4-BE49-F238E27FC236}">
                  <a16:creationId xmlns:a16="http://schemas.microsoft.com/office/drawing/2014/main" id="{AD595085-7075-9D5A-AD8C-2A4349F99155}"/>
                </a:ext>
              </a:extLst>
            </p:cNvPr>
            <p:cNvSpPr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8">
              <a:extLst>
                <a:ext uri="{FF2B5EF4-FFF2-40B4-BE49-F238E27FC236}">
                  <a16:creationId xmlns:a16="http://schemas.microsoft.com/office/drawing/2014/main" id="{6F906E21-DD7D-A352-F17E-6D96FD7354E9}"/>
                </a:ext>
              </a:extLst>
            </p:cNvPr>
            <p:cNvSpPr txBox="1"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dirty="0">
                  <a:solidFill>
                    <a:schemeClr val="dk1"/>
                  </a:solid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Export Data To Excel In D365</a:t>
              </a:r>
              <a:endParaRPr lang="en-US" sz="2200">
                <a:solidFill>
                  <a:schemeClr val="dk1"/>
                </a:solidFill>
              </a:endParaRPr>
            </a:p>
          </p:txBody>
        </p:sp>
        <p:cxnSp>
          <p:nvCxnSpPr>
            <p:cNvPr id="357" name="Google Shape;357;p8">
              <a:extLst>
                <a:ext uri="{FF2B5EF4-FFF2-40B4-BE49-F238E27FC236}">
                  <a16:creationId xmlns:a16="http://schemas.microsoft.com/office/drawing/2014/main" id="{67B2C5CC-EF0C-88E8-3760-97788AC3BBE0}"/>
                </a:ext>
              </a:extLst>
            </p:cNvPr>
            <p:cNvCxnSpPr/>
            <p:nvPr/>
          </p:nvCxnSpPr>
          <p:spPr>
            <a:xfrm>
              <a:off x="0" y="2934161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58" name="Google Shape;358;p8">
              <a:extLst>
                <a:ext uri="{FF2B5EF4-FFF2-40B4-BE49-F238E27FC236}">
                  <a16:creationId xmlns:a16="http://schemas.microsoft.com/office/drawing/2014/main" id="{C46211BA-16E0-2CB0-0000-A1D122F66769}"/>
                </a:ext>
              </a:extLst>
            </p:cNvPr>
            <p:cNvSpPr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8">
              <a:extLst>
                <a:ext uri="{FF2B5EF4-FFF2-40B4-BE49-F238E27FC236}">
                  <a16:creationId xmlns:a16="http://schemas.microsoft.com/office/drawing/2014/main" id="{596D8822-6B50-37E5-A038-92B863D79F94}"/>
                </a:ext>
              </a:extLst>
            </p:cNvPr>
            <p:cNvSpPr txBox="1"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dirty="0">
                  <a:solidFill>
                    <a:schemeClr val="dk1"/>
                  </a:solidFill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Update Data From Excel in D365</a:t>
              </a:r>
            </a:p>
            <a:p>
              <a:pPr>
                <a:lnSpc>
                  <a:spcPct val="90000"/>
                </a:lnSpc>
                <a:buSzPts val="2200"/>
              </a:pPr>
              <a:endParaRPr lang="en-US" sz="2200" dirty="0">
                <a:solidFill>
                  <a:schemeClr val="dk1"/>
                </a:solidFill>
              </a:endParaRPr>
            </a:p>
          </p:txBody>
        </p:sp>
        <p:cxnSp>
          <p:nvCxnSpPr>
            <p:cNvPr id="360" name="Google Shape;360;p8">
              <a:extLst>
                <a:ext uri="{FF2B5EF4-FFF2-40B4-BE49-F238E27FC236}">
                  <a16:creationId xmlns:a16="http://schemas.microsoft.com/office/drawing/2014/main" id="{58B980FA-FFCB-EE4D-96C9-B21E23B255FC}"/>
                </a:ext>
              </a:extLst>
            </p:cNvPr>
            <p:cNvCxnSpPr/>
            <p:nvPr/>
          </p:nvCxnSpPr>
          <p:spPr>
            <a:xfrm>
              <a:off x="0" y="3667164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61" name="Google Shape;361;p8">
              <a:extLst>
                <a:ext uri="{FF2B5EF4-FFF2-40B4-BE49-F238E27FC236}">
                  <a16:creationId xmlns:a16="http://schemas.microsoft.com/office/drawing/2014/main" id="{45035CF9-F7EA-9DB0-D434-B308FB00FAFC}"/>
                </a:ext>
              </a:extLst>
            </p:cNvPr>
            <p:cNvSpPr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8">
              <a:extLst>
                <a:ext uri="{FF2B5EF4-FFF2-40B4-BE49-F238E27FC236}">
                  <a16:creationId xmlns:a16="http://schemas.microsoft.com/office/drawing/2014/main" id="{5D4D4B8A-2996-1E8A-84D2-B2C34A3AF44B}"/>
                </a:ext>
              </a:extLst>
            </p:cNvPr>
            <p:cNvSpPr txBox="1"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lang="en-US" sz="22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" name="Picture 1" descr="A diagram of data entry&#10;&#10;AI-generated content may be incorrect.">
            <a:extLst>
              <a:ext uri="{FF2B5EF4-FFF2-40B4-BE49-F238E27FC236}">
                <a16:creationId xmlns:a16="http://schemas.microsoft.com/office/drawing/2014/main" id="{CA210A8B-BD1A-A076-AE9B-172F93DD85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8547" y="1247038"/>
            <a:ext cx="5796366" cy="397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4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3700"/>
              <a:buFont typeface="Open Sans ExtraBold"/>
              <a:buNone/>
            </a:pPr>
            <a:r>
              <a:rPr lang="en-US" sz="3700" b="1"/>
              <a:t>OData: REST/JSON for Interactive Workloads</a:t>
            </a:r>
            <a:endParaRPr/>
          </a:p>
        </p:txBody>
      </p:sp>
      <p:grpSp>
        <p:nvGrpSpPr>
          <p:cNvPr id="344" name="Google Shape;344;p8"/>
          <p:cNvGrpSpPr/>
          <p:nvPr/>
        </p:nvGrpSpPr>
        <p:grpSpPr>
          <a:xfrm>
            <a:off x="394315" y="1359609"/>
            <a:ext cx="11381889" cy="4398017"/>
            <a:chOff x="0" y="2149"/>
            <a:chExt cx="11381889" cy="4398017"/>
          </a:xfrm>
        </p:grpSpPr>
        <p:cxnSp>
          <p:nvCxnSpPr>
            <p:cNvPr id="345" name="Google Shape;345;p8"/>
            <p:cNvCxnSpPr/>
            <p:nvPr/>
          </p:nvCxnSpPr>
          <p:spPr>
            <a:xfrm>
              <a:off x="0" y="2149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6" name="Google Shape;346;p8"/>
            <p:cNvSpPr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8"/>
            <p:cNvSpPr txBox="1"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Endpoint: GET https://{env}.dynamics.com/data/CustomersV3</a:t>
              </a:r>
              <a:endParaRPr/>
            </a:p>
          </p:txBody>
        </p:sp>
        <p:cxnSp>
          <p:nvCxnSpPr>
            <p:cNvPr id="348" name="Google Shape;348;p8"/>
            <p:cNvCxnSpPr/>
            <p:nvPr/>
          </p:nvCxnSpPr>
          <p:spPr>
            <a:xfrm>
              <a:off x="0" y="735152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49" name="Google Shape;349;p8"/>
            <p:cNvSpPr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Query operators: $filter, $expand, $select, $top, $skip, $count, $batch</a:t>
              </a:r>
              <a:endParaRPr/>
            </a:p>
          </p:txBody>
        </p:sp>
        <p:cxnSp>
          <p:nvCxnSpPr>
            <p:cNvPr id="351" name="Google Shape;351;p8"/>
            <p:cNvCxnSpPr/>
            <p:nvPr/>
          </p:nvCxnSpPr>
          <p:spPr>
            <a:xfrm>
              <a:off x="0" y="1468155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52" name="Google Shape;352;p8"/>
            <p:cNvSpPr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Cross-company queries require ?cross-company=true plus an explicit dataAreaId filter</a:t>
              </a:r>
              <a:endParaRPr/>
            </a:p>
          </p:txBody>
        </p:sp>
        <p:cxnSp>
          <p:nvCxnSpPr>
            <p:cNvPr id="354" name="Google Shape;354;p8"/>
            <p:cNvCxnSpPr/>
            <p:nvPr/>
          </p:nvCxnSpPr>
          <p:spPr>
            <a:xfrm>
              <a:off x="0" y="2201158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55" name="Google Shape;355;p8"/>
            <p:cNvSpPr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8"/>
            <p:cNvSpPr txBox="1"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Only entities with IsPublic = Yes are exposed</a:t>
              </a:r>
              <a:endParaRPr/>
            </a:p>
          </p:txBody>
        </p:sp>
        <p:cxnSp>
          <p:nvCxnSpPr>
            <p:cNvPr id="357" name="Google Shape;357;p8"/>
            <p:cNvCxnSpPr/>
            <p:nvPr/>
          </p:nvCxnSpPr>
          <p:spPr>
            <a:xfrm>
              <a:off x="0" y="2934161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58" name="Google Shape;358;p8"/>
            <p:cNvSpPr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8"/>
            <p:cNvSpPr txBox="1"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OData actions decorate methods with [SysODataActionAttribute] for hybrid logic on entities</a:t>
              </a:r>
              <a:endParaRPr/>
            </a:p>
          </p:txBody>
        </p:sp>
        <p:cxnSp>
          <p:nvCxnSpPr>
            <p:cNvPr id="360" name="Google Shape;360;p8"/>
            <p:cNvCxnSpPr/>
            <p:nvPr/>
          </p:nvCxnSpPr>
          <p:spPr>
            <a:xfrm>
              <a:off x="0" y="3667164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61" name="Google Shape;361;p8"/>
            <p:cNvSpPr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8"/>
            <p:cNvSpPr txBox="1"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Pin to versioned entity names (CustomersV3, not whatever ships next).</a:t>
              </a:r>
              <a:endPara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3700"/>
              <a:buFont typeface="Open Sans ExtraBold"/>
              <a:buNone/>
            </a:pPr>
            <a:r>
              <a:rPr lang="en-US" sz="3700" b="1"/>
              <a:t>Custom Services: </a:t>
            </a:r>
            <a:r>
              <a:rPr lang="en-US" sz="3700"/>
              <a:t>Resources</a:t>
            </a:r>
            <a:endParaRPr/>
          </a:p>
        </p:txBody>
      </p:sp>
      <p:grpSp>
        <p:nvGrpSpPr>
          <p:cNvPr id="368" name="Google Shape;368;p9"/>
          <p:cNvGrpSpPr/>
          <p:nvPr/>
        </p:nvGrpSpPr>
        <p:grpSpPr>
          <a:xfrm>
            <a:off x="394315" y="1359609"/>
            <a:ext cx="11381889" cy="4398017"/>
            <a:chOff x="0" y="2149"/>
            <a:chExt cx="11381889" cy="4398017"/>
          </a:xfrm>
        </p:grpSpPr>
        <p:cxnSp>
          <p:nvCxnSpPr>
            <p:cNvPr id="369" name="Google Shape;369;p9"/>
            <p:cNvCxnSpPr/>
            <p:nvPr/>
          </p:nvCxnSpPr>
          <p:spPr>
            <a:xfrm>
              <a:off x="0" y="2149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0" name="Google Shape;370;p9"/>
            <p:cNvSpPr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/>
            <p:cNvSpPr txBox="1"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dirty="0">
                  <a:solidFill>
                    <a:schemeClr val="dk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Create A Custom Service in D365</a:t>
              </a:r>
              <a:endParaRPr lang="en-US" sz="2200">
                <a:solidFill>
                  <a:schemeClr val="dk1"/>
                </a:solidFill>
              </a:endParaRPr>
            </a:p>
          </p:txBody>
        </p:sp>
        <p:cxnSp>
          <p:nvCxnSpPr>
            <p:cNvPr id="372" name="Google Shape;372;p9"/>
            <p:cNvCxnSpPr/>
            <p:nvPr/>
          </p:nvCxnSpPr>
          <p:spPr>
            <a:xfrm>
              <a:off x="0" y="735152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3" name="Google Shape;373;p9"/>
            <p:cNvSpPr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 txBox="1"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dirty="0">
                  <a:solidFill>
                    <a:schemeClr val="dk1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Create A Complex Service in D365</a:t>
              </a:r>
              <a:endParaRPr lang="en-US" sz="2200">
                <a:solidFill>
                  <a:schemeClr val="dk1"/>
                </a:solidFill>
              </a:endParaRPr>
            </a:p>
          </p:txBody>
        </p:sp>
        <p:cxnSp>
          <p:nvCxnSpPr>
            <p:cNvPr id="375" name="Google Shape;375;p9"/>
            <p:cNvCxnSpPr/>
            <p:nvPr/>
          </p:nvCxnSpPr>
          <p:spPr>
            <a:xfrm>
              <a:off x="0" y="1468155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6" name="Google Shape;376;p9"/>
            <p:cNvSpPr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 txBox="1"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dk1"/>
                </a:buClr>
                <a:buSzPts val="2200"/>
              </a:pPr>
              <a:r>
                <a:rPr lang="en-US" sz="2200" dirty="0">
                  <a:solidFill>
                    <a:schemeClr val="dk1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Set up Postman To Call D365</a:t>
              </a:r>
              <a:endParaRPr lang="en-US" sz="2200">
                <a:solidFill>
                  <a:schemeClr val="dk1"/>
                </a:solidFill>
              </a:endParaRPr>
            </a:p>
          </p:txBody>
        </p:sp>
        <p:cxnSp>
          <p:nvCxnSpPr>
            <p:cNvPr id="378" name="Google Shape;378;p9"/>
            <p:cNvCxnSpPr/>
            <p:nvPr/>
          </p:nvCxnSpPr>
          <p:spPr>
            <a:xfrm>
              <a:off x="0" y="2201158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9" name="Google Shape;379;p9"/>
            <p:cNvSpPr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 txBox="1"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lang="en-US" sz="2200" dirty="0">
                <a:solidFill>
                  <a:schemeClr val="dk1"/>
                </a:solidFill>
              </a:endParaRPr>
            </a:p>
          </p:txBody>
        </p:sp>
        <p:cxnSp>
          <p:nvCxnSpPr>
            <p:cNvPr id="381" name="Google Shape;381;p9"/>
            <p:cNvCxnSpPr/>
            <p:nvPr/>
          </p:nvCxnSpPr>
          <p:spPr>
            <a:xfrm>
              <a:off x="0" y="2934161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82" name="Google Shape;382;p9"/>
            <p:cNvSpPr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/>
            <p:cNvSpPr txBox="1"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lang="en-US" sz="2200" dirty="0">
                <a:solidFill>
                  <a:schemeClr val="dk1"/>
                </a:solidFill>
              </a:endParaRPr>
            </a:p>
          </p:txBody>
        </p:sp>
        <p:cxnSp>
          <p:nvCxnSpPr>
            <p:cNvPr id="384" name="Google Shape;384;p9"/>
            <p:cNvCxnSpPr/>
            <p:nvPr/>
          </p:nvCxnSpPr>
          <p:spPr>
            <a:xfrm>
              <a:off x="0" y="3667164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85" name="Google Shape;385;p9"/>
            <p:cNvSpPr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/>
            <p:cNvSpPr txBox="1"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lang="en-US" sz="2200" dirty="0">
                <a:solidFill>
                  <a:schemeClr val="dk1"/>
                </a:solidFill>
              </a:endParaRPr>
            </a:p>
          </p:txBody>
        </p:sp>
      </p:grp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C10F85CC-315F-7B58-E5C5-84E6850DBDF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FA702BF7-25E1-D2BE-074A-D0099835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">
            <a:extLst>
              <a:ext uri="{FF2B5EF4-FFF2-40B4-BE49-F238E27FC236}">
                <a16:creationId xmlns:a16="http://schemas.microsoft.com/office/drawing/2014/main" id="{60826687-BA39-A765-F4A6-3662E5B9D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3700"/>
              <a:buFont typeface="Open Sans ExtraBold"/>
              <a:buNone/>
            </a:pPr>
            <a:r>
              <a:rPr lang="en-US" sz="3700" b="1"/>
              <a:t>Custom Services: Business Operations as APIs</a:t>
            </a:r>
            <a:endParaRPr/>
          </a:p>
        </p:txBody>
      </p:sp>
      <p:grpSp>
        <p:nvGrpSpPr>
          <p:cNvPr id="368" name="Google Shape;368;p9">
            <a:extLst>
              <a:ext uri="{FF2B5EF4-FFF2-40B4-BE49-F238E27FC236}">
                <a16:creationId xmlns:a16="http://schemas.microsoft.com/office/drawing/2014/main" id="{86E0A2BD-8463-0FA9-BFD5-4DA03D158F41}"/>
              </a:ext>
            </a:extLst>
          </p:cNvPr>
          <p:cNvGrpSpPr/>
          <p:nvPr/>
        </p:nvGrpSpPr>
        <p:grpSpPr>
          <a:xfrm>
            <a:off x="394315" y="1359609"/>
            <a:ext cx="11381889" cy="4398017"/>
            <a:chOff x="0" y="2149"/>
            <a:chExt cx="11381889" cy="4398017"/>
          </a:xfrm>
        </p:grpSpPr>
        <p:cxnSp>
          <p:nvCxnSpPr>
            <p:cNvPr id="369" name="Google Shape;369;p9">
              <a:extLst>
                <a:ext uri="{FF2B5EF4-FFF2-40B4-BE49-F238E27FC236}">
                  <a16:creationId xmlns:a16="http://schemas.microsoft.com/office/drawing/2014/main" id="{D345D31F-9E67-0E5A-1692-0A9E302ECBC2}"/>
                </a:ext>
              </a:extLst>
            </p:cNvPr>
            <p:cNvCxnSpPr/>
            <p:nvPr/>
          </p:nvCxnSpPr>
          <p:spPr>
            <a:xfrm>
              <a:off x="0" y="2149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0" name="Google Shape;370;p9">
              <a:extLst>
                <a:ext uri="{FF2B5EF4-FFF2-40B4-BE49-F238E27FC236}">
                  <a16:creationId xmlns:a16="http://schemas.microsoft.com/office/drawing/2014/main" id="{47F8AFD8-D381-29D7-9B62-5544BA25F500}"/>
                </a:ext>
              </a:extLst>
            </p:cNvPr>
            <p:cNvSpPr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>
              <a:extLst>
                <a:ext uri="{FF2B5EF4-FFF2-40B4-BE49-F238E27FC236}">
                  <a16:creationId xmlns:a16="http://schemas.microsoft.com/office/drawing/2014/main" id="{CDD4CE99-6E44-C5B1-9511-26C69885519C}"/>
                </a:ext>
              </a:extLst>
            </p:cNvPr>
            <p:cNvSpPr txBox="1"/>
            <p:nvPr/>
          </p:nvSpPr>
          <p:spPr>
            <a:xfrm>
              <a:off x="0" y="2149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when the operation is a verb, not a noun: post invoice, release order, confirm shipment</a:t>
              </a:r>
              <a:endParaRPr/>
            </a:p>
          </p:txBody>
        </p:sp>
        <p:cxnSp>
          <p:nvCxnSpPr>
            <p:cNvPr id="372" name="Google Shape;372;p9">
              <a:extLst>
                <a:ext uri="{FF2B5EF4-FFF2-40B4-BE49-F238E27FC236}">
                  <a16:creationId xmlns:a16="http://schemas.microsoft.com/office/drawing/2014/main" id="{1172CF14-0B3F-8AAA-D633-B10F5C3F6F05}"/>
                </a:ext>
              </a:extLst>
            </p:cNvPr>
            <p:cNvCxnSpPr/>
            <p:nvPr/>
          </p:nvCxnSpPr>
          <p:spPr>
            <a:xfrm>
              <a:off x="0" y="735152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3" name="Google Shape;373;p9">
              <a:extLst>
                <a:ext uri="{FF2B5EF4-FFF2-40B4-BE49-F238E27FC236}">
                  <a16:creationId xmlns:a16="http://schemas.microsoft.com/office/drawing/2014/main" id="{B900ECEC-0910-86E3-57A8-BB858847A655}"/>
                </a:ext>
              </a:extLst>
            </p:cNvPr>
            <p:cNvSpPr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>
              <a:extLst>
                <a:ext uri="{FF2B5EF4-FFF2-40B4-BE49-F238E27FC236}">
                  <a16:creationId xmlns:a16="http://schemas.microsoft.com/office/drawing/2014/main" id="{FEBDF5EF-0AD3-711C-91D9-6B6E47F175F2}"/>
                </a:ext>
              </a:extLst>
            </p:cNvPr>
            <p:cNvSpPr txBox="1"/>
            <p:nvPr/>
          </p:nvSpPr>
          <p:spPr>
            <a:xfrm>
              <a:off x="0" y="735152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X++ class registered to a service group (extend SysOperationServiceBase for async/batch support)</a:t>
              </a:r>
              <a:endParaRPr/>
            </a:p>
          </p:txBody>
        </p:sp>
        <p:cxnSp>
          <p:nvCxnSpPr>
            <p:cNvPr id="375" name="Google Shape;375;p9">
              <a:extLst>
                <a:ext uri="{FF2B5EF4-FFF2-40B4-BE49-F238E27FC236}">
                  <a16:creationId xmlns:a16="http://schemas.microsoft.com/office/drawing/2014/main" id="{BBB291F9-499A-3349-81FC-2E7D1C6B9D1A}"/>
                </a:ext>
              </a:extLst>
            </p:cNvPr>
            <p:cNvCxnSpPr/>
            <p:nvPr/>
          </p:nvCxnSpPr>
          <p:spPr>
            <a:xfrm>
              <a:off x="0" y="1468155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6" name="Google Shape;376;p9">
              <a:extLst>
                <a:ext uri="{FF2B5EF4-FFF2-40B4-BE49-F238E27FC236}">
                  <a16:creationId xmlns:a16="http://schemas.microsoft.com/office/drawing/2014/main" id="{BE5B2368-85A0-B5EE-1601-6A911B83FAC7}"/>
                </a:ext>
              </a:extLst>
            </p:cNvPr>
            <p:cNvSpPr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>
              <a:extLst>
                <a:ext uri="{FF2B5EF4-FFF2-40B4-BE49-F238E27FC236}">
                  <a16:creationId xmlns:a16="http://schemas.microsoft.com/office/drawing/2014/main" id="{39D5AB68-F0A1-4C56-52A0-27F028871C47}"/>
                </a:ext>
              </a:extLst>
            </p:cNvPr>
            <p:cNvSpPr txBox="1"/>
            <p:nvPr/>
          </p:nvSpPr>
          <p:spPr>
            <a:xfrm>
              <a:off x="0" y="1468155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Endpoint pattern: /api/services/{ServiceGroup}/{Service}/{Operation}</a:t>
              </a:r>
              <a:endParaRPr/>
            </a:p>
          </p:txBody>
        </p:sp>
        <p:cxnSp>
          <p:nvCxnSpPr>
            <p:cNvPr id="378" name="Google Shape;378;p9">
              <a:extLst>
                <a:ext uri="{FF2B5EF4-FFF2-40B4-BE49-F238E27FC236}">
                  <a16:creationId xmlns:a16="http://schemas.microsoft.com/office/drawing/2014/main" id="{8D9CE479-9CB4-57A3-69B6-21A0DAEDBFC1}"/>
                </a:ext>
              </a:extLst>
            </p:cNvPr>
            <p:cNvCxnSpPr/>
            <p:nvPr/>
          </p:nvCxnSpPr>
          <p:spPr>
            <a:xfrm>
              <a:off x="0" y="2201158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9" name="Google Shape;379;p9">
              <a:extLst>
                <a:ext uri="{FF2B5EF4-FFF2-40B4-BE49-F238E27FC236}">
                  <a16:creationId xmlns:a16="http://schemas.microsoft.com/office/drawing/2014/main" id="{CDDC2462-C913-AD28-F990-612007E18501}"/>
                </a:ext>
              </a:extLst>
            </p:cNvPr>
            <p:cNvSpPr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>
              <a:extLst>
                <a:ext uri="{FF2B5EF4-FFF2-40B4-BE49-F238E27FC236}">
                  <a16:creationId xmlns:a16="http://schemas.microsoft.com/office/drawing/2014/main" id="{6C47B5E5-15D5-95DF-61E0-9D968002D48F}"/>
                </a:ext>
              </a:extLst>
            </p:cNvPr>
            <p:cNvSpPr txBox="1"/>
            <p:nvPr/>
          </p:nvSpPr>
          <p:spPr>
            <a:xfrm>
              <a:off x="0" y="2201158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Returns JSON over REST; SOAP endpoints exist but are deprecated for new work</a:t>
              </a:r>
              <a:endParaRPr/>
            </a:p>
          </p:txBody>
        </p:sp>
        <p:cxnSp>
          <p:nvCxnSpPr>
            <p:cNvPr id="381" name="Google Shape;381;p9">
              <a:extLst>
                <a:ext uri="{FF2B5EF4-FFF2-40B4-BE49-F238E27FC236}">
                  <a16:creationId xmlns:a16="http://schemas.microsoft.com/office/drawing/2014/main" id="{264DD463-B03C-B9EA-758E-6085375F93B1}"/>
                </a:ext>
              </a:extLst>
            </p:cNvPr>
            <p:cNvCxnSpPr/>
            <p:nvPr/>
          </p:nvCxnSpPr>
          <p:spPr>
            <a:xfrm>
              <a:off x="0" y="2934161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82" name="Google Shape;382;p9">
              <a:extLst>
                <a:ext uri="{FF2B5EF4-FFF2-40B4-BE49-F238E27FC236}">
                  <a16:creationId xmlns:a16="http://schemas.microsoft.com/office/drawing/2014/main" id="{3BB308B9-FBB6-84D3-CF23-AB9B4EA63A39}"/>
                </a:ext>
              </a:extLst>
            </p:cNvPr>
            <p:cNvSpPr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>
              <a:extLst>
                <a:ext uri="{FF2B5EF4-FFF2-40B4-BE49-F238E27FC236}">
                  <a16:creationId xmlns:a16="http://schemas.microsoft.com/office/drawing/2014/main" id="{139E61E4-AF27-3E75-7B9E-F559C9B4D355}"/>
                </a:ext>
              </a:extLst>
            </p:cNvPr>
            <p:cNvSpPr txBox="1"/>
            <p:nvPr/>
          </p:nvSpPr>
          <p:spPr>
            <a:xfrm>
              <a:off x="0" y="2934161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Run heavy work asynchronously via the Batch OData API (SysOperationServiceController)</a:t>
              </a:r>
              <a:endParaRPr/>
            </a:p>
          </p:txBody>
        </p:sp>
        <p:cxnSp>
          <p:nvCxnSpPr>
            <p:cNvPr id="384" name="Google Shape;384;p9">
              <a:extLst>
                <a:ext uri="{FF2B5EF4-FFF2-40B4-BE49-F238E27FC236}">
                  <a16:creationId xmlns:a16="http://schemas.microsoft.com/office/drawing/2014/main" id="{BAD36600-944A-647E-679B-BCEECA579753}"/>
                </a:ext>
              </a:extLst>
            </p:cNvPr>
            <p:cNvCxnSpPr/>
            <p:nvPr/>
          </p:nvCxnSpPr>
          <p:spPr>
            <a:xfrm>
              <a:off x="0" y="3667164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85" name="Google Shape;385;p9">
              <a:extLst>
                <a:ext uri="{FF2B5EF4-FFF2-40B4-BE49-F238E27FC236}">
                  <a16:creationId xmlns:a16="http://schemas.microsoft.com/office/drawing/2014/main" id="{E65706CD-054B-8E0D-8D06-C1DFDF3D2FD6}"/>
                </a:ext>
              </a:extLst>
            </p:cNvPr>
            <p:cNvSpPr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>
              <a:extLst>
                <a:ext uri="{FF2B5EF4-FFF2-40B4-BE49-F238E27FC236}">
                  <a16:creationId xmlns:a16="http://schemas.microsoft.com/office/drawing/2014/main" id="{A488CCC5-990A-EB49-1835-B969E06BB410}"/>
                </a:ext>
              </a:extLst>
            </p:cNvPr>
            <p:cNvSpPr txBox="1"/>
            <p:nvPr/>
          </p:nvSpPr>
          <p:spPr>
            <a:xfrm>
              <a:off x="0" y="3667164"/>
              <a:ext cx="11381889" cy="733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Always wrap server logic in try/catch and surface a structured error contract</a:t>
              </a:r>
              <a:endParaRPr/>
            </a:p>
          </p:txBody>
        </p:sp>
      </p:grp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7DB978FD-84D8-8270-CAAB-131C676620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4970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3700"/>
              <a:buFont typeface="Open Sans ExtraBold"/>
              <a:buNone/>
            </a:pPr>
            <a:r>
              <a:rPr lang="en-US" sz="3700" b="1"/>
              <a:t>Data Management Framework: The Bulk Path</a:t>
            </a:r>
            <a:endParaRPr/>
          </a:p>
        </p:txBody>
      </p:sp>
      <p:grpSp>
        <p:nvGrpSpPr>
          <p:cNvPr id="392" name="Google Shape;392;p10"/>
          <p:cNvGrpSpPr/>
          <p:nvPr/>
        </p:nvGrpSpPr>
        <p:grpSpPr>
          <a:xfrm>
            <a:off x="394315" y="1358884"/>
            <a:ext cx="11381889" cy="4399468"/>
            <a:chOff x="0" y="1424"/>
            <a:chExt cx="11381889" cy="4399468"/>
          </a:xfrm>
        </p:grpSpPr>
        <p:sp>
          <p:nvSpPr>
            <p:cNvPr id="393" name="Google Shape;393;p10"/>
            <p:cNvSpPr/>
            <p:nvPr/>
          </p:nvSpPr>
          <p:spPr>
            <a:xfrm>
              <a:off x="0" y="1424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183564" y="137959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700880" y="1424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0"/>
            <p:cNvSpPr txBox="1"/>
            <p:nvPr/>
          </p:nvSpPr>
          <p:spPr>
            <a:xfrm>
              <a:off x="700880" y="1424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Recurring Integrations API for asynchronous, file-based, high-volume scenarios</a:t>
              </a:r>
              <a:endParaRPr/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0" y="759953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0"/>
            <p:cNvSpPr/>
            <p:nvPr/>
          </p:nvSpPr>
          <p:spPr>
            <a:xfrm>
              <a:off x="183564" y="896488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0"/>
            <p:cNvSpPr/>
            <p:nvPr/>
          </p:nvSpPr>
          <p:spPr>
            <a:xfrm>
              <a:off x="700880" y="759953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0"/>
            <p:cNvSpPr txBox="1"/>
            <p:nvPr/>
          </p:nvSpPr>
          <p:spPr>
            <a:xfrm>
              <a:off x="700880" y="759953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POST /api/connector/enqueue/{activityId}?entity={name} pushes a payload (JSON/XML/CSV/package)</a:t>
              </a: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0" y="1518482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183564" y="1655017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700880" y="1518482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0"/>
            <p:cNvSpPr txBox="1"/>
            <p:nvPr/>
          </p:nvSpPr>
          <p:spPr>
            <a:xfrm>
              <a:off x="700880" y="1518482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GET /api/connector/dequeue/{activityId} + /ack/{messageId} pulls and confirms exports</a:t>
              </a:r>
              <a:endParaRPr/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0" y="2277011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183564" y="2413546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700880" y="2277011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0"/>
            <p:cNvSpPr txBox="1"/>
            <p:nvPr/>
          </p:nvSpPr>
          <p:spPr>
            <a:xfrm>
              <a:off x="700880" y="2277011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Poll job state with GetMessageStatus — terminal states: Processed, PreProcessingError, PostProcessingError</a:t>
              </a:r>
              <a:endParaRPr/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0" y="3035540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183564" y="3172075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700880" y="3035540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0"/>
            <p:cNvSpPr txBox="1"/>
            <p:nvPr/>
          </p:nvSpPr>
          <p:spPr>
            <a:xfrm>
              <a:off x="700880" y="3035540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Composite entities (parent + child like SalesOrderHeader + lines) ship as a single message</a:t>
              </a:r>
              <a:endParaRPr/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0" y="3794069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183564" y="3930604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700880" y="3794069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0"/>
            <p:cNvSpPr txBox="1"/>
            <p:nvPr/>
          </p:nvSpPr>
          <p:spPr>
            <a:xfrm>
              <a:off x="700880" y="3794069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Project staging tables let you inspect failures before they hit production tables</a:t>
              </a:r>
              <a:endParaRPr/>
            </a:p>
          </p:txBody>
        </p:sp>
      </p:grp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94F18E8F-A22C-365C-B89D-F87000973D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Choosing the Right Channel</a:t>
            </a:r>
            <a:endParaRPr/>
          </a:p>
        </p:txBody>
      </p:sp>
      <p:sp>
        <p:nvSpPr>
          <p:cNvPr id="422" name="Google Shape;422;p11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Pick DMF when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Volume is in the thousands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Source is a flat file or feed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Schedule-driven, not event-driven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Errors must be inspected per row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Hybrid options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Virtual entities for Power Platform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Dual-write for Dataverse-bound apps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Composite entities for parent+child</a:t>
            </a:r>
            <a:endParaRPr/>
          </a:p>
        </p:txBody>
      </p:sp>
      <p:grpSp>
        <p:nvGrpSpPr>
          <p:cNvPr id="423" name="Google Shape;423;p11"/>
          <p:cNvGrpSpPr/>
          <p:nvPr/>
        </p:nvGrpSpPr>
        <p:grpSpPr>
          <a:xfrm>
            <a:off x="6150721" y="1424106"/>
            <a:ext cx="5625484" cy="4268699"/>
            <a:chOff x="0" y="76398"/>
            <a:chExt cx="5625484" cy="4268699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76398"/>
              <a:ext cx="5625484" cy="737099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1"/>
            <p:cNvSpPr txBox="1"/>
            <p:nvPr/>
          </p:nvSpPr>
          <p:spPr>
            <a:xfrm>
              <a:off x="35982" y="112380"/>
              <a:ext cx="5553520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Pick OData when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1"/>
            <p:cNvSpPr/>
            <p:nvPr/>
          </p:nvSpPr>
          <p:spPr>
            <a:xfrm>
              <a:off x="0" y="813498"/>
              <a:ext cx="5625484" cy="1583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1"/>
            <p:cNvSpPr txBox="1"/>
            <p:nvPr/>
          </p:nvSpPr>
          <p:spPr>
            <a:xfrm>
              <a:off x="0" y="813498"/>
              <a:ext cx="5625484" cy="1583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8600" tIns="38100" rIns="213350" bIns="381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Sub-second response is required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Volume is small to moderate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CRUD on a single entity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UI or low-latency app is calling</a:t>
              </a:r>
              <a:endParaRPr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0" y="2397048"/>
              <a:ext cx="5625484" cy="737099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1"/>
            <p:cNvSpPr txBox="1"/>
            <p:nvPr/>
          </p:nvSpPr>
          <p:spPr>
            <a:xfrm>
              <a:off x="35982" y="2433030"/>
              <a:ext cx="5553520" cy="665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Pick a Custom Service when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0" y="3134147"/>
              <a:ext cx="5625484" cy="1210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1"/>
            <p:cNvSpPr txBox="1"/>
            <p:nvPr/>
          </p:nvSpPr>
          <p:spPr>
            <a:xfrm>
              <a:off x="0" y="3134147"/>
              <a:ext cx="5625484" cy="1210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8600" tIns="38100" rIns="213350" bIns="381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work is a business action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Logic spans multiple entities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6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Char char="•"/>
              </a:pPr>
              <a:r>
                <a:rPr lang="en-US" sz="23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Caller needs a contract, not a table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100"/>
              <a:buFont typeface="Open Sans ExtraBold"/>
              <a:buNone/>
            </a:pPr>
            <a:r>
              <a:rPr lang="en-US" sz="4100" b="1"/>
              <a:t>Authentication with Microsoft Entra ID</a:t>
            </a:r>
            <a:endParaRPr/>
          </a:p>
        </p:txBody>
      </p:sp>
      <p:grpSp>
        <p:nvGrpSpPr>
          <p:cNvPr id="437" name="Google Shape;437;p12"/>
          <p:cNvGrpSpPr/>
          <p:nvPr/>
        </p:nvGrpSpPr>
        <p:grpSpPr>
          <a:xfrm>
            <a:off x="394315" y="1359609"/>
            <a:ext cx="11381888" cy="4398017"/>
            <a:chOff x="0" y="2149"/>
            <a:chExt cx="11381888" cy="4398017"/>
          </a:xfrm>
        </p:grpSpPr>
        <p:sp>
          <p:nvSpPr>
            <p:cNvPr id="438" name="Google Shape;438;p12"/>
            <p:cNvSpPr/>
            <p:nvPr/>
          </p:nvSpPr>
          <p:spPr>
            <a:xfrm rot="5400000">
              <a:off x="7172198" y="-2930697"/>
              <a:ext cx="1134972" cy="7284408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6D4CC">
                <a:alpha val="90196"/>
              </a:srgbClr>
            </a:solidFill>
            <a:ln w="19050" cap="flat" cmpd="sng">
              <a:solidFill>
                <a:srgbClr val="F6D4CC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2"/>
            <p:cNvSpPr txBox="1"/>
            <p:nvPr/>
          </p:nvSpPr>
          <p:spPr>
            <a:xfrm>
              <a:off x="4097481" y="199425"/>
              <a:ext cx="7229003" cy="1024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26650" rIns="53325" bIns="2665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POST https://login.microsoftonline.com/{tenant}/oauth2/v2.0/token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grant_type=client_credentials &amp; scope={env}/.default</a:t>
              </a:r>
              <a:endParaRPr/>
            </a:p>
          </p:txBody>
        </p:sp>
        <p:sp>
          <p:nvSpPr>
            <p:cNvPr id="440" name="Google Shape;440;p12"/>
            <p:cNvSpPr/>
            <p:nvPr/>
          </p:nvSpPr>
          <p:spPr>
            <a:xfrm>
              <a:off x="0" y="2149"/>
              <a:ext cx="4097480" cy="1418715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2"/>
            <p:cNvSpPr txBox="1"/>
            <p:nvPr/>
          </p:nvSpPr>
          <p:spPr>
            <a:xfrm>
              <a:off x="69256" y="71405"/>
              <a:ext cx="3958968" cy="1280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41900" rIns="83800" bIns="4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All server-to-server integrations use OAuth 2.0 client-credentials against Entra ID</a:t>
              </a:r>
              <a:endParaRPr/>
            </a:p>
          </p:txBody>
        </p:sp>
        <p:sp>
          <p:nvSpPr>
            <p:cNvPr id="442" name="Google Shape;442;p12"/>
            <p:cNvSpPr/>
            <p:nvPr/>
          </p:nvSpPr>
          <p:spPr>
            <a:xfrm rot="5400000">
              <a:off x="7172198" y="-1441045"/>
              <a:ext cx="1134972" cy="7284408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6D4CC">
                <a:alpha val="90196"/>
              </a:srgbClr>
            </a:solidFill>
            <a:ln w="19050" cap="flat" cmpd="sng">
              <a:solidFill>
                <a:srgbClr val="F6D4CC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2"/>
            <p:cNvSpPr txBox="1"/>
            <p:nvPr/>
          </p:nvSpPr>
          <p:spPr>
            <a:xfrm>
              <a:off x="4097481" y="1689077"/>
              <a:ext cx="7229003" cy="1024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26650" rIns="53325" bIns="2665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 Register app in Entra ID — capture tenant, client ID, certificate (preferred over secret)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 Register the app inside F&amp;SCM — System administration &gt; Setup &gt; Microsoft Entra ID applications</a:t>
              </a:r>
              <a:endParaRPr/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 Bind the client ID to a service-account user with least-privilege roles</a:t>
              </a:r>
              <a:endParaRPr/>
            </a:p>
          </p:txBody>
        </p:sp>
        <p:sp>
          <p:nvSpPr>
            <p:cNvPr id="444" name="Google Shape;444;p12"/>
            <p:cNvSpPr/>
            <p:nvPr/>
          </p:nvSpPr>
          <p:spPr>
            <a:xfrm>
              <a:off x="0" y="1491800"/>
              <a:ext cx="4097480" cy="1418715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2"/>
            <p:cNvSpPr txBox="1"/>
            <p:nvPr/>
          </p:nvSpPr>
          <p:spPr>
            <a:xfrm>
              <a:off x="69256" y="1561056"/>
              <a:ext cx="3958968" cy="1280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41900" rIns="83800" bIns="4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Three setup steps in F&amp;SCM</a:t>
              </a:r>
              <a:endParaRPr/>
            </a:p>
          </p:txBody>
        </p:sp>
        <p:sp>
          <p:nvSpPr>
            <p:cNvPr id="446" name="Google Shape;446;p12"/>
            <p:cNvSpPr/>
            <p:nvPr/>
          </p:nvSpPr>
          <p:spPr>
            <a:xfrm>
              <a:off x="0" y="2981451"/>
              <a:ext cx="4097480" cy="1418715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2"/>
            <p:cNvSpPr txBox="1"/>
            <p:nvPr/>
          </p:nvSpPr>
          <p:spPr>
            <a:xfrm>
              <a:off x="69256" y="3050707"/>
              <a:ext cx="3958968" cy="1280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41900" rIns="83800" bIns="4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 app registration per logical integration — never share a single service account</a:t>
              </a:r>
              <a:endParaRPr/>
            </a:p>
          </p:txBody>
        </p:sp>
      </p:grp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56D4CDB5-4387-DADE-1CC0-3E596606A4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 dirty="0"/>
              <a:t>Idempotency: Safe to Retry</a:t>
            </a:r>
            <a:endParaRPr dirty="0"/>
          </a:p>
        </p:txBody>
      </p:sp>
      <p:sp>
        <p:nvSpPr>
          <p:cNvPr id="453" name="Google Shape;453;p13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560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Why it matters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Networks fail mid-flight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Timeouts hide successful posts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Blind retries create duplicates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/>
              <a:t>OData PATCH on a natural key is naturally idempotent.</a:t>
            </a:r>
            <a:endParaRPr/>
          </a:p>
        </p:txBody>
      </p:sp>
      <p:sp>
        <p:nvSpPr>
          <p:cNvPr id="454" name="Google Shape;454;p13"/>
          <p:cNvSpPr txBox="1">
            <a:spLocks noGrp="1"/>
          </p:cNvSpPr>
          <p:nvPr>
            <p:ph type="body" idx="1"/>
          </p:nvPr>
        </p:nvSpPr>
        <p:spPr>
          <a:xfrm>
            <a:off x="6200000" y="1347708"/>
            <a:ext cx="560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5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Patterns that work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 a client-generated correlation ID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Persist the messageId from DMF enqueue before ack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a de-dupe table keyed on correlation ID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the original result on duplicate detection — never reprocess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Treat 409/412 conflicts as success on retry</a:t>
            </a:r>
            <a:endParaRPr/>
          </a:p>
        </p:txBody>
      </p: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6FE066AB-1049-4A9B-E587-01ECE886B5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"/>
          <p:cNvSpPr txBox="1">
            <a:spLocks noGrp="1"/>
          </p:cNvSpPr>
          <p:nvPr>
            <p:ph type="title"/>
          </p:nvPr>
        </p:nvSpPr>
        <p:spPr>
          <a:xfrm>
            <a:off x="831850" y="20240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7A15"/>
              </a:buClr>
              <a:buSzPts val="7200"/>
              <a:buFont typeface="Open Sans ExtraBold"/>
              <a:buNone/>
            </a:pPr>
            <a:r>
              <a:rPr lang="en-US" b="1"/>
              <a:t>Section 2: Error Handling &amp; Recovery</a:t>
            </a:r>
            <a:endParaRPr/>
          </a:p>
        </p:txBody>
      </p:sp>
      <p:sp>
        <p:nvSpPr>
          <p:cNvPr id="460" name="Google Shape;460;p14"/>
          <p:cNvSpPr txBox="1">
            <a:spLocks noGrp="1"/>
          </p:cNvSpPr>
          <p:nvPr>
            <p:ph type="body" idx="1"/>
          </p:nvPr>
        </p:nvSpPr>
        <p:spPr>
          <a:xfrm>
            <a:off x="831850" y="350841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6010"/>
              </a:buClr>
              <a:buSzPts val="3200"/>
              <a:buNone/>
            </a:pPr>
            <a:r>
              <a:rPr lang="en-US" i="1"/>
              <a:t>Plan for the failure modes you will hit on day one in production.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Transient vs. Permanent Failures</a:t>
            </a:r>
            <a:endParaRPr/>
          </a:p>
        </p:txBody>
      </p:sp>
      <p:grpSp>
        <p:nvGrpSpPr>
          <p:cNvPr id="466" name="Google Shape;466;p15"/>
          <p:cNvGrpSpPr/>
          <p:nvPr/>
        </p:nvGrpSpPr>
        <p:grpSpPr>
          <a:xfrm>
            <a:off x="394315" y="1357997"/>
            <a:ext cx="11381889" cy="4401241"/>
            <a:chOff x="0" y="537"/>
            <a:chExt cx="11381889" cy="4401241"/>
          </a:xfrm>
        </p:grpSpPr>
        <p:sp>
          <p:nvSpPr>
            <p:cNvPr id="467" name="Google Shape;467;p15"/>
            <p:cNvSpPr/>
            <p:nvPr/>
          </p:nvSpPr>
          <p:spPr>
            <a:xfrm>
              <a:off x="0" y="537"/>
              <a:ext cx="11381889" cy="1257497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380393" y="283474"/>
              <a:ext cx="691623" cy="691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1452409" y="537"/>
              <a:ext cx="5121850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5"/>
            <p:cNvSpPr txBox="1"/>
            <p:nvPr/>
          </p:nvSpPr>
          <p:spPr>
            <a:xfrm>
              <a:off x="1452409" y="537"/>
              <a:ext cx="5121850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075" tIns="133075" rIns="133075" bIns="1330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Transient — retry with backoff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6574259" y="537"/>
              <a:ext cx="4807629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5"/>
            <p:cNvSpPr txBox="1"/>
            <p:nvPr/>
          </p:nvSpPr>
          <p:spPr>
            <a:xfrm>
              <a:off x="6574259" y="537"/>
              <a:ext cx="4807629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075" tIns="133075" rIns="133075" bIns="1330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HTTP 408 Request Timeout, 429 Too Many Requests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HTTP 502 / 503 / 504 from gateway or AOS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 timeouts and TLS handshake errors</a:t>
              </a:r>
              <a:endParaRPr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0" y="1572409"/>
              <a:ext cx="11381889" cy="1257497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380393" y="1855346"/>
              <a:ext cx="691623" cy="691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1452409" y="1572409"/>
              <a:ext cx="5121850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5"/>
            <p:cNvSpPr txBox="1"/>
            <p:nvPr/>
          </p:nvSpPr>
          <p:spPr>
            <a:xfrm>
              <a:off x="1452409" y="1572409"/>
              <a:ext cx="5121850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075" tIns="133075" rIns="133075" bIns="1330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Permanent — route to dead-letter, alert, do not retry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6574259" y="1572409"/>
              <a:ext cx="4807629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5"/>
            <p:cNvSpPr txBox="1"/>
            <p:nvPr/>
          </p:nvSpPr>
          <p:spPr>
            <a:xfrm>
              <a:off x="6574259" y="1572409"/>
              <a:ext cx="4807629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075" tIns="133075" rIns="133075" bIns="1330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HTTP 400 / 401 / 403 / 404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422 validation failures (bad data shape)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DMF PreProcessingError on malformed payload</a:t>
              </a:r>
              <a:endParaRPr/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0" y="3144281"/>
              <a:ext cx="11381889" cy="1257497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380393" y="3427218"/>
              <a:ext cx="691623" cy="691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1452409" y="3144281"/>
              <a:ext cx="9929479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5"/>
            <p:cNvSpPr txBox="1"/>
            <p:nvPr/>
          </p:nvSpPr>
          <p:spPr>
            <a:xfrm>
              <a:off x="1452409" y="3144281"/>
              <a:ext cx="9929479" cy="1257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075" tIns="133075" rIns="133075" bIns="1330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Treat anything else as transient until proven otherwise.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HTTP 429: Honor Retry-After</a:t>
            </a:r>
            <a:endParaRPr/>
          </a:p>
        </p:txBody>
      </p:sp>
      <p:sp>
        <p:nvSpPr>
          <p:cNvPr id="488" name="Google Shape;488;p16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/>
              <a:t>Reference handler (C#)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if ((int)response.StatusCode == 429)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int s = 30;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if (response.Headers.Contains("Retry-After"))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  s = int.Parse(response.Headers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    .GetValues("Retry-After").First());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Thread.Sleep(TimeSpan.FromSeconds(s));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 // retry the request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}</a:t>
            </a:r>
            <a:endParaRPr/>
          </a:p>
        </p:txBody>
      </p:sp>
      <p:grpSp>
        <p:nvGrpSpPr>
          <p:cNvPr id="489" name="Google Shape;489;p16"/>
          <p:cNvGrpSpPr/>
          <p:nvPr/>
        </p:nvGrpSpPr>
        <p:grpSpPr>
          <a:xfrm>
            <a:off x="6150721" y="1397241"/>
            <a:ext cx="5625484" cy="4322429"/>
            <a:chOff x="0" y="49533"/>
            <a:chExt cx="5625484" cy="4322429"/>
          </a:xfrm>
        </p:grpSpPr>
        <p:sp>
          <p:nvSpPr>
            <p:cNvPr id="490" name="Google Shape;490;p16"/>
            <p:cNvSpPr/>
            <p:nvPr/>
          </p:nvSpPr>
          <p:spPr>
            <a:xfrm>
              <a:off x="0" y="49533"/>
              <a:ext cx="5625484" cy="1117934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 txBox="1"/>
            <p:nvPr/>
          </p:nvSpPr>
          <p:spPr>
            <a:xfrm>
              <a:off x="54573" y="104106"/>
              <a:ext cx="5516338" cy="1008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contract</a:t>
              </a: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0" y="1167467"/>
              <a:ext cx="5625484" cy="2086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 txBox="1"/>
            <p:nvPr/>
          </p:nvSpPr>
          <p:spPr>
            <a:xfrm>
              <a:off x="0" y="1167467"/>
              <a:ext cx="5625484" cy="2086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8600" tIns="35550" rIns="199125" bIns="3555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F&amp;SCM returns 429 with a Retry-After header in seconds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4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Aggressive retries during throttling worsen the problem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4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Repeat offenders get de-prioritized further</a:t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0" y="3254028"/>
              <a:ext cx="5625484" cy="1117934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 txBox="1"/>
            <p:nvPr/>
          </p:nvSpPr>
          <p:spPr>
            <a:xfrm>
              <a:off x="54573" y="3308601"/>
              <a:ext cx="5516338" cy="1008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1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Sleep first, then retry — exactly what the platform asked for.</a:t>
              </a: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</a:pPr>
            <a:r>
              <a:rPr lang="en-US" b="1"/>
              <a:t>Exponential Backoff with Jitter</a:t>
            </a:r>
            <a:endParaRPr/>
          </a:p>
        </p:txBody>
      </p:sp>
      <p:grpSp>
        <p:nvGrpSpPr>
          <p:cNvPr id="501" name="Google Shape;501;p17"/>
          <p:cNvGrpSpPr/>
          <p:nvPr/>
        </p:nvGrpSpPr>
        <p:grpSpPr>
          <a:xfrm>
            <a:off x="735190" y="1418875"/>
            <a:ext cx="10700137" cy="4279486"/>
            <a:chOff x="340875" y="61415"/>
            <a:chExt cx="10700137" cy="4279486"/>
          </a:xfrm>
        </p:grpSpPr>
        <p:sp>
          <p:nvSpPr>
            <p:cNvPr id="502" name="Google Shape;502;p17"/>
            <p:cNvSpPr/>
            <p:nvPr/>
          </p:nvSpPr>
          <p:spPr>
            <a:xfrm>
              <a:off x="340875" y="6141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535664" y="25620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1467205" y="6141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7"/>
            <p:cNvSpPr txBox="1"/>
            <p:nvPr/>
          </p:nvSpPr>
          <p:spPr>
            <a:xfrm>
              <a:off x="1467205" y="6141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Layer backoff on top of Retry-After for transient 5xx and network errors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4034576" y="6141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4229365" y="25620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5160906" y="6141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7"/>
            <p:cNvSpPr txBox="1"/>
            <p:nvPr/>
          </p:nvSpPr>
          <p:spPr>
            <a:xfrm>
              <a:off x="5160906" y="6141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delay = min(cap, base * 2^attempt) + random(0, jitter)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7728277" y="6141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7923066" y="25620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8854607" y="6141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7"/>
            <p:cNvSpPr txBox="1"/>
            <p:nvPr/>
          </p:nvSpPr>
          <p:spPr>
            <a:xfrm>
              <a:off x="8854607" y="6141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Recommended starting values: base = 1s, cap = 60s, jitter = 1s, max attempts = 5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7"/>
            <p:cNvSpPr/>
            <p:nvPr/>
          </p:nvSpPr>
          <p:spPr>
            <a:xfrm>
              <a:off x="340875" y="173737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7"/>
            <p:cNvSpPr/>
            <p:nvPr/>
          </p:nvSpPr>
          <p:spPr>
            <a:xfrm>
              <a:off x="535664" y="193216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1467205" y="173737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7"/>
            <p:cNvSpPr txBox="1"/>
            <p:nvPr/>
          </p:nvSpPr>
          <p:spPr>
            <a:xfrm>
              <a:off x="1467205" y="173737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 jitter to prevent thundering-herd retries from synchronized clients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4034576" y="173737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4229365" y="193216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5160906" y="173737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7"/>
            <p:cNvSpPr txBox="1"/>
            <p:nvPr/>
          </p:nvSpPr>
          <p:spPr>
            <a:xfrm>
              <a:off x="5160906" y="173737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attempt counter on every successful response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7728277" y="173737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7923066" y="193216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7"/>
            <p:cNvSpPr/>
            <p:nvPr/>
          </p:nvSpPr>
          <p:spPr>
            <a:xfrm>
              <a:off x="8854607" y="173737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7"/>
            <p:cNvSpPr txBox="1"/>
            <p:nvPr/>
          </p:nvSpPr>
          <p:spPr>
            <a:xfrm>
              <a:off x="8854607" y="173737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Trip a circuit breaker after N consecutive failures — fail fast, page the on-call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340875" y="341333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535664" y="360812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1467205" y="341333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7"/>
            <p:cNvSpPr txBox="1"/>
            <p:nvPr/>
          </p:nvSpPr>
          <p:spPr>
            <a:xfrm>
              <a:off x="1467205" y="341333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Log every retry with: correlation ID, attempt #, Retry-After value, final status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8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</a:pPr>
            <a:r>
              <a:rPr lang="en-US" b="1"/>
              <a:t>Validate Before You Send</a:t>
            </a:r>
            <a:endParaRPr/>
          </a:p>
        </p:txBody>
      </p:sp>
      <p:grpSp>
        <p:nvGrpSpPr>
          <p:cNvPr id="535" name="Google Shape;535;p18"/>
          <p:cNvGrpSpPr/>
          <p:nvPr/>
        </p:nvGrpSpPr>
        <p:grpSpPr>
          <a:xfrm>
            <a:off x="394315" y="1357997"/>
            <a:ext cx="11381889" cy="4401241"/>
            <a:chOff x="0" y="537"/>
            <a:chExt cx="11381889" cy="4401241"/>
          </a:xfrm>
        </p:grpSpPr>
        <p:cxnSp>
          <p:nvCxnSpPr>
            <p:cNvPr id="536" name="Google Shape;536;p18"/>
            <p:cNvCxnSpPr/>
            <p:nvPr/>
          </p:nvCxnSpPr>
          <p:spPr>
            <a:xfrm>
              <a:off x="0" y="537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37" name="Google Shape;537;p18"/>
            <p:cNvSpPr/>
            <p:nvPr/>
          </p:nvSpPr>
          <p:spPr>
            <a:xfrm>
              <a:off x="0" y="537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8"/>
            <p:cNvSpPr txBox="1"/>
            <p:nvPr/>
          </p:nvSpPr>
          <p:spPr>
            <a:xfrm>
              <a:off x="0" y="537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Validate at the integration boundary — fail in your code, not on the AOS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9" name="Google Shape;539;p18"/>
            <p:cNvCxnSpPr/>
            <p:nvPr/>
          </p:nvCxnSpPr>
          <p:spPr>
            <a:xfrm>
              <a:off x="0" y="629286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0" name="Google Shape;540;p18"/>
            <p:cNvSpPr/>
            <p:nvPr/>
          </p:nvSpPr>
          <p:spPr>
            <a:xfrm>
              <a:off x="0" y="629286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8"/>
            <p:cNvSpPr txBox="1"/>
            <p:nvPr/>
          </p:nvSpPr>
          <p:spPr>
            <a:xfrm>
              <a:off x="0" y="629286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Required fields, formats, lookup values, enum values, foreign keys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2" name="Google Shape;542;p18"/>
            <p:cNvCxnSpPr/>
            <p:nvPr/>
          </p:nvCxnSpPr>
          <p:spPr>
            <a:xfrm>
              <a:off x="0" y="1258035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3" name="Google Shape;543;p18"/>
            <p:cNvSpPr/>
            <p:nvPr/>
          </p:nvSpPr>
          <p:spPr>
            <a:xfrm>
              <a:off x="0" y="1258035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8"/>
            <p:cNvSpPr txBox="1"/>
            <p:nvPr/>
          </p:nvSpPr>
          <p:spPr>
            <a:xfrm>
              <a:off x="0" y="1258035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Run a schema diff against the entity metadata document at deploy time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5" name="Google Shape;545;p18"/>
            <p:cNvCxnSpPr/>
            <p:nvPr/>
          </p:nvCxnSpPr>
          <p:spPr>
            <a:xfrm>
              <a:off x="0" y="1886784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6" name="Google Shape;546;p18"/>
            <p:cNvSpPr/>
            <p:nvPr/>
          </p:nvSpPr>
          <p:spPr>
            <a:xfrm>
              <a:off x="0" y="1886784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8"/>
            <p:cNvSpPr txBox="1"/>
            <p:nvPr/>
          </p:nvSpPr>
          <p:spPr>
            <a:xfrm>
              <a:off x="0" y="1886784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$select to pin the exact field list — additive changes never break you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" name="Google Shape;548;p18"/>
            <p:cNvCxnSpPr/>
            <p:nvPr/>
          </p:nvCxnSpPr>
          <p:spPr>
            <a:xfrm>
              <a:off x="0" y="2515532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49" name="Google Shape;549;p18"/>
            <p:cNvSpPr/>
            <p:nvPr/>
          </p:nvSpPr>
          <p:spPr>
            <a:xfrm>
              <a:off x="0" y="2515532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8"/>
            <p:cNvSpPr txBox="1"/>
            <p:nvPr/>
          </p:nvSpPr>
          <p:spPr>
            <a:xfrm>
              <a:off x="0" y="2515532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 the F&amp;SCM side, validate inside doInsert / validateWrite, not in posting code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1" name="Google Shape;551;p18"/>
            <p:cNvCxnSpPr/>
            <p:nvPr/>
          </p:nvCxnSpPr>
          <p:spPr>
            <a:xfrm>
              <a:off x="0" y="3144281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52" name="Google Shape;552;p18"/>
            <p:cNvSpPr/>
            <p:nvPr/>
          </p:nvSpPr>
          <p:spPr>
            <a:xfrm>
              <a:off x="0" y="3144281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8"/>
            <p:cNvSpPr txBox="1"/>
            <p:nvPr/>
          </p:nvSpPr>
          <p:spPr>
            <a:xfrm>
              <a:off x="0" y="3144281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Build a sandbox replay harness — last week's payloads, this week's code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4" name="Google Shape;554;p18"/>
            <p:cNvCxnSpPr/>
            <p:nvPr/>
          </p:nvCxnSpPr>
          <p:spPr>
            <a:xfrm>
              <a:off x="0" y="3773030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55" name="Google Shape;555;p18"/>
            <p:cNvSpPr/>
            <p:nvPr/>
          </p:nvSpPr>
          <p:spPr>
            <a:xfrm>
              <a:off x="0" y="3773030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8"/>
            <p:cNvSpPr txBox="1"/>
            <p:nvPr/>
          </p:nvSpPr>
          <p:spPr>
            <a:xfrm>
              <a:off x="0" y="3773030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Bad data caught early is cheap. Bad data caught at month-end is a war room.</a:t>
              </a:r>
              <a:endPara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FEF82A24-6DDF-FAE3-B053-78FEE48F9E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>
          <a:extLst>
            <a:ext uri="{FF2B5EF4-FFF2-40B4-BE49-F238E27FC236}">
              <a16:creationId xmlns:a16="http://schemas.microsoft.com/office/drawing/2014/main" id="{1C1DAD01-6EEF-4064-89F0-C2B65472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7A90D-573E-7AE7-0A67-D1B98E3C4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option</a:t>
            </a:r>
            <a:r>
              <a:rPr lang="en-US"/>
              <a:t> is to insert the data into a staging table, and have a batch job process it after it makes it into D365.</a:t>
            </a:r>
          </a:p>
          <a:p>
            <a:r>
              <a:rPr lang="en-US"/>
              <a:t>Add logging tables that relates to the staged data and make it visible in the form.</a:t>
            </a:r>
          </a:p>
          <a:p>
            <a:r>
              <a:rPr lang="en-US"/>
              <a:t>Add a button for retrying a record or records after you fix the issue.</a:t>
            </a:r>
          </a:p>
          <a:p>
            <a:r>
              <a:rPr lang="en-US" dirty="0"/>
              <a:t>Add </a:t>
            </a:r>
            <a:r>
              <a:rPr lang="en-US"/>
              <a:t>statuses</a:t>
            </a:r>
            <a:r>
              <a:rPr lang="en-US" dirty="0"/>
              <a:t> of say 'to be processed', 'error', and complete.</a:t>
            </a:r>
          </a:p>
          <a:p>
            <a:r>
              <a:rPr lang="en-US"/>
              <a:t>Put the end user in control to solve more problems</a:t>
            </a:r>
            <a:endParaRPr lang="en-US" dirty="0"/>
          </a:p>
        </p:txBody>
      </p:sp>
      <p:sp>
        <p:nvSpPr>
          <p:cNvPr id="534" name="Google Shape;534;p18">
            <a:extLst>
              <a:ext uri="{FF2B5EF4-FFF2-40B4-BE49-F238E27FC236}">
                <a16:creationId xmlns:a16="http://schemas.microsoft.com/office/drawing/2014/main" id="{B7CC890C-953E-9B4F-7369-CBD55D9D4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/>
              <a:t>Workbench Form and Staging Table</a:t>
            </a:r>
            <a:endParaRPr/>
          </a:p>
        </p:txBody>
      </p: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4CEFF7FF-937C-8D64-0E62-83B723C9BA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500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"/>
          <p:cNvSpPr txBox="1">
            <a:spLocks noGrp="1"/>
          </p:cNvSpPr>
          <p:nvPr>
            <p:ph type="title"/>
          </p:nvPr>
        </p:nvSpPr>
        <p:spPr>
          <a:xfrm>
            <a:off x="831850" y="20240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7D22"/>
              </a:buClr>
              <a:buSzPts val="4000"/>
              <a:buFont typeface="Open Sans ExtraBold"/>
              <a:buNone/>
            </a:pPr>
            <a:r>
              <a:rPr lang="en-US" sz="4000" b="1"/>
              <a:t>Section 3: Performance Optimization</a:t>
            </a:r>
            <a:endParaRPr/>
          </a:p>
        </p:txBody>
      </p:sp>
      <p:sp>
        <p:nvSpPr>
          <p:cNvPr id="562" name="Google Shape;562;p19"/>
          <p:cNvSpPr txBox="1">
            <a:spLocks noGrp="1"/>
          </p:cNvSpPr>
          <p:nvPr>
            <p:ph type="body" idx="1"/>
          </p:nvPr>
        </p:nvSpPr>
        <p:spPr>
          <a:xfrm>
            <a:off x="831850" y="350841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A000"/>
              </a:buClr>
              <a:buSzPts val="3200"/>
              <a:buNone/>
            </a:pPr>
            <a:r>
              <a:rPr lang="en-US" i="1"/>
              <a:t>Batch, set-based, parallel — and prove it with telemetry.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0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OData $batch: Bundle Your Requests</a:t>
            </a:r>
            <a:endParaRPr/>
          </a:p>
        </p:txBody>
      </p:sp>
      <p:grpSp>
        <p:nvGrpSpPr>
          <p:cNvPr id="568" name="Google Shape;568;p20"/>
          <p:cNvGrpSpPr/>
          <p:nvPr/>
        </p:nvGrpSpPr>
        <p:grpSpPr>
          <a:xfrm>
            <a:off x="394315" y="1358884"/>
            <a:ext cx="11381889" cy="4399468"/>
            <a:chOff x="0" y="1424"/>
            <a:chExt cx="11381889" cy="4399468"/>
          </a:xfrm>
        </p:grpSpPr>
        <p:sp>
          <p:nvSpPr>
            <p:cNvPr id="569" name="Google Shape;569;p20"/>
            <p:cNvSpPr/>
            <p:nvPr/>
          </p:nvSpPr>
          <p:spPr>
            <a:xfrm>
              <a:off x="0" y="1424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183564" y="137959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700880" y="1424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 txBox="1"/>
            <p:nvPr/>
          </p:nvSpPr>
          <p:spPr>
            <a:xfrm>
              <a:off x="700880" y="1424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Endpoint: POST /data/$batch — bundle up to 1,000 sub-requests in one round-trip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0" y="759953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183564" y="896488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00880" y="759953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 txBox="1"/>
            <p:nvPr/>
          </p:nvSpPr>
          <p:spPr>
            <a:xfrm>
              <a:off x="700880" y="759953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Optional change sets group writes into atomic units within the batch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0" y="1518482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183564" y="1655017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00880" y="1518482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 txBox="1"/>
            <p:nvPr/>
          </p:nvSpPr>
          <p:spPr>
            <a:xfrm>
              <a:off x="700880" y="1518482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Default page size is 1,000; max 10,000 rows per page with Prefer: odata.maxpagesize=10000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0" y="2277011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183564" y="2413546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700880" y="2277011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 txBox="1"/>
            <p:nvPr/>
          </p:nvSpPr>
          <p:spPr>
            <a:xfrm>
              <a:off x="700880" y="2277011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Each change set is atomic; the batch as a whole is NOT — group related writes together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0" y="3035540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183564" y="3172075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700880" y="3035540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 txBox="1"/>
            <p:nvPr/>
          </p:nvSpPr>
          <p:spPr>
            <a:xfrm>
              <a:off x="700880" y="3035540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Prefer: return=minimal on bulk inserts to skip echoing the resource payload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0" y="3794069"/>
              <a:ext cx="11381889" cy="606823"/>
            </a:xfrm>
            <a:prstGeom prst="roundRect">
              <a:avLst>
                <a:gd name="adj" fmla="val 10000"/>
              </a:avLst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183564" y="3930604"/>
              <a:ext cx="333752" cy="333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700880" y="3794069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 txBox="1"/>
            <p:nvPr/>
          </p:nvSpPr>
          <p:spPr>
            <a:xfrm>
              <a:off x="700880" y="3794069"/>
              <a:ext cx="10681008" cy="606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200" tIns="64200" rIns="64200" bIns="64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One $batch call beats one thousand round-trips — every time.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22A1CFE3-724B-2E23-86A7-B1D3E200DC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1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Set-Based vs. Row-by-Row in X++</a:t>
            </a:r>
            <a:endParaRPr/>
          </a:p>
        </p:txBody>
      </p:sp>
      <p:sp>
        <p:nvSpPr>
          <p:cNvPr id="598" name="Google Shape;598;p21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Silent fallback to row-by-row when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Database log is enabled on the table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Alerts are configured on the table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Row-level security is active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Override of insert / update / delete exists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DeleteAction cascades are defined</a:t>
            </a:r>
            <a:endParaRPr/>
          </a:p>
        </p:txBody>
      </p:sp>
      <p:sp>
        <p:nvSpPr>
          <p:cNvPr id="599" name="Google Shape;599;p21"/>
          <p:cNvSpPr txBox="1">
            <a:spLocks noGrp="1"/>
          </p:cNvSpPr>
          <p:nvPr>
            <p:ph type="body" idx="2"/>
          </p:nvPr>
        </p:nvSpPr>
        <p:spPr>
          <a:xfrm>
            <a:off x="6150721" y="1347708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1"/>
              <a:t>The right way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insert_recordset dest (FieldA, FieldB)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    select FieldA, FieldB from src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    where src.Status == Status::Open;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update_recordset cust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    setting CreditLimit = 50000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    where cust.Group == 'GOLD';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2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</a:pPr>
            <a:r>
              <a:rPr lang="en-US" b="1"/>
              <a:t>Parallel Processing Patterns</a:t>
            </a:r>
            <a:endParaRPr/>
          </a:p>
        </p:txBody>
      </p:sp>
      <p:grpSp>
        <p:nvGrpSpPr>
          <p:cNvPr id="605" name="Google Shape;605;p22"/>
          <p:cNvGrpSpPr/>
          <p:nvPr/>
        </p:nvGrpSpPr>
        <p:grpSpPr>
          <a:xfrm>
            <a:off x="735190" y="2256855"/>
            <a:ext cx="10700137" cy="2603526"/>
            <a:chOff x="340875" y="899395"/>
            <a:chExt cx="10700137" cy="2603526"/>
          </a:xfrm>
        </p:grpSpPr>
        <p:sp>
          <p:nvSpPr>
            <p:cNvPr id="606" name="Google Shape;606;p22"/>
            <p:cNvSpPr/>
            <p:nvPr/>
          </p:nvSpPr>
          <p:spPr>
            <a:xfrm>
              <a:off x="340875" y="89939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535664" y="109418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2"/>
            <p:cNvSpPr/>
            <p:nvPr/>
          </p:nvSpPr>
          <p:spPr>
            <a:xfrm>
              <a:off x="1467205" y="89939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2"/>
            <p:cNvSpPr txBox="1"/>
            <p:nvPr/>
          </p:nvSpPr>
          <p:spPr>
            <a:xfrm>
              <a:off x="1467205" y="89939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Partition by a stable key — company, date range, customer group — never random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2"/>
            <p:cNvSpPr/>
            <p:nvPr/>
          </p:nvSpPr>
          <p:spPr>
            <a:xfrm>
              <a:off x="4034576" y="89939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2"/>
            <p:cNvSpPr/>
            <p:nvPr/>
          </p:nvSpPr>
          <p:spPr>
            <a:xfrm>
              <a:off x="4229365" y="109418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5160906" y="89939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2"/>
            <p:cNvSpPr txBox="1"/>
            <p:nvPr/>
          </p:nvSpPr>
          <p:spPr>
            <a:xfrm>
              <a:off x="5160906" y="89939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the SysOperation framework for batch bundles with controlled parallelism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7728277" y="89939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7923066" y="109418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8854607" y="89939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2"/>
            <p:cNvSpPr txBox="1"/>
            <p:nvPr/>
          </p:nvSpPr>
          <p:spPr>
            <a:xfrm>
              <a:off x="8854607" y="89939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Schedule async work via the Batch OData API (SysOperationServiceController)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2"/>
            <p:cNvSpPr/>
            <p:nvPr/>
          </p:nvSpPr>
          <p:spPr>
            <a:xfrm>
              <a:off x="340875" y="257535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2"/>
            <p:cNvSpPr/>
            <p:nvPr/>
          </p:nvSpPr>
          <p:spPr>
            <a:xfrm>
              <a:off x="535664" y="277014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2"/>
            <p:cNvSpPr/>
            <p:nvPr/>
          </p:nvSpPr>
          <p:spPr>
            <a:xfrm>
              <a:off x="1467205" y="257535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2"/>
            <p:cNvSpPr txBox="1"/>
            <p:nvPr/>
          </p:nvSpPr>
          <p:spPr>
            <a:xfrm>
              <a:off x="1467205" y="257535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Cap concurrency below the throttling ceiling: 52 concurrent requests per user/app/web-server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2"/>
            <p:cNvSpPr/>
            <p:nvPr/>
          </p:nvSpPr>
          <p:spPr>
            <a:xfrm>
              <a:off x="4034576" y="257535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2"/>
            <p:cNvSpPr/>
            <p:nvPr/>
          </p:nvSpPr>
          <p:spPr>
            <a:xfrm>
              <a:off x="4229365" y="277014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2"/>
            <p:cNvSpPr/>
            <p:nvPr/>
          </p:nvSpPr>
          <p:spPr>
            <a:xfrm>
              <a:off x="5160906" y="257535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2"/>
            <p:cNvSpPr txBox="1"/>
            <p:nvPr/>
          </p:nvSpPr>
          <p:spPr>
            <a:xfrm>
              <a:off x="5160906" y="257535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Stagger start times to avoid lock contention on shared tables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2"/>
            <p:cNvSpPr/>
            <p:nvPr/>
          </p:nvSpPr>
          <p:spPr>
            <a:xfrm>
              <a:off x="7728277" y="2575355"/>
              <a:ext cx="927566" cy="927566"/>
            </a:xfrm>
            <a:prstGeom prst="ellipse">
              <a:avLst/>
            </a:prstGeom>
            <a:solidFill>
              <a:srgbClr val="F6D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7923066" y="2770144"/>
              <a:ext cx="537988" cy="537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8854607" y="257535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2"/>
            <p:cNvSpPr txBox="1"/>
            <p:nvPr/>
          </p:nvSpPr>
          <p:spPr>
            <a:xfrm>
              <a:off x="8854607" y="2575355"/>
              <a:ext cx="2186405" cy="927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Parallelism without observability is gambling — instrument every worker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3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Change Tracking &amp; Delta Queries</a:t>
            </a:r>
            <a:endParaRPr/>
          </a:p>
        </p:txBody>
      </p:sp>
      <p:grpSp>
        <p:nvGrpSpPr>
          <p:cNvPr id="635" name="Google Shape;635;p23"/>
          <p:cNvGrpSpPr/>
          <p:nvPr/>
        </p:nvGrpSpPr>
        <p:grpSpPr>
          <a:xfrm>
            <a:off x="394315" y="1360899"/>
            <a:ext cx="11381889" cy="4395438"/>
            <a:chOff x="0" y="3439"/>
            <a:chExt cx="11381889" cy="4395438"/>
          </a:xfrm>
        </p:grpSpPr>
        <p:sp>
          <p:nvSpPr>
            <p:cNvPr id="636" name="Google Shape;636;p23"/>
            <p:cNvSpPr/>
            <p:nvPr/>
          </p:nvSpPr>
          <p:spPr>
            <a:xfrm>
              <a:off x="0" y="3439"/>
              <a:ext cx="11381889" cy="732573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221603" y="168268"/>
              <a:ext cx="402915" cy="402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846121" y="3439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3"/>
            <p:cNvSpPr txBox="1"/>
            <p:nvPr/>
          </p:nvSpPr>
          <p:spPr>
            <a:xfrm>
              <a:off x="846121" y="3439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525" tIns="77525" rIns="77525" bIns="775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Pull only the rows that changed since your last sync — not the whole table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0" y="919155"/>
              <a:ext cx="11381889" cy="732573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221603" y="1083984"/>
              <a:ext cx="402915" cy="402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846121" y="919155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3"/>
            <p:cNvSpPr txBox="1"/>
            <p:nvPr/>
          </p:nvSpPr>
          <p:spPr>
            <a:xfrm>
              <a:off x="846121" y="919155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525" tIns="77525" rIns="77525" bIns="775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Client sends Prefer: odata.track-changes; F&amp;SCM returns a delta link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0" y="1834871"/>
              <a:ext cx="11381889" cy="732573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221603" y="1999700"/>
              <a:ext cx="402915" cy="402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846121" y="1834871"/>
              <a:ext cx="5121850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3"/>
            <p:cNvSpPr txBox="1"/>
            <p:nvPr/>
          </p:nvSpPr>
          <p:spPr>
            <a:xfrm>
              <a:off x="846121" y="1834871"/>
              <a:ext cx="5121850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525" tIns="77525" rIns="77525" bIns="775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Two modes available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5967971" y="1834871"/>
              <a:ext cx="541391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3"/>
            <p:cNvSpPr txBox="1"/>
            <p:nvPr/>
          </p:nvSpPr>
          <p:spPr>
            <a:xfrm>
              <a:off x="5967971" y="1834871"/>
              <a:ext cx="541391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525" tIns="77525" rIns="77525" bIns="775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Classic — None / Primary table / Entire entity / Custom query (uses SQL change tracking)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Row-version (10.0.34+) — uses rowversion columns; faster, no SQL CT enable required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0" y="2750588"/>
              <a:ext cx="11381889" cy="732573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21603" y="2915417"/>
              <a:ext cx="402915" cy="402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846121" y="2750588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3"/>
            <p:cNvSpPr txBox="1"/>
            <p:nvPr/>
          </p:nvSpPr>
          <p:spPr>
            <a:xfrm>
              <a:off x="846121" y="2750588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525" tIns="77525" rIns="77525" bIns="775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Persist the delta link with your job state — losing it means a full reload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0" y="3666304"/>
              <a:ext cx="11381889" cy="732573"/>
            </a:xfrm>
            <a:prstGeom prst="roundRect">
              <a:avLst>
                <a:gd name="adj" fmla="val 10000"/>
              </a:avLst>
            </a:prstGeom>
            <a:solidFill>
              <a:srgbClr val="CAD1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221603" y="3831133"/>
              <a:ext cx="402915" cy="4029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846121" y="3666304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3"/>
            <p:cNvSpPr txBox="1"/>
            <p:nvPr/>
          </p:nvSpPr>
          <p:spPr>
            <a:xfrm>
              <a:off x="846121" y="3666304"/>
              <a:ext cx="10535767" cy="732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525" tIns="77525" rIns="77525" bIns="775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Test the truncation behavior: SQL change tracking expires retention windows aggressively</a:t>
              </a:r>
              <a:endPara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4E6116DE-9DB5-B0BD-B44A-05498483E1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</a:pPr>
            <a:r>
              <a:rPr lang="en-US" b="1"/>
              <a:t>Priority-Based Throttling</a:t>
            </a:r>
            <a:endParaRPr/>
          </a:p>
        </p:txBody>
      </p:sp>
      <p:sp>
        <p:nvSpPr>
          <p:cNvPr id="663" name="Google Shape;663;p24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Configure priorities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System administration &gt; Setup &gt; Throttling priority mapping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Distinct service principals per integration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Tag business-critical flows as High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Low-priority integrations throttle first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i="1"/>
              <a:t>Without explicit mapping, every integration competes equally.</a:t>
            </a:r>
            <a:endParaRPr/>
          </a:p>
        </p:txBody>
      </p:sp>
      <p:grpSp>
        <p:nvGrpSpPr>
          <p:cNvPr id="664" name="Google Shape;664;p24"/>
          <p:cNvGrpSpPr/>
          <p:nvPr/>
        </p:nvGrpSpPr>
        <p:grpSpPr>
          <a:xfrm>
            <a:off x="6150748" y="1405463"/>
            <a:ext cx="5625429" cy="4305984"/>
            <a:chOff x="27" y="57755"/>
            <a:chExt cx="5625429" cy="4305984"/>
          </a:xfrm>
        </p:grpSpPr>
        <p:sp>
          <p:nvSpPr>
            <p:cNvPr id="665" name="Google Shape;665;p24"/>
            <p:cNvSpPr/>
            <p:nvPr/>
          </p:nvSpPr>
          <p:spPr>
            <a:xfrm>
              <a:off x="27" y="57755"/>
              <a:ext cx="2628705" cy="803364"/>
            </a:xfrm>
            <a:prstGeom prst="rect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 txBox="1"/>
            <p:nvPr/>
          </p:nvSpPr>
          <p:spPr>
            <a:xfrm>
              <a:off x="27" y="57755"/>
              <a:ext cx="2628705" cy="803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450" tIns="89400" rIns="156450" bIns="89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Per-user / per-app limits (10.0.33+)</a:t>
              </a:r>
              <a:endParaRPr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27" y="861120"/>
              <a:ext cx="2628705" cy="3502619"/>
            </a:xfrm>
            <a:prstGeom prst="rect">
              <a:avLst/>
            </a:prstGeom>
            <a:solidFill>
              <a:srgbClr val="CAD1D8">
                <a:alpha val="90196"/>
              </a:srgbClr>
            </a:solidFill>
            <a:ln w="19050" cap="flat" cmpd="sng">
              <a:solidFill>
                <a:srgbClr val="CAD1D8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 txBox="1"/>
            <p:nvPr/>
          </p:nvSpPr>
          <p:spPr>
            <a:xfrm>
              <a:off x="27" y="861120"/>
              <a:ext cx="2628705" cy="35026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325" tIns="117325" rIns="156450" bIns="1760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6,000 requests per 300 seconds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1,200 seconds combined execution per 300 seconds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52 concurrent requests per user / app / web-server</a:t>
              </a: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2996751" y="57755"/>
              <a:ext cx="2628705" cy="803364"/>
            </a:xfrm>
            <a:prstGeom prst="rect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 txBox="1"/>
            <p:nvPr/>
          </p:nvSpPr>
          <p:spPr>
            <a:xfrm>
              <a:off x="2996751" y="57755"/>
              <a:ext cx="2628705" cy="803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6450" tIns="89400" rIns="156450" bIns="89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n-US" sz="2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Exempt today (may change)</a:t>
              </a:r>
              <a:endParaRPr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2996751" y="861120"/>
              <a:ext cx="2628705" cy="3502619"/>
            </a:xfrm>
            <a:prstGeom prst="rect">
              <a:avLst/>
            </a:prstGeom>
            <a:solidFill>
              <a:srgbClr val="CAD1D8">
                <a:alpha val="90196"/>
              </a:srgbClr>
            </a:solidFill>
            <a:ln w="19050" cap="flat" cmpd="sng">
              <a:solidFill>
                <a:srgbClr val="CAD1D8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4"/>
            <p:cNvSpPr txBox="1"/>
            <p:nvPr/>
          </p:nvSpPr>
          <p:spPr>
            <a:xfrm>
              <a:off x="2996751" y="861120"/>
              <a:ext cx="2628705" cy="35026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325" tIns="117325" rIns="156450" bIns="1760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DMF, Recurring Integrations, dual-write, virtual tables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Microsoft has stated this is temporary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5"/>
          <p:cNvSpPr txBox="1">
            <a:spLocks noGrp="1"/>
          </p:cNvSpPr>
          <p:nvPr>
            <p:ph type="body" idx="1"/>
          </p:nvPr>
        </p:nvSpPr>
        <p:spPr>
          <a:xfrm>
            <a:off x="394315" y="1357460"/>
            <a:ext cx="11381889" cy="4402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Wire the connection string in System parameters — instrumentation key on older builds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LCS Environment Monitoring shows 'Requests throttled', long-running SQL, AOS event logs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KQL example — top entities by p95 latency over the last hour: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requests | where timestamp &gt; ago(1h)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    | where url contains "/data/"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    | summarize p95=percentile(duration,95), n=count(),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        errors=countif(success==false) by name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    | order by n desc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Instrument your client too: correlation ID, entity, batch size, retry count, Retry-After value</a:t>
            </a:r>
            <a:endParaRPr/>
          </a:p>
        </p:txBody>
      </p:sp>
      <p:sp>
        <p:nvSpPr>
          <p:cNvPr id="678" name="Google Shape;678;p25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Telemetry with Application Insights</a:t>
            </a:r>
            <a:endParaRPr/>
          </a:p>
        </p:txBody>
      </p: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A7F67FC0-182D-467C-E0E9-D210B2AA78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6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Lessons Learned: Common Pitfalls</a:t>
            </a:r>
            <a:endParaRPr/>
          </a:p>
        </p:txBody>
      </p:sp>
      <p:sp>
        <p:nvSpPr>
          <p:cNvPr id="684" name="Google Shape;684;p26"/>
          <p:cNvSpPr txBox="1">
            <a:spLocks noGrp="1"/>
          </p:cNvSpPr>
          <p:nvPr>
            <p:ph type="body" idx="1"/>
          </p:nvPr>
        </p:nvSpPr>
        <p:spPr>
          <a:xfrm>
            <a:off x="394316" y="1347708"/>
            <a:ext cx="560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5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One service account for everything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Loses priority granularity and forensic clarity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Lock contention on hot tables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NumberSequenceTable, ledger journals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Stagger batches; pre-allocate number sequences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Schema drift breaks consumers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Always pin $select and entity version</a:t>
            </a:r>
            <a:endParaRPr/>
          </a:p>
        </p:txBody>
      </p:sp>
      <p:sp>
        <p:nvSpPr>
          <p:cNvPr id="685" name="Google Shape;685;p26"/>
          <p:cNvSpPr txBox="1">
            <a:spLocks noGrp="1"/>
          </p:cNvSpPr>
          <p:nvPr>
            <p:ph type="body" idx="2"/>
          </p:nvPr>
        </p:nvSpPr>
        <p:spPr>
          <a:xfrm>
            <a:off x="6200000" y="1347708"/>
            <a:ext cx="5600000" cy="5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/>
              <a:t>Ignoring Retry-After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 sz="1500"/>
              <a:t>Aggressive retries make throttling worse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/>
              <a:t>Assuming exempt services stay exempt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 sz="1500"/>
              <a:t>Microsoft has signaled change</a:t>
            </a:r>
            <a:endParaRPr/>
          </a:p>
        </p:txBody>
      </p:sp>
      <p:pic>
        <p:nvPicPr>
          <p:cNvPr id="2" name="Google Shape;762;p32" descr="A cartoon of a bird wearing a coat and sunglasses  AI-generated content may be incorrect.">
            <a:extLst>
              <a:ext uri="{FF2B5EF4-FFF2-40B4-BE49-F238E27FC236}">
                <a16:creationId xmlns:a16="http://schemas.microsoft.com/office/drawing/2014/main" id="{145E33C8-4D70-DFD1-D567-5F7DFB8AB4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3399"/>
            <a:ext cx="943105" cy="88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7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B8325"/>
              </a:buClr>
              <a:buSzPts val="4400"/>
              <a:buFont typeface="Open Sans ExtraBold"/>
              <a:buNone/>
            </a:pPr>
            <a:r>
              <a:rPr lang="en-US" b="1"/>
              <a:t>Key Takeaways</a:t>
            </a:r>
            <a:endParaRPr/>
          </a:p>
        </p:txBody>
      </p:sp>
      <p:grpSp>
        <p:nvGrpSpPr>
          <p:cNvPr id="691" name="Google Shape;691;p27"/>
          <p:cNvGrpSpPr/>
          <p:nvPr/>
        </p:nvGrpSpPr>
        <p:grpSpPr>
          <a:xfrm>
            <a:off x="394315" y="1357997"/>
            <a:ext cx="11381889" cy="4401241"/>
            <a:chOff x="0" y="537"/>
            <a:chExt cx="11381889" cy="4401241"/>
          </a:xfrm>
        </p:grpSpPr>
        <p:cxnSp>
          <p:nvCxnSpPr>
            <p:cNvPr id="692" name="Google Shape;692;p27"/>
            <p:cNvCxnSpPr/>
            <p:nvPr/>
          </p:nvCxnSpPr>
          <p:spPr>
            <a:xfrm>
              <a:off x="0" y="537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93" name="Google Shape;693;p27"/>
            <p:cNvSpPr/>
            <p:nvPr/>
          </p:nvSpPr>
          <p:spPr>
            <a:xfrm>
              <a:off x="0" y="537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7"/>
            <p:cNvSpPr txBox="1"/>
            <p:nvPr/>
          </p:nvSpPr>
          <p:spPr>
            <a:xfrm>
              <a:off x="0" y="537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Match the channel to the workload — OData, custom service, or DMF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5" name="Google Shape;695;p27"/>
            <p:cNvCxnSpPr/>
            <p:nvPr/>
          </p:nvCxnSpPr>
          <p:spPr>
            <a:xfrm>
              <a:off x="0" y="629286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96" name="Google Shape;696;p27"/>
            <p:cNvSpPr/>
            <p:nvPr/>
          </p:nvSpPr>
          <p:spPr>
            <a:xfrm>
              <a:off x="0" y="629286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 txBox="1"/>
            <p:nvPr/>
          </p:nvSpPr>
          <p:spPr>
            <a:xfrm>
              <a:off x="0" y="629286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Make every operation idempotent — correlation IDs, natural keys, de-dupe tables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8" name="Google Shape;698;p27"/>
            <p:cNvCxnSpPr/>
            <p:nvPr/>
          </p:nvCxnSpPr>
          <p:spPr>
            <a:xfrm>
              <a:off x="0" y="1258035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99" name="Google Shape;699;p27"/>
            <p:cNvSpPr/>
            <p:nvPr/>
          </p:nvSpPr>
          <p:spPr>
            <a:xfrm>
              <a:off x="0" y="1258035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 txBox="1"/>
            <p:nvPr/>
          </p:nvSpPr>
          <p:spPr>
            <a:xfrm>
              <a:off x="0" y="1258035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Honor Retry-After before adding your own backoff — and always add jitter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1" name="Google Shape;701;p27"/>
            <p:cNvCxnSpPr/>
            <p:nvPr/>
          </p:nvCxnSpPr>
          <p:spPr>
            <a:xfrm>
              <a:off x="0" y="1886784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02" name="Google Shape;702;p27"/>
            <p:cNvSpPr/>
            <p:nvPr/>
          </p:nvSpPr>
          <p:spPr>
            <a:xfrm>
              <a:off x="0" y="1886784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 txBox="1"/>
            <p:nvPr/>
          </p:nvSpPr>
          <p:spPr>
            <a:xfrm>
              <a:off x="0" y="1886784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Set-based X++ wins by orders of magnitude — but audit for silent fallback triggers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4" name="Google Shape;704;p27"/>
            <p:cNvCxnSpPr/>
            <p:nvPr/>
          </p:nvCxnSpPr>
          <p:spPr>
            <a:xfrm>
              <a:off x="0" y="2515532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05" name="Google Shape;705;p27"/>
            <p:cNvSpPr/>
            <p:nvPr/>
          </p:nvSpPr>
          <p:spPr>
            <a:xfrm>
              <a:off x="0" y="2515532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 txBox="1"/>
            <p:nvPr/>
          </p:nvSpPr>
          <p:spPr>
            <a:xfrm>
              <a:off x="0" y="2515532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Configure throttling priorities and isolate integrations with their own service principals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7" name="Google Shape;707;p27"/>
            <p:cNvCxnSpPr/>
            <p:nvPr/>
          </p:nvCxnSpPr>
          <p:spPr>
            <a:xfrm>
              <a:off x="0" y="3144281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08" name="Google Shape;708;p27"/>
            <p:cNvSpPr/>
            <p:nvPr/>
          </p:nvSpPr>
          <p:spPr>
            <a:xfrm>
              <a:off x="0" y="3144281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 txBox="1"/>
            <p:nvPr/>
          </p:nvSpPr>
          <p:spPr>
            <a:xfrm>
              <a:off x="0" y="3144281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Instrument both sides of the wire — Application Insights + LCS + your own client logs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0" name="Google Shape;710;p27"/>
            <p:cNvCxnSpPr/>
            <p:nvPr/>
          </p:nvCxnSpPr>
          <p:spPr>
            <a:xfrm>
              <a:off x="0" y="3773030"/>
              <a:ext cx="11381889" cy="0"/>
            </a:xfrm>
            <a:prstGeom prst="straightConnector1">
              <a:avLst/>
            </a:prstGeom>
            <a:solidFill>
              <a:srgbClr val="126082"/>
            </a:solidFill>
            <a:ln w="19050" cap="flat" cmpd="sng">
              <a:solidFill>
                <a:srgbClr val="12608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11" name="Google Shape;711;p27"/>
            <p:cNvSpPr/>
            <p:nvPr/>
          </p:nvSpPr>
          <p:spPr>
            <a:xfrm>
              <a:off x="0" y="3773030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 txBox="1"/>
            <p:nvPr/>
          </p:nvSpPr>
          <p:spPr>
            <a:xfrm>
              <a:off x="0" y="3773030"/>
              <a:ext cx="11381889" cy="628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If you cannot see it, you cannot fix it. Telemetry is not optional.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869C48-0EB9-47B9-292F-3D91D8BAA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B3E52-5122-FB2B-FCA0-50C23C97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5C60CD17-ED38-F3AF-79E3-9D44F36049E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300" y="367258"/>
            <a:ext cx="7204950" cy="585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65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2376-B723-3D59-C804-B7DBD69D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63B811-A91A-0E87-4353-B9FA23CC0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819362-86E8-5696-275D-A425F6CD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0455ECD1-02E6-C94D-8732-880B1FE7FB7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424" y="1247303"/>
            <a:ext cx="14372075" cy="11678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AD529B-156B-603A-E3CE-229FE0C7565A}"/>
              </a:ext>
            </a:extLst>
          </p:cNvPr>
          <p:cNvSpPr/>
          <p:nvPr/>
        </p:nvSpPr>
        <p:spPr>
          <a:xfrm>
            <a:off x="4978400" y="2755900"/>
            <a:ext cx="2298700" cy="1689100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55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356A-5D06-F1B3-256B-6BCA4BF7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A4A8C8-BF33-F993-9A0F-7A98B7BF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40A951-2DFA-3841-E36E-58C7EE34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0F74EC43-0446-A418-9945-2A3997E5E7C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95" y="-441797"/>
            <a:ext cx="14372075" cy="11678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E39399-20D1-7077-D74C-0F4EDB8ACD17}"/>
              </a:ext>
            </a:extLst>
          </p:cNvPr>
          <p:cNvSpPr/>
          <p:nvPr/>
        </p:nvSpPr>
        <p:spPr>
          <a:xfrm>
            <a:off x="4978400" y="2755900"/>
            <a:ext cx="2298700" cy="1689100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19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89CE7-F9DC-B3C0-7467-62B9B832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E5EF49-E333-79BF-3926-517EAED4D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3F5113-F4F1-071F-4F40-A7120A68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8B5798FF-D63A-2BDF-2208-EDB81990D52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8776" y="-1648297"/>
            <a:ext cx="14372075" cy="11678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E3C683-8314-E9E2-5773-E9EE9714DDC4}"/>
              </a:ext>
            </a:extLst>
          </p:cNvPr>
          <p:cNvSpPr/>
          <p:nvPr/>
        </p:nvSpPr>
        <p:spPr>
          <a:xfrm>
            <a:off x="4318000" y="3105263"/>
            <a:ext cx="2298700" cy="1689100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6B73-A610-C670-AB4D-972A2B29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BB4718-75CD-F10B-9B3C-C843DC72B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9B1CBC-330F-62AC-29BD-A2123AF7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2E25FD65-3916-A0C5-F17D-9EBB2850AD4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19876" y="-3642197"/>
            <a:ext cx="14372075" cy="11678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4DDF8C-936C-FD1C-2A3D-2C702FE58647}"/>
              </a:ext>
            </a:extLst>
          </p:cNvPr>
          <p:cNvSpPr/>
          <p:nvPr/>
        </p:nvSpPr>
        <p:spPr>
          <a:xfrm>
            <a:off x="4946650" y="2714068"/>
            <a:ext cx="2298700" cy="1689100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04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E6A5-1FC6-ADC6-699F-1F4EB290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FA282B-7F66-5761-BEA2-8ED33E59A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1E05BE-74CA-34F2-D310-C37E4DE3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3E168A59-00AD-8354-F74D-78BDBB064D48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77176" y="-5188080"/>
            <a:ext cx="14372075" cy="11678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6F430A-9928-EF3A-690B-F9E961ADACE6}"/>
              </a:ext>
            </a:extLst>
          </p:cNvPr>
          <p:cNvSpPr/>
          <p:nvPr/>
        </p:nvSpPr>
        <p:spPr>
          <a:xfrm>
            <a:off x="5702300" y="3076103"/>
            <a:ext cx="2298700" cy="1689100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58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895D-E10F-A5E9-7580-48EE9765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65E9D9-65AF-A25D-51CC-F0A022712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F504FE-AE47-5902-E382-5FF58A23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AB8E0FF9-B0CA-5CE9-8AE6-BD805AA58E4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21776" y="-6944197"/>
            <a:ext cx="14372075" cy="116788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7CD690-5361-2803-9696-68E0039451A4}"/>
              </a:ext>
            </a:extLst>
          </p:cNvPr>
          <p:cNvSpPr/>
          <p:nvPr/>
        </p:nvSpPr>
        <p:spPr>
          <a:xfrm>
            <a:off x="4622800" y="3045524"/>
            <a:ext cx="4584700" cy="1689100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60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71D24-5295-712E-B1F5-3EC3C844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3B42E9-3057-1321-521E-B8F03EAC7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ED57E1-464E-8144-7890-A669E759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5D198FDA-2AAB-6ABC-E74F-BEE1206C4EF9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300" y="367258"/>
            <a:ext cx="7204950" cy="585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91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0136" y="1357460"/>
            <a:ext cx="4270247" cy="4402317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8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Questions &amp; Discussion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9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/>
              <a:t>Nathan Clouse</a:t>
            </a:r>
            <a:endParaRPr/>
          </a:p>
        </p:txBody>
      </p:sp>
      <p:sp>
        <p:nvSpPr>
          <p:cNvPr id="724" name="Google Shape;724;p29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r>
              <a:rPr lang="en-US" sz="1765"/>
              <a:t>Technical Architect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r>
              <a:rPr lang="en-US" sz="1765"/>
              <a:t>HSO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endParaRPr sz="1765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>
                <a:solidFill>
                  <a:srgbClr val="3F454F"/>
                </a:solidFill>
              </a:rPr>
              <a:t>Email: </a:t>
            </a:r>
            <a:r>
              <a:rPr lang="en-US" sz="1100" u="sng">
                <a:solidFill>
                  <a:srgbClr val="3F454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nathan.clouse@armanino.com</a:t>
            </a:r>
            <a:endParaRPr sz="110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>
                <a:solidFill>
                  <a:srgbClr val="3F454F"/>
                </a:solidFill>
              </a:rPr>
              <a:t>Blog #1: </a:t>
            </a:r>
            <a:r>
              <a:rPr lang="en-US" sz="1100" u="sng">
                <a:solidFill>
                  <a:srgbClr val="3F454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https://www.atomicax.com</a:t>
            </a:r>
            <a:endParaRPr sz="110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>
                <a:solidFill>
                  <a:srgbClr val="3F454F"/>
                </a:solidFill>
              </a:rPr>
              <a:t>Blog #2: </a:t>
            </a:r>
            <a:r>
              <a:rPr lang="en-US" sz="1100" u="sng">
                <a:solidFill>
                  <a:srgbClr val="3F454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https://www.dynamics.fo</a:t>
            </a:r>
            <a:endParaRPr sz="110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>
                <a:solidFill>
                  <a:srgbClr val="3F454F"/>
                </a:solidFill>
              </a:rPr>
              <a:t>GitHub: </a:t>
            </a:r>
            <a:r>
              <a:rPr lang="en-US" sz="1100" u="sng">
                <a:solidFill>
                  <a:srgbClr val="3F454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https://github.com/NathanClouseAX</a:t>
            </a:r>
            <a:endParaRPr sz="1100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00"/>
              <a:buNone/>
            </a:pPr>
            <a:r>
              <a:rPr lang="en-US" sz="1100">
                <a:solidFill>
                  <a:srgbClr val="3F454F"/>
                </a:solidFill>
              </a:rPr>
              <a:t>@NathanClouseAX on most platforms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endParaRPr sz="1765"/>
          </a:p>
        </p:txBody>
      </p:sp>
      <p:pic>
        <p:nvPicPr>
          <p:cNvPr id="725" name="Google Shape;725;p29" descr="A blue and white rectangular sign with white text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7799" y="3665325"/>
            <a:ext cx="1167158" cy="184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86889" y="1186752"/>
            <a:ext cx="2798806" cy="2798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29" descr="A colorful logo with palm trees  AI-generated content may be incorrect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57714" y="2586155"/>
            <a:ext cx="3487071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0"/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/>
              <a:t>Questions? </a:t>
            </a:r>
            <a:endParaRPr/>
          </a:p>
        </p:txBody>
      </p:sp>
      <p:sp>
        <p:nvSpPr>
          <p:cNvPr id="733" name="Google Shape;733;p30"/>
          <p:cNvSpPr txBox="1">
            <a:spLocks noGrp="1"/>
          </p:cNvSpPr>
          <p:nvPr>
            <p:ph type="body" idx="1"/>
          </p:nvPr>
        </p:nvSpPr>
        <p:spPr>
          <a:xfrm>
            <a:off x="394316" y="1349603"/>
            <a:ext cx="5625484" cy="442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r>
              <a:rPr lang="en-US" sz="1765"/>
              <a:t>Peter Ramer</a:t>
            </a:r>
            <a:br>
              <a:rPr lang="en-US" sz="1765"/>
            </a:br>
            <a:r>
              <a:rPr lang="en-US" sz="1765"/>
              <a:t>Director of Managed Application Services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65"/>
              <a:buNone/>
            </a:pPr>
            <a:endParaRPr sz="1765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None/>
            </a:pPr>
            <a:r>
              <a:rPr lang="en-US" sz="1176">
                <a:solidFill>
                  <a:srgbClr val="3F454F"/>
                </a:solidFill>
              </a:rPr>
              <a:t>Email: </a:t>
            </a:r>
            <a:r>
              <a:rPr lang="en-US" sz="1176" u="sng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peter.ramer@rsmus.com</a:t>
            </a:r>
            <a:r>
              <a:rPr lang="en-US" sz="1176">
                <a:solidFill>
                  <a:srgbClr val="002060"/>
                </a:solidFill>
              </a:rPr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3F454F"/>
              </a:buClr>
              <a:buSzPts val="1176"/>
              <a:buNone/>
            </a:pPr>
            <a:r>
              <a:rPr lang="en-US" sz="1176">
                <a:solidFill>
                  <a:srgbClr val="3F454F"/>
                </a:solidFill>
              </a:rPr>
              <a:t>Blog: </a:t>
            </a:r>
            <a:r>
              <a:rPr lang="en-US" sz="1176" u="sng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http://dynamics365musings.com/</a:t>
            </a:r>
            <a:endParaRPr sz="1176" u="sng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95C8"/>
              </a:buClr>
              <a:buSzPts val="1176"/>
              <a:buNone/>
            </a:pPr>
            <a:r>
              <a:rPr lang="en-US" sz="1176" u="sng">
                <a:solidFill>
                  <a:srgbClr val="0095C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1176">
                <a:solidFill>
                  <a:srgbClr val="3F454F"/>
                </a:solidFill>
              </a:rPr>
              <a:t> | </a:t>
            </a:r>
            <a:r>
              <a:rPr lang="en-US" sz="1176" u="sng">
                <a:solidFill>
                  <a:srgbClr val="00206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MVP Profile</a:t>
            </a:r>
            <a:endParaRPr sz="1176">
              <a:solidFill>
                <a:srgbClr val="3F454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76"/>
              <a:buNone/>
            </a:pPr>
            <a:endParaRPr sz="1176">
              <a:solidFill>
                <a:srgbClr val="3F454F"/>
              </a:solidFill>
            </a:endParaRPr>
          </a:p>
        </p:txBody>
      </p:sp>
      <p:pic>
        <p:nvPicPr>
          <p:cNvPr id="734" name="Google Shape;734;p30" descr="A blue and white rectangular sign with white text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7799" y="3665325"/>
            <a:ext cx="1167158" cy="184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30" descr="A person in a suit smiling  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7797" y="1203152"/>
            <a:ext cx="3689103" cy="3972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0" descr="A cartoon of a bird wearing a coat and sunglasses  AI-generated content may be incorrect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65100" y="3665325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>
          <a:extLst>
            <a:ext uri="{FF2B5EF4-FFF2-40B4-BE49-F238E27FC236}">
              <a16:creationId xmlns:a16="http://schemas.microsoft.com/office/drawing/2014/main" id="{ADD8A7A4-51E2-1B5D-76B5-9E8DB26D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28">
            <a:extLst>
              <a:ext uri="{FF2B5EF4-FFF2-40B4-BE49-F238E27FC236}">
                <a16:creationId xmlns:a16="http://schemas.microsoft.com/office/drawing/2014/main" id="{605B2952-64A0-CE90-A9E3-448CC2B3CF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0136" y="1357460"/>
            <a:ext cx="4270247" cy="4402317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8">
            <a:extLst>
              <a:ext uri="{FF2B5EF4-FFF2-40B4-BE49-F238E27FC236}">
                <a16:creationId xmlns:a16="http://schemas.microsoft.com/office/drawing/2014/main" id="{067D5331-25D2-B94A-A25B-2AD937199B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B535"/>
              </a:buClr>
              <a:buSzPts val="4400"/>
              <a:buFont typeface="Open Sans ExtraBold"/>
              <a:buNone/>
            </a:pPr>
            <a:r>
              <a:rPr lang="en-US" b="1"/>
              <a:t>Questions &amp; Discussion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9454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f9c791-4e7e-42f3-b110-f2d048dfe1f4">
      <Terms xmlns="http://schemas.microsoft.com/office/infopath/2007/PartnerControls"/>
    </lcf76f155ced4ddcb4097134ff3c332f>
    <TaxCatchAll xmlns="c32e8f56-b4af-4143-8a45-c6aec7ec705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A75DAF83DD3048B0119C871633221C" ma:contentTypeVersion="12" ma:contentTypeDescription="Create a new document." ma:contentTypeScope="" ma:versionID="fcd10c647554057a0b8234d361ec565b">
  <xsd:schema xmlns:xsd="http://www.w3.org/2001/XMLSchema" xmlns:xs="http://www.w3.org/2001/XMLSchema" xmlns:p="http://schemas.microsoft.com/office/2006/metadata/properties" xmlns:ns2="81f9c791-4e7e-42f3-b110-f2d048dfe1f4" xmlns:ns3="c32e8f56-b4af-4143-8a45-c6aec7ec7059" targetNamespace="http://schemas.microsoft.com/office/2006/metadata/properties" ma:root="true" ma:fieldsID="3960bc64e417d993bc4a09c03bfc92cd" ns2:_="" ns3:_="">
    <xsd:import namespace="81f9c791-4e7e-42f3-b110-f2d048dfe1f4"/>
    <xsd:import namespace="c32e8f56-b4af-4143-8a45-c6aec7ec70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9c791-4e7e-42f3-b110-f2d048dfe1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3fc197d-f5e7-4c43-938a-9929e93577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2e8f56-b4af-4143-8a45-c6aec7ec70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b5e555c1-6094-442e-ab48-ec10f99c704e}" ma:internalName="TaxCatchAll" ma:showField="CatchAllData" ma:web="c32e8f56-b4af-4143-8a45-c6aec7ec70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778BDE-7F38-436F-9133-4CE18E3583E3}">
  <ds:schemaRefs>
    <ds:schemaRef ds:uri="http://schemas.microsoft.com/office/2006/metadata/properties"/>
    <ds:schemaRef ds:uri="http://schemas.microsoft.com/office/infopath/2007/PartnerControls"/>
    <ds:schemaRef ds:uri="81f9c791-4e7e-42f3-b110-f2d048dfe1f4"/>
    <ds:schemaRef ds:uri="c32e8f56-b4af-4143-8a45-c6aec7ec7059"/>
  </ds:schemaRefs>
</ds:datastoreItem>
</file>

<file path=customXml/itemProps2.xml><?xml version="1.0" encoding="utf-8"?>
<ds:datastoreItem xmlns:ds="http://schemas.openxmlformats.org/officeDocument/2006/customXml" ds:itemID="{492D69EF-D567-4A5A-8E12-E49C4665CF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f9c791-4e7e-42f3-b110-f2d048dfe1f4"/>
    <ds:schemaRef ds:uri="c32e8f56-b4af-4143-8a45-c6aec7ec70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A9783B-B47E-4F5F-9EDC-8E699588AA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2345</Words>
  <Application>Microsoft Office PowerPoint</Application>
  <PresentationFormat>Widescreen</PresentationFormat>
  <Paragraphs>283</Paragraphs>
  <Slides>45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Open Sans ExtraBold</vt:lpstr>
      <vt:lpstr>Open Sans Light</vt:lpstr>
      <vt:lpstr>Open Sans SemiBold</vt:lpstr>
      <vt:lpstr>Arial</vt:lpstr>
      <vt:lpstr>Play</vt:lpstr>
      <vt:lpstr>Consolas</vt:lpstr>
      <vt:lpstr>Office Theme</vt:lpstr>
      <vt:lpstr>PowerPoint Presentation</vt:lpstr>
      <vt:lpstr>PowerPoint Presentation</vt:lpstr>
      <vt:lpstr>Building Bulletproof Integrations - Data Entities, OData, and Custom Services</vt:lpstr>
      <vt:lpstr>Peter Ramer</vt:lpstr>
      <vt:lpstr>Nathan Clouse</vt:lpstr>
      <vt:lpstr>Section 1: Resilient Integration Architectures</vt:lpstr>
      <vt:lpstr>Why Integrations Fail in Production</vt:lpstr>
      <vt:lpstr>Three Integration Channels in F&amp;SCM</vt:lpstr>
      <vt:lpstr>PowerPoint Presentation</vt:lpstr>
      <vt:lpstr>PowerPoint Presentation</vt:lpstr>
      <vt:lpstr>Data Entities</vt:lpstr>
      <vt:lpstr>OData: REST/JSON for Interactive Workloads</vt:lpstr>
      <vt:lpstr>Custom Services: Resources</vt:lpstr>
      <vt:lpstr>Custom Services: Business Operations as APIs</vt:lpstr>
      <vt:lpstr>Data Management Framework: The Bulk Path</vt:lpstr>
      <vt:lpstr>Choosing the Right Channel</vt:lpstr>
      <vt:lpstr>Authentication with Microsoft Entra ID</vt:lpstr>
      <vt:lpstr>Idempotency: Safe to Retry</vt:lpstr>
      <vt:lpstr>Section 2: Error Handling &amp; Recovery</vt:lpstr>
      <vt:lpstr>Transient vs. Permanent Failures</vt:lpstr>
      <vt:lpstr>HTTP 429: Honor Retry-After</vt:lpstr>
      <vt:lpstr>Exponential Backoff with Jitter</vt:lpstr>
      <vt:lpstr>Validate Before You Send</vt:lpstr>
      <vt:lpstr>Workbench Form and Staging Table</vt:lpstr>
      <vt:lpstr>Section 3: Performance Optimization</vt:lpstr>
      <vt:lpstr>OData $batch: Bundle Your Requests</vt:lpstr>
      <vt:lpstr>Set-Based vs. Row-by-Row in X++</vt:lpstr>
      <vt:lpstr>Parallel Processing Patterns</vt:lpstr>
      <vt:lpstr>Change Tracking &amp; Delta Queries</vt:lpstr>
      <vt:lpstr>Priority-Based Throttling</vt:lpstr>
      <vt:lpstr>Telemetry with Application Insights</vt:lpstr>
      <vt:lpstr>Lessons Learned: Common Pitfalls</vt:lpstr>
      <vt:lpstr>Key Takeaways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&amp; Discussion</vt:lpstr>
      <vt:lpstr>Nathan Clouse</vt:lpstr>
      <vt:lpstr>Questions? </vt:lpstr>
      <vt:lpstr>Questions &amp; 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Lauren Bishop</dc:creator>
  <cp:lastModifiedBy>Nathan Clouse</cp:lastModifiedBy>
  <cp:revision>78</cp:revision>
  <dcterms:created xsi:type="dcterms:W3CDTF">2025-01-23T18:40:19Z</dcterms:created>
  <dcterms:modified xsi:type="dcterms:W3CDTF">2026-05-13T18:21:59Z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0x010100BBA75DAF83DD3048B0119C871633221C</vt:lpwstr>
  </property>
  <property fmtid="{D5CDD505-2E9C-101B-9397-08002B2CF9AE}" pid="3" name="MediaServiceImageTags">
    <vt:lpwstr/>
  </property>
</Properties>
</file>