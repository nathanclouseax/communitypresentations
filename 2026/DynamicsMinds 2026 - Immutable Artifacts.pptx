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6"/>
  </p:notesMasterIdLst>
  <p:handoutMasterIdLst>
    <p:handoutMasterId r:id="rId67"/>
  </p:handoutMasterIdLst>
  <p:sldIdLst>
    <p:sldId id="256" r:id="rId5"/>
    <p:sldId id="257" r:id="rId6"/>
    <p:sldId id="258" r:id="rId7"/>
    <p:sldId id="259" r:id="rId8"/>
    <p:sldId id="260" r:id="rId9"/>
    <p:sldId id="318" r:id="rId10"/>
    <p:sldId id="261" r:id="rId11"/>
    <p:sldId id="262" r:id="rId12"/>
    <p:sldId id="263" r:id="rId13"/>
    <p:sldId id="294" r:id="rId14"/>
    <p:sldId id="295" r:id="rId15"/>
    <p:sldId id="29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97" r:id="rId24"/>
    <p:sldId id="299" r:id="rId25"/>
    <p:sldId id="300" r:id="rId26"/>
    <p:sldId id="271" r:id="rId27"/>
    <p:sldId id="272" r:id="rId28"/>
    <p:sldId id="301" r:id="rId29"/>
    <p:sldId id="304" r:id="rId30"/>
    <p:sldId id="303" r:id="rId31"/>
    <p:sldId id="273" r:id="rId32"/>
    <p:sldId id="274" r:id="rId33"/>
    <p:sldId id="275" r:id="rId34"/>
    <p:sldId id="276" r:id="rId35"/>
    <p:sldId id="305" r:id="rId36"/>
    <p:sldId id="307" r:id="rId37"/>
    <p:sldId id="306" r:id="rId38"/>
    <p:sldId id="277" r:id="rId39"/>
    <p:sldId id="278" r:id="rId40"/>
    <p:sldId id="279" r:id="rId41"/>
    <p:sldId id="280" r:id="rId42"/>
    <p:sldId id="308" r:id="rId43"/>
    <p:sldId id="310" r:id="rId44"/>
    <p:sldId id="311" r:id="rId45"/>
    <p:sldId id="309" r:id="rId46"/>
    <p:sldId id="281" r:id="rId47"/>
    <p:sldId id="282" r:id="rId48"/>
    <p:sldId id="283" r:id="rId49"/>
    <p:sldId id="284" r:id="rId50"/>
    <p:sldId id="285" r:id="rId51"/>
    <p:sldId id="312" r:id="rId52"/>
    <p:sldId id="314" r:id="rId53"/>
    <p:sldId id="313" r:id="rId54"/>
    <p:sldId id="286" r:id="rId55"/>
    <p:sldId id="287" r:id="rId56"/>
    <p:sldId id="288" r:id="rId57"/>
    <p:sldId id="289" r:id="rId58"/>
    <p:sldId id="315" r:id="rId59"/>
    <p:sldId id="317" r:id="rId60"/>
    <p:sldId id="316" r:id="rId61"/>
    <p:sldId id="290" r:id="rId62"/>
    <p:sldId id="291" r:id="rId63"/>
    <p:sldId id="292" r:id="rId64"/>
    <p:sldId id="293" r:id="rId6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LOR TEMPLATE SLIDES" id="{309E532F-7394-2448-A93B-7AE2B9652425}">
          <p14:sldIdLst>
            <p14:sldId id="256"/>
            <p14:sldId id="257"/>
            <p14:sldId id="258"/>
            <p14:sldId id="259"/>
            <p14:sldId id="260"/>
            <p14:sldId id="318"/>
            <p14:sldId id="261"/>
            <p14:sldId id="262"/>
            <p14:sldId id="263"/>
            <p14:sldId id="294"/>
            <p14:sldId id="295"/>
            <p14:sldId id="296"/>
            <p14:sldId id="264"/>
            <p14:sldId id="265"/>
            <p14:sldId id="266"/>
          </p14:sldIdLst>
        </p14:section>
        <p14:section name="EXAMPLE" id="{09130ACA-EDB7-DF4D-9937-E1518D4AC5FA}">
          <p14:sldIdLst>
            <p14:sldId id="267"/>
            <p14:sldId id="268"/>
            <p14:sldId id="269"/>
            <p14:sldId id="270"/>
            <p14:sldId id="297"/>
            <p14:sldId id="299"/>
            <p14:sldId id="300"/>
            <p14:sldId id="271"/>
            <p14:sldId id="272"/>
            <p14:sldId id="301"/>
            <p14:sldId id="304"/>
            <p14:sldId id="303"/>
            <p14:sldId id="273"/>
          </p14:sldIdLst>
        </p14:section>
        <p14:section name="START AND END SLIDES" id="{17604F27-F6A3-C04A-9F56-798C91995481}">
          <p14:sldIdLst/>
        </p14:section>
        <p14:section name="LIGHT TEMPLATE SLIDES" id="{A1A75153-4830-F64A-8B95-AEB28448ED86}">
          <p14:sldIdLst>
            <p14:sldId id="274"/>
            <p14:sldId id="275"/>
            <p14:sldId id="276"/>
            <p14:sldId id="305"/>
            <p14:sldId id="307"/>
            <p14:sldId id="306"/>
            <p14:sldId id="277"/>
            <p14:sldId id="278"/>
            <p14:sldId id="279"/>
            <p14:sldId id="280"/>
            <p14:sldId id="308"/>
            <p14:sldId id="310"/>
            <p14:sldId id="311"/>
            <p14:sldId id="309"/>
            <p14:sldId id="281"/>
            <p14:sldId id="282"/>
            <p14:sldId id="283"/>
            <p14:sldId id="284"/>
            <p14:sldId id="285"/>
            <p14:sldId id="312"/>
            <p14:sldId id="314"/>
            <p14:sldId id="313"/>
            <p14:sldId id="286"/>
            <p14:sldId id="287"/>
            <p14:sldId id="288"/>
            <p14:sldId id="289"/>
            <p14:sldId id="315"/>
            <p14:sldId id="317"/>
            <p14:sldId id="316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420"/>
    <a:srgbClr val="E39F2A"/>
    <a:srgbClr val="551114"/>
    <a:srgbClr val="000000"/>
    <a:srgbClr val="05A89F"/>
    <a:srgbClr val="85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A129-3041-A7D0-2399-CC36DDE5FF95}" v="1" dt="2026-01-09T14:21:57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/>
    <p:restoredTop sz="86172" autoAdjust="0"/>
  </p:normalViewPr>
  <p:slideViewPr>
    <p:cSldViewPr snapToGrid="0">
      <p:cViewPr varScale="1">
        <p:scale>
          <a:sx n="137" d="100"/>
          <a:sy n="137" d="100"/>
        </p:scale>
        <p:origin x="11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4B8BD5-38DB-AA23-3C35-DCC874B321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2A52E-716B-2CDF-C6A7-0E399ED9DE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40BCD-C288-C943-8938-EA8554747701}" type="datetimeFigureOut">
              <a:rPr lang="en-HR" smtClean="0"/>
              <a:t>07/21/2026</a:t>
            </a:fld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330EA-EC03-0070-849C-86D5E07FE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48EE2-2123-4B66-F35B-8E2C968C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CB51-F38D-DC42-B70B-15EA67C14CED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7879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A9363-3BB8-4740-AE53-36181DACD3F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666B0-AC6B-4D79-B925-1498B4202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**If running long:** Trim "Environment Automation" — point to docs/repo.</a:t>
            </a:r>
          </a:p>
          <a:p>
            <a:r>
              <a:rPr lang="en-US" dirty="0"/>
              <a:t>**If running short:** Expand "When Things Go Wrong" with audience horror stories — everyone has 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0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**interaction**</a:t>
            </a:r>
            <a:br>
              <a:rPr lang="en-US" dirty="0"/>
            </a:br>
            <a:r>
              <a:rPr lang="en-US" dirty="0"/>
              <a:t>ask about who is doing any of the following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[ ] At least one completed build → deploy → release chain to show artifact flow</a:t>
            </a:r>
          </a:p>
          <a:p>
            <a:r>
              <a:rPr lang="en-US" dirty="0"/>
              <a:t>- [ ] PPAC admin center showing environment operations history</a:t>
            </a:r>
          </a:p>
          <a:p>
            <a:r>
              <a:rPr lang="en-US" dirty="0"/>
              <a:t>- [ ] Pipeline run history showing the progression through environments</a:t>
            </a:r>
          </a:p>
          <a:p>
            <a:r>
              <a:rPr lang="en-US" dirty="0"/>
              <a:t>- [ ] Slide showing LCS workflow vs pipeline workflow side-by-side</a:t>
            </a:r>
          </a:p>
          <a:p>
            <a:r>
              <a:rPr lang="en-US" dirty="0"/>
              <a:t>- [ ] Backup screenshots in case live demo fails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7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49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863D1-A7F1-57BF-FC14-F3DEB1EF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2C45B-A7AA-919C-99C3-7B7AB3E2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4DB2A-A3A5-03CB-E784-E446EA6AB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DA177-33A3-24DC-5075-DA3C76721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59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9D90-737A-48B7-A5AC-0E2CB1A3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BF504-7CB5-BF86-0BAB-D78D656C4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18440-556C-B561-ADB5-B4B98FBB2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31641-6B28-18B0-D569-F58935609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8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7FA9-034A-F024-B547-414B4D29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39C83-D1CB-6BB3-92D6-601D295FF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EE9E5-1396-2210-2BD9-98DFD6029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0BB1E-DEF9-6682-BA9D-E9EAC2F6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7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 to main runs a full integration test:</a:t>
            </a:r>
          </a:p>
          <a:p>
            <a:r>
              <a:rPr lang="en-US" dirty="0"/>
              <a:t>1. Provision ephemeral sandbox</a:t>
            </a:r>
          </a:p>
          <a:p>
            <a:r>
              <a:rPr lang="en-US" dirty="0"/>
              <a:t>2. Copy database from known-good source</a:t>
            </a:r>
          </a:p>
          <a:p>
            <a:r>
              <a:rPr lang="en-US" dirty="0"/>
              <a:t>3. Deploy the package + DB sync</a:t>
            </a:r>
          </a:p>
          <a:p>
            <a:r>
              <a:rPr lang="en-US" dirty="0"/>
              <a:t>4. Run automated tests</a:t>
            </a:r>
          </a:p>
          <a:p>
            <a:r>
              <a:rPr lang="en-US" dirty="0"/>
              <a:t>5. Tear down (always, even on failure)</a:t>
            </a:r>
          </a:p>
          <a:p>
            <a:endParaRPr lang="en-US" dirty="0"/>
          </a:p>
          <a:p>
            <a:r>
              <a:rPr lang="en-US" dirty="0"/>
              <a:t>**Key insight:** By the time a release branch is cut from main, every commit has already been validated in a real F&amp;O environment. The UAT deployment is for business acceptance, not regression catching.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64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**Talking point:** "Process" means someone has to remember. "Structure" means they can't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54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Before deploying, poll the environment state</a:t>
            </a:r>
          </a:p>
          <a:p>
            <a:r>
              <a:rPr lang="en-US" dirty="0"/>
              <a:t>- Environments can be in "Servicing" from Microsoft updates or prior operations</a:t>
            </a:r>
          </a:p>
          <a:p>
            <a:r>
              <a:rPr lang="en-US" dirty="0"/>
              <a:t>- Without a readiness check: instant failure, manual retry, wasted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With it: the pipeline waits gracefully, deploys when ready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- The agent must stay connected until the platform confirms completion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- Fire-and-forget = failed deployments you don't know about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- Don't trust the deploy task's exit code alone</a:t>
            </a:r>
          </a:p>
          <a:p>
            <a:pPr marL="0" indent="0">
              <a:buFontTx/>
              <a:buNone/>
            </a:pPr>
            <a:r>
              <a:rPr lang="en-US" dirty="0"/>
              <a:t>- Query the management API independently — what does the platform actually say?</a:t>
            </a:r>
          </a:p>
          <a:p>
            <a:pPr marL="0" indent="0">
              <a:buFontTx/>
              <a:buNone/>
            </a:pPr>
            <a:r>
              <a:rPr lang="en-US" dirty="0"/>
              <a:t>- This is the gate for downstream: GOLD only proceeds if DM verification passes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82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### Branch-triggered provisioning</a:t>
            </a:r>
          </a:p>
          <a:p>
            <a:endParaRPr lang="en-US" dirty="0"/>
          </a:p>
          <a:p>
            <a:r>
              <a:rPr lang="en-US" dirty="0"/>
              <a:t>- Push a feature branch → pipeline provisions a sandbox automatically</a:t>
            </a:r>
          </a:p>
          <a:p>
            <a:r>
              <a:rPr lang="en-US" dirty="0"/>
              <a:t>- Environment ready in 15-30 minutes with F&amp;O template applied</a:t>
            </a:r>
          </a:p>
          <a:p>
            <a:r>
              <a:rPr lang="en-US" dirty="0"/>
              <a:t>- Developer gets a real environment with no portal clicks, no support tickets</a:t>
            </a:r>
          </a:p>
          <a:p>
            <a:endParaRPr lang="en-US" dirty="0"/>
          </a:p>
          <a:p>
            <a:r>
              <a:rPr lang="en-US" dirty="0"/>
              <a:t>### Database copy as a pipeline step</a:t>
            </a:r>
          </a:p>
          <a:p>
            <a:endParaRPr lang="en-US" dirty="0"/>
          </a:p>
          <a:p>
            <a:r>
              <a:rPr lang="en-US" dirty="0"/>
              <a:t>- After provisioning, copy data from a known-good source automatically</a:t>
            </a:r>
          </a:p>
          <a:p>
            <a:r>
              <a:rPr lang="en-US" dirty="0"/>
              <a:t>- Same mechanism for: sandbox initialization, UAT refresh, pre-release GOLD refresh</a:t>
            </a:r>
          </a:p>
          <a:p>
            <a:r>
              <a:rPr lang="en-US" dirty="0"/>
              <a:t>- Developers test against real data from day one</a:t>
            </a:r>
          </a:p>
          <a:p>
            <a:endParaRPr lang="en-US" dirty="0"/>
          </a:p>
          <a:p>
            <a:r>
              <a:rPr lang="en-US" dirty="0"/>
              <a:t>### DMF entity refresh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After deploying new data entities, trigger a DMF entity refresh </a:t>
            </a:r>
          </a:p>
          <a:p>
            <a:pPr marL="171450" indent="-171450">
              <a:buFontTx/>
              <a:buChar char="-"/>
            </a:pPr>
            <a:r>
              <a:rPr lang="en-US" dirty="0"/>
              <a:t>- Automated — no manual "publish all entities" step</a:t>
            </a:r>
          </a:p>
          <a:p>
            <a:pPr marL="171450" indent="-171450">
              <a:buFontTx/>
              <a:buChar char="-"/>
            </a:pPr>
            <a:r>
              <a:rPr lang="en-US" dirty="0"/>
              <a:t>Requires the service principal registered as an F&amp;O application user (common gotcha)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automation options like enable dual write helper (</a:t>
            </a:r>
            <a:r>
              <a:rPr lang="en-US" dirty="0" err="1"/>
              <a:t>DWHelper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18054-D093-BA94-8373-D8E8B3AC6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897C8413-AD67-F837-9759-3957D2DD0C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EC3E4-A5BE-A7FE-C68A-82548630EF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064022" y="1928362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31729-F0C0-01A1-7980-1DC2F6E2A3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-398248" y="47179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1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6E6898-9F76-2B3B-2FB9-10CD76B6B7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E1255-6CBA-7F30-D271-A0BBC6ECF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87226" y="802933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3EB80-C65C-ED68-B032-74E4B8C624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587408">
            <a:off x="935251" y="46036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41D59BD3-E27C-7A3D-29E8-E2BBC5AFD6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0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8CA8AA22-BBCB-0DE0-A721-15A54D2D4B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C44EF-0249-1A4D-F511-6B9B93AE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79C09-E088-1F39-7434-9E0AED5B9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7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C7C056-0A1F-FF09-7E29-F5647A6F7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E2409-CFFF-792C-1540-BC158F54E5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A2048-002D-25D8-79B4-C91460FA89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B36A6-17DD-9238-DAF4-BBFB6A01F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1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5F2C3-9B13-EEA3-774A-C80A8156A6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38D37A0-1C33-06B2-BB9A-59F92643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37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25A5-981E-0B3E-713B-452218E0E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8D3C3-93FC-8EE5-210E-BB315794D7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2DA24B3-F705-5043-A74B-F8B9EBCA8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91323-3CDB-E347-7CBC-FA53C5EF40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26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1310673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02FDB8-CE7B-2752-3FB7-E9F361DFB6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78212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28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0D75AF-0B91-394C-3B63-726C1FF96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53007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67470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ECF0B-979F-8B5C-7A68-C80D71BF82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899071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6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91FF0-2CE5-A04F-5BBD-E2BCBFB05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541307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40519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3358-EE4F-A635-8BD8-1173B81453C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3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561871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0D962-EA34-A3BE-11EC-4DC65EBA06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3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5B540-EF9D-1F81-6EB8-88CBA5E1C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A6F4A0E-1B68-0793-F26F-5DC1B1244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28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011AC08-E37E-64E7-8C83-3AD1BF1F15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6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1D279F-1C05-73CF-04EB-DCAF5E24D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0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4F393-B445-CF8B-AE81-AF2A35D34A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336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4BD24-160A-9F0B-ADA9-30BF0A94A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8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EAD028-E5A0-E470-5605-4ED813BDA0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31DB39-3499-42E0-2421-26D142D974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E9B80-8AE5-4542-622A-696AF32F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708-4BE9-E141-3ADD-66F83632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227C5-155F-A2CF-427E-6E9E15035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892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D7E83-0FBC-0CD9-2BD4-71E8E2114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6B44B3B-CA0D-0A00-BC42-4629FC4C1A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BCC845-8486-3FED-0C37-384495F3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DE7B7-B550-2F31-5841-473907B49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65548-6158-3199-4DCC-1C862E16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105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94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6738F-884C-8F5C-8DE4-8E53B34C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6E910-C357-0D70-251E-39E141A6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36481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1" r:id="rId3"/>
    <p:sldLayoutId id="2147483664" r:id="rId4"/>
    <p:sldLayoutId id="2147483665" r:id="rId5"/>
    <p:sldLayoutId id="2147483678" r:id="rId6"/>
    <p:sldLayoutId id="2147483679" r:id="rId7"/>
    <p:sldLayoutId id="2147483662" r:id="rId8"/>
    <p:sldLayoutId id="2147483684" r:id="rId9"/>
    <p:sldLayoutId id="2147483688" r:id="rId10"/>
    <p:sldLayoutId id="2147483674" r:id="rId11"/>
    <p:sldLayoutId id="2147483686" r:id="rId12"/>
    <p:sldLayoutId id="2147483669" r:id="rId13"/>
    <p:sldLayoutId id="2147483675" r:id="rId14"/>
    <p:sldLayoutId id="2147483650" r:id="rId15"/>
    <p:sldLayoutId id="2147483667" r:id="rId16"/>
    <p:sldLayoutId id="2147483676" r:id="rId17"/>
    <p:sldLayoutId id="2147483668" r:id="rId18"/>
    <p:sldLayoutId id="2147483670" r:id="rId19"/>
    <p:sldLayoutId id="2147483652" r:id="rId20"/>
    <p:sldLayoutId id="2147483681" r:id="rId21"/>
    <p:sldLayoutId id="2147483671" r:id="rId22"/>
    <p:sldLayoutId id="2147483654" r:id="rId23"/>
    <p:sldLayoutId id="2147483672" r:id="rId24"/>
    <p:sldLayoutId id="2147483673" r:id="rId25"/>
    <p:sldLayoutId id="2147483677" r:id="rId26"/>
    <p:sldLayoutId id="2147483655" r:id="rId27"/>
    <p:sldLayoutId id="2147483666" r:id="rId28"/>
    <p:sldLayoutId id="2147483683" r:id="rId29"/>
    <p:sldLayoutId id="2147483663" r:id="rId30"/>
    <p:sldLayoutId id="2147483682" r:id="rId31"/>
    <p:sldLayoutId id="2147483656" r:id="rId32"/>
    <p:sldLayoutId id="2147483657" r:id="rId33"/>
    <p:sldLayoutId id="214748368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DIN Mittelschrift" panose="0200050304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C000"/>
                </a:solidFill>
              </a:rPr>
              <a:t>From Idea to Production: The Build Is Sacred in Dynamics 365 F&amp;O</a:t>
            </a:r>
            <a:endParaRPr dirty="0">
              <a:solidFill>
                <a:srgbClr val="FFC000"/>
              </a:solidFill>
              <a:highlight>
                <a:srgbClr val="FFFF00"/>
              </a:highlight>
            </a:endParaRPr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Automated F&amp;O Package Promotion from Commit to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4F8F899B-533F-15EC-0A56-20CCD07CE6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84" r="384"/>
          <a:stretch>
            <a:fillRect/>
          </a:stretch>
        </p:blipFill>
        <p:spPr>
          <a:prstGeom prst="ellipse">
            <a:avLst/>
          </a:prstGeom>
          <a:ln w="57150">
            <a:solidFill>
              <a:srgbClr val="F5D420"/>
            </a:solidFill>
          </a:ln>
        </p:spPr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8EFD31C6-9C55-0B0A-9402-37DDDFB213F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84" r="384"/>
          <a:stretch>
            <a:fillRect/>
          </a:stretch>
        </p:blipFill>
        <p:spPr>
          <a:prstGeom prst="ellipse">
            <a:avLst/>
          </a:prstGeom>
          <a:ln w="57150">
            <a:solidFill>
              <a:srgbClr val="F5D42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7CC699-9188-9B72-58E3-9D58F67046DE}"/>
              </a:ext>
            </a:extLst>
          </p:cNvPr>
          <p:cNvSpPr txBox="1"/>
          <p:nvPr/>
        </p:nvSpPr>
        <p:spPr>
          <a:xfrm>
            <a:off x="4476750" y="1339850"/>
            <a:ext cx="387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Lane Swenka</a:t>
            </a:r>
          </a:p>
          <a:p>
            <a:pPr algn="r"/>
            <a:r>
              <a:rPr lang="en-US" dirty="0"/>
              <a:t>Microsoft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2D111-E09B-83DD-78B2-8668FCF361F1}"/>
              </a:ext>
            </a:extLst>
          </p:cNvPr>
          <p:cNvSpPr txBox="1"/>
          <p:nvPr/>
        </p:nvSpPr>
        <p:spPr>
          <a:xfrm>
            <a:off x="2476072" y="4024204"/>
            <a:ext cx="598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Nathan Clouse</a:t>
            </a:r>
          </a:p>
          <a:p>
            <a:pPr algn="r"/>
            <a:r>
              <a:rPr lang="en-US" dirty="0"/>
              <a:t>HSO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Everything we’re going to talk about </a:t>
            </a:r>
            <a:r>
              <a:rPr lang="en-US" dirty="0" err="1"/>
              <a:t>about</a:t>
            </a:r>
            <a:r>
              <a:rPr lang="en-US" dirty="0"/>
              <a:t> is available at https://github.com/NathanClouseAX/d365fo-cicd-ppac</a:t>
            </a:r>
          </a:p>
          <a:p>
            <a:pPr algn="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EB1D8-E006-B795-DD22-F9FB66771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76" y="1930768"/>
            <a:ext cx="2085714" cy="19523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200" dirty="0"/>
              <a:t>"How many of you have deployed a package to production</a:t>
            </a:r>
            <a:r>
              <a:rPr lang="en-US" sz="3200" dirty="0"/>
              <a:t> </a:t>
            </a:r>
            <a:r>
              <a:rPr sz="3200" dirty="0"/>
              <a:t>and weren't 100% sure it was the same binary</a:t>
            </a:r>
            <a:r>
              <a:rPr lang="en-US" sz="3200" dirty="0"/>
              <a:t> </a:t>
            </a:r>
            <a:r>
              <a:rPr sz="3200" dirty="0"/>
              <a:t>that passed UAT?"</a:t>
            </a:r>
          </a:p>
          <a:p>
            <a:pPr>
              <a:defRPr sz="2000"/>
            </a:pPr>
            <a:endParaRPr sz="3200" dirty="0"/>
          </a:p>
          <a:p>
            <a:pPr>
              <a:defRPr sz="2000"/>
            </a:pPr>
            <a:r>
              <a:rPr sz="3200" dirty="0"/>
              <a:t>The promise: one artifact, created once,</a:t>
            </a:r>
            <a:r>
              <a:rPr lang="en-US" sz="3200" dirty="0"/>
              <a:t> </a:t>
            </a:r>
            <a:r>
              <a:rPr sz="3200" dirty="0"/>
              <a:t>carried forward untouched — or rolled back with 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Immutable packaging and durable versioning</a:t>
            </a:r>
          </a:p>
          <a:p>
            <a:pPr>
              <a:defRPr sz="1800"/>
            </a:pPr>
            <a:r>
              <a:rPr sz="3200" dirty="0"/>
              <a:t>Artifact promotion through environments</a:t>
            </a:r>
          </a:p>
          <a:p>
            <a:pPr>
              <a:defRPr sz="1800"/>
            </a:pPr>
            <a:r>
              <a:rPr sz="3200" dirty="0"/>
              <a:t>Structural enforcement (not just process)</a:t>
            </a:r>
          </a:p>
          <a:p>
            <a:pPr>
              <a:defRPr sz="1800"/>
            </a:pPr>
            <a:r>
              <a:rPr sz="3200" dirty="0"/>
              <a:t>Full environment automation via PPAC</a:t>
            </a:r>
          </a:p>
          <a:p>
            <a:pPr>
              <a:defRPr sz="1800"/>
            </a:pPr>
            <a:endParaRPr sz="3200" dirty="0"/>
          </a:p>
          <a:p>
            <a:pPr>
              <a:defRPr sz="1800"/>
            </a:pPr>
            <a:r>
              <a:rPr sz="3200" dirty="0"/>
              <a:t>What we won't cover:</a:t>
            </a:r>
          </a:p>
          <a:p>
            <a:pPr>
              <a:defRPr sz="1800"/>
            </a:pPr>
            <a:r>
              <a:rPr sz="3200" dirty="0"/>
              <a:t>X++ patterns, Dataverse solutions, Power Platform ALM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  <p:pic>
        <p:nvPicPr>
          <p:cNvPr id="3" name="Picture 2" descr="pipel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243" y="1371600"/>
            <a:ext cx="52595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3971-0609-1905-E9F3-F762933E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peline-architecture.png">
            <a:extLst>
              <a:ext uri="{FF2B5EF4-FFF2-40B4-BE49-F238E27FC236}">
                <a16:creationId xmlns:a16="http://schemas.microsoft.com/office/drawing/2014/main" id="{42613A04-8B31-3E67-FA8E-AB393B2F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01" y="-3380"/>
            <a:ext cx="7175597" cy="68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58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WHY LCS CAN'T GET YOU THERE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LCS was designed for a different era. The world move</a:t>
            </a:r>
            <a:r>
              <a:rPr lang="en-US" dirty="0"/>
              <a:t>s</a:t>
            </a:r>
            <a:r>
              <a:rPr dirty="0"/>
              <a:t>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WHAT WE WANT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LCS Reality:</a:t>
            </a:r>
          </a:p>
          <a:p>
            <a:pPr lvl="1">
              <a:defRPr sz="1600"/>
            </a:pPr>
            <a:r>
              <a:rPr sz="2800" dirty="0"/>
              <a:t>Manual portal deployments</a:t>
            </a:r>
          </a:p>
          <a:p>
            <a:pPr lvl="1">
              <a:defRPr sz="1600"/>
            </a:pPr>
            <a:r>
              <a:rPr sz="2800" dirty="0"/>
              <a:t>Build</a:t>
            </a:r>
            <a:r>
              <a:rPr lang="en-US" sz="2800" dirty="0"/>
              <a:t>/Dev</a:t>
            </a:r>
            <a:r>
              <a:rPr sz="2800" dirty="0"/>
              <a:t> VMs (~$500/</a:t>
            </a:r>
            <a:r>
              <a:rPr sz="2800" dirty="0" err="1"/>
              <a:t>mo</a:t>
            </a:r>
            <a:r>
              <a:rPr sz="2800" dirty="0"/>
              <a:t>)</a:t>
            </a:r>
          </a:p>
          <a:p>
            <a:pPr lvl="1">
              <a:defRPr sz="1600"/>
            </a:pPr>
            <a:r>
              <a:rPr sz="2800" dirty="0"/>
              <a:t>Upload to Asset Library</a:t>
            </a:r>
          </a:p>
          <a:p>
            <a:pPr lvl="1">
              <a:defRPr sz="1600"/>
            </a:pPr>
            <a:r>
              <a:rPr sz="2800" dirty="0"/>
              <a:t>No automated PR validation</a:t>
            </a:r>
          </a:p>
          <a:p>
            <a:pPr lvl="1">
              <a:defRPr sz="1600"/>
            </a:pPr>
            <a:r>
              <a:rPr sz="2800" dirty="0"/>
              <a:t>Portal provisioning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What We Want:</a:t>
            </a:r>
          </a:p>
          <a:p>
            <a:pPr lvl="1">
              <a:defRPr sz="1600"/>
            </a:pPr>
            <a:r>
              <a:rPr sz="2800" dirty="0"/>
              <a:t>API-driven, pipeline-triggered</a:t>
            </a:r>
          </a:p>
          <a:p>
            <a:pPr lvl="1">
              <a:defRPr sz="1600"/>
            </a:pPr>
            <a:r>
              <a:rPr sz="2800" dirty="0"/>
              <a:t>Hosted agents, pay-per-minute</a:t>
            </a:r>
          </a:p>
          <a:p>
            <a:pPr lvl="1">
              <a:defRPr sz="1600"/>
            </a:pPr>
            <a:r>
              <a:rPr sz="2800" dirty="0"/>
              <a:t>One artifact flows untouched</a:t>
            </a:r>
          </a:p>
          <a:p>
            <a:pPr lvl="1">
              <a:defRPr sz="1600"/>
            </a:pPr>
            <a:r>
              <a:rPr sz="2800" dirty="0"/>
              <a:t>Full integration test on every PR</a:t>
            </a:r>
          </a:p>
          <a:p>
            <a:pPr lvl="1">
              <a:defRPr sz="1600"/>
            </a:pPr>
            <a:r>
              <a:rPr sz="2800" dirty="0"/>
              <a:t>Branch push = sandbox in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PPAC</a:t>
            </a:r>
          </a:p>
        </p:txBody>
      </p:sp>
      <p:pic>
        <p:nvPicPr>
          <p:cNvPr id="3" name="Picture 2" descr="lcs-vs-pp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1371600"/>
            <a:ext cx="26289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8A5-98B8-0E09-DEEB-82736537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F6256C90-599B-DB85-088D-1163F52D4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391" y="0"/>
            <a:ext cx="6928819" cy="13255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DFF04-2608-D247-2D08-3D7EE97B114E}"/>
              </a:ext>
            </a:extLst>
          </p:cNvPr>
          <p:cNvSpPr txBox="1"/>
          <p:nvPr/>
        </p:nvSpPr>
        <p:spPr>
          <a:xfrm>
            <a:off x="579354" y="1577514"/>
            <a:ext cx="5723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 </a:t>
            </a:r>
            <a:r>
              <a:rPr lang="en-US" sz="4400" dirty="0" err="1"/>
              <a:t>P</a:t>
            </a:r>
            <a:r>
              <a:rPr lang="en-US" sz="4400" dirty="0"/>
              <a:t> A C</a:t>
            </a:r>
          </a:p>
        </p:txBody>
      </p:sp>
    </p:spTree>
    <p:extLst>
      <p:ext uri="{BB962C8B-B14F-4D97-AF65-F5344CB8AC3E}">
        <p14:creationId xmlns:p14="http://schemas.microsoft.com/office/powerpoint/2010/main" val="1477723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808E-45C8-8B3A-FAE6-543851B4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BA1709CD-6133-5B9B-6C08-4B3E3EA0B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37" y="-6636469"/>
            <a:ext cx="6938126" cy="13272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BDC17-CED2-84F3-3501-A9EAED445242}"/>
              </a:ext>
            </a:extLst>
          </p:cNvPr>
          <p:cNvSpPr txBox="1"/>
          <p:nvPr/>
        </p:nvSpPr>
        <p:spPr>
          <a:xfrm>
            <a:off x="579354" y="1577514"/>
            <a:ext cx="5723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LCS</a:t>
            </a:r>
          </a:p>
        </p:txBody>
      </p:sp>
    </p:spTree>
    <p:extLst>
      <p:ext uri="{BB962C8B-B14F-4D97-AF65-F5344CB8AC3E}">
        <p14:creationId xmlns:p14="http://schemas.microsoft.com/office/powerpoint/2010/main" val="209408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BC85-B70C-18C8-D18B-E06B1818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11D2-B6F4-6D41-1A19-CC044C07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PPAC</a:t>
            </a:r>
          </a:p>
        </p:txBody>
      </p:sp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C207F9E0-5AEC-4986-F42D-25C37E589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1371600"/>
            <a:ext cx="26289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5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IMMUTABLE ARTIFACT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The package is created exactly once. Everything after that is promotion.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ARTIFACT IS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Compiled from source on hosted agents (no build VM)</a:t>
            </a:r>
          </a:p>
          <a:p>
            <a:pPr>
              <a:defRPr sz="1800"/>
            </a:pPr>
            <a:r>
              <a:rPr sz="3200" dirty="0"/>
              <a:t>NuGet </a:t>
            </a:r>
            <a:r>
              <a:rPr sz="3200" dirty="0" err="1"/>
              <a:t>DevALM</a:t>
            </a:r>
            <a:r>
              <a:rPr sz="3200" dirty="0"/>
              <a:t> packages provide the toolchain</a:t>
            </a:r>
          </a:p>
          <a:p>
            <a:pPr>
              <a:defRPr sz="1800"/>
            </a:pPr>
            <a:r>
              <a:rPr sz="3200" dirty="0"/>
              <a:t>Version number baked into module metadata at compile time</a:t>
            </a:r>
          </a:p>
          <a:p>
            <a:pPr>
              <a:defRPr sz="1800"/>
            </a:pPr>
            <a:r>
              <a:rPr sz="3200" dirty="0"/>
              <a:t>Published as a pipeline artifact — immutable from this point</a:t>
            </a:r>
          </a:p>
          <a:p>
            <a:pPr>
              <a:defRPr sz="1800"/>
            </a:pPr>
            <a:r>
              <a:rPr sz="3200" dirty="0"/>
              <a:t>Same binary in UAT, DM, GOLD, PROD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IMMUTABILITY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600" dirty="0"/>
              <a:t>If UAT passes and GOLD fails — it's environmental, not build variance</a:t>
            </a:r>
          </a:p>
          <a:p>
            <a:pPr>
              <a:defRPr sz="1800"/>
            </a:pPr>
            <a:r>
              <a:rPr sz="2600" dirty="0"/>
              <a:t>Rollback = deploy a known-good artifact (not rebuild from a commit)</a:t>
            </a:r>
          </a:p>
          <a:p>
            <a:pPr>
              <a:defRPr sz="1800"/>
            </a:pPr>
            <a:r>
              <a:rPr sz="2600" dirty="0"/>
              <a:t>Auditors trace any production binary to the exact source commit</a:t>
            </a:r>
          </a:p>
          <a:p>
            <a:pPr>
              <a:defRPr sz="1800"/>
            </a:pPr>
            <a:r>
              <a:rPr sz="2600" dirty="0"/>
              <a:t>Cache invalidates on version bump — no dependency drift</a:t>
            </a:r>
          </a:p>
          <a:p>
            <a:pPr>
              <a:defRPr sz="1800"/>
            </a:pPr>
            <a:endParaRPr sz="2600" dirty="0"/>
          </a:p>
          <a:p>
            <a:pPr>
              <a:defRPr sz="1800"/>
            </a:pPr>
            <a:r>
              <a:rPr sz="2600" dirty="0"/>
              <a:t>The compilation environment is deterministic and versioned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 PROMOTION</a:t>
            </a:r>
          </a:p>
        </p:txBody>
      </p:sp>
      <p:pic>
        <p:nvPicPr>
          <p:cNvPr id="3" name="Picture 2" descr="artifact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5" y="2110348"/>
            <a:ext cx="12047141" cy="29363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BRANCH STRATEGY &amp; ENFORCEMENT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Branches control where code CAN go. Pipelines control where it DOES 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PROMOTION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b="1" dirty="0"/>
              <a:t>feature/* </a:t>
            </a:r>
            <a:r>
              <a:rPr sz="2400" dirty="0"/>
              <a:t>→ PR (integration test) → </a:t>
            </a:r>
            <a:r>
              <a:rPr sz="2400" i="1" dirty="0"/>
              <a:t>main</a:t>
            </a:r>
          </a:p>
          <a:p>
            <a:pPr>
              <a:defRPr sz="1800"/>
            </a:pPr>
            <a:r>
              <a:rPr sz="2400" i="1" dirty="0"/>
              <a:t>main</a:t>
            </a:r>
            <a:r>
              <a:rPr sz="2400" dirty="0"/>
              <a:t> → </a:t>
            </a:r>
            <a:r>
              <a:rPr sz="2400" b="1" dirty="0"/>
              <a:t>release/* </a:t>
            </a:r>
            <a:r>
              <a:rPr sz="2400" dirty="0"/>
              <a:t>→ </a:t>
            </a:r>
            <a:r>
              <a:rPr sz="2400" i="1" dirty="0"/>
              <a:t>UAT</a:t>
            </a:r>
            <a:r>
              <a:rPr sz="2400" dirty="0"/>
              <a:t> → </a:t>
            </a:r>
            <a:r>
              <a:rPr sz="2400" i="1" dirty="0"/>
              <a:t>DM</a:t>
            </a:r>
            <a:r>
              <a:rPr sz="2400" dirty="0"/>
              <a:t> → </a:t>
            </a:r>
            <a:r>
              <a:rPr sz="2400" i="1" dirty="0"/>
              <a:t>GOLD</a:t>
            </a:r>
            <a:r>
              <a:rPr sz="2400" dirty="0"/>
              <a:t> → </a:t>
            </a:r>
            <a:r>
              <a:rPr sz="2400" i="1" dirty="0"/>
              <a:t>PROD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Every PR runs a full integration test:</a:t>
            </a:r>
          </a:p>
          <a:p>
            <a:pPr lvl="1">
              <a:defRPr sz="1800"/>
            </a:pPr>
            <a:r>
              <a:rPr dirty="0"/>
              <a:t>Provision ephemeral sandbox</a:t>
            </a:r>
          </a:p>
          <a:p>
            <a:pPr lvl="1">
              <a:defRPr sz="1800"/>
            </a:pPr>
            <a:r>
              <a:rPr dirty="0"/>
              <a:t>Copy database from known-good source</a:t>
            </a:r>
          </a:p>
          <a:p>
            <a:pPr lvl="1">
              <a:defRPr sz="1800"/>
            </a:pPr>
            <a:r>
              <a:rPr dirty="0"/>
              <a:t>Deploy package + DB sync</a:t>
            </a:r>
          </a:p>
          <a:p>
            <a:pPr lvl="1">
              <a:defRPr sz="1800"/>
            </a:pPr>
            <a:r>
              <a:rPr dirty="0"/>
              <a:t>Run automated tests</a:t>
            </a:r>
          </a:p>
          <a:p>
            <a:pPr lvl="1">
              <a:defRPr sz="1800"/>
            </a:pPr>
            <a:r>
              <a:rPr dirty="0"/>
              <a:t>Tear down (always, even on failure)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89" y="2422113"/>
            <a:ext cx="11935427" cy="20102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A807-D88E-47BD-C42E-C09FC7C9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BEC0-FF7F-D56C-CB86-4841DA08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E1E25FF4-D40F-3B65-4648-8F827F99C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6" y="1297902"/>
            <a:ext cx="22721564" cy="38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24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77AB-1C97-5A07-B863-14366597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8381-CEA3-DF21-7666-EC990684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6BC621F5-179A-C586-21F2-D49B33969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66977" y="1212842"/>
            <a:ext cx="22721564" cy="38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4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7A5D-9E89-4F53-82C6-7FAE3E53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FA9B-806A-D774-9715-5AE457AB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ECF7A66B-C3BB-21F4-0ABC-9C53D93C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89" y="2422113"/>
            <a:ext cx="11935427" cy="20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60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AS THE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By the time a release branch is cut from main,</a:t>
            </a:r>
            <a:r>
              <a:rPr lang="en-US" sz="2400" dirty="0"/>
              <a:t> </a:t>
            </a:r>
            <a:r>
              <a:rPr sz="2400" dirty="0"/>
              <a:t>every commit has already been validated</a:t>
            </a:r>
            <a:r>
              <a:rPr lang="en-US" sz="2400" dirty="0"/>
              <a:t> </a:t>
            </a:r>
            <a:r>
              <a:rPr sz="2400" dirty="0"/>
              <a:t>in a real F&amp;O environment.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UAT deployment is for business acceptance,</a:t>
            </a:r>
            <a:r>
              <a:rPr lang="en-US" sz="2400" dirty="0"/>
              <a:t> </a:t>
            </a:r>
            <a:r>
              <a:rPr sz="2400" dirty="0"/>
              <a:t>not for catching regressions.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"Process" means someone has to remember.</a:t>
            </a:r>
          </a:p>
          <a:p>
            <a:pPr>
              <a:defRPr sz="1800"/>
            </a:pPr>
            <a:r>
              <a:rPr sz="2400" dirty="0"/>
              <a:t>"Structure" means they can't forget.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VALIDATION FLOW</a:t>
            </a:r>
          </a:p>
        </p:txBody>
      </p:sp>
      <p:pic>
        <p:nvPicPr>
          <p:cNvPr id="3" name="Picture 2" descr="pr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03" y="1315759"/>
            <a:ext cx="2940794" cy="5378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F089-B05B-A410-9A40-B4303CF0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82011969-D2BB-623F-09B3-98089917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612" y="0"/>
            <a:ext cx="6261108" cy="114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86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98A3-6BE0-C65F-B587-A2415903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5870F1C3-1A38-647E-7E6E-14D4484B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553" y="-4593038"/>
            <a:ext cx="6261108" cy="114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7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CE1D-391E-1910-552B-547B794B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151D-BA89-8B3E-32A7-B324ABDE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VALIDATION FLOW</a:t>
            </a:r>
          </a:p>
        </p:txBody>
      </p:sp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23D8F416-DC08-41B1-3BB4-4A64A2F2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03" y="1315759"/>
            <a:ext cx="2940794" cy="53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6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PR gate must pass → main never has untested code</a:t>
            </a:r>
          </a:p>
          <a:p>
            <a:pPr>
              <a:defRPr sz="1800"/>
            </a:pPr>
            <a:r>
              <a:rPr sz="2400" dirty="0"/>
              <a:t>Deploy only triggers from release/* → main can't reach UAT</a:t>
            </a:r>
            <a:r>
              <a:rPr lang="en-US" sz="2400" dirty="0"/>
              <a:t> (or PROD)</a:t>
            </a:r>
            <a:endParaRPr sz="2400" dirty="0"/>
          </a:p>
          <a:p>
            <a:pPr>
              <a:defRPr sz="1800"/>
            </a:pPr>
            <a:r>
              <a:rPr sz="2400" dirty="0"/>
              <a:t>Release chains off deploy success → can't skip validation</a:t>
            </a:r>
          </a:p>
          <a:p>
            <a:pPr>
              <a:defRPr sz="1800"/>
            </a:pPr>
            <a:r>
              <a:rPr sz="2400" dirty="0"/>
              <a:t>Service connections have branch restrictions</a:t>
            </a:r>
          </a:p>
          <a:p>
            <a:pPr>
              <a:defRPr sz="1800"/>
            </a:pPr>
            <a:r>
              <a:rPr sz="2400" dirty="0"/>
              <a:t>Production credentials only issued to release branches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The artifact never changes — only its fate does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DEPLOY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Deploy once, verify independently, fail fast for downstream.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TWO-JOB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Job 1: Submit &amp; Wait</a:t>
            </a:r>
          </a:p>
          <a:p>
            <a:pPr lvl="1">
              <a:defRPr sz="1800"/>
            </a:pPr>
            <a:r>
              <a:rPr sz="2800" dirty="0"/>
              <a:t>Readiness check (is environment deployable?)</a:t>
            </a:r>
          </a:p>
          <a:p>
            <a:pPr lvl="1">
              <a:defRPr sz="1800"/>
            </a:pPr>
            <a:r>
              <a:rPr sz="2800" dirty="0"/>
              <a:t>Deploy package (synchronous wait)</a:t>
            </a:r>
          </a:p>
          <a:p>
            <a:pPr lvl="1">
              <a:defRPr sz="1800"/>
            </a:pPr>
            <a:r>
              <a:rPr sz="2800" dirty="0"/>
              <a:t>Report outcome</a:t>
            </a:r>
          </a:p>
          <a:p>
            <a:pPr>
              <a:defRPr sz="1800"/>
            </a:pPr>
            <a:r>
              <a:rPr sz="2000" dirty="0"/>
              <a:t>Job 2: Verify</a:t>
            </a:r>
          </a:p>
          <a:p>
            <a:pPr lvl="1">
              <a:defRPr sz="1800"/>
            </a:pPr>
            <a:r>
              <a:rPr sz="2800" dirty="0"/>
              <a:t>Independent status check via management API</a:t>
            </a:r>
          </a:p>
          <a:p>
            <a:pPr lvl="1">
              <a:defRPr sz="1800"/>
            </a:pPr>
            <a:r>
              <a:rPr sz="2800" dirty="0"/>
              <a:t>Notify stakeholders</a:t>
            </a:r>
          </a:p>
          <a:p>
            <a:pPr lvl="1">
              <a:defRPr sz="1800"/>
            </a:pPr>
            <a:r>
              <a:rPr sz="2800" dirty="0"/>
              <a:t>Gate downstream environments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TEMPLATE</a:t>
            </a:r>
          </a:p>
        </p:txBody>
      </p:sp>
      <p:pic>
        <p:nvPicPr>
          <p:cNvPr id="3" name="Picture 2" descr="deploy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52" y="1371600"/>
            <a:ext cx="181729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CEC7-22AF-FDFF-1579-8736B1FE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CC20FEA6-2836-C40C-D501-977747C92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51" y="0"/>
            <a:ext cx="5366639" cy="1485168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A6BEB7A-DA3D-AD70-DCE8-485BA2B7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95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092-D112-F64A-E674-F7F2DC29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25E27067-D227-6331-BE93-35D6A3A6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98" y="-5968999"/>
            <a:ext cx="4690092" cy="129793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B94FB96-7FF8-FC23-FCF2-631F37B8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5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3C92-5835-66F6-2C16-FF21A78D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2D69-5A26-AA61-932D-27E0EE79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TEMPLATE</a:t>
            </a:r>
          </a:p>
        </p:txBody>
      </p:sp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917B0E56-4846-B314-435E-8FB034AA6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52" y="1371600"/>
            <a:ext cx="181729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7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&amp; SYNCHRONOUS 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Environment Readiness:</a:t>
            </a:r>
          </a:p>
          <a:p>
            <a:pPr lvl="1">
              <a:defRPr sz="1600"/>
            </a:pPr>
            <a:r>
              <a:rPr sz="2800" dirty="0"/>
              <a:t>Poll state before deploying</a:t>
            </a:r>
          </a:p>
          <a:p>
            <a:pPr lvl="1">
              <a:defRPr sz="1600"/>
            </a:pPr>
            <a:r>
              <a:rPr sz="2800" dirty="0"/>
              <a:t>Wait for Servicing/Updating</a:t>
            </a:r>
          </a:p>
          <a:p>
            <a:pPr lvl="1">
              <a:defRPr sz="1600"/>
            </a:pPr>
            <a:r>
              <a:rPr sz="2800" dirty="0"/>
              <a:t>Deploy when ready</a:t>
            </a:r>
          </a:p>
          <a:p>
            <a:pPr lvl="1">
              <a:defRPr sz="1600"/>
            </a:pPr>
            <a:r>
              <a:rPr sz="2800" dirty="0"/>
              <a:t>Without: instant failure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Synchronous Wait:</a:t>
            </a:r>
          </a:p>
          <a:p>
            <a:pPr lvl="1">
              <a:defRPr sz="1600"/>
            </a:pPr>
            <a:r>
              <a:rPr sz="2800" dirty="0"/>
              <a:t>Agent disconnects = PPAC cancels</a:t>
            </a:r>
          </a:p>
          <a:p>
            <a:pPr lvl="1">
              <a:defRPr sz="1600"/>
            </a:pPr>
            <a:r>
              <a:rPr sz="2800" dirty="0"/>
              <a:t>Must stay connected until done</a:t>
            </a:r>
          </a:p>
          <a:p>
            <a:pPr lvl="1">
              <a:defRPr sz="1600"/>
            </a:pPr>
            <a:r>
              <a:rPr sz="2800" dirty="0"/>
              <a:t>Fire-and-forget = silent failure</a:t>
            </a:r>
          </a:p>
          <a:p>
            <a:pPr lvl="1">
              <a:defRPr sz="1600"/>
            </a:pPr>
            <a:r>
              <a:rPr sz="2800" dirty="0"/>
              <a:t>3-hour timeout, poll internally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ENVIRONMENT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Everything LCS did manually, PPAC does via API.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BRANCH-TRIGGERED PROVISIONING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Push a feature branch → sandbox provisioned automatically</a:t>
            </a:r>
          </a:p>
          <a:p>
            <a:pPr>
              <a:defRPr sz="1800"/>
            </a:pPr>
            <a:r>
              <a:rPr dirty="0"/>
              <a:t>F&amp;O template applied, ready in 15</a:t>
            </a:r>
            <a:r>
              <a:rPr lang="en-US" dirty="0"/>
              <a:t>0</a:t>
            </a:r>
            <a:r>
              <a:rPr dirty="0"/>
              <a:t>-30</a:t>
            </a:r>
            <a:r>
              <a:rPr lang="en-US" dirty="0"/>
              <a:t>0</a:t>
            </a:r>
            <a:r>
              <a:rPr dirty="0"/>
              <a:t> minutes</a:t>
            </a:r>
          </a:p>
          <a:p>
            <a:pPr>
              <a:defRPr sz="1800"/>
            </a:pPr>
            <a:r>
              <a:rPr dirty="0"/>
              <a:t>Database copied from known-good source</a:t>
            </a:r>
          </a:p>
          <a:p>
            <a:pPr>
              <a:defRPr sz="1800"/>
            </a:pPr>
            <a:r>
              <a:rPr dirty="0"/>
              <a:t>Developer </a:t>
            </a:r>
            <a:r>
              <a:rPr lang="en-US" dirty="0"/>
              <a:t>codes and </a:t>
            </a:r>
            <a:r>
              <a:rPr dirty="0"/>
              <a:t>tests against real data from day one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 merged → sandbox deleted → </a:t>
            </a:r>
            <a:r>
              <a:rPr lang="en-US" dirty="0"/>
              <a:t>release storage</a:t>
            </a:r>
            <a:endParaRPr dirty="0"/>
          </a:p>
          <a:p>
            <a:pPr>
              <a:defRPr sz="1800"/>
            </a:pPr>
            <a:r>
              <a:rPr dirty="0"/>
              <a:t>Zero infrastructure to manage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LIFECYCLE</a:t>
            </a:r>
          </a:p>
        </p:txBody>
      </p:sp>
      <p:pic>
        <p:nvPicPr>
          <p:cNvPr id="3" name="Picture 2" descr="environmen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67" y="1371600"/>
            <a:ext cx="19856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C644A-15FD-BF10-9C5F-4328E78C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4793D10B-5445-B47F-3CDC-90F7AA1AB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0"/>
            <a:ext cx="5867400" cy="1486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1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5D8D-D3CE-8CCD-DF07-851B1762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A73E9448-FB1E-E4B9-9ECC-961BD7EED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166" y="-6159500"/>
            <a:ext cx="5437834" cy="1377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75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185-4A43-F8E6-D322-08A39DFA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EBF93BB0-D1BB-7B7D-76EC-D29A50CB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-12103101"/>
            <a:ext cx="6731000" cy="170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04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EBAE-ACEB-96B2-7532-1FAB77CC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B01D-1AF5-BAAC-C3BA-8BA24D79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LIFECYCLE</a:t>
            </a:r>
          </a:p>
        </p:txBody>
      </p:sp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CDB015D4-5B62-23C6-790C-A82C6F780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67" y="1371600"/>
            <a:ext cx="198566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51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FULL</a:t>
            </a:r>
            <a:r>
              <a:rPr lang="en-US" dirty="0"/>
              <a:t> DEVELOPMENT</a:t>
            </a:r>
            <a:r>
              <a:rPr dirty="0"/>
              <a:t>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Developer pushes feature branch</a:t>
            </a:r>
          </a:p>
          <a:p>
            <a:pPr lvl="1">
              <a:defRPr sz="1800"/>
            </a:pPr>
            <a:r>
              <a:rPr sz="2800" dirty="0"/>
              <a:t>Sandbox created automatically</a:t>
            </a:r>
          </a:p>
          <a:p>
            <a:pPr lvl="1">
              <a:defRPr sz="1800"/>
            </a:pPr>
            <a:r>
              <a:rPr sz="2800" dirty="0"/>
              <a:t>DB copied from known-good source</a:t>
            </a:r>
          </a:p>
          <a:p>
            <a:pPr lvl="1">
              <a:defRPr sz="1800"/>
            </a:pPr>
            <a:r>
              <a:rPr sz="2800" dirty="0"/>
              <a:t>Developer tests with real data</a:t>
            </a:r>
            <a:endParaRPr lang="en-US" sz="2800" dirty="0"/>
          </a:p>
          <a:p>
            <a:pPr lvl="1">
              <a:defRPr sz="1800"/>
            </a:pPr>
            <a:r>
              <a:rPr lang="en-US" sz="2800" dirty="0"/>
              <a:t>PR created → automated test run, other automations run</a:t>
            </a:r>
            <a:endParaRPr sz="2800" dirty="0"/>
          </a:p>
          <a:p>
            <a:pPr lvl="1">
              <a:defRPr sz="1800"/>
            </a:pPr>
            <a:r>
              <a:rPr sz="2800" dirty="0"/>
              <a:t>PR merged → sandbox deleted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sz="2400" dirty="0"/>
              <a:t>"Infrastructure as cattle, not pets."</a:t>
            </a:r>
          </a:p>
          <a:p>
            <a:pPr>
              <a:defRPr sz="1800"/>
            </a:pPr>
            <a:r>
              <a:rPr sz="2400" dirty="0"/>
              <a:t>Environments are disposable. The code is what matters.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POST-COPY AUTOMATION</a:t>
            </a:r>
            <a:r>
              <a:rPr lang="en-US" dirty="0"/>
              <a:t> VIA DEVOPS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After database copy, automated steps run:</a:t>
            </a:r>
          </a:p>
          <a:p>
            <a:pPr lvl="1">
              <a:defRPr sz="1800"/>
            </a:pPr>
            <a:r>
              <a:rPr sz="2000" dirty="0"/>
              <a:t>DMF entity refresh (new data entities published)</a:t>
            </a:r>
          </a:p>
          <a:p>
            <a:pPr lvl="1">
              <a:defRPr sz="1800"/>
            </a:pPr>
            <a:r>
              <a:rPr sz="2000" dirty="0"/>
              <a:t>Environment validation checks</a:t>
            </a:r>
          </a:p>
          <a:p>
            <a:pPr lvl="1">
              <a:defRPr sz="1800"/>
            </a:pPr>
            <a:r>
              <a:rPr sz="2000" dirty="0"/>
              <a:t>Service endpoint repointing</a:t>
            </a:r>
            <a:endParaRPr lang="en-US" sz="2000" dirty="0"/>
          </a:p>
          <a:p>
            <a:pPr lvl="1">
              <a:defRPr sz="1800"/>
            </a:pPr>
            <a:r>
              <a:rPr lang="en-US" sz="2000" dirty="0"/>
              <a:t>Reconfigure the environment to a set-point state</a:t>
            </a:r>
            <a:endParaRPr sz="20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No manual steps between copy and ready-to-use</a:t>
            </a:r>
          </a:p>
          <a:p>
            <a:pPr>
              <a:defRPr sz="1800"/>
            </a:pPr>
            <a:r>
              <a:rPr sz="2400" dirty="0"/>
              <a:t>Common gotcha: SPN must be registered as F&amp;O app user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Defense-in-depth — multiple independent enforcement layers.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ENFORCEMENT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Branch triggers → unauthorized code can't reach deploy</a:t>
            </a:r>
          </a:p>
          <a:p>
            <a:pPr>
              <a:defRPr sz="1800"/>
            </a:pPr>
            <a:r>
              <a:rPr sz="2400" dirty="0"/>
              <a:t>Pipeline chaining → can't skip validation stages</a:t>
            </a:r>
          </a:p>
          <a:p>
            <a:pPr>
              <a:defRPr sz="1800"/>
            </a:pPr>
            <a:r>
              <a:rPr sz="2400" dirty="0"/>
              <a:t>Environment approvals → human gate per environment</a:t>
            </a:r>
          </a:p>
          <a:p>
            <a:pPr>
              <a:defRPr sz="1800"/>
            </a:pPr>
            <a:r>
              <a:rPr sz="2400" dirty="0"/>
              <a:t>Service connection branch control → rogue pipelines blocked</a:t>
            </a:r>
          </a:p>
          <a:p>
            <a:pPr>
              <a:defRPr sz="1800"/>
            </a:pPr>
            <a:r>
              <a:rPr sz="2400" dirty="0"/>
              <a:t>Business hours restriction → no </a:t>
            </a:r>
            <a:r>
              <a:rPr lang="en-US" sz="2400" dirty="0"/>
              <a:t>"on</a:t>
            </a:r>
            <a:r>
              <a:rPr sz="2400" dirty="0"/>
              <a:t>-hours</a:t>
            </a:r>
            <a:r>
              <a:rPr lang="en-US" sz="2400" dirty="0"/>
              <a:t>"</a:t>
            </a:r>
            <a:r>
              <a:rPr sz="2400" dirty="0"/>
              <a:t> prod changes</a:t>
            </a:r>
            <a:r>
              <a:rPr lang="en-US" sz="2400" dirty="0"/>
              <a:t> – you pick the schedule</a:t>
            </a:r>
            <a:endParaRPr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Each layer is independent. Any single layer can fail</a:t>
            </a:r>
            <a:r>
              <a:rPr lang="en-US" sz="2400" dirty="0"/>
              <a:t> </a:t>
            </a:r>
            <a:r>
              <a:rPr sz="2400" dirty="0"/>
              <a:t>and the others still hold. That's defense-in-depth.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LAYERS</a:t>
            </a:r>
          </a:p>
        </p:txBody>
      </p:sp>
      <p:pic>
        <p:nvPicPr>
          <p:cNvPr id="3" name="Picture 2" descr="security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60" y="1371600"/>
            <a:ext cx="262687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F20E-7499-29CA-018D-F27BA94F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1C4E5586-0A8D-BF0E-7E76-A4EA2DD4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60" y="-513466"/>
            <a:ext cx="6152140" cy="1177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9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5988-E4E0-0D9C-5293-107E311F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61504D88-C0FF-5582-6AEB-51F79686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460" y="-5199766"/>
            <a:ext cx="6152140" cy="1177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4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01B4-573B-28DF-E4CA-7AEEAA52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CA59-B7F9-FCC1-FC2C-7828B9CB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LAYERS</a:t>
            </a:r>
          </a:p>
        </p:txBody>
      </p:sp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BAE694C5-3387-5CEC-DECF-688EE5E9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60" y="1371600"/>
            <a:ext cx="262687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7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You don't have to do everything at once.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MINIMUM VIABLE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Build pipeline — compile on hosted agents, publish artifact</a:t>
            </a:r>
            <a:r>
              <a:rPr lang="en-US" sz="2400" dirty="0"/>
              <a:t>, cache </a:t>
            </a:r>
            <a:r>
              <a:rPr lang="en-US" sz="2400" dirty="0" err="1"/>
              <a:t>nugets</a:t>
            </a:r>
            <a:endParaRPr sz="2400" dirty="0"/>
          </a:p>
          <a:p>
            <a:pPr>
              <a:defRPr sz="1800"/>
            </a:pPr>
            <a:r>
              <a:rPr sz="2400" dirty="0"/>
              <a:t>PR validation — even just compile </a:t>
            </a:r>
            <a:r>
              <a:rPr lang="en-US" sz="2400" dirty="0"/>
              <a:t>with or without</a:t>
            </a:r>
            <a:r>
              <a:rPr sz="2400" dirty="0"/>
              <a:t> basic tests</a:t>
            </a:r>
          </a:p>
          <a:p>
            <a:pPr>
              <a:defRPr sz="1800"/>
            </a:pPr>
            <a:r>
              <a:rPr sz="2400" dirty="0"/>
              <a:t>Deploy pipeline — promote the artifact, don't rebuild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Prerequisites:</a:t>
            </a:r>
          </a:p>
          <a:p>
            <a:pPr lvl="1">
              <a:defRPr sz="1800"/>
            </a:pPr>
            <a:r>
              <a:rPr sz="2000" dirty="0"/>
              <a:t>Service principal registered with PPAC</a:t>
            </a:r>
          </a:p>
          <a:p>
            <a:pPr lvl="1">
              <a:defRPr sz="1800"/>
            </a:pPr>
            <a:r>
              <a:rPr sz="2000" dirty="0"/>
              <a:t>NuGet feed with </a:t>
            </a:r>
            <a:r>
              <a:rPr sz="2000" dirty="0" err="1"/>
              <a:t>DevALM</a:t>
            </a:r>
            <a:r>
              <a:rPr sz="2000" dirty="0"/>
              <a:t> packages</a:t>
            </a:r>
          </a:p>
          <a:p>
            <a:pPr lvl="1">
              <a:defRPr sz="1800"/>
            </a:pPr>
            <a:r>
              <a:rPr sz="2000" dirty="0"/>
              <a:t>One variable group for secrets</a:t>
            </a:r>
            <a:r>
              <a:rPr lang="en-US" sz="2000" dirty="0"/>
              <a:t> (using key vault recommended but not required)</a:t>
            </a:r>
            <a:endParaRPr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"Package DLL is invalid" → artifact path wrong upstream</a:t>
            </a:r>
          </a:p>
          <a:p>
            <a:pPr>
              <a:defRPr sz="1800"/>
            </a:pPr>
            <a:r>
              <a:rPr sz="3200" dirty="0"/>
              <a:t>Secrets empty in scripts → ADO secrets need macro syntax</a:t>
            </a:r>
          </a:p>
          <a:p>
            <a:pPr>
              <a:defRPr sz="1800"/>
            </a:pPr>
            <a:r>
              <a:rPr sz="3200" dirty="0"/>
              <a:t>PPAC API routing errors → use PowerShell module, not raw REST</a:t>
            </a:r>
          </a:p>
          <a:p>
            <a:pPr>
              <a:defRPr sz="1800"/>
            </a:pPr>
            <a:r>
              <a:rPr sz="3200" dirty="0"/>
              <a:t>Deploy cancels mid-apply → synchronous wait required</a:t>
            </a:r>
          </a:p>
          <a:p>
            <a:pPr>
              <a:defRPr sz="1800"/>
            </a:pPr>
            <a:r>
              <a:rPr sz="3200" dirty="0"/>
              <a:t>Build number format errors → must be #.#.#.# (no text)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WORKFLOW</a:t>
            </a:r>
          </a:p>
        </p:txBody>
      </p:sp>
      <p:pic>
        <p:nvPicPr>
          <p:cNvPr id="3" name="Picture 2" descr="spri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83" y="1371600"/>
            <a:ext cx="190923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2EDC-42D9-4590-229D-726347B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421D8287-21C6-CBA6-8EA2-38BBB081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0"/>
            <a:ext cx="4660900" cy="1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5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547F-0DEB-0CA4-1954-C6E893DB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9F673BB7-E7B6-355C-1093-CF84BB321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-5419494"/>
            <a:ext cx="4660900" cy="1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88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F1ED-6FC4-464E-3EBD-625F5435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584C-4436-A8D9-BFB8-5B9C1E7B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WORKFLOW</a:t>
            </a:r>
          </a:p>
        </p:txBody>
      </p:sp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1E68F9BE-20AC-22F2-0776-06185F995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83" y="1371600"/>
            <a:ext cx="190923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61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ONCE A DEPLOYABLE PACKAGE IS CREATED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must never change. Only its fate does.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Immutable artifact — built once, promoted unchanged</a:t>
            </a:r>
          </a:p>
          <a:p>
            <a:pPr>
              <a:defRPr sz="1800"/>
            </a:pPr>
            <a:r>
              <a:rPr sz="2400" dirty="0"/>
              <a:t>Structural enforcement — </a:t>
            </a:r>
            <a:r>
              <a:rPr lang="en-US" sz="2400" dirty="0"/>
              <a:t>(near) </a:t>
            </a:r>
            <a:r>
              <a:rPr sz="2400" dirty="0"/>
              <a:t>impossible to skip validation</a:t>
            </a:r>
          </a:p>
          <a:p>
            <a:pPr>
              <a:defRPr sz="1800"/>
            </a:pPr>
            <a:r>
              <a:rPr sz="2400" dirty="0"/>
              <a:t>Full automation — provision, copy, deploy, verify, cleanup</a:t>
            </a:r>
          </a:p>
          <a:p>
            <a:pPr>
              <a:defRPr sz="1800"/>
            </a:pPr>
            <a:r>
              <a:rPr sz="2400" dirty="0"/>
              <a:t>Zero drift — same binary, deterministic compilation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Start with build + PR validation.</a:t>
            </a:r>
          </a:p>
          <a:p>
            <a:pPr>
              <a:defRPr sz="1800"/>
            </a:pPr>
            <a:r>
              <a:rPr sz="2400" dirty="0"/>
              <a:t>You'll never go back to build VMs.</a:t>
            </a:r>
            <a:endParaRPr lang="en-US" sz="2400" dirty="0"/>
          </a:p>
          <a:p>
            <a:pPr>
              <a:defRPr sz="1800"/>
            </a:pPr>
            <a:r>
              <a:rPr lang="en-US" sz="2400" dirty="0"/>
              <a:t>Everything we’ve talked about is available at https://github.com/NathanClouseAX/d365fo-cicd-ppac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B8856-7BC8-9A62-951B-2669CCE90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531" y="4001294"/>
            <a:ext cx="2085714" cy="195238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What's the one part of your current ALM process that keeps you up at night?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namicsMinds25_speaker template" id="{4D62A279-68C0-D845-8919-ABFEC135ADAC}" vid="{0C8B5561-8A62-0B4D-BDD5-A0ECA7EE69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89d9a-de23-44f7-b68d-8aeda9d70918">
      <Terms xmlns="http://schemas.microsoft.com/office/infopath/2007/PartnerControls"/>
    </lcf76f155ced4ddcb4097134ff3c332f>
    <TaxCatchAll xmlns="793b44b8-6629-42b0-8d6f-57790ce798ea" xsi:nil="true"/>
    <DocentricAXVersion xmlns="57389d9a-de23-44f7-b68d-8aeda9d709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3A2CABFDE9434B888FE9FD3D9AC681" ma:contentTypeVersion="22" ma:contentTypeDescription="Create a new document." ma:contentTypeScope="" ma:versionID="9915a783b432bc0de7104a88b3e3715b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838d3f2a3243d13adc46cfa97c00e314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9A0278-7D52-477D-A0DE-28BC56CE3D60}">
  <ds:schemaRefs>
    <ds:schemaRef ds:uri="http://schemas.microsoft.com/office/2006/metadata/properties"/>
    <ds:schemaRef ds:uri="http://schemas.microsoft.com/office/infopath/2007/PartnerControls"/>
    <ds:schemaRef ds:uri="57389d9a-de23-44f7-b68d-8aeda9d70918"/>
    <ds:schemaRef ds:uri="793b44b8-6629-42b0-8d6f-57790ce798ea"/>
  </ds:schemaRefs>
</ds:datastoreItem>
</file>

<file path=customXml/itemProps2.xml><?xml version="1.0" encoding="utf-8"?>
<ds:datastoreItem xmlns:ds="http://schemas.openxmlformats.org/officeDocument/2006/customXml" ds:itemID="{CF607807-FC04-49EB-81FA-734CE88EF0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06B598-CF7C-4E39-AA4F-BAEBFBE494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389d9a-de23-44f7-b68d-8aeda9d70918"/>
    <ds:schemaRef ds:uri="793b44b8-6629-42b0-8d6f-57790ce798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DynamicsMinds25_speaker template (2)</Template>
  <TotalTime>559</TotalTime>
  <Words>1711</Words>
  <Application>Microsoft Office PowerPoint</Application>
  <PresentationFormat>Widescreen</PresentationFormat>
  <Paragraphs>247</Paragraphs>
  <Slides>61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Aptos</vt:lpstr>
      <vt:lpstr>Arial</vt:lpstr>
      <vt:lpstr>DIN Mittelschrift</vt:lpstr>
      <vt:lpstr>Office Theme</vt:lpstr>
      <vt:lpstr>PowerPoint Presentation</vt:lpstr>
      <vt:lpstr>PowerPoint Presentation</vt:lpstr>
      <vt:lpstr>THE QUESTION</vt:lpstr>
      <vt:lpstr>WHAT WE'LL COVER</vt:lpstr>
      <vt:lpstr>THE BIG PICTURE</vt:lpstr>
      <vt:lpstr>PowerPoint Presentation</vt:lpstr>
      <vt:lpstr>WHY LCS CAN'T GET YOU THERE</vt:lpstr>
      <vt:lpstr>LCS vs WHAT WE WANT</vt:lpstr>
      <vt:lpstr>LCS vs PPAC</vt:lpstr>
      <vt:lpstr>PowerPoint Presentation</vt:lpstr>
      <vt:lpstr>PowerPoint Presentation</vt:lpstr>
      <vt:lpstr>LCS vs PPAC</vt:lpstr>
      <vt:lpstr>THE IMMUTABLE ARTIFACT</vt:lpstr>
      <vt:lpstr>HOW THE ARTIFACT IS BUILT</vt:lpstr>
      <vt:lpstr>WHY IMMUTABILITY MATTERS</vt:lpstr>
      <vt:lpstr>ARTIFACT PROMOTION</vt:lpstr>
      <vt:lpstr>BRANCH STRATEGY &amp; ENFORCEMENT</vt:lpstr>
      <vt:lpstr>THE PROMOTION MODEL</vt:lpstr>
      <vt:lpstr>BRANCH STRATEGY</vt:lpstr>
      <vt:lpstr>BRANCH STRATEGY</vt:lpstr>
      <vt:lpstr>BRANCH STRATEGY</vt:lpstr>
      <vt:lpstr>BRANCH STRATEGY</vt:lpstr>
      <vt:lpstr>PR AS THE QUALITY GATE</vt:lpstr>
      <vt:lpstr>PR VALIDATION FLOW</vt:lpstr>
      <vt:lpstr>PowerPoint Presentation</vt:lpstr>
      <vt:lpstr>PowerPoint Presentation</vt:lpstr>
      <vt:lpstr>PR VALIDATION FLOW</vt:lpstr>
      <vt:lpstr>STRUCTURAL ENFORCEMENT</vt:lpstr>
      <vt:lpstr>THE DEPLOY PATTERN</vt:lpstr>
      <vt:lpstr>THE TWO-JOB PATTERN</vt:lpstr>
      <vt:lpstr>DEPLOY TEMPLATE</vt:lpstr>
      <vt:lpstr>PowerPoint Presentation</vt:lpstr>
      <vt:lpstr>PowerPoint Presentation</vt:lpstr>
      <vt:lpstr>DEPLOY TEMPLATE</vt:lpstr>
      <vt:lpstr>READINESS &amp; SYNCHRONOUS WAIT</vt:lpstr>
      <vt:lpstr>ENVIRONMENT AUTOMATION</vt:lpstr>
      <vt:lpstr>BRANCH-TRIGGERED PROVISIONING</vt:lpstr>
      <vt:lpstr>ENVIRONMENT LIFECYCLE</vt:lpstr>
      <vt:lpstr>PowerPoint Presentation</vt:lpstr>
      <vt:lpstr>PowerPoint Presentation</vt:lpstr>
      <vt:lpstr>PowerPoint Presentation</vt:lpstr>
      <vt:lpstr>ENVIRONMENT LIFECYCLE</vt:lpstr>
      <vt:lpstr>THE FULL DEVELOPMENT LIFECYCLE</vt:lpstr>
      <vt:lpstr>POST-COPY AUTOMATION VIA DEVOPS</vt:lpstr>
      <vt:lpstr>SECURITY &amp; GOVERNANCE</vt:lpstr>
      <vt:lpstr>ENFORCEMENT LAYERS</vt:lpstr>
      <vt:lpstr>SECURITY LAYERS</vt:lpstr>
      <vt:lpstr>PowerPoint Presentation</vt:lpstr>
      <vt:lpstr>PowerPoint Presentation</vt:lpstr>
      <vt:lpstr>SECURITY LAYERS</vt:lpstr>
      <vt:lpstr>GETTING STARTED</vt:lpstr>
      <vt:lpstr>THE MINIMUM VIABLE PIPELINE</vt:lpstr>
      <vt:lpstr>COMMON GOTCHAS</vt:lpstr>
      <vt:lpstr>SPRINT WORKFLOW</vt:lpstr>
      <vt:lpstr>PowerPoint Presentation</vt:lpstr>
      <vt:lpstr>PowerPoint Presentation</vt:lpstr>
      <vt:lpstr>SPRINT WORKFLOW</vt:lpstr>
      <vt:lpstr>ONCE A DEPLOYABLE PACKAGE IS CREATED</vt:lpstr>
      <vt:lpstr>WHAT THIS DELIVERS</vt:lpstr>
      <vt:lpstr>Q &amp; 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Radomirović Maček</dc:creator>
  <cp:lastModifiedBy>Nathan Clouse</cp:lastModifiedBy>
  <cp:revision>16</cp:revision>
  <dcterms:created xsi:type="dcterms:W3CDTF">2024-11-19T16:48:26Z</dcterms:created>
  <dcterms:modified xsi:type="dcterms:W3CDTF">2026-07-22T01:00:55Z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0x0101001B3A2CABFDE9434B888FE9FD3D9AC681</vt:lpwstr>
  </property>
  <property fmtid="{D5CDD505-2E9C-101B-9397-08002B2CF9AE}" pid="3" name="MediaServiceImageTags">
    <vt:lpwstr/>
  </property>
</Properties>
</file>