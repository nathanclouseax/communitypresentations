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9"/>
  </p:notesMasterIdLst>
  <p:sldIdLst>
    <p:sldId id="277" r:id="rId5"/>
    <p:sldId id="316" r:id="rId6"/>
    <p:sldId id="315" r:id="rId7"/>
    <p:sldId id="340" r:id="rId8"/>
    <p:sldId id="357" r:id="rId9"/>
    <p:sldId id="358" r:id="rId10"/>
    <p:sldId id="364" r:id="rId11"/>
    <p:sldId id="341" r:id="rId12"/>
    <p:sldId id="343" r:id="rId13"/>
    <p:sldId id="365" r:id="rId14"/>
    <p:sldId id="342" r:id="rId15"/>
    <p:sldId id="344" r:id="rId16"/>
    <p:sldId id="345" r:id="rId17"/>
    <p:sldId id="366" r:id="rId18"/>
    <p:sldId id="346" r:id="rId19"/>
    <p:sldId id="367" r:id="rId20"/>
    <p:sldId id="347" r:id="rId21"/>
    <p:sldId id="368" r:id="rId22"/>
    <p:sldId id="348" r:id="rId23"/>
    <p:sldId id="349" r:id="rId24"/>
    <p:sldId id="351" r:id="rId25"/>
    <p:sldId id="352" r:id="rId26"/>
    <p:sldId id="353" r:id="rId27"/>
    <p:sldId id="354" r:id="rId28"/>
    <p:sldId id="355" r:id="rId29"/>
    <p:sldId id="350" r:id="rId30"/>
    <p:sldId id="369" r:id="rId31"/>
    <p:sldId id="281" r:id="rId32"/>
    <p:sldId id="284" r:id="rId33"/>
    <p:sldId id="312" r:id="rId34"/>
    <p:sldId id="286" r:id="rId35"/>
    <p:sldId id="297" r:id="rId36"/>
    <p:sldId id="293" r:id="rId37"/>
    <p:sldId id="294" r:id="rId38"/>
    <p:sldId id="295" r:id="rId39"/>
    <p:sldId id="296" r:id="rId40"/>
    <p:sldId id="298" r:id="rId41"/>
    <p:sldId id="304" r:id="rId42"/>
    <p:sldId id="322" r:id="rId43"/>
    <p:sldId id="314" r:id="rId44"/>
    <p:sldId id="339" r:id="rId45"/>
    <p:sldId id="356" r:id="rId46"/>
    <p:sldId id="323" r:id="rId47"/>
    <p:sldId id="37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1B1F0F-ACED-7B65-FCF9-DDA56FDF9E77}" name="Brianna Sierra" initials="BS" userId="S::brianna@dynamicsusergroup.com::d7a06c09-ac69-423d-9f7d-3be874f58a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A000"/>
    <a:srgbClr val="EB8325"/>
    <a:srgbClr val="57B535"/>
    <a:srgbClr val="B86010"/>
    <a:srgbClr val="E97A15"/>
    <a:srgbClr val="F1A966"/>
    <a:srgbClr val="9C3C9A"/>
    <a:srgbClr val="F9ED4E"/>
    <a:srgbClr val="3B4598"/>
    <a:srgbClr val="42A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A45DE-D525-45FF-9090-713B5E94CBFE}" v="14" dt="2026-05-12T19:38:32.238"/>
    <p1510:client id="{EF91763B-A3C0-354D-B081-1D2ED2FED92D}" v="29" dt="2026-05-12T19:01:57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895" autoAdjust="0"/>
  </p:normalViewPr>
  <p:slideViewPr>
    <p:cSldViewPr snapToGrid="0">
      <p:cViewPr varScale="1">
        <p:scale>
          <a:sx n="93" d="100"/>
          <a:sy n="93" d="100"/>
        </p:scale>
        <p:origin x="12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C3FC7-8C6E-4283-91EA-0AA9744B7F2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F917F-B268-4CA9-BC68-4FBC3315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2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Original parameter forms locked to read-only -- all changes flow through version management</a:t>
            </a:r>
          </a:p>
          <a:p>
            <a:r>
              <a:rPr lang="en-US" dirty="0"/>
              <a:t>- Users create Draft versions, modify values, submit for review</a:t>
            </a:r>
          </a:p>
          <a:p>
            <a:r>
              <a:rPr lang="en-US" dirty="0"/>
              <a:t>- Reviewer approves in-app -- no external system needed</a:t>
            </a:r>
          </a:p>
          <a:p>
            <a:r>
              <a:rPr lang="en-US" dirty="0"/>
              <a:t>- Effective date set; automation publishes values when date arrives</a:t>
            </a:r>
          </a:p>
          <a:p>
            <a:r>
              <a:rPr lang="en-US" dirty="0"/>
              <a:t>- Chain of command on `find()` intercepts every parameter read -- seamless to consuming code</a:t>
            </a:r>
          </a:p>
          <a:p>
            <a:r>
              <a:rPr lang="en-US" dirty="0"/>
              <a:t>- Every version is a snapshot with field-level diffs for audit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F917F-B268-4CA9-BC68-4FBC331580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34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changing a chart of account or adding a new main account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F917F-B268-4CA9-BC68-4FBC331580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52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yellow background with buildings and mountains&#10;&#10;AI-generated content may be incorrect.">
            <a:extLst>
              <a:ext uri="{FF2B5EF4-FFF2-40B4-BE49-F238E27FC236}">
                <a16:creationId xmlns:a16="http://schemas.microsoft.com/office/drawing/2014/main" id="{5791F817-DE24-C513-9505-16F0DF25B0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83353" y="-1"/>
            <a:ext cx="12816729" cy="7209411"/>
          </a:xfrm>
          <a:prstGeom prst="rect">
            <a:avLst/>
          </a:prstGeom>
        </p:spPr>
      </p:pic>
      <p:pic>
        <p:nvPicPr>
          <p:cNvPr id="12" name="Picture 11" descr="A colorful logo with palm trees vegas sign 2026 dynamicscon&#10;&#10;">
            <a:extLst>
              <a:ext uri="{FF2B5EF4-FFF2-40B4-BE49-F238E27FC236}">
                <a16:creationId xmlns:a16="http://schemas.microsoft.com/office/drawing/2014/main" id="{1D4CBD7A-A21A-30B2-FEBD-60C7C62663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8092" y="222099"/>
            <a:ext cx="6115816" cy="6413802"/>
          </a:xfrm>
          <a:prstGeom prst="rect">
            <a:avLst/>
          </a:prstGeom>
        </p:spPr>
      </p:pic>
      <p:pic>
        <p:nvPicPr>
          <p:cNvPr id="20" name="Picture 19" descr="Superheroes flying">
            <a:extLst>
              <a:ext uri="{FF2B5EF4-FFF2-40B4-BE49-F238E27FC236}">
                <a16:creationId xmlns:a16="http://schemas.microsoft.com/office/drawing/2014/main" id="{99C2C897-1FB4-E6B4-3CDB-D749884F57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duotone>
              <a:prstClr val="black"/>
              <a:schemeClr val="accent6">
                <a:tint val="45000"/>
                <a:satMod val="400000"/>
              </a:schemeClr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425599" y="3087709"/>
            <a:ext cx="4433677" cy="342105"/>
          </a:xfrm>
          <a:prstGeom prst="rect">
            <a:avLst/>
          </a:prstGeom>
        </p:spPr>
      </p:pic>
      <p:pic>
        <p:nvPicPr>
          <p:cNvPr id="23" name="Picture 22" descr="Superheroes flying">
            <a:extLst>
              <a:ext uri="{FF2B5EF4-FFF2-40B4-BE49-F238E27FC236}">
                <a16:creationId xmlns:a16="http://schemas.microsoft.com/office/drawing/2014/main" id="{5EA44781-F0DD-0E3A-FB1E-989B1BCED04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9426109" y="2219310"/>
            <a:ext cx="6659140" cy="513823"/>
          </a:xfrm>
          <a:prstGeom prst="rect">
            <a:avLst/>
          </a:prstGeom>
        </p:spPr>
      </p:pic>
      <p:pic>
        <p:nvPicPr>
          <p:cNvPr id="24" name="Picture 23" descr="Superheroes flying">
            <a:extLst>
              <a:ext uri="{FF2B5EF4-FFF2-40B4-BE49-F238E27FC236}">
                <a16:creationId xmlns:a16="http://schemas.microsoft.com/office/drawing/2014/main" id="{63696A81-F128-E0D3-FC66-B53F001BC75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duotone>
              <a:prstClr val="black"/>
              <a:schemeClr val="accent6">
                <a:tint val="45000"/>
                <a:satMod val="400000"/>
              </a:schemeClr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805597" y="1607870"/>
            <a:ext cx="3339512" cy="25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4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9C2C897-1FB4-E6B4-3CDB-D749884F57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accent6">
                <a:tint val="45000"/>
                <a:satMod val="400000"/>
              </a:schemeClr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539100" y="3665022"/>
            <a:ext cx="3305799" cy="255077"/>
          </a:xfrm>
          <a:prstGeom prst="rect">
            <a:avLst/>
          </a:prstGeom>
        </p:spPr>
      </p:pic>
      <p:pic>
        <p:nvPicPr>
          <p:cNvPr id="3" name="Picture 2" descr="A green cityscape with a pyramid and a ferris wheel&#10;&#10;AI-generated content may be incorrect.">
            <a:extLst>
              <a:ext uri="{FF2B5EF4-FFF2-40B4-BE49-F238E27FC236}">
                <a16:creationId xmlns:a16="http://schemas.microsoft.com/office/drawing/2014/main" id="{299EBF0E-9093-4188-8D1D-361CF7DDC3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58090" y="-255401"/>
            <a:ext cx="12605944" cy="7113401"/>
          </a:xfrm>
          <a:prstGeom prst="rect">
            <a:avLst/>
          </a:prstGeom>
        </p:spPr>
      </p:pic>
      <p:pic>
        <p:nvPicPr>
          <p:cNvPr id="23" name="Picture 22" descr="Superheroes flying">
            <a:extLst>
              <a:ext uri="{FF2B5EF4-FFF2-40B4-BE49-F238E27FC236}">
                <a16:creationId xmlns:a16="http://schemas.microsoft.com/office/drawing/2014/main" id="{5EA44781-F0DD-0E3A-FB1E-989B1BCED0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6144882" y="470209"/>
            <a:ext cx="6659140" cy="513823"/>
          </a:xfrm>
          <a:prstGeom prst="rect">
            <a:avLst/>
          </a:prstGeom>
        </p:spPr>
      </p:pic>
      <p:pic>
        <p:nvPicPr>
          <p:cNvPr id="24" name="Picture 23" descr="Superheroes flying">
            <a:extLst>
              <a:ext uri="{FF2B5EF4-FFF2-40B4-BE49-F238E27FC236}">
                <a16:creationId xmlns:a16="http://schemas.microsoft.com/office/drawing/2014/main" id="{63696A81-F128-E0D3-FC66-B53F001BC7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37130" y="1979249"/>
            <a:ext cx="5487977" cy="423456"/>
          </a:xfrm>
          <a:prstGeom prst="rect">
            <a:avLst/>
          </a:prstGeom>
        </p:spPr>
      </p:pic>
      <p:pic>
        <p:nvPicPr>
          <p:cNvPr id="6" name="Picture 5" descr="A yellow text on a black background&#10;&#10;AI-generated content may be incorrect.">
            <a:extLst>
              <a:ext uri="{FF2B5EF4-FFF2-40B4-BE49-F238E27FC236}">
                <a16:creationId xmlns:a16="http://schemas.microsoft.com/office/drawing/2014/main" id="{9B720A31-FBA7-31EA-7477-92F57D91B2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9427" y="1279081"/>
            <a:ext cx="7553145" cy="404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6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75FE815F-AECD-F330-5CD2-A5FB468FF8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71C5E5-187D-326F-82C9-8E0D0CEE09B2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30">
            <a:extLst>
              <a:ext uri="{FF2B5EF4-FFF2-40B4-BE49-F238E27FC236}">
                <a16:creationId xmlns:a16="http://schemas.microsoft.com/office/drawing/2014/main" id="{34E64832-2A5E-1A03-F2D8-77A19644A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accent6">
                    <a:lumMod val="75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8C36EB-5529-72B2-87F7-9801C49E140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rgbClr val="D2A000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25" name="Picture 24" descr="A bright light in the dark&#10;&#10;AI-generated content may be incorrect.">
            <a:extLst>
              <a:ext uri="{FF2B5EF4-FFF2-40B4-BE49-F238E27FC236}">
                <a16:creationId xmlns:a16="http://schemas.microsoft.com/office/drawing/2014/main" id="{38895DEA-6F7F-DFD5-3CC4-EF7B72CBB2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27" name="Picture 26" descr="Vegas skyline">
            <a:extLst>
              <a:ext uri="{FF2B5EF4-FFF2-40B4-BE49-F238E27FC236}">
                <a16:creationId xmlns:a16="http://schemas.microsoft.com/office/drawing/2014/main" id="{CF4FBE4B-864D-50F6-308F-D2FBABA762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26" name="Picture 25" descr="A logo with palm trees&#10;&#10;AI-generated content may be incorrect.">
            <a:extLst>
              <a:ext uri="{FF2B5EF4-FFF2-40B4-BE49-F238E27FC236}">
                <a16:creationId xmlns:a16="http://schemas.microsoft.com/office/drawing/2014/main" id="{C48AF256-4321-6F48-9561-9901CD0AAB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86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849F99D-6480-91B0-099C-0C87A608C289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3B4598"/>
              </a:gs>
              <a:gs pos="50000">
                <a:srgbClr val="9C3C9A"/>
              </a:gs>
              <a:gs pos="0">
                <a:srgbClr val="ED3F7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436F15BF-8D1A-BFDF-6527-544B6391BA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D67A401-534F-83F4-D0F0-DF35AB8A0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1357460"/>
            <a:ext cx="11381889" cy="440231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6740080-3552-E965-5C4B-6B5AF93B8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bright light in the dark&#10;&#10;AI-generated content may be incorrect.">
            <a:extLst>
              <a:ext uri="{FF2B5EF4-FFF2-40B4-BE49-F238E27FC236}">
                <a16:creationId xmlns:a16="http://schemas.microsoft.com/office/drawing/2014/main" id="{6877C281-9DA1-0419-CE07-EA0DD68856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13" name="Picture 12" descr="Vegas skyline">
            <a:extLst>
              <a:ext uri="{FF2B5EF4-FFF2-40B4-BE49-F238E27FC236}">
                <a16:creationId xmlns:a16="http://schemas.microsoft.com/office/drawing/2014/main" id="{E805CEFF-D779-52EF-40AF-3D99116110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8" name="Picture 7" descr="A logo with palm trees&#10;&#10;AI-generated content may be incorrect.">
            <a:extLst>
              <a:ext uri="{FF2B5EF4-FFF2-40B4-BE49-F238E27FC236}">
                <a16:creationId xmlns:a16="http://schemas.microsoft.com/office/drawing/2014/main" id="{6143A5F3-9CF5-85CA-86E0-84E6FFBE1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11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218A8A8B-2E34-0BAE-BA66-0330EF9924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bright light in the dark&#10;&#10;AI-generated content may be incorrect.">
            <a:extLst>
              <a:ext uri="{FF2B5EF4-FFF2-40B4-BE49-F238E27FC236}">
                <a16:creationId xmlns:a16="http://schemas.microsoft.com/office/drawing/2014/main" id="{3E5594DF-9208-4697-904A-8DA68C1D61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40DAC-A0CE-6FDC-80E4-DA65DC0E9D7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7D6ECEB-EEAA-5121-61A6-4A2F06880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2C302F-939E-5E71-CBFC-43FD0274D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316" y="1349603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E95EFA-C277-0DB3-1F35-091DEE00B28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50721" y="1347708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logo with palm trees&#10;&#10;AI-generated content may be incorrect.">
            <a:extLst>
              <a:ext uri="{FF2B5EF4-FFF2-40B4-BE49-F238E27FC236}">
                <a16:creationId xmlns:a16="http://schemas.microsoft.com/office/drawing/2014/main" id="{4B760C8F-3988-6D05-73A7-2591B9D8B4A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5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s, and Text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6A5BCF0E-CF52-5E47-5849-A01320976A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BDAF7-7D88-44D0-BC27-CB75499A2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44C0-65DE-877D-FE31-0C379C882ED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7"/>
            <a:ext cx="11381889" cy="1796600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B1E3C-48F2-9EDD-568B-3257F7F03F2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1106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AE59C2F-82FD-FF57-D52C-2AEC5B9B7A47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06507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8" name="Picture 7" descr="A bright light in the dark&#10;&#10;AI-generated content may be incorrect.">
            <a:extLst>
              <a:ext uri="{FF2B5EF4-FFF2-40B4-BE49-F238E27FC236}">
                <a16:creationId xmlns:a16="http://schemas.microsoft.com/office/drawing/2014/main" id="{5AA757DE-5AB6-4A41-B12B-529D7B24E6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7" name="Picture 6" descr="Vegas skyline">
            <a:extLst>
              <a:ext uri="{FF2B5EF4-FFF2-40B4-BE49-F238E27FC236}">
                <a16:creationId xmlns:a16="http://schemas.microsoft.com/office/drawing/2014/main" id="{161DF3F9-3E1F-5D76-F43E-DDB0D306DF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1" name="Picture 10" descr="A logo with palm trees&#10;&#10;AI-generated content may be incorrect.">
            <a:extLst>
              <a:ext uri="{FF2B5EF4-FFF2-40B4-BE49-F238E27FC236}">
                <a16:creationId xmlns:a16="http://schemas.microsoft.com/office/drawing/2014/main" id="{91BC0B89-74BB-0105-BC1E-CE2F6275C54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8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s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7AA4E237-770A-492B-1415-EFF1278F96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37107-7096-0614-CEF7-0D912343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6992B-24BA-732D-725C-7E0BED47CB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12EFE-81F5-14F1-1C1D-2681575C21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37983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6A787EF-7FEA-D30D-A9B7-EEED79B9789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3384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8" name="Picture 7" descr="A bright light in the dark&#10;&#10;AI-generated content may be incorrect.">
            <a:extLst>
              <a:ext uri="{FF2B5EF4-FFF2-40B4-BE49-F238E27FC236}">
                <a16:creationId xmlns:a16="http://schemas.microsoft.com/office/drawing/2014/main" id="{8DF60BA7-558D-432D-0467-9660BCBDE9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7" name="Picture 6" descr="Vegas skyline">
            <a:extLst>
              <a:ext uri="{FF2B5EF4-FFF2-40B4-BE49-F238E27FC236}">
                <a16:creationId xmlns:a16="http://schemas.microsoft.com/office/drawing/2014/main" id="{9A182C74-9D1E-19A8-1DF5-62BD4E3C299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1" name="Picture 10" descr="A logo with palm trees&#10;&#10;AI-generated content may be incorrect.">
            <a:extLst>
              <a:ext uri="{FF2B5EF4-FFF2-40B4-BE49-F238E27FC236}">
                <a16:creationId xmlns:a16="http://schemas.microsoft.com/office/drawing/2014/main" id="{5AEE0C3B-3EAE-86BE-619B-928BADDF1B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7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Images, and Text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B9563F78-DAD5-3622-B515-C7828D06CF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F9B1B-D84E-1657-0E32-A18DC98AC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5BFDD-F131-538C-82BF-60AA8B957B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6"/>
            <a:ext cx="11381889" cy="18060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7C7B0-5AB2-66CE-356D-80AB011827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1358222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3DC631C-88B6-4BA4-B1AA-125C4ADE11AF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1347708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0019110-3022-F1D1-B092-9611490C83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1356863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1" name="Picture 10" descr="A bright light in the dark&#10;&#10;AI-generated content may be incorrect.">
            <a:extLst>
              <a:ext uri="{FF2B5EF4-FFF2-40B4-BE49-F238E27FC236}">
                <a16:creationId xmlns:a16="http://schemas.microsoft.com/office/drawing/2014/main" id="{E24C1801-E99A-5D6B-9320-FAE9E9924D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8" name="Picture 7" descr="Vegas skyline">
            <a:extLst>
              <a:ext uri="{FF2B5EF4-FFF2-40B4-BE49-F238E27FC236}">
                <a16:creationId xmlns:a16="http://schemas.microsoft.com/office/drawing/2014/main" id="{2180693F-2BA3-51BC-B3EB-AA16F192C0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3" name="Picture 12" descr="A logo with palm trees&#10;&#10;AI-generated content may be incorrect.">
            <a:extLst>
              <a:ext uri="{FF2B5EF4-FFF2-40B4-BE49-F238E27FC236}">
                <a16:creationId xmlns:a16="http://schemas.microsoft.com/office/drawing/2014/main" id="{9B9706B0-EF64-6A88-0998-D70400C5A9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3 Images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24DC4BEB-CA49-CE15-0E07-D6BCD902C2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49AB42-CA9D-5E2C-ED3F-55D46A6AB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398D8-6201-A512-3F12-7ED26425DC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532DE5C-A3E2-9779-9A27-45FFC0E8B66E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3209036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6622280-39E4-F04A-3004-6BEB8C8CF1A1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3198522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305A9A-0B32-C7E3-CE1A-0604730CC5A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3207677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1" name="Picture 10" descr="A bright light in the dark&#10;&#10;AI-generated content may be incorrect.">
            <a:extLst>
              <a:ext uri="{FF2B5EF4-FFF2-40B4-BE49-F238E27FC236}">
                <a16:creationId xmlns:a16="http://schemas.microsoft.com/office/drawing/2014/main" id="{B23793E7-F6E8-9687-B745-520858415B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8" name="Picture 7" descr="Vegas skyline">
            <a:extLst>
              <a:ext uri="{FF2B5EF4-FFF2-40B4-BE49-F238E27FC236}">
                <a16:creationId xmlns:a16="http://schemas.microsoft.com/office/drawing/2014/main" id="{31A33433-9F96-9AA9-7400-98EF934F50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3" name="Picture 12" descr="A logo with palm trees&#10;&#10;AI-generated content may be incorrect.">
            <a:extLst>
              <a:ext uri="{FF2B5EF4-FFF2-40B4-BE49-F238E27FC236}">
                <a16:creationId xmlns:a16="http://schemas.microsoft.com/office/drawing/2014/main" id="{AA67BA0C-EEF5-17A9-216C-720DA4D834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4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4 Images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B6628D9E-A253-0F8A-D086-157EA2BAE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958D4-94C7-5B2D-F38C-6DE49E011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BF2D8-7EFE-508F-4E6A-CD43C6C4D06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56199" y="1347708"/>
            <a:ext cx="6036643" cy="4421495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3F1AFD-3513-7DE6-31AF-11380D97A5C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94316" y="1347708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E99042-B944-D3E3-48CE-0BA44DD378E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4316" y="3578624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36DF96-D18C-05A4-89C3-BD28375FB94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9206057" y="1347708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5803C7-0B27-D664-4217-93EA1029717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206057" y="3578624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3" name="Picture 12" descr="A bright light in the dark&#10;&#10;AI-generated content may be incorrect.">
            <a:extLst>
              <a:ext uri="{FF2B5EF4-FFF2-40B4-BE49-F238E27FC236}">
                <a16:creationId xmlns:a16="http://schemas.microsoft.com/office/drawing/2014/main" id="{9A8320E8-1EC8-2CEB-F771-90D4C73906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11" name="Picture 10" descr="Vegas skyline">
            <a:extLst>
              <a:ext uri="{FF2B5EF4-FFF2-40B4-BE49-F238E27FC236}">
                <a16:creationId xmlns:a16="http://schemas.microsoft.com/office/drawing/2014/main" id="{35986DDD-E368-89C6-EF09-380F3C459D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4" name="Picture 13" descr="A logo with palm trees&#10;&#10;AI-generated content may be incorrect.">
            <a:extLst>
              <a:ext uri="{FF2B5EF4-FFF2-40B4-BE49-F238E27FC236}">
                <a16:creationId xmlns:a16="http://schemas.microsoft.com/office/drawing/2014/main" id="{2C4BCF5D-6EA8-CD91-1ADE-6EC6E99997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Text, and 2 Images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9D9A458D-EA4F-49FB-C84C-D1B728B8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2E582-579C-EFF5-3EDC-EEA3CCCC2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38665-153F-0B31-B067-B0588C59361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94316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1709AC-2F2B-8B78-0EED-55EC063F156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0926" y="1352141"/>
            <a:ext cx="2570148" cy="2176720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2E8B48-D665-6114-7498-7ACA53C41FB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10926" y="3633699"/>
            <a:ext cx="2570148" cy="212607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974744-3FE8-1ECB-F688-A8D96292CB4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78697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 descr="A bright light in the dark&#10;&#10;AI-generated content may be incorrect.">
            <a:extLst>
              <a:ext uri="{FF2B5EF4-FFF2-40B4-BE49-F238E27FC236}">
                <a16:creationId xmlns:a16="http://schemas.microsoft.com/office/drawing/2014/main" id="{34B809BE-6A87-A2D1-42D7-25BD19A33B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8" name="Picture 7" descr="Vegas skyline">
            <a:extLst>
              <a:ext uri="{FF2B5EF4-FFF2-40B4-BE49-F238E27FC236}">
                <a16:creationId xmlns:a16="http://schemas.microsoft.com/office/drawing/2014/main" id="{02A24BCE-6FAB-859B-DF06-6E1C99C3389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3" name="Picture 12" descr="A logo with palm trees&#10;&#10;AI-generated content may be incorrect.">
            <a:extLst>
              <a:ext uri="{FF2B5EF4-FFF2-40B4-BE49-F238E27FC236}">
                <a16:creationId xmlns:a16="http://schemas.microsoft.com/office/drawing/2014/main" id="{B171047F-FB66-0AAC-E937-461D76C394D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6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42BC1B06-D8FE-577C-CA46-04E0D240B9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30">
            <a:extLst>
              <a:ext uri="{FF2B5EF4-FFF2-40B4-BE49-F238E27FC236}">
                <a16:creationId xmlns:a16="http://schemas.microsoft.com/office/drawing/2014/main" id="{34E64832-2A5E-1A03-F2D8-77A19644A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rgbClr val="E97A1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8C36EB-5529-72B2-87F7-9801C49E140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rgbClr val="B86010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5BDC4D58-3221-E073-2420-248089D5F4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C2CD9539-D641-99F5-108E-B9B1E3EB4A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70AC1091-CF86-9825-AE53-202036D0ED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FD5CF650-B066-8989-49E4-7A1E1AA24C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114A3C6F-8466-4E05-FAC3-CF81BB89C1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7D0C99B6-3990-D8AB-65CB-FE98154E6B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30399868-AA63-EEF6-6A9B-8CBA39AEA3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2219417F-B966-B812-A041-BDAB707E88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06EF0AB3-FA2A-52C1-F742-58CF5B5551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8" name="Picture 27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1E9A688E-C128-39DD-A2FF-9EE0238D54B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30" name="Picture 29" descr="A logo with palm trees&#10;&#10;AI-generated content may be incorrect.">
            <a:extLst>
              <a:ext uri="{FF2B5EF4-FFF2-40B4-BE49-F238E27FC236}">
                <a16:creationId xmlns:a16="http://schemas.microsoft.com/office/drawing/2014/main" id="{276EFEAA-5D16-9964-BAFB-E1FE5408E6E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1" name="Picture 30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69478810-6400-6096-126E-46900AFCB10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65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B91A0170-96CE-8E70-94B6-7B4C351387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D4767A-CB43-DDF1-3971-33914854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1357460"/>
            <a:ext cx="11381889" cy="440231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2706FC-B096-B52E-4615-7DC39DAD9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3" name="Picture 12" descr="A group of palm trees&#10;&#10;AI-generated content may be incorrect.">
            <a:extLst>
              <a:ext uri="{FF2B5EF4-FFF2-40B4-BE49-F238E27FC236}">
                <a16:creationId xmlns:a16="http://schemas.microsoft.com/office/drawing/2014/main" id="{3C9D65BA-9962-AC37-004C-A94FD659C6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4" name="Picture 13" descr="A group of palm trees&#10;&#10;AI-generated content may be incorrect.">
            <a:extLst>
              <a:ext uri="{FF2B5EF4-FFF2-40B4-BE49-F238E27FC236}">
                <a16:creationId xmlns:a16="http://schemas.microsoft.com/office/drawing/2014/main" id="{0A655FB8-F28D-C0C6-9AF2-35BBC3DBE4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15" name="Picture 14" descr="A group of palm trees&#10;&#10;AI-generated content may be incorrect.">
            <a:extLst>
              <a:ext uri="{FF2B5EF4-FFF2-40B4-BE49-F238E27FC236}">
                <a16:creationId xmlns:a16="http://schemas.microsoft.com/office/drawing/2014/main" id="{3C739A58-4EB7-0EAB-0C2E-1E79DD7E8B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9A3D5B8C-926D-BD13-15FA-BF70E81CD3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736E4FD8-E803-72B5-BFA0-5B8A299B52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AC60069C-1D5C-B609-899D-FF5AE94209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288669B7-ECB1-5061-8B77-892CBFF1C1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EAEE5E12-2EBB-C5CB-8D0C-B7FB8522AF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3" name="Picture 22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70BE29EE-17C8-41A2-0FF7-EAA95050EE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4" name="Picture 23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9B6D4491-A061-C0C6-4C1D-F6D23C4A9F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5" name="Picture 24" descr="A logo with palm trees&#10;&#10;AI-generated content may be incorrect.">
            <a:extLst>
              <a:ext uri="{FF2B5EF4-FFF2-40B4-BE49-F238E27FC236}">
                <a16:creationId xmlns:a16="http://schemas.microsoft.com/office/drawing/2014/main" id="{B45C1AC3-1876-2741-A31D-90EAB1F54DC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28" name="Picture 27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F7B10ECD-147D-5B46-7F82-6057ADAC7C2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22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9B9FD6BF-757C-48AC-1974-EAA1180E22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06A9C-FB58-4491-3974-B1E6EA368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BC5458-4486-FE70-DBF3-3F5730396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316" y="1349603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01EA29B-6DEB-BEA0-914D-B70BED13D1F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50721" y="1347708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A group of palm trees&#10;&#10;AI-generated content may be incorrect.">
            <a:extLst>
              <a:ext uri="{FF2B5EF4-FFF2-40B4-BE49-F238E27FC236}">
                <a16:creationId xmlns:a16="http://schemas.microsoft.com/office/drawing/2014/main" id="{109ED2A6-8143-F805-43E6-6E084913FD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5" name="Picture 14" descr="A group of palm trees&#10;&#10;AI-generated content may be incorrect.">
            <a:extLst>
              <a:ext uri="{FF2B5EF4-FFF2-40B4-BE49-F238E27FC236}">
                <a16:creationId xmlns:a16="http://schemas.microsoft.com/office/drawing/2014/main" id="{F31FA20B-ACDA-0AFB-78E0-08B70100A0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C205C144-FED5-8884-F9AC-FFD58452D7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11F8356E-C3FA-1B3C-4FBA-35A10F274B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95012760-DCAC-50F8-310D-D2C01B61B1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E7F1DE7A-DCEE-2ED2-0041-D53C54048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20B049DC-17B5-4243-D46B-04573D489E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4C135ECD-E118-58CF-D4DD-9229590DAB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D6BAEA62-66F7-C230-F6D7-53EBC6ED44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5" name="Picture 24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140BD93C-A864-A1A7-B1F4-0C67DA53BE3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6" name="Picture 25" descr="A logo with palm trees&#10;&#10;AI-generated content may be incorrect.">
            <a:extLst>
              <a:ext uri="{FF2B5EF4-FFF2-40B4-BE49-F238E27FC236}">
                <a16:creationId xmlns:a16="http://schemas.microsoft.com/office/drawing/2014/main" id="{237CC91F-E767-8EAB-1022-D5042CDACD6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29" name="Picture 28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112B499E-474C-A96A-6232-CB02D3EAFB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52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7682339F-A014-9150-D8FA-BAE3FFD993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36479-8D30-0366-98A8-B1F99459F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F462C1-2CFF-D0A0-6B38-AB8AFBAE6F5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7"/>
            <a:ext cx="11381889" cy="1796600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9B68249-C779-95E6-8347-096090E8A8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1106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B8F2154-FAB8-6148-B867-71F96F3773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06507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5" name="Picture 14" descr="A group of palm trees&#10;&#10;AI-generated content may be incorrect.">
            <a:extLst>
              <a:ext uri="{FF2B5EF4-FFF2-40B4-BE49-F238E27FC236}">
                <a16:creationId xmlns:a16="http://schemas.microsoft.com/office/drawing/2014/main" id="{AC042E48-BFE2-9E20-3211-F3D349C351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1B465E8C-62CB-5CF3-B444-33B0E3768D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0A6E7958-5CD3-E0FD-969B-E54CCFD298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3E92B52F-65FF-79AA-720F-20A371AF5B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18917980-66EB-3C4B-27F0-613268D0DA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CD994ED2-CC9C-4159-8C19-74A1E131B9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AC6ACFFB-03BA-01CC-8983-CB9C1AB396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4887F3D4-7957-A139-5C04-C3FCCD6B97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5" name="Picture 24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50B50D5B-AB41-D2AF-CF68-5459FFE1EA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8BA5636C-DADC-BF7F-6C2A-4932B5E8792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7" name="Picture 26" descr="A logo with palm trees&#10;&#10;AI-generated content may be incorrect.">
            <a:extLst>
              <a:ext uri="{FF2B5EF4-FFF2-40B4-BE49-F238E27FC236}">
                <a16:creationId xmlns:a16="http://schemas.microsoft.com/office/drawing/2014/main" id="{DECDD052-9254-BCFF-3A0A-34D4DC5BBB1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0" name="Picture 29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BF38F4D0-67DA-C443-D170-0D39AF4DAE4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37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BD2BE320-8FE0-C514-0324-0E24832C03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443E7-83B6-9D9D-95B0-95C13945E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3D06AF-E740-17F1-FABD-186A5F24F6C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A4AA9F0-8950-9B11-B323-EB868A65E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37983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9AD557-FD79-25E6-091F-823A037D903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3384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5" name="Picture 14" descr="A group of palm trees&#10;&#10;AI-generated content may be incorrect.">
            <a:extLst>
              <a:ext uri="{FF2B5EF4-FFF2-40B4-BE49-F238E27FC236}">
                <a16:creationId xmlns:a16="http://schemas.microsoft.com/office/drawing/2014/main" id="{44FD2963-482C-B4B8-1491-33C5943798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C34B8909-4B35-3616-DBF0-605A19F3FD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E96225B1-AB0C-A4F3-3BC3-7A370C6110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11BC5E47-1843-3E44-A64B-28907CC742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F97E6A8E-BFA6-6864-59E4-D8A6BB3758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5C4260D2-46E8-A0A2-4230-FC26FBB32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D5846DC3-2CA2-4BD7-0084-45755D2FE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1703A467-D701-5DEB-6BE0-017E89009E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5" name="Picture 24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1B487685-5031-FCD6-F878-BEEADE621E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03A675CE-727C-BD87-60BE-1F2D829540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7" name="Picture 26" descr="A logo with palm trees&#10;&#10;AI-generated content may be incorrect.">
            <a:extLst>
              <a:ext uri="{FF2B5EF4-FFF2-40B4-BE49-F238E27FC236}">
                <a16:creationId xmlns:a16="http://schemas.microsoft.com/office/drawing/2014/main" id="{3C352F28-82E0-2095-635E-481741DA0DA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0" name="Picture 29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D9B9C488-8E3E-DCEA-95CF-59298DEB1B0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13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3F9D1150-50F6-7D3D-26F5-8301C045F4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0A905-A4EE-CDDD-2A6B-C7475222E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15BCC-F1D1-C2EF-6928-13D7487A979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6"/>
            <a:ext cx="11381889" cy="18060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EDDDE5A-0B5C-DE40-DB11-7ECFC3CB0C0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1358222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6D1CA3-81B6-D575-9ADA-66E89436E03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1347708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5E11FC8-53E7-5FFB-404E-CC2FB9E2EB1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1356863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3924D909-BBDF-AAB6-A70E-E76CA4FA2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F39C3B9D-391D-9463-E3D2-04C259B24B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5F286580-FB9E-0535-486C-5EEDBE8631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EFF87ACE-EB4A-63DA-0928-8B243805FB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79818E83-DDA0-0EE3-D6A0-AA6E165DC4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14B70D15-7DDE-C47C-9657-CBA2AD3237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A9F8F729-5D92-E55A-BEB2-BE6FD8EDC5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C62F265C-F36A-F875-A4C0-A4F525B9A1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8F18F6BF-F76A-A3C0-DF78-D2DA2C6730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C88FBD6E-736F-2610-C779-A371BC40D2B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8" name="Picture 27" descr="A logo with palm trees&#10;&#10;AI-generated content may be incorrect.">
            <a:extLst>
              <a:ext uri="{FF2B5EF4-FFF2-40B4-BE49-F238E27FC236}">
                <a16:creationId xmlns:a16="http://schemas.microsoft.com/office/drawing/2014/main" id="{94C73437-7005-36FD-6C1F-E9CFF6FEAD9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1" name="Picture 30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4AD30BD9-6A06-7B82-D553-958C6C51355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05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EE5F0F56-5C6C-BA3E-E484-C2E84FB379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8BFC4-4E31-2888-F812-62A2B962DF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F95820-6C20-4F94-DDD8-E825B362F3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7187696-4112-ED8D-1C60-7ADC2672CE5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3209036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33FA28F-BE9A-BE71-1D57-A205E28D420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3198522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75704D-EFE8-1909-BFE1-CAC28334142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3207677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FD4A327D-01C2-42F8-1197-CB09926818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4B2C86C7-8A32-B186-8BB5-A2F5A590BA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4085A424-F0CF-9351-E281-761E44BC6C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148497F2-8F12-E105-915C-C80E8F674B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23C575EF-80EF-AAAB-3D93-33C46167058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9D78E65B-9A46-182D-B373-8A8FD0C634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3F998BFD-2CCB-6D05-4968-39884BF7E4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589FD318-9592-F90B-A501-36985776C3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451B5D49-4669-7559-8490-7169F3D053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55450B5B-1973-2F3E-9628-985A2230B60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8" name="Picture 27" descr="A logo with palm trees&#10;&#10;AI-generated content may be incorrect.">
            <a:extLst>
              <a:ext uri="{FF2B5EF4-FFF2-40B4-BE49-F238E27FC236}">
                <a16:creationId xmlns:a16="http://schemas.microsoft.com/office/drawing/2014/main" id="{38FA3BAA-647C-4D0C-EBF3-4B9A0E3573F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2" name="Picture 31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0458990D-2F29-D0E5-9AA6-30B8E6CF5F4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50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Subtitle 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3D128E13-C890-826B-C339-4BCC5D5EE0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F1874-DFE4-A1C9-9DBD-34D1F411A5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0F513F-4F4E-BFBF-DE4B-21F592BBC76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56199" y="1347708"/>
            <a:ext cx="6036643" cy="4421495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14CE42-4C50-3788-F472-3BF58358B15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94316" y="1347708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433F95-E050-2FC7-892D-F468C8DB83D4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4316" y="3578624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40198F9-6632-99BA-A505-76ECD1470727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9206057" y="1347708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2610093-46F8-9D87-110A-7D7D72C3523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206057" y="3578624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EB89883F-4511-9F30-E141-EBAA3A0556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C830511A-60D2-ACC9-E713-49C2DC2CCB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0A29DF73-46A0-CA48-57DB-7E1667701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7892B5F4-BF13-49DE-A6CD-2CDA39503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CAD1D045-C1F3-F5C2-F905-B4FA4F88A3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6B5A5E7F-2738-0BCE-AB82-FE4E9C6E22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49984593-07D6-8CCF-BE32-CF600E3805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6" name="Picture 25" descr="A group of palm trees&#10;&#10;AI-generated content may be incorrect.">
            <a:extLst>
              <a:ext uri="{FF2B5EF4-FFF2-40B4-BE49-F238E27FC236}">
                <a16:creationId xmlns:a16="http://schemas.microsoft.com/office/drawing/2014/main" id="{19007813-346E-7765-29D9-F065B4B3D7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E40F55EF-68E8-14FE-9AA1-32B5D521751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8" name="Picture 27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331FD0C9-3438-796E-D4F5-BF1D709CFF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9" name="Picture 28" descr="A logo with palm trees&#10;&#10;AI-generated content may be incorrect.">
            <a:extLst>
              <a:ext uri="{FF2B5EF4-FFF2-40B4-BE49-F238E27FC236}">
                <a16:creationId xmlns:a16="http://schemas.microsoft.com/office/drawing/2014/main" id="{DDDDD07E-3565-8873-084B-C77239C6204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3" name="Picture 32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678A9E31-FB2C-29D9-4FF7-A25059DC38C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329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88305C18-BB61-3809-F890-03E6E1C881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2943D-7B16-B6C5-5304-D5B0ED879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854EEB-977D-57C9-827F-0F27D4A454D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94316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482B45-889F-5142-BC0F-D45E525DF0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0926" y="1352141"/>
            <a:ext cx="2570148" cy="2176720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7CDB073-0680-7F55-1F46-B744F046286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10926" y="3633699"/>
            <a:ext cx="2570148" cy="212607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25C6F3-1234-EE7F-022F-A09807F53B3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78697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C18FAB56-B847-6859-6FF9-6CE3C2CE5A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A30D02E0-E36D-A8E1-FC43-C2240AFEDB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86E54885-0600-8213-5B95-A239C22C43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47E444B5-7DE9-8D8B-12A4-499DE75E5E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7B61BDA7-AF27-582F-4E2A-9CC8D339B5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27F99866-7962-7B30-4558-881BA0A9A3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FB52DA80-189C-315F-1A35-454B9DAD6B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8A9199C6-B923-8E7A-DC3C-D8FD1B23B4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54455CE6-1EA4-80D0-472D-0F0C6841C5F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3E24C39F-348E-3665-8732-ECF3C1D8A92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8" name="Picture 27" descr="A logo with palm trees&#10;&#10;AI-generated content may be incorrect.">
            <a:extLst>
              <a:ext uri="{FF2B5EF4-FFF2-40B4-BE49-F238E27FC236}">
                <a16:creationId xmlns:a16="http://schemas.microsoft.com/office/drawing/2014/main" id="{95F824F4-4126-CF58-32D3-51E24C5A3AB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42" name="Picture 41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BBB42FED-3A6F-DE60-09A9-02B19D38B84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74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79" y="266855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2943D-7B16-B6C5-5304-D5B0ED879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effectLst/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240844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5B7E9-8EA7-88AC-CDDC-5E81BBB8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C6FC-51FE-80FC-BA42-121E4A26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8646-EEDB-4412-5DEC-0955445A6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F657A-ACF9-4E40-A2DA-3323CFDC064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4D493-2110-A893-929D-F273EB9DB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08D4F-B5C1-966A-1FDE-A22812AF2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DF7C2-04DF-C149-BAB4-89733FA27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9" r:id="rId2"/>
    <p:sldLayoutId id="214748365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2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thanClouseAX/EnvironmentDataLoader" TargetMode="External"/><Relationship Id="rId2" Type="http://schemas.openxmlformats.org/officeDocument/2006/relationships/hyperlink" Target="https://github.com/NathanClouseAX/PPACEnvironmentPrototyper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38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FA2B-7626-8719-D5E7-01925226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Versioning Everything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A9718-F8E1-43B2-214B-E67778DC0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0813"/>
            <a:ext cx="10515600" cy="1500187"/>
          </a:xfrm>
        </p:spPr>
        <p:txBody>
          <a:bodyPr/>
          <a:lstStyle/>
          <a:p>
            <a:r>
              <a:rPr lang="en-US" dirty="0"/>
              <a:t>Code, Data, Config, and Why Partial Versioning Fails</a:t>
            </a:r>
          </a:p>
        </p:txBody>
      </p:sp>
      <p:pic>
        <p:nvPicPr>
          <p:cNvPr id="6" name="Copied Picture 6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8FA77EB3-2052-3AFB-2852-E6F04EB31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80" y="41402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3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BF7D70-F122-4F15-B025-CEBA40EFF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4458" y="4526407"/>
            <a:ext cx="3776726" cy="11069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b="1" dirty="0"/>
              <a:t>Beau Schwieso </a:t>
            </a:r>
          </a:p>
          <a:p>
            <a:pPr algn="l"/>
            <a:r>
              <a:rPr lang="en-US" b="1" dirty="0"/>
              <a:t>2x Microsoft MVP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2D1592B-3BDB-0F43-6151-6DF2AA3E8AD3}"/>
              </a:ext>
            </a:extLst>
          </p:cNvPr>
          <p:cNvSpPr txBox="1">
            <a:spLocks/>
          </p:cNvSpPr>
          <p:nvPr/>
        </p:nvSpPr>
        <p:spPr>
          <a:xfrm>
            <a:off x="6848602" y="4526407"/>
            <a:ext cx="3776726" cy="110697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rgbClr val="D2A000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Nathan Clouse</a:t>
            </a:r>
          </a:p>
          <a:p>
            <a:pPr algn="l"/>
            <a:r>
              <a:rPr lang="en-US" dirty="0"/>
              <a:t>6x Microsoft MVP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F6D2B80-E7F6-DEFD-8109-C47A56A6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78795"/>
            <a:ext cx="11887200" cy="1325563"/>
          </a:xfrm>
        </p:spPr>
        <p:txBody>
          <a:bodyPr/>
          <a:lstStyle/>
          <a:p>
            <a:r>
              <a:rPr lang="en-US" sz="5400" dirty="0"/>
              <a:t>Who is talking to you right now?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93175C-B166-4022-A016-94D2E0875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88" y="2065972"/>
            <a:ext cx="2267712" cy="2267712"/>
          </a:xfrm>
          <a:prstGeom prst="ellipse">
            <a:avLst/>
          </a:prstGeom>
          <a:ln w="63500" cap="rnd">
            <a:solidFill>
              <a:srgbClr val="D2A000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37512BB-C9D7-154A-4685-F2A1C4E31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860" y="2065973"/>
            <a:ext cx="2267711" cy="2267711"/>
          </a:xfrm>
          <a:prstGeom prst="ellipse">
            <a:avLst/>
          </a:prstGeom>
          <a:ln w="63500" cap="rnd">
            <a:solidFill>
              <a:srgbClr val="D2A000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617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CBAF4-14EB-D9DE-226A-52182145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79DDC-277D-80EA-F0EE-9ABB371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2800" b="1" dirty="0"/>
              <a:t>What is running in this environment, exactly, right now?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839C7-4350-9D3D-CA44-778AAEA6A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 what's in the repo. Not what we deployed last Tuesday. Not what the release notes said.</a:t>
            </a:r>
          </a:p>
        </p:txBody>
      </p:sp>
      <p:pic>
        <p:nvPicPr>
          <p:cNvPr id="5" name="Picture 4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749CAEA2-B4BF-51E8-521A-3FBB182B43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8"/>
          <a:stretch>
            <a:fillRect/>
          </a:stretch>
        </p:blipFill>
        <p:spPr>
          <a:xfrm>
            <a:off x="10770317" y="359030"/>
            <a:ext cx="950657" cy="88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8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6018-8971-FC97-FC11-09716CF5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F&amp;O is different</a:t>
            </a:r>
          </a:p>
        </p:txBody>
      </p:sp>
      <p:pic>
        <p:nvPicPr>
          <p:cNvPr id="6" name="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C0E7C21C-56E7-9AF2-B152-850734AFD6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8"/>
          <a:stretch>
            <a:fillRect/>
          </a:stretch>
        </p:blipFill>
        <p:spPr>
          <a:xfrm>
            <a:off x="10770317" y="359030"/>
            <a:ext cx="950657" cy="885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DD3BBC-B83D-486A-8330-77E41908BBC7}"/>
              </a:ext>
            </a:extLst>
          </p:cNvPr>
          <p:cNvSpPr txBox="1"/>
          <p:nvPr/>
        </p:nvSpPr>
        <p:spPr>
          <a:xfrm>
            <a:off x="889000" y="1651000"/>
            <a:ext cx="4826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156082"/>
                </a:solidFill>
                <a:latin typeface="Open Sans"/>
                <a:ea typeface="Open Sans"/>
                <a:cs typeface="Open Sans"/>
              </a:rPr>
              <a:t>TYPICAL APP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051E7-F9DA-4E6B-8619-37FD7CBCCD69}"/>
              </a:ext>
            </a:extLst>
          </p:cNvPr>
          <p:cNvSpPr txBox="1"/>
          <p:nvPr/>
        </p:nvSpPr>
        <p:spPr>
          <a:xfrm>
            <a:off x="6477000" y="1651000"/>
            <a:ext cx="4826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DYNAMICS 365 F&amp;O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F4AB05-3E13-488C-A150-5D24122A4490}"/>
              </a:ext>
            </a:extLst>
          </p:cNvPr>
          <p:cNvSpPr/>
          <p:nvPr/>
        </p:nvSpPr>
        <p:spPr>
          <a:xfrm>
            <a:off x="889000" y="2349500"/>
            <a:ext cx="4826000" cy="5588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Code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508818-AEDA-42A5-A16A-0097F4142C32}"/>
              </a:ext>
            </a:extLst>
          </p:cNvPr>
          <p:cNvSpPr/>
          <p:nvPr/>
        </p:nvSpPr>
        <p:spPr>
          <a:xfrm>
            <a:off x="889000" y="3009900"/>
            <a:ext cx="4826000" cy="558800"/>
          </a:xfrm>
          <a:prstGeom prst="roundRect">
            <a:avLst/>
          </a:prstGeom>
          <a:solidFill>
            <a:srgbClr val="4A90A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+ a config file or two (or ten)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0E1947-A6CE-4BDE-8907-3F56A73B8BAD}"/>
              </a:ext>
            </a:extLst>
          </p:cNvPr>
          <p:cNvSpPr/>
          <p:nvPr/>
        </p:nvSpPr>
        <p:spPr>
          <a:xfrm>
            <a:off x="6477000" y="2349500"/>
            <a:ext cx="4826000" cy="5588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9945B9-BB95-4682-B53C-AEDFF7BBC2C3}"/>
              </a:ext>
            </a:extLst>
          </p:cNvPr>
          <p:cNvSpPr/>
          <p:nvPr/>
        </p:nvSpPr>
        <p:spPr>
          <a:xfrm>
            <a:off x="6477000" y="3009900"/>
            <a:ext cx="4826000" cy="558800"/>
          </a:xfrm>
          <a:prstGeom prst="roundRect">
            <a:avLst/>
          </a:prstGeom>
          <a:solidFill>
            <a:srgbClr val="D960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Configuration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C79B78-88C2-4CD8-AA75-C9EEB82193BA}"/>
              </a:ext>
            </a:extLst>
          </p:cNvPr>
          <p:cNvSpPr/>
          <p:nvPr/>
        </p:nvSpPr>
        <p:spPr>
          <a:xfrm>
            <a:off x="6477000" y="3670300"/>
            <a:ext cx="4826000" cy="558800"/>
          </a:xfrm>
          <a:prstGeom prst="roundRect">
            <a:avLst/>
          </a:prstGeom>
          <a:solidFill>
            <a:srgbClr val="C854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Reference data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0841A7-A60A-4AA5-8812-79602E22D1B3}"/>
              </a:ext>
            </a:extLst>
          </p:cNvPr>
          <p:cNvSpPr/>
          <p:nvPr/>
        </p:nvSpPr>
        <p:spPr>
          <a:xfrm>
            <a:off x="6477000" y="4330700"/>
            <a:ext cx="4826000" cy="558800"/>
          </a:xfrm>
          <a:prstGeom prst="roundRect">
            <a:avLst/>
          </a:prstGeom>
          <a:solidFill>
            <a:srgbClr val="B748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Master &amp; Transactional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C38269-409B-4816-A5B5-D53D76A37F97}"/>
              </a:ext>
            </a:extLst>
          </p:cNvPr>
          <p:cNvSpPr/>
          <p:nvPr/>
        </p:nvSpPr>
        <p:spPr>
          <a:xfrm>
            <a:off x="6477000" y="4991100"/>
            <a:ext cx="4826000" cy="558800"/>
          </a:xfrm>
          <a:prstGeom prst="roundRect">
            <a:avLst/>
          </a:prstGeom>
          <a:solidFill>
            <a:srgbClr val="A63D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Environment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839C7-0ABA-44E9-BB1D-33A95ED01EB3}"/>
              </a:ext>
            </a:extLst>
          </p:cNvPr>
          <p:cNvSpPr txBox="1"/>
          <p:nvPr/>
        </p:nvSpPr>
        <p:spPr>
          <a:xfrm>
            <a:off x="6477000" y="57404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5 things to version — not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6FC5C7-A8D9-413C-AE70-BDA9B74A2D7D}"/>
              </a:ext>
            </a:extLst>
          </p:cNvPr>
          <p:cNvSpPr txBox="1"/>
          <p:nvPr/>
        </p:nvSpPr>
        <p:spPr>
          <a:xfrm>
            <a:off x="889000" y="3746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156082"/>
                </a:solidFill>
                <a:latin typeface="Open Sans"/>
                <a:ea typeface="Open Sans"/>
                <a:cs typeface="Open Sans"/>
              </a:rPr>
              <a:t>Version the code. Done.</a:t>
            </a:r>
          </a:p>
        </p:txBody>
      </p:sp>
    </p:spTree>
    <p:extLst>
      <p:ext uri="{BB962C8B-B14F-4D97-AF65-F5344CB8AC3E}">
        <p14:creationId xmlns:p14="http://schemas.microsoft.com/office/powerpoint/2010/main" val="209381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87CC99-C9EC-9972-2970-8DCDC81D1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1270000"/>
            <a:ext cx="11381889" cy="381000"/>
          </a:xfrm>
        </p:spPr>
        <p:txBody>
          <a:bodyPr/>
          <a:lstStyle/>
          <a:p>
            <a:pPr algn="l">
              <a:buNone/>
            </a:pPr>
            <a:r>
              <a:rPr lang="en-US" sz="1500" i="1" dirty="0"/>
              <a:t>What actually determines how an F&amp;O environment behaves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9B0DBE-EFE9-E323-7D92-69615A36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Five layers of truth</a:t>
            </a:r>
          </a:p>
        </p:txBody>
      </p:sp>
      <p:pic>
        <p:nvPicPr>
          <p:cNvPr id="5" name="Picture 4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610F4A73-4518-E4F6-9A16-25A7AB8DD3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8"/>
          <a:stretch>
            <a:fillRect/>
          </a:stretch>
        </p:blipFill>
        <p:spPr>
          <a:xfrm>
            <a:off x="10770317" y="359030"/>
            <a:ext cx="950657" cy="8852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F889B6-4C8E-4E9F-AAD2-5A69A3D021EB}"/>
              </a:ext>
            </a:extLst>
          </p:cNvPr>
          <p:cNvSpPr/>
          <p:nvPr/>
        </p:nvSpPr>
        <p:spPr>
          <a:xfrm>
            <a:off x="762000" y="1879600"/>
            <a:ext cx="10668000" cy="711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F6566-B5B5-4924-A196-38C83660C735}"/>
              </a:ext>
            </a:extLst>
          </p:cNvPr>
          <p:cNvSpPr txBox="1"/>
          <p:nvPr/>
        </p:nvSpPr>
        <p:spPr>
          <a:xfrm>
            <a:off x="939800" y="1879600"/>
            <a:ext cx="762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2F6196-8FC7-491C-89DF-DD38ED3100E0}"/>
              </a:ext>
            </a:extLst>
          </p:cNvPr>
          <p:cNvSpPr txBox="1"/>
          <p:nvPr/>
        </p:nvSpPr>
        <p:spPr>
          <a:xfrm>
            <a:off x="1778000" y="1879600"/>
            <a:ext cx="3556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10475-CDC2-426A-82BA-861D221A2ACF}"/>
              </a:ext>
            </a:extLst>
          </p:cNvPr>
          <p:cNvSpPr txBox="1"/>
          <p:nvPr/>
        </p:nvSpPr>
        <p:spPr>
          <a:xfrm>
            <a:off x="5461000" y="1879600"/>
            <a:ext cx="5842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X++ extensions, models, deployable packages</a:t>
            </a:r>
            <a:endParaRPr lang="en-US" sz="1400" i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246AAD-1E3F-4CA4-8D60-C45AF7AE728F}"/>
              </a:ext>
            </a:extLst>
          </p:cNvPr>
          <p:cNvSpPr/>
          <p:nvPr/>
        </p:nvSpPr>
        <p:spPr>
          <a:xfrm>
            <a:off x="762000" y="2667000"/>
            <a:ext cx="10668000" cy="711200"/>
          </a:xfrm>
          <a:prstGeom prst="rect">
            <a:avLst/>
          </a:prstGeom>
          <a:solidFill>
            <a:srgbClr val="D960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08877C-52AF-48C8-98BE-9A6D181ECC7C}"/>
              </a:ext>
            </a:extLst>
          </p:cNvPr>
          <p:cNvSpPr txBox="1"/>
          <p:nvPr/>
        </p:nvSpPr>
        <p:spPr>
          <a:xfrm>
            <a:off x="939800" y="2667000"/>
            <a:ext cx="762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5FB4F5-9F06-4E43-90F2-4FE07563E14D}"/>
              </a:ext>
            </a:extLst>
          </p:cNvPr>
          <p:cNvSpPr txBox="1"/>
          <p:nvPr/>
        </p:nvSpPr>
        <p:spPr>
          <a:xfrm>
            <a:off x="1778000" y="2667000"/>
            <a:ext cx="3556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Configuration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55EC57-8DF7-4EBA-95E6-7AAB9D9793B5}"/>
              </a:ext>
            </a:extLst>
          </p:cNvPr>
          <p:cNvSpPr txBox="1"/>
          <p:nvPr/>
        </p:nvSpPr>
        <p:spPr>
          <a:xfrm>
            <a:off x="5461000" y="2667000"/>
            <a:ext cx="5842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Module parameters, posting profiles, number sequences, workflows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59661-DC3B-46A1-9677-B400350AA290}"/>
              </a:ext>
            </a:extLst>
          </p:cNvPr>
          <p:cNvSpPr/>
          <p:nvPr/>
        </p:nvSpPr>
        <p:spPr>
          <a:xfrm>
            <a:off x="762000" y="3454400"/>
            <a:ext cx="10668000" cy="711200"/>
          </a:xfrm>
          <a:prstGeom prst="rect">
            <a:avLst/>
          </a:prstGeom>
          <a:solidFill>
            <a:srgbClr val="C854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898807-AF21-4E94-9668-016828B3D1B8}"/>
              </a:ext>
            </a:extLst>
          </p:cNvPr>
          <p:cNvSpPr txBox="1"/>
          <p:nvPr/>
        </p:nvSpPr>
        <p:spPr>
          <a:xfrm>
            <a:off x="939800" y="3454400"/>
            <a:ext cx="762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144BE-1E6A-4583-9B3A-A17492D5FF05}"/>
              </a:ext>
            </a:extLst>
          </p:cNvPr>
          <p:cNvSpPr txBox="1"/>
          <p:nvPr/>
        </p:nvSpPr>
        <p:spPr>
          <a:xfrm>
            <a:off x="1778000" y="3454400"/>
            <a:ext cx="3556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Reference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1852C-D8DB-4A53-83A0-AB8158980D27}"/>
              </a:ext>
            </a:extLst>
          </p:cNvPr>
          <p:cNvSpPr txBox="1"/>
          <p:nvPr/>
        </p:nvSpPr>
        <p:spPr>
          <a:xfrm>
            <a:off x="5461000" y="3454400"/>
            <a:ext cx="5842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Chart of accounts, dimensions, vendor groups, item models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51CFD6-D7CF-4DB2-9F99-B4804B4B611B}"/>
              </a:ext>
            </a:extLst>
          </p:cNvPr>
          <p:cNvSpPr/>
          <p:nvPr/>
        </p:nvSpPr>
        <p:spPr>
          <a:xfrm>
            <a:off x="762000" y="4241800"/>
            <a:ext cx="10668000" cy="711200"/>
          </a:xfrm>
          <a:prstGeom prst="rect">
            <a:avLst/>
          </a:prstGeom>
          <a:solidFill>
            <a:srgbClr val="B748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8CBF30-6691-4E0E-9162-CE9CD1614485}"/>
              </a:ext>
            </a:extLst>
          </p:cNvPr>
          <p:cNvSpPr txBox="1"/>
          <p:nvPr/>
        </p:nvSpPr>
        <p:spPr>
          <a:xfrm>
            <a:off x="939800" y="4241800"/>
            <a:ext cx="762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9C3C8B-99EF-4400-9636-EAA1AECC6370}"/>
              </a:ext>
            </a:extLst>
          </p:cNvPr>
          <p:cNvSpPr txBox="1"/>
          <p:nvPr/>
        </p:nvSpPr>
        <p:spPr>
          <a:xfrm>
            <a:off x="1778000" y="4241800"/>
            <a:ext cx="3556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Master &amp; operational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3AAC37-71EB-4626-9EF6-E20B2BDBAFC7}"/>
              </a:ext>
            </a:extLst>
          </p:cNvPr>
          <p:cNvSpPr txBox="1"/>
          <p:nvPr/>
        </p:nvSpPr>
        <p:spPr>
          <a:xfrm>
            <a:off x="5461000" y="4241800"/>
            <a:ext cx="5842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Customers, vendors, items, transactions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9F791D-525D-407C-96D4-AE8CEAD9BC4C}"/>
              </a:ext>
            </a:extLst>
          </p:cNvPr>
          <p:cNvSpPr/>
          <p:nvPr/>
        </p:nvSpPr>
        <p:spPr>
          <a:xfrm>
            <a:off x="762000" y="5029200"/>
            <a:ext cx="10668000" cy="711200"/>
          </a:xfrm>
          <a:prstGeom prst="rect">
            <a:avLst/>
          </a:prstGeom>
          <a:solidFill>
            <a:srgbClr val="A63D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9155FC-4E4F-4707-AEDF-1295569452F8}"/>
              </a:ext>
            </a:extLst>
          </p:cNvPr>
          <p:cNvSpPr txBox="1"/>
          <p:nvPr/>
        </p:nvSpPr>
        <p:spPr>
          <a:xfrm>
            <a:off x="939800" y="5029200"/>
            <a:ext cx="762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A88FC0-3DB7-46E6-8206-FFE045819707}"/>
              </a:ext>
            </a:extLst>
          </p:cNvPr>
          <p:cNvSpPr txBox="1"/>
          <p:nvPr/>
        </p:nvSpPr>
        <p:spPr>
          <a:xfrm>
            <a:off x="1778000" y="5029200"/>
            <a:ext cx="3556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Environment 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F96AF3-9343-45EE-8679-82CAC073D05B}"/>
              </a:ext>
            </a:extLst>
          </p:cNvPr>
          <p:cNvSpPr txBox="1"/>
          <p:nvPr/>
        </p:nvSpPr>
        <p:spPr>
          <a:xfrm>
            <a:off x="5461000" y="5029200"/>
            <a:ext cx="5842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Feature toggles, batch jobs, integrations, security assignments</a:t>
            </a:r>
          </a:p>
        </p:txBody>
      </p:sp>
    </p:spTree>
    <p:extLst>
      <p:ext uri="{BB962C8B-B14F-4D97-AF65-F5344CB8AC3E}">
        <p14:creationId xmlns:p14="http://schemas.microsoft.com/office/powerpoint/2010/main" val="153494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A8603-95AD-0669-8F86-8D0DEE78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 1 of 5: Code</a:t>
            </a:r>
          </a:p>
        </p:txBody>
      </p:sp>
      <p:pic>
        <p:nvPicPr>
          <p:cNvPr id="6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BBB40E02-5E8B-B255-069C-EB5AA94E58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826BE5-C447-4743-94C9-0B297344B69E}"/>
              </a:ext>
            </a:extLst>
          </p:cNvPr>
          <p:cNvSpPr/>
          <p:nvPr/>
        </p:nvSpPr>
        <p:spPr>
          <a:xfrm>
            <a:off x="4114800" y="1295400"/>
            <a:ext cx="711200" cy="1016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5B64A3-B641-471D-9558-6004D8907D78}"/>
              </a:ext>
            </a:extLst>
          </p:cNvPr>
          <p:cNvSpPr/>
          <p:nvPr/>
        </p:nvSpPr>
        <p:spPr>
          <a:xfrm>
            <a:off x="49276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263CC5-0391-4D9B-8EAA-1E33068E73FA}"/>
              </a:ext>
            </a:extLst>
          </p:cNvPr>
          <p:cNvSpPr/>
          <p:nvPr/>
        </p:nvSpPr>
        <p:spPr>
          <a:xfrm>
            <a:off x="57404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116121-DD83-46EC-BF38-6FB7C0A55571}"/>
              </a:ext>
            </a:extLst>
          </p:cNvPr>
          <p:cNvSpPr/>
          <p:nvPr/>
        </p:nvSpPr>
        <p:spPr>
          <a:xfrm>
            <a:off x="65532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B364FB-395F-4FDD-A5F3-E6C66408FE31}"/>
              </a:ext>
            </a:extLst>
          </p:cNvPr>
          <p:cNvSpPr/>
          <p:nvPr/>
        </p:nvSpPr>
        <p:spPr>
          <a:xfrm>
            <a:off x="73660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00B10-3609-465A-A504-46E60E6E5BB9}"/>
              </a:ext>
            </a:extLst>
          </p:cNvPr>
          <p:cNvSpPr txBox="1"/>
          <p:nvPr/>
        </p:nvSpPr>
        <p:spPr>
          <a:xfrm>
            <a:off x="41148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90380-B892-44BE-8CA7-01871F7634B7}"/>
              </a:ext>
            </a:extLst>
          </p:cNvPr>
          <p:cNvSpPr txBox="1"/>
          <p:nvPr/>
        </p:nvSpPr>
        <p:spPr>
          <a:xfrm>
            <a:off x="49276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18B552-129D-4025-B2EF-10E933BBD339}"/>
              </a:ext>
            </a:extLst>
          </p:cNvPr>
          <p:cNvSpPr txBox="1"/>
          <p:nvPr/>
        </p:nvSpPr>
        <p:spPr>
          <a:xfrm>
            <a:off x="57404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803EF4-53B9-475C-B36D-0309062BC776}"/>
              </a:ext>
            </a:extLst>
          </p:cNvPr>
          <p:cNvSpPr txBox="1"/>
          <p:nvPr/>
        </p:nvSpPr>
        <p:spPr>
          <a:xfrm>
            <a:off x="65532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0D2C81-053E-449C-91D5-1B0B8B9E597C}"/>
              </a:ext>
            </a:extLst>
          </p:cNvPr>
          <p:cNvSpPr txBox="1"/>
          <p:nvPr/>
        </p:nvSpPr>
        <p:spPr>
          <a:xfrm>
            <a:off x="73660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F7590D-2504-48B8-B5A9-574C43A0DF60}"/>
              </a:ext>
            </a:extLst>
          </p:cNvPr>
          <p:cNvSpPr txBox="1"/>
          <p:nvPr/>
        </p:nvSpPr>
        <p:spPr>
          <a:xfrm>
            <a:off x="762000" y="1651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5A5048"/>
                </a:solidFill>
                <a:latin typeface="Open Sans"/>
                <a:ea typeface="Open Sans"/>
                <a:cs typeface="Open Sans"/>
              </a:rPr>
              <a:t>The layer most teams have figured out — and the one we mistakenly generalize from.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E49EEE-05C7-472B-B704-F2805C2CA2D0}"/>
              </a:ext>
            </a:extLst>
          </p:cNvPr>
          <p:cNvSpPr/>
          <p:nvPr/>
        </p:nvSpPr>
        <p:spPr>
          <a:xfrm>
            <a:off x="508000" y="2133600"/>
            <a:ext cx="5842000" cy="3683000"/>
          </a:xfrm>
          <a:prstGeom prst="rect">
            <a:avLst/>
          </a:prstGeom>
          <a:solidFill>
            <a:srgbClr val="F7F2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5B1B88-ECB0-4DD5-ADAA-D553A5CC184C}"/>
              </a:ext>
            </a:extLst>
          </p:cNvPr>
          <p:cNvSpPr/>
          <p:nvPr/>
        </p:nvSpPr>
        <p:spPr>
          <a:xfrm>
            <a:off x="508000" y="2133600"/>
            <a:ext cx="76200" cy="3683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01D415-1C35-404B-87CA-B9576DE2EDDB}"/>
              </a:ext>
            </a:extLst>
          </p:cNvPr>
          <p:cNvSpPr txBox="1"/>
          <p:nvPr/>
        </p:nvSpPr>
        <p:spPr>
          <a:xfrm>
            <a:off x="812800" y="23622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WHAT'S IN THIS LAYER</a:t>
            </a:r>
          </a:p>
        </p:txBody>
      </p:sp>
      <p:sp>
        <p:nvSpPr>
          <p:cNvPr id="20" name="BulletsBoxSlide7">
            <a:extLst>
              <a:ext uri="{FF2B5EF4-FFF2-40B4-BE49-F238E27FC236}">
                <a16:creationId xmlns:a16="http://schemas.microsoft.com/office/drawing/2014/main" id="{055234DE-FC48-44B1-BB11-0B3AEEA598BF}"/>
              </a:ext>
            </a:extLst>
          </p:cNvPr>
          <p:cNvSpPr txBox="1"/>
          <p:nvPr/>
        </p:nvSpPr>
        <p:spPr>
          <a:xfrm>
            <a:off x="812800" y="2844800"/>
            <a:ext cx="5334000" cy="279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28600" indent="-228600">
              <a:lnSpc>
                <a:spcPts val="2200"/>
              </a:lnSpc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0E2841"/>
                </a:solidFill>
              </a:rPr>
              <a:t>X++ extensions in Visual Studio against models</a:t>
            </a:r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0E2841"/>
                </a:solidFill>
              </a:rPr>
              <a:t>Source control through Azure DevOps</a:t>
            </a:r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0E2841"/>
                </a:solidFill>
              </a:rPr>
              <a:t>Build pipelines produce a deployable package</a:t>
            </a:r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0E2841"/>
                </a:solidFill>
              </a:rPr>
              <a:t>Tags, branches, pull requests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A10D2E-283D-470C-8A03-155FA55710F8}"/>
              </a:ext>
            </a:extLst>
          </p:cNvPr>
          <p:cNvSpPr/>
          <p:nvPr/>
        </p:nvSpPr>
        <p:spPr>
          <a:xfrm>
            <a:off x="6604000" y="2133600"/>
            <a:ext cx="5080000" cy="3683000"/>
          </a:xfrm>
          <a:prstGeom prst="rect">
            <a:avLst/>
          </a:prstGeom>
          <a:solidFill>
            <a:srgbClr val="2B14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79E8589-F35D-4FEF-9E7D-E819FA917F3B}"/>
              </a:ext>
            </a:extLst>
          </p:cNvPr>
          <p:cNvSpPr/>
          <p:nvPr/>
        </p:nvSpPr>
        <p:spPr>
          <a:xfrm>
            <a:off x="6908800" y="2413000"/>
            <a:ext cx="127000" cy="127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664CDD-1413-482B-BEA5-98BDF1104820}"/>
              </a:ext>
            </a:extLst>
          </p:cNvPr>
          <p:cNvSpPr txBox="1"/>
          <p:nvPr/>
        </p:nvSpPr>
        <p:spPr>
          <a:xfrm>
            <a:off x="7137400" y="23622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ANTI-PATTERN</a:t>
            </a:r>
          </a:p>
        </p:txBody>
      </p:sp>
      <p:sp>
        <p:nvSpPr>
          <p:cNvPr id="24" name="HeadlineSlide7">
            <a:extLst>
              <a:ext uri="{FF2B5EF4-FFF2-40B4-BE49-F238E27FC236}">
                <a16:creationId xmlns:a16="http://schemas.microsoft.com/office/drawing/2014/main" id="{9D134184-3FE9-481F-8A70-EB21CCC68104}"/>
              </a:ext>
            </a:extLst>
          </p:cNvPr>
          <p:cNvSpPr txBox="1"/>
          <p:nvPr/>
        </p:nvSpPr>
        <p:spPr>
          <a:xfrm>
            <a:off x="6908800" y="2844800"/>
            <a:ext cx="4470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A code tag is not a release.</a:t>
            </a:r>
          </a:p>
        </p:txBody>
      </p:sp>
      <p:sp>
        <p:nvSpPr>
          <p:cNvPr id="25" name="BodySlide7">
            <a:extLst>
              <a:ext uri="{FF2B5EF4-FFF2-40B4-BE49-F238E27FC236}">
                <a16:creationId xmlns:a16="http://schemas.microsoft.com/office/drawing/2014/main" id="{60840188-EC9E-4D1E-8BE1-F82F24AA1B74}"/>
              </a:ext>
            </a:extLst>
          </p:cNvPr>
          <p:cNvSpPr txBox="1"/>
          <p:nvPr/>
        </p:nvSpPr>
        <p:spPr>
          <a:xfrm>
            <a:off x="6908800" y="4038600"/>
            <a:ext cx="4470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4C4B8"/>
                </a:solidFill>
              </a:rPr>
              <a:t>Treating a code tag as a release artifact. A code tag is a slice of one of five layers — not the release.</a:t>
            </a:r>
          </a:p>
        </p:txBody>
      </p:sp>
    </p:spTree>
    <p:extLst>
      <p:ext uri="{BB962C8B-B14F-4D97-AF65-F5344CB8AC3E}">
        <p14:creationId xmlns:p14="http://schemas.microsoft.com/office/powerpoint/2010/main" val="363908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F3E9A3-03C0-6212-D09C-9A7371CB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3D10812-78FE-435F-7744-525136BBA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700" y="1700218"/>
            <a:ext cx="11382375" cy="3716327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57134838-D75A-3508-1C58-646D851EEC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81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7BC9B3-8F21-C9B4-9A45-4236F966B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700" y="1838981"/>
            <a:ext cx="11382375" cy="34388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FEAA6C5-C318-4027-3EE1-8BB4735A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TFVC</a:t>
            </a:r>
          </a:p>
        </p:txBody>
      </p:sp>
      <p:pic>
        <p:nvPicPr>
          <p:cNvPr id="4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3799BC26-0E18-B4F4-F524-535DF86E04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05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76990-3302-155A-3587-32A78DCDE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 2 of 5: Configuration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67C1B3-85DB-4B5D-BA71-BD30F4BBF8D1}"/>
              </a:ext>
            </a:extLst>
          </p:cNvPr>
          <p:cNvSpPr/>
          <p:nvPr/>
        </p:nvSpPr>
        <p:spPr>
          <a:xfrm>
            <a:off x="41148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4B1C70-95DF-4B19-8E96-6B053FD1740A}"/>
              </a:ext>
            </a:extLst>
          </p:cNvPr>
          <p:cNvSpPr/>
          <p:nvPr/>
        </p:nvSpPr>
        <p:spPr>
          <a:xfrm>
            <a:off x="4927600" y="1295400"/>
            <a:ext cx="711200" cy="101600"/>
          </a:xfrm>
          <a:prstGeom prst="roundRect">
            <a:avLst/>
          </a:prstGeom>
          <a:solidFill>
            <a:srgbClr val="D960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F4C09F-00C3-49A4-A671-A086DBB5E3A3}"/>
              </a:ext>
            </a:extLst>
          </p:cNvPr>
          <p:cNvSpPr/>
          <p:nvPr/>
        </p:nvSpPr>
        <p:spPr>
          <a:xfrm>
            <a:off x="57404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5910D4-2CAC-4A93-B328-EF80A94337C4}"/>
              </a:ext>
            </a:extLst>
          </p:cNvPr>
          <p:cNvSpPr/>
          <p:nvPr/>
        </p:nvSpPr>
        <p:spPr>
          <a:xfrm>
            <a:off x="65532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213933-F996-41FA-806B-4873D12407F0}"/>
              </a:ext>
            </a:extLst>
          </p:cNvPr>
          <p:cNvSpPr/>
          <p:nvPr/>
        </p:nvSpPr>
        <p:spPr>
          <a:xfrm>
            <a:off x="73660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2DEFAF-AABA-4B7C-B227-C9FC7F367993}"/>
              </a:ext>
            </a:extLst>
          </p:cNvPr>
          <p:cNvSpPr txBox="1"/>
          <p:nvPr/>
        </p:nvSpPr>
        <p:spPr>
          <a:xfrm>
            <a:off x="41148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F8CF3-3CDF-4D03-AE32-8585147301BF}"/>
              </a:ext>
            </a:extLst>
          </p:cNvPr>
          <p:cNvSpPr txBox="1"/>
          <p:nvPr/>
        </p:nvSpPr>
        <p:spPr>
          <a:xfrm>
            <a:off x="49276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D96026"/>
                </a:solidFill>
                <a:latin typeface="Open Sans"/>
                <a:ea typeface="Open Sans"/>
                <a:cs typeface="Open San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99A18-DBA9-41B2-A82A-2A2838409B44}"/>
              </a:ext>
            </a:extLst>
          </p:cNvPr>
          <p:cNvSpPr txBox="1"/>
          <p:nvPr/>
        </p:nvSpPr>
        <p:spPr>
          <a:xfrm>
            <a:off x="57404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65153-E157-4DF7-92DE-69BA4916AC38}"/>
              </a:ext>
            </a:extLst>
          </p:cNvPr>
          <p:cNvSpPr txBox="1"/>
          <p:nvPr/>
        </p:nvSpPr>
        <p:spPr>
          <a:xfrm>
            <a:off x="65532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6A110A-C853-4D92-8BB1-7EF1C52CBA7E}"/>
              </a:ext>
            </a:extLst>
          </p:cNvPr>
          <p:cNvSpPr txBox="1"/>
          <p:nvPr/>
        </p:nvSpPr>
        <p:spPr>
          <a:xfrm>
            <a:off x="73660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2D52B-2484-47AF-B655-D45D40F52C9C}"/>
              </a:ext>
            </a:extLst>
          </p:cNvPr>
          <p:cNvSpPr txBox="1"/>
          <p:nvPr/>
        </p:nvSpPr>
        <p:spPr>
          <a:xfrm>
            <a:off x="762000" y="1651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5A5048"/>
                </a:solidFill>
                <a:latin typeface="Open Sans"/>
                <a:ea typeface="Open Sans"/>
                <a:cs typeface="Open Sans"/>
              </a:rPr>
              <a:t>The most under-versioned layer in our entire ecosystem.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A6EC46-61D1-450B-88D2-7112ABC9A0E9}"/>
              </a:ext>
            </a:extLst>
          </p:cNvPr>
          <p:cNvSpPr/>
          <p:nvPr/>
        </p:nvSpPr>
        <p:spPr>
          <a:xfrm>
            <a:off x="508000" y="2133600"/>
            <a:ext cx="5842000" cy="3683000"/>
          </a:xfrm>
          <a:prstGeom prst="rect">
            <a:avLst/>
          </a:prstGeom>
          <a:solidFill>
            <a:srgbClr val="F7F2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6B1CDF-78C8-4E29-8147-B77369E342FE}"/>
              </a:ext>
            </a:extLst>
          </p:cNvPr>
          <p:cNvSpPr/>
          <p:nvPr/>
        </p:nvSpPr>
        <p:spPr>
          <a:xfrm>
            <a:off x="508000" y="2133600"/>
            <a:ext cx="76200" cy="3683000"/>
          </a:xfrm>
          <a:prstGeom prst="rect">
            <a:avLst/>
          </a:prstGeom>
          <a:solidFill>
            <a:srgbClr val="D960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AFBCED-4712-4F77-BDD8-2AFC28DB9A9B}"/>
              </a:ext>
            </a:extLst>
          </p:cNvPr>
          <p:cNvSpPr txBox="1"/>
          <p:nvPr/>
        </p:nvSpPr>
        <p:spPr>
          <a:xfrm>
            <a:off x="812800" y="23622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96026"/>
                </a:solidFill>
                <a:latin typeface="Open Sans"/>
                <a:ea typeface="Open Sans"/>
                <a:cs typeface="Open Sans"/>
              </a:rPr>
              <a:t>WHAT'S IN THIS LAYER</a:t>
            </a:r>
          </a:p>
        </p:txBody>
      </p:sp>
      <p:sp>
        <p:nvSpPr>
          <p:cNvPr id="20" name="_LayerBullets">
            <a:extLst>
              <a:ext uri="{FF2B5EF4-FFF2-40B4-BE49-F238E27FC236}">
                <a16:creationId xmlns:a16="http://schemas.microsoft.com/office/drawing/2014/main" id="{ACFE526D-0384-4FD3-9772-DD0E6C2CAA0B}"/>
              </a:ext>
            </a:extLst>
          </p:cNvPr>
          <p:cNvSpPr txBox="1"/>
          <p:nvPr/>
        </p:nvSpPr>
        <p:spPr>
          <a:xfrm>
            <a:off x="812800" y="2844800"/>
            <a:ext cx="5334000" cy="279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Module parameters (GL, AP, AR, Inventory, etc.)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Posting profiles, number sequences, financial dimensions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Workflow definitions and approval matrices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Feature management toggles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DMF + Configuration Data Project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A43165-77D0-431A-8547-64904EC2963B}"/>
              </a:ext>
            </a:extLst>
          </p:cNvPr>
          <p:cNvSpPr/>
          <p:nvPr/>
        </p:nvSpPr>
        <p:spPr>
          <a:xfrm>
            <a:off x="6604000" y="2133600"/>
            <a:ext cx="5080000" cy="3683000"/>
          </a:xfrm>
          <a:prstGeom prst="rect">
            <a:avLst/>
          </a:prstGeom>
          <a:solidFill>
            <a:srgbClr val="2B14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FA72646-355F-457E-95DB-5EA85A49F6B0}"/>
              </a:ext>
            </a:extLst>
          </p:cNvPr>
          <p:cNvSpPr/>
          <p:nvPr/>
        </p:nvSpPr>
        <p:spPr>
          <a:xfrm>
            <a:off x="6908800" y="2413000"/>
            <a:ext cx="127000" cy="127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246420-625D-460A-9CD1-72617A9E8BCA}"/>
              </a:ext>
            </a:extLst>
          </p:cNvPr>
          <p:cNvSpPr txBox="1"/>
          <p:nvPr/>
        </p:nvSpPr>
        <p:spPr>
          <a:xfrm>
            <a:off x="7137400" y="23622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ANTI-PATTERN</a:t>
            </a:r>
          </a:p>
        </p:txBody>
      </p:sp>
      <p:sp>
        <p:nvSpPr>
          <p:cNvPr id="24" name="_LayerHeadline">
            <a:extLst>
              <a:ext uri="{FF2B5EF4-FFF2-40B4-BE49-F238E27FC236}">
                <a16:creationId xmlns:a16="http://schemas.microsoft.com/office/drawing/2014/main" id="{3D8BF355-EB61-4D1C-B7FA-485CB5F95045}"/>
              </a:ext>
            </a:extLst>
          </p:cNvPr>
          <p:cNvSpPr txBox="1"/>
          <p:nvPr/>
        </p:nvSpPr>
        <p:spPr>
          <a:xfrm>
            <a:off x="6908800" y="2844800"/>
            <a:ext cx="4470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Documents don't deploy.</a:t>
            </a:r>
          </a:p>
        </p:txBody>
      </p:sp>
      <p:sp>
        <p:nvSpPr>
          <p:cNvPr id="25" name="_LayerBody">
            <a:extLst>
              <a:ext uri="{FF2B5EF4-FFF2-40B4-BE49-F238E27FC236}">
                <a16:creationId xmlns:a16="http://schemas.microsoft.com/office/drawing/2014/main" id="{6FC556B1-C8D5-4738-B7F6-540FE0D6657D}"/>
              </a:ext>
            </a:extLst>
          </p:cNvPr>
          <p:cNvSpPr txBox="1"/>
          <p:nvPr/>
        </p:nvSpPr>
        <p:spPr>
          <a:xfrm>
            <a:off x="6908800" y="4165600"/>
            <a:ext cx="44704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4C4B8"/>
                </a:solidFill>
              </a:rPr>
              <a:t>Configuration documented in Word and Visio, called "the source of truth." Documents do not deploy. Documents do not detect drift.</a:t>
            </a:r>
          </a:p>
        </p:txBody>
      </p:sp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B087415A-6201-D21C-655A-07A2CC537D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62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FC81703-5FE7-C279-ECDA-643CFAB95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31" y="367259"/>
            <a:ext cx="5675738" cy="5859887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F86B1076-0AFB-10EB-592C-59D0BFE6E4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18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4E7353-2E14-F6F3-5AB1-62D28B857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https://github.com/NathanClouseAX/AAXParameterWorkflow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32F6DC-90B5-211E-95AC-81483D23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Open-Source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FD60C-663A-CFE4-553A-67EDE1D62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863" y="1866733"/>
            <a:ext cx="7459035" cy="4696792"/>
          </a:xfrm>
          <a:prstGeom prst="rect">
            <a:avLst/>
          </a:prstGeom>
        </p:spPr>
      </p:pic>
      <p:pic>
        <p:nvPicPr>
          <p:cNvPr id="5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713A65BE-EB2B-501D-FFD8-7C3B34B9DA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58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228364-3A84-C4FA-F3A1-300519A5B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261" y="624625"/>
            <a:ext cx="10277478" cy="5402687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4B56E2E6-465F-5FD7-31D6-A85E84AB5F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81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E21D-28CE-7885-0600-6DBABD37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 3 of 5: Reference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499A67-69BE-4D22-8038-CBE19587A076}"/>
              </a:ext>
            </a:extLst>
          </p:cNvPr>
          <p:cNvSpPr/>
          <p:nvPr/>
        </p:nvSpPr>
        <p:spPr>
          <a:xfrm>
            <a:off x="41148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624495-E5BF-475B-AD54-E52CFD657F6D}"/>
              </a:ext>
            </a:extLst>
          </p:cNvPr>
          <p:cNvSpPr/>
          <p:nvPr/>
        </p:nvSpPr>
        <p:spPr>
          <a:xfrm>
            <a:off x="49276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A39150-43E4-4112-BE50-F3A2372187F5}"/>
              </a:ext>
            </a:extLst>
          </p:cNvPr>
          <p:cNvSpPr/>
          <p:nvPr/>
        </p:nvSpPr>
        <p:spPr>
          <a:xfrm>
            <a:off x="5740400" y="1295400"/>
            <a:ext cx="711200" cy="101600"/>
          </a:xfrm>
          <a:prstGeom prst="roundRect">
            <a:avLst/>
          </a:prstGeom>
          <a:solidFill>
            <a:srgbClr val="C854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54BA50-6891-4622-AD12-E3076D6373F8}"/>
              </a:ext>
            </a:extLst>
          </p:cNvPr>
          <p:cNvSpPr/>
          <p:nvPr/>
        </p:nvSpPr>
        <p:spPr>
          <a:xfrm>
            <a:off x="65532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8F7341-5F4E-4DCA-AB7A-6AAD92E7991F}"/>
              </a:ext>
            </a:extLst>
          </p:cNvPr>
          <p:cNvSpPr/>
          <p:nvPr/>
        </p:nvSpPr>
        <p:spPr>
          <a:xfrm>
            <a:off x="73660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E9B429-C077-461B-821F-B40FFB572FC2}"/>
              </a:ext>
            </a:extLst>
          </p:cNvPr>
          <p:cNvSpPr txBox="1"/>
          <p:nvPr/>
        </p:nvSpPr>
        <p:spPr>
          <a:xfrm>
            <a:off x="41148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4C4C17-CD24-424D-A9F8-E915F1779483}"/>
              </a:ext>
            </a:extLst>
          </p:cNvPr>
          <p:cNvSpPr txBox="1"/>
          <p:nvPr/>
        </p:nvSpPr>
        <p:spPr>
          <a:xfrm>
            <a:off x="49276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E6F57F-CEF4-44E4-B737-D591E8C55455}"/>
              </a:ext>
            </a:extLst>
          </p:cNvPr>
          <p:cNvSpPr txBox="1"/>
          <p:nvPr/>
        </p:nvSpPr>
        <p:spPr>
          <a:xfrm>
            <a:off x="57404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C8541E"/>
                </a:solidFill>
                <a:latin typeface="Open Sans"/>
                <a:ea typeface="Open Sans"/>
                <a:cs typeface="Open Sans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C867B0-F5D0-4577-B323-B966A8787291}"/>
              </a:ext>
            </a:extLst>
          </p:cNvPr>
          <p:cNvSpPr txBox="1"/>
          <p:nvPr/>
        </p:nvSpPr>
        <p:spPr>
          <a:xfrm>
            <a:off x="65532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BDF9C1-FC4C-4024-B3A6-674841E5E5F4}"/>
              </a:ext>
            </a:extLst>
          </p:cNvPr>
          <p:cNvSpPr txBox="1"/>
          <p:nvPr/>
        </p:nvSpPr>
        <p:spPr>
          <a:xfrm>
            <a:off x="73660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51F8D-0B40-4ECD-BB9E-624212B348EE}"/>
              </a:ext>
            </a:extLst>
          </p:cNvPr>
          <p:cNvSpPr txBox="1"/>
          <p:nvPr/>
        </p:nvSpPr>
        <p:spPr>
          <a:xfrm>
            <a:off x="762000" y="1651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5A5048"/>
                </a:solidFill>
                <a:latin typeface="Open Sans"/>
                <a:ea typeface="Open Sans"/>
                <a:cs typeface="Open Sans"/>
              </a:rPr>
              <a:t>The structures the business runs against — set once, then drifted forever.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E5EA53-9757-4C59-9CB2-227E289079C1}"/>
              </a:ext>
            </a:extLst>
          </p:cNvPr>
          <p:cNvSpPr/>
          <p:nvPr/>
        </p:nvSpPr>
        <p:spPr>
          <a:xfrm>
            <a:off x="508000" y="2133600"/>
            <a:ext cx="5842000" cy="3683000"/>
          </a:xfrm>
          <a:prstGeom prst="rect">
            <a:avLst/>
          </a:prstGeom>
          <a:solidFill>
            <a:srgbClr val="F7F2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AE5E12-D2EC-4123-8F60-01ED05389C24}"/>
              </a:ext>
            </a:extLst>
          </p:cNvPr>
          <p:cNvSpPr/>
          <p:nvPr/>
        </p:nvSpPr>
        <p:spPr>
          <a:xfrm>
            <a:off x="508000" y="2133600"/>
            <a:ext cx="76200" cy="3683000"/>
          </a:xfrm>
          <a:prstGeom prst="rect">
            <a:avLst/>
          </a:prstGeom>
          <a:solidFill>
            <a:srgbClr val="C854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2C61A6-4145-4D2D-9A25-585FCD6FC85E}"/>
              </a:ext>
            </a:extLst>
          </p:cNvPr>
          <p:cNvSpPr txBox="1"/>
          <p:nvPr/>
        </p:nvSpPr>
        <p:spPr>
          <a:xfrm>
            <a:off x="812800" y="23622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C8541E"/>
                </a:solidFill>
                <a:latin typeface="Open Sans"/>
                <a:ea typeface="Open Sans"/>
                <a:cs typeface="Open Sans"/>
              </a:rPr>
              <a:t>WHAT'S IN THIS LAYER</a:t>
            </a:r>
          </a:p>
        </p:txBody>
      </p:sp>
      <p:sp>
        <p:nvSpPr>
          <p:cNvPr id="19" name="_LayerBullets">
            <a:extLst>
              <a:ext uri="{FF2B5EF4-FFF2-40B4-BE49-F238E27FC236}">
                <a16:creationId xmlns:a16="http://schemas.microsoft.com/office/drawing/2014/main" id="{81F644AF-042E-4CD3-8C40-1308FEF78267}"/>
              </a:ext>
            </a:extLst>
          </p:cNvPr>
          <p:cNvSpPr txBox="1"/>
          <p:nvPr/>
        </p:nvSpPr>
        <p:spPr>
          <a:xfrm>
            <a:off x="812800" y="2844800"/>
            <a:ext cx="5334000" cy="279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Chart of accounts and account structures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Financial dimensions and default dimensions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Vendor groups, customer groups, item models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Payment terms, terms of delivery, tax codes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The boundary between config and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E28538-4E10-4484-9996-41DB37FC3E75}"/>
              </a:ext>
            </a:extLst>
          </p:cNvPr>
          <p:cNvSpPr/>
          <p:nvPr/>
        </p:nvSpPr>
        <p:spPr>
          <a:xfrm>
            <a:off x="6604000" y="2133600"/>
            <a:ext cx="5080000" cy="3683000"/>
          </a:xfrm>
          <a:prstGeom prst="rect">
            <a:avLst/>
          </a:prstGeom>
          <a:solidFill>
            <a:srgbClr val="2B14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06FE3F-AD18-450E-AC9D-3125493F4FB0}"/>
              </a:ext>
            </a:extLst>
          </p:cNvPr>
          <p:cNvSpPr/>
          <p:nvPr/>
        </p:nvSpPr>
        <p:spPr>
          <a:xfrm>
            <a:off x="6908800" y="2413000"/>
            <a:ext cx="127000" cy="127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DD27AD-C37A-4986-A70E-D080C1FF638C}"/>
              </a:ext>
            </a:extLst>
          </p:cNvPr>
          <p:cNvSpPr txBox="1"/>
          <p:nvPr/>
        </p:nvSpPr>
        <p:spPr>
          <a:xfrm>
            <a:off x="7137400" y="23622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ANTI-PATTERN</a:t>
            </a:r>
          </a:p>
        </p:txBody>
      </p:sp>
      <p:sp>
        <p:nvSpPr>
          <p:cNvPr id="23" name="_LayerHeadline">
            <a:extLst>
              <a:ext uri="{FF2B5EF4-FFF2-40B4-BE49-F238E27FC236}">
                <a16:creationId xmlns:a16="http://schemas.microsoft.com/office/drawing/2014/main" id="{72E8FA82-79FA-42C4-B14C-E5A58F3B6F09}"/>
              </a:ext>
            </a:extLst>
          </p:cNvPr>
          <p:cNvSpPr txBox="1"/>
          <p:nvPr/>
        </p:nvSpPr>
        <p:spPr>
          <a:xfrm>
            <a:off x="6908800" y="2844800"/>
            <a:ext cx="4470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Go-live is not the end-state.</a:t>
            </a:r>
          </a:p>
        </p:txBody>
      </p:sp>
      <p:sp>
        <p:nvSpPr>
          <p:cNvPr id="24" name="_LayerBody">
            <a:extLst>
              <a:ext uri="{FF2B5EF4-FFF2-40B4-BE49-F238E27FC236}">
                <a16:creationId xmlns:a16="http://schemas.microsoft.com/office/drawing/2014/main" id="{7641B2BE-9760-4BEF-AE87-E806AA62B1AA}"/>
              </a:ext>
            </a:extLst>
          </p:cNvPr>
          <p:cNvSpPr txBox="1"/>
          <p:nvPr/>
        </p:nvSpPr>
        <p:spPr>
          <a:xfrm>
            <a:off x="6908800" y="4165600"/>
            <a:ext cx="44704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4C4B8"/>
                </a:solidFill>
              </a:rPr>
              <a:t>Reference data treated as a one-time go-live event. Once a structure exists in PROD only, every future test against it is theatre.</a:t>
            </a:r>
          </a:p>
        </p:txBody>
      </p:sp>
      <p:pic>
        <p:nvPicPr>
          <p:cNvPr id="25" name="Picture 24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03FE5D16-1D57-038E-56FE-728B86FB0A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8"/>
          <a:stretch>
            <a:fillRect/>
          </a:stretch>
        </p:blipFill>
        <p:spPr>
          <a:xfrm>
            <a:off x="10770317" y="359030"/>
            <a:ext cx="950657" cy="88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68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62D39EC-DF4B-4CB6-B348-08DCD35E7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018" y="405826"/>
            <a:ext cx="5692830" cy="5943458"/>
          </a:xfrm>
          <a:prstGeom prst="rect">
            <a:avLst/>
          </a:prstGeom>
        </p:spPr>
      </p:pic>
      <p:pic>
        <p:nvPicPr>
          <p:cNvPr id="2" name="Picture 1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A20CCC2D-88DA-D63C-2AA1-EFC803F828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8"/>
          <a:stretch>
            <a:fillRect/>
          </a:stretch>
        </p:blipFill>
        <p:spPr>
          <a:xfrm>
            <a:off x="10770317" y="359030"/>
            <a:ext cx="950657" cy="88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49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1A299-CDC5-5FE1-A8E7-EE43D95C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Layer 4 of 5: Master &amp; operational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4E10A6-3713-436E-9899-DD0F3D324B8E}"/>
              </a:ext>
            </a:extLst>
          </p:cNvPr>
          <p:cNvSpPr/>
          <p:nvPr/>
        </p:nvSpPr>
        <p:spPr>
          <a:xfrm>
            <a:off x="41148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37F43D-C3C7-4F8F-A3A4-FC6C26AA7D63}"/>
              </a:ext>
            </a:extLst>
          </p:cNvPr>
          <p:cNvSpPr/>
          <p:nvPr/>
        </p:nvSpPr>
        <p:spPr>
          <a:xfrm>
            <a:off x="49276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EADEB8-5431-4035-BFBE-4400116D6DD0}"/>
              </a:ext>
            </a:extLst>
          </p:cNvPr>
          <p:cNvSpPr/>
          <p:nvPr/>
        </p:nvSpPr>
        <p:spPr>
          <a:xfrm>
            <a:off x="57404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B717F5-FD48-4142-94DD-44634BC3900D}"/>
              </a:ext>
            </a:extLst>
          </p:cNvPr>
          <p:cNvSpPr/>
          <p:nvPr/>
        </p:nvSpPr>
        <p:spPr>
          <a:xfrm>
            <a:off x="6553200" y="1295400"/>
            <a:ext cx="711200" cy="101600"/>
          </a:xfrm>
          <a:prstGeom prst="roundRect">
            <a:avLst/>
          </a:prstGeom>
          <a:solidFill>
            <a:srgbClr val="B748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290517-A00B-4B92-A17C-C7A3B4BD3929}"/>
              </a:ext>
            </a:extLst>
          </p:cNvPr>
          <p:cNvSpPr/>
          <p:nvPr/>
        </p:nvSpPr>
        <p:spPr>
          <a:xfrm>
            <a:off x="73660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9FB4D7-F4C9-48E2-968E-666835C84B15}"/>
              </a:ext>
            </a:extLst>
          </p:cNvPr>
          <p:cNvSpPr txBox="1"/>
          <p:nvPr/>
        </p:nvSpPr>
        <p:spPr>
          <a:xfrm>
            <a:off x="41148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1C93B-F4BC-41AA-AB6C-4AE0691C2FB1}"/>
              </a:ext>
            </a:extLst>
          </p:cNvPr>
          <p:cNvSpPr txBox="1"/>
          <p:nvPr/>
        </p:nvSpPr>
        <p:spPr>
          <a:xfrm>
            <a:off x="49276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33E264-D4BD-4AFF-A312-D6BEF2DA3BD3}"/>
              </a:ext>
            </a:extLst>
          </p:cNvPr>
          <p:cNvSpPr txBox="1"/>
          <p:nvPr/>
        </p:nvSpPr>
        <p:spPr>
          <a:xfrm>
            <a:off x="57404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BFF0E-E92C-46F6-A358-160C4E1A5C48}"/>
              </a:ext>
            </a:extLst>
          </p:cNvPr>
          <p:cNvSpPr txBox="1"/>
          <p:nvPr/>
        </p:nvSpPr>
        <p:spPr>
          <a:xfrm>
            <a:off x="65532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B74817"/>
                </a:solidFill>
                <a:latin typeface="Open Sans"/>
                <a:ea typeface="Open Sans"/>
                <a:cs typeface="Open Sans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492002-F6DC-433A-A902-EBCD21EC0C2E}"/>
              </a:ext>
            </a:extLst>
          </p:cNvPr>
          <p:cNvSpPr txBox="1"/>
          <p:nvPr/>
        </p:nvSpPr>
        <p:spPr>
          <a:xfrm>
            <a:off x="73660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623277-8762-481F-BBDC-61B7E967BF75}"/>
              </a:ext>
            </a:extLst>
          </p:cNvPr>
          <p:cNvSpPr txBox="1"/>
          <p:nvPr/>
        </p:nvSpPr>
        <p:spPr>
          <a:xfrm>
            <a:off x="762000" y="1651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5A5048"/>
                </a:solidFill>
                <a:latin typeface="Open Sans"/>
                <a:ea typeface="Open Sans"/>
                <a:cs typeface="Open Sans"/>
              </a:rPr>
              <a:t>Not normally versioned — but refreshes from PROD silently rewrite layers 2 and 3.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C10D13-A7F2-4A20-BC78-72B0549EC246}"/>
              </a:ext>
            </a:extLst>
          </p:cNvPr>
          <p:cNvSpPr/>
          <p:nvPr/>
        </p:nvSpPr>
        <p:spPr>
          <a:xfrm>
            <a:off x="508000" y="2133600"/>
            <a:ext cx="5842000" cy="3683000"/>
          </a:xfrm>
          <a:prstGeom prst="rect">
            <a:avLst/>
          </a:prstGeom>
          <a:solidFill>
            <a:srgbClr val="F7F2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E6297D-64C1-4B73-A27C-15CF66F8FD59}"/>
              </a:ext>
            </a:extLst>
          </p:cNvPr>
          <p:cNvSpPr/>
          <p:nvPr/>
        </p:nvSpPr>
        <p:spPr>
          <a:xfrm>
            <a:off x="508000" y="2133600"/>
            <a:ext cx="76200" cy="3683000"/>
          </a:xfrm>
          <a:prstGeom prst="rect">
            <a:avLst/>
          </a:prstGeom>
          <a:solidFill>
            <a:srgbClr val="B748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8EC120-287F-4B6C-B2B2-3C17A3DA130B}"/>
              </a:ext>
            </a:extLst>
          </p:cNvPr>
          <p:cNvSpPr txBox="1"/>
          <p:nvPr/>
        </p:nvSpPr>
        <p:spPr>
          <a:xfrm>
            <a:off x="812800" y="23622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B74817"/>
                </a:solidFill>
                <a:latin typeface="Open Sans"/>
                <a:ea typeface="Open Sans"/>
                <a:cs typeface="Open Sans"/>
              </a:rPr>
              <a:t>WHAT'S IN THIS LAYER</a:t>
            </a:r>
          </a:p>
        </p:txBody>
      </p:sp>
      <p:sp>
        <p:nvSpPr>
          <p:cNvPr id="19" name="_LayerBullets">
            <a:extLst>
              <a:ext uri="{FF2B5EF4-FFF2-40B4-BE49-F238E27FC236}">
                <a16:creationId xmlns:a16="http://schemas.microsoft.com/office/drawing/2014/main" id="{AFDA59E8-815D-4FCE-A5E2-CB0738A34417}"/>
              </a:ext>
            </a:extLst>
          </p:cNvPr>
          <p:cNvSpPr txBox="1"/>
          <p:nvPr/>
        </p:nvSpPr>
        <p:spPr>
          <a:xfrm>
            <a:off x="812800" y="2844800"/>
            <a:ext cx="5334000" cy="279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28600" indent="-228600">
              <a:lnSpc>
                <a:spcPts val="2200"/>
              </a:lnSpc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0E2841"/>
                </a:solidFill>
              </a:rPr>
              <a:t>Customer, vendor, item, employee records</a:t>
            </a:r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0E2841"/>
                </a:solidFill>
              </a:rPr>
              <a:t>Transactions, ledger postings, inventory movements</a:t>
            </a:r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0E2841"/>
                </a:solidFill>
              </a:rPr>
              <a:t>Moved through database refreshes (PROD → UAT)</a:t>
            </a:r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0E2841"/>
                </a:solidFill>
              </a:rPr>
              <a:t>Backup, restore, and Microsoft database movement tooling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9A5B98-F016-4AA9-B8D7-87962EE0F6B8}"/>
              </a:ext>
            </a:extLst>
          </p:cNvPr>
          <p:cNvSpPr/>
          <p:nvPr/>
        </p:nvSpPr>
        <p:spPr>
          <a:xfrm>
            <a:off x="6604000" y="2133600"/>
            <a:ext cx="5080000" cy="3683000"/>
          </a:xfrm>
          <a:prstGeom prst="rect">
            <a:avLst/>
          </a:prstGeom>
          <a:solidFill>
            <a:srgbClr val="2B14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1803C55-45EA-4ED8-8209-BFF95012F315}"/>
              </a:ext>
            </a:extLst>
          </p:cNvPr>
          <p:cNvSpPr/>
          <p:nvPr/>
        </p:nvSpPr>
        <p:spPr>
          <a:xfrm>
            <a:off x="6908800" y="2413000"/>
            <a:ext cx="127000" cy="127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0D958D-07B3-4680-92A8-2E7E843B3024}"/>
              </a:ext>
            </a:extLst>
          </p:cNvPr>
          <p:cNvSpPr txBox="1"/>
          <p:nvPr/>
        </p:nvSpPr>
        <p:spPr>
          <a:xfrm>
            <a:off x="7137400" y="23622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ANTI-PATTERN</a:t>
            </a:r>
          </a:p>
        </p:txBody>
      </p:sp>
      <p:sp>
        <p:nvSpPr>
          <p:cNvPr id="23" name="_LayerHeadline">
            <a:extLst>
              <a:ext uri="{FF2B5EF4-FFF2-40B4-BE49-F238E27FC236}">
                <a16:creationId xmlns:a16="http://schemas.microsoft.com/office/drawing/2014/main" id="{5C057B10-1371-4D74-BB00-5268E1F1FFC7}"/>
              </a:ext>
            </a:extLst>
          </p:cNvPr>
          <p:cNvSpPr txBox="1"/>
          <p:nvPr/>
        </p:nvSpPr>
        <p:spPr>
          <a:xfrm>
            <a:off x="6908800" y="2844800"/>
            <a:ext cx="4470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A refresh is a config event.</a:t>
            </a:r>
          </a:p>
        </p:txBody>
      </p:sp>
      <p:sp>
        <p:nvSpPr>
          <p:cNvPr id="24" name="_LayerBody">
            <a:extLst>
              <a:ext uri="{FF2B5EF4-FFF2-40B4-BE49-F238E27FC236}">
                <a16:creationId xmlns:a16="http://schemas.microsoft.com/office/drawing/2014/main" id="{D3491176-E390-4CE4-9256-87BE895A3EBB}"/>
              </a:ext>
            </a:extLst>
          </p:cNvPr>
          <p:cNvSpPr txBox="1"/>
          <p:nvPr/>
        </p:nvSpPr>
        <p:spPr>
          <a:xfrm>
            <a:off x="6908800" y="4165600"/>
            <a:ext cx="44704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4C4B8"/>
                </a:solidFill>
              </a:rPr>
              <a:t>Database refreshes treated as risk-free. A refresh is a configuration event, not just a data event — your repo and the refreshed environment now disagree.</a:t>
            </a:r>
          </a:p>
        </p:txBody>
      </p:sp>
      <p:pic>
        <p:nvPicPr>
          <p:cNvPr id="25" name="Picture 24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78B09CFA-30A7-B58D-BC38-9155E3EF9D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8"/>
          <a:stretch>
            <a:fillRect/>
          </a:stretch>
        </p:blipFill>
        <p:spPr>
          <a:xfrm>
            <a:off x="10770317" y="359030"/>
            <a:ext cx="950657" cy="88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99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7353FB3-A422-845A-346D-7A1504432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700" y="1742731"/>
            <a:ext cx="11382375" cy="3631300"/>
          </a:xfrm>
          <a:prstGeom prst="rect">
            <a:avLst/>
          </a:prstGeom>
        </p:spPr>
      </p:pic>
      <p:pic>
        <p:nvPicPr>
          <p:cNvPr id="2" name="Picture 1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96EF0500-038E-1948-CD4C-56845BA70B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8"/>
          <a:stretch>
            <a:fillRect/>
          </a:stretch>
        </p:blipFill>
        <p:spPr>
          <a:xfrm>
            <a:off x="10770317" y="359030"/>
            <a:ext cx="950657" cy="88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72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CD97E-120A-9C14-2293-36C6B5C0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 5 of 5: Environment state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BDA439-40F7-4B7A-B033-1B1E19BE5A28}"/>
              </a:ext>
            </a:extLst>
          </p:cNvPr>
          <p:cNvSpPr/>
          <p:nvPr/>
        </p:nvSpPr>
        <p:spPr>
          <a:xfrm>
            <a:off x="41148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8E0981-8056-4EC8-ADBF-2E40C69DD400}"/>
              </a:ext>
            </a:extLst>
          </p:cNvPr>
          <p:cNvSpPr/>
          <p:nvPr/>
        </p:nvSpPr>
        <p:spPr>
          <a:xfrm>
            <a:off x="49276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60DB50-397A-49B1-83EF-D1F2A6509D82}"/>
              </a:ext>
            </a:extLst>
          </p:cNvPr>
          <p:cNvSpPr/>
          <p:nvPr/>
        </p:nvSpPr>
        <p:spPr>
          <a:xfrm>
            <a:off x="57404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1040AE-12F0-4922-8079-07446C12767B}"/>
              </a:ext>
            </a:extLst>
          </p:cNvPr>
          <p:cNvSpPr/>
          <p:nvPr/>
        </p:nvSpPr>
        <p:spPr>
          <a:xfrm>
            <a:off x="6553200" y="1295400"/>
            <a:ext cx="711200" cy="1016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BAAC18-B78F-45D9-90F4-CD1DD43B5A18}"/>
              </a:ext>
            </a:extLst>
          </p:cNvPr>
          <p:cNvSpPr/>
          <p:nvPr/>
        </p:nvSpPr>
        <p:spPr>
          <a:xfrm>
            <a:off x="7366000" y="1295400"/>
            <a:ext cx="711200" cy="101600"/>
          </a:xfrm>
          <a:prstGeom prst="roundRect">
            <a:avLst/>
          </a:prstGeom>
          <a:solidFill>
            <a:srgbClr val="A63D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D32453-328A-4E99-B87A-513268A0D9FC}"/>
              </a:ext>
            </a:extLst>
          </p:cNvPr>
          <p:cNvSpPr txBox="1"/>
          <p:nvPr/>
        </p:nvSpPr>
        <p:spPr>
          <a:xfrm>
            <a:off x="41148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1532C7-A1AD-47E0-A2C1-CEC8845D9556}"/>
              </a:ext>
            </a:extLst>
          </p:cNvPr>
          <p:cNvSpPr txBox="1"/>
          <p:nvPr/>
        </p:nvSpPr>
        <p:spPr>
          <a:xfrm>
            <a:off x="49276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710587-869A-45E5-90EA-2ACCCA5E9D93}"/>
              </a:ext>
            </a:extLst>
          </p:cNvPr>
          <p:cNvSpPr txBox="1"/>
          <p:nvPr/>
        </p:nvSpPr>
        <p:spPr>
          <a:xfrm>
            <a:off x="57404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1A6E35-F2DA-4342-8F8F-669897CC884F}"/>
              </a:ext>
            </a:extLst>
          </p:cNvPr>
          <p:cNvSpPr txBox="1"/>
          <p:nvPr/>
        </p:nvSpPr>
        <p:spPr>
          <a:xfrm>
            <a:off x="65532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9E948A"/>
                </a:solidFill>
                <a:latin typeface="Open Sans"/>
                <a:ea typeface="Open Sans"/>
                <a:cs typeface="Open Sans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238B36-3580-4488-9ECB-DB591AF3B05F}"/>
              </a:ext>
            </a:extLst>
          </p:cNvPr>
          <p:cNvSpPr txBox="1"/>
          <p:nvPr/>
        </p:nvSpPr>
        <p:spPr>
          <a:xfrm>
            <a:off x="7366000" y="1066800"/>
            <a:ext cx="711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A63D10"/>
                </a:solidFill>
                <a:latin typeface="Open Sans"/>
                <a:ea typeface="Open Sans"/>
                <a:cs typeface="Open Sans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A68DDD-FF60-4C11-8346-3B1D538BDE49}"/>
              </a:ext>
            </a:extLst>
          </p:cNvPr>
          <p:cNvSpPr txBox="1"/>
          <p:nvPr/>
        </p:nvSpPr>
        <p:spPr>
          <a:xfrm>
            <a:off x="762000" y="1651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5A5048"/>
                </a:solidFill>
                <a:latin typeface="Open Sans"/>
                <a:ea typeface="Open Sans"/>
                <a:cs typeface="Open Sans"/>
              </a:rPr>
              <a:t>Doesn't fit anywhere else — and almost never gets versioned.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2EB6EC-EC52-4F1E-A4D9-6A50A1011BB1}"/>
              </a:ext>
            </a:extLst>
          </p:cNvPr>
          <p:cNvSpPr/>
          <p:nvPr/>
        </p:nvSpPr>
        <p:spPr>
          <a:xfrm>
            <a:off x="508000" y="2133600"/>
            <a:ext cx="5842000" cy="3683000"/>
          </a:xfrm>
          <a:prstGeom prst="rect">
            <a:avLst/>
          </a:prstGeom>
          <a:solidFill>
            <a:srgbClr val="F7F2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4213F3-7DAA-49D2-A934-5C893159A2A3}"/>
              </a:ext>
            </a:extLst>
          </p:cNvPr>
          <p:cNvSpPr/>
          <p:nvPr/>
        </p:nvSpPr>
        <p:spPr>
          <a:xfrm>
            <a:off x="508000" y="2133600"/>
            <a:ext cx="76200" cy="3683000"/>
          </a:xfrm>
          <a:prstGeom prst="rect">
            <a:avLst/>
          </a:prstGeom>
          <a:solidFill>
            <a:srgbClr val="A63D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42CF0-66FD-45A9-B812-5BF18C81E849}"/>
              </a:ext>
            </a:extLst>
          </p:cNvPr>
          <p:cNvSpPr txBox="1"/>
          <p:nvPr/>
        </p:nvSpPr>
        <p:spPr>
          <a:xfrm>
            <a:off x="812800" y="23622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A63D10"/>
                </a:solidFill>
                <a:latin typeface="Open Sans"/>
                <a:ea typeface="Open Sans"/>
                <a:cs typeface="Open Sans"/>
              </a:rPr>
              <a:t>WHAT'S IN THIS LAYER</a:t>
            </a:r>
          </a:p>
        </p:txBody>
      </p:sp>
      <p:sp>
        <p:nvSpPr>
          <p:cNvPr id="20" name="_LayerBullets">
            <a:extLst>
              <a:ext uri="{FF2B5EF4-FFF2-40B4-BE49-F238E27FC236}">
                <a16:creationId xmlns:a16="http://schemas.microsoft.com/office/drawing/2014/main" id="{989476E9-696A-41BB-A71C-56157F1EF811}"/>
              </a:ext>
            </a:extLst>
          </p:cNvPr>
          <p:cNvSpPr txBox="1"/>
          <p:nvPr/>
        </p:nvSpPr>
        <p:spPr>
          <a:xfrm>
            <a:off x="812800" y="2844800"/>
            <a:ext cx="5334000" cy="279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Feature management toggles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Batch job schedules and statuses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Integration endpoints and connection strings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Service accounts and certificates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0E2841"/>
                </a:solidFill>
              </a:rPr>
              <a:t>Security role assignments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DE91B2-717D-4AA0-A845-90096E4AAB25}"/>
              </a:ext>
            </a:extLst>
          </p:cNvPr>
          <p:cNvSpPr/>
          <p:nvPr/>
        </p:nvSpPr>
        <p:spPr>
          <a:xfrm>
            <a:off x="6604000" y="2133600"/>
            <a:ext cx="5080000" cy="3683000"/>
          </a:xfrm>
          <a:prstGeom prst="rect">
            <a:avLst/>
          </a:prstGeom>
          <a:solidFill>
            <a:srgbClr val="2B14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09D2ED-174F-40E3-AD88-EBF61B782001}"/>
              </a:ext>
            </a:extLst>
          </p:cNvPr>
          <p:cNvSpPr/>
          <p:nvPr/>
        </p:nvSpPr>
        <p:spPr>
          <a:xfrm>
            <a:off x="6908800" y="2413000"/>
            <a:ext cx="127000" cy="127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66ED89-762D-4975-9821-1CA51BAD1310}"/>
              </a:ext>
            </a:extLst>
          </p:cNvPr>
          <p:cNvSpPr txBox="1"/>
          <p:nvPr/>
        </p:nvSpPr>
        <p:spPr>
          <a:xfrm>
            <a:off x="7137400" y="23622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ANTI-PATTERN</a:t>
            </a:r>
          </a:p>
        </p:txBody>
      </p:sp>
      <p:sp>
        <p:nvSpPr>
          <p:cNvPr id="24" name="_LayerHeadline">
            <a:extLst>
              <a:ext uri="{FF2B5EF4-FFF2-40B4-BE49-F238E27FC236}">
                <a16:creationId xmlns:a16="http://schemas.microsoft.com/office/drawing/2014/main" id="{8D58CEC1-3EAC-4973-8AA9-61780256D2FC}"/>
              </a:ext>
            </a:extLst>
          </p:cNvPr>
          <p:cNvSpPr txBox="1"/>
          <p:nvPr/>
        </p:nvSpPr>
        <p:spPr>
          <a:xfrm>
            <a:off x="6908800" y="2844800"/>
            <a:ext cx="4470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toggle is a fork.</a:t>
            </a:r>
          </a:p>
        </p:txBody>
      </p:sp>
      <p:sp>
        <p:nvSpPr>
          <p:cNvPr id="25" name="_LayerBody">
            <a:extLst>
              <a:ext uri="{FF2B5EF4-FFF2-40B4-BE49-F238E27FC236}">
                <a16:creationId xmlns:a16="http://schemas.microsoft.com/office/drawing/2014/main" id="{32B81E4C-D309-43C0-8CC3-26CB446D9AC1}"/>
              </a:ext>
            </a:extLst>
          </p:cNvPr>
          <p:cNvSpPr txBox="1"/>
          <p:nvPr/>
        </p:nvSpPr>
        <p:spPr>
          <a:xfrm>
            <a:off x="6908800" y="4165600"/>
            <a:ext cx="44704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4C4B8"/>
                </a:solidFill>
              </a:rPr>
              <a:t>Feature management toggles flipped per-environment with no central inventory. Every toggle is a behavioral fork.</a:t>
            </a:r>
          </a:p>
        </p:txBody>
      </p:sp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41611092-D4A3-ADC5-6E18-59D7DFF42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33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10AA77-B557-A784-FA61-71CDBFB7E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649" y="937933"/>
            <a:ext cx="11325035" cy="4562867"/>
          </a:xfrm>
          <a:prstGeom prst="rect">
            <a:avLst/>
          </a:prstGeom>
        </p:spPr>
      </p:pic>
      <p:pic>
        <p:nvPicPr>
          <p:cNvPr id="9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4AC0DE33-28DB-788D-D5E5-0EC3822918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73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9E7DF-D030-EF56-0B58-FD9EE9D00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1004" y="1357313"/>
            <a:ext cx="2267767" cy="4402137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4D38544E-CD02-7FEA-562C-DC0A42540A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94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0036-37D5-30D4-6A54-BF77DBAE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C30631-91F4-0C11-D528-BFC12D2C6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95300" y="217822"/>
            <a:ext cx="13182600" cy="25589760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E15A9731-73F9-615D-EEED-7982A3C56B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56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00A7-C37A-AC1B-32FC-884067B7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ED8D08-ADB6-97D1-FB8B-D93CB88F8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95300" y="-5554328"/>
            <a:ext cx="13182600" cy="25589760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9057CBE5-A066-F348-FC4B-E36A94CDED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56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5035-C284-54C3-5AC0-CBE683D5A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EAF804-C116-1AF8-F984-6510FAFC9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95300" y="-11547577"/>
            <a:ext cx="13182600" cy="25589760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0FB8DDF8-E2DF-D637-0E52-DCC66333E3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27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B1B0-0492-8297-86BE-88640CEF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1FFBE0-5650-74CF-88C1-D53ACC4C6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95300" y="-17862180"/>
            <a:ext cx="13182600" cy="25589760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B9240A2E-2434-D0C8-D6E4-B08BD32D44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0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1C3F-AD3C-0176-5427-F8C07930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B8FD9A-18ED-00CD-B94A-D6402C5DC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95300" y="-20485301"/>
            <a:ext cx="13182600" cy="25589760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CDA0AA24-3197-BFB7-4743-6F4CEE58B4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28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5B51F-E6C4-F19C-B2BC-538CE81D0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80A16F-4F74-6CE3-BC9C-D305E0D11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1004" y="1357313"/>
            <a:ext cx="2267767" cy="4402137"/>
          </a:xfrm>
          <a:prstGeom prst="rect">
            <a:avLst/>
          </a:prstGeom>
        </p:spPr>
      </p:pic>
      <p:pic>
        <p:nvPicPr>
          <p:cNvPr id="3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3F1F6864-4035-9223-CE19-F8D6782B5D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91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9F231F-7E2C-946D-F4E7-B4BBD5AD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Score yourself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0F47C-CBFA-47FA-9FF3-6BB582869B78}"/>
              </a:ext>
            </a:extLst>
          </p:cNvPr>
          <p:cNvSpPr txBox="1"/>
          <p:nvPr/>
        </p:nvSpPr>
        <p:spPr>
          <a:xfrm>
            <a:off x="508000" y="1549400"/>
            <a:ext cx="5842000" cy="304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F8ECE-9C0F-4C5D-B36F-2CBFD33F61CE}"/>
              </a:ext>
            </a:extLst>
          </p:cNvPr>
          <p:cNvSpPr txBox="1"/>
          <p:nvPr/>
        </p:nvSpPr>
        <p:spPr>
          <a:xfrm>
            <a:off x="508000" y="1879600"/>
            <a:ext cx="5842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0E2841"/>
                </a:solidFill>
                <a:latin typeface="Open Sans"/>
                <a:ea typeface="Open Sans"/>
                <a:cs typeface="Open Sans"/>
              </a:rPr>
              <a:t>In source control, tagged, built by a pipeline?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B64439-6B1D-4440-B6ED-A9D36154DF3F}"/>
              </a:ext>
            </a:extLst>
          </p:cNvPr>
          <p:cNvSpPr/>
          <p:nvPr/>
        </p:nvSpPr>
        <p:spPr>
          <a:xfrm>
            <a:off x="6731000" y="1790700"/>
            <a:ext cx="406400" cy="1778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1AB23B-A4E8-45DB-973C-062A29EC4E6C}"/>
              </a:ext>
            </a:extLst>
          </p:cNvPr>
          <p:cNvSpPr/>
          <p:nvPr/>
        </p:nvSpPr>
        <p:spPr>
          <a:xfrm>
            <a:off x="7226300" y="1790700"/>
            <a:ext cx="406400" cy="1778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50E2C2-5795-4439-89B2-5D3D8A6EDA36}"/>
              </a:ext>
            </a:extLst>
          </p:cNvPr>
          <p:cNvSpPr/>
          <p:nvPr/>
        </p:nvSpPr>
        <p:spPr>
          <a:xfrm>
            <a:off x="7721600" y="1790700"/>
            <a:ext cx="406400" cy="1778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4E240D-0077-45FB-8A29-7ECC151F38D3}"/>
              </a:ext>
            </a:extLst>
          </p:cNvPr>
          <p:cNvSpPr/>
          <p:nvPr/>
        </p:nvSpPr>
        <p:spPr>
          <a:xfrm>
            <a:off x="8216900" y="1790700"/>
            <a:ext cx="406400" cy="1778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15E93C-DCEA-4AA9-AAB3-1560E746BC8B}"/>
              </a:ext>
            </a:extLst>
          </p:cNvPr>
          <p:cNvSpPr/>
          <p:nvPr/>
        </p:nvSpPr>
        <p:spPr>
          <a:xfrm>
            <a:off x="8712200" y="1790700"/>
            <a:ext cx="406400" cy="1778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E4135-C304-4666-B4A5-B02180C5E925}"/>
              </a:ext>
            </a:extLst>
          </p:cNvPr>
          <p:cNvSpPr txBox="1"/>
          <p:nvPr/>
        </p:nvSpPr>
        <p:spPr>
          <a:xfrm>
            <a:off x="9525000" y="1765300"/>
            <a:ext cx="2286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E97132"/>
                </a:solidFill>
                <a:latin typeface="Open Sans"/>
                <a:ea typeface="Open Sans"/>
                <a:cs typeface="Open Sans"/>
              </a:rPr>
              <a:t>Almost everyone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8ABD6C-A6C9-4438-8F49-43A02FF7D9E0}"/>
              </a:ext>
            </a:extLst>
          </p:cNvPr>
          <p:cNvSpPr txBox="1"/>
          <p:nvPr/>
        </p:nvSpPr>
        <p:spPr>
          <a:xfrm>
            <a:off x="508000" y="2413000"/>
            <a:ext cx="5842000" cy="304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D96026"/>
                </a:solidFill>
                <a:latin typeface="Open Sans"/>
                <a:ea typeface="Open Sans"/>
                <a:cs typeface="Open Sans"/>
              </a:rPr>
              <a:t>Configuration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3454C-AC19-427E-AD95-DC80438BAF02}"/>
              </a:ext>
            </a:extLst>
          </p:cNvPr>
          <p:cNvSpPr txBox="1"/>
          <p:nvPr/>
        </p:nvSpPr>
        <p:spPr>
          <a:xfrm>
            <a:off x="508000" y="2743200"/>
            <a:ext cx="5842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0E2841"/>
                </a:solidFill>
                <a:latin typeface="Open Sans"/>
                <a:ea typeface="Open Sans"/>
                <a:cs typeface="Open Sans"/>
              </a:rPr>
              <a:t>Configuration Data Project exported on a schedule? Or system-based workflow?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235924-D8E5-43CA-AB63-761B4BFDC0A3}"/>
              </a:ext>
            </a:extLst>
          </p:cNvPr>
          <p:cNvSpPr/>
          <p:nvPr/>
        </p:nvSpPr>
        <p:spPr>
          <a:xfrm>
            <a:off x="6731000" y="2654300"/>
            <a:ext cx="406400" cy="177800"/>
          </a:xfrm>
          <a:prstGeom prst="roundRect">
            <a:avLst/>
          </a:prstGeom>
          <a:solidFill>
            <a:srgbClr val="D960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2C02BE-57C4-4DAC-8BC2-53908D73B3BB}"/>
              </a:ext>
            </a:extLst>
          </p:cNvPr>
          <p:cNvSpPr/>
          <p:nvPr/>
        </p:nvSpPr>
        <p:spPr>
          <a:xfrm>
            <a:off x="7226300" y="2654300"/>
            <a:ext cx="406400" cy="177800"/>
          </a:xfrm>
          <a:prstGeom prst="roundRect">
            <a:avLst/>
          </a:prstGeom>
          <a:solidFill>
            <a:srgbClr val="D960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F5871B-ECC3-40A7-9138-BD4DACABE578}"/>
              </a:ext>
            </a:extLst>
          </p:cNvPr>
          <p:cNvSpPr/>
          <p:nvPr/>
        </p:nvSpPr>
        <p:spPr>
          <a:xfrm>
            <a:off x="7721600" y="2654300"/>
            <a:ext cx="406400" cy="177800"/>
          </a:xfrm>
          <a:prstGeom prst="roundRect">
            <a:avLst/>
          </a:prstGeom>
          <a:solidFill>
            <a:srgbClr val="D960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0E397E2-222A-43A8-BED4-254BE8A31F59}"/>
              </a:ext>
            </a:extLst>
          </p:cNvPr>
          <p:cNvSpPr/>
          <p:nvPr/>
        </p:nvSpPr>
        <p:spPr>
          <a:xfrm>
            <a:off x="8216900" y="26543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196F683-9A5F-486B-B820-7295E92F6F52}"/>
              </a:ext>
            </a:extLst>
          </p:cNvPr>
          <p:cNvSpPr/>
          <p:nvPr/>
        </p:nvSpPr>
        <p:spPr>
          <a:xfrm>
            <a:off x="8712200" y="26543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1E2F7E-237B-41DC-9B77-2061091FB125}"/>
              </a:ext>
            </a:extLst>
          </p:cNvPr>
          <p:cNvSpPr txBox="1"/>
          <p:nvPr/>
        </p:nvSpPr>
        <p:spPr>
          <a:xfrm>
            <a:off x="9525000" y="2628900"/>
            <a:ext cx="2286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D96026"/>
                </a:solidFill>
                <a:latin typeface="Open Sans"/>
                <a:ea typeface="Open Sans"/>
                <a:cs typeface="Open Sans"/>
              </a:rPr>
              <a:t>A lot fewer hands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046616-5631-427B-8673-7033614830EC}"/>
              </a:ext>
            </a:extLst>
          </p:cNvPr>
          <p:cNvSpPr txBox="1"/>
          <p:nvPr/>
        </p:nvSpPr>
        <p:spPr>
          <a:xfrm>
            <a:off x="508000" y="3276600"/>
            <a:ext cx="5842000" cy="304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C8541E"/>
                </a:solidFill>
                <a:latin typeface="Open Sans"/>
                <a:ea typeface="Open Sans"/>
                <a:cs typeface="Open Sans"/>
              </a:rPr>
              <a:t>Reference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D368CB-41EB-4466-BCB6-822C05B3C08F}"/>
              </a:ext>
            </a:extLst>
          </p:cNvPr>
          <p:cNvSpPr txBox="1"/>
          <p:nvPr/>
        </p:nvSpPr>
        <p:spPr>
          <a:xfrm>
            <a:off x="508000" y="3606800"/>
            <a:ext cx="5842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0E2841"/>
                </a:solidFill>
                <a:latin typeface="Open Sans"/>
                <a:ea typeface="Open Sans"/>
                <a:cs typeface="Open Sans"/>
              </a:rPr>
              <a:t>Idempotent loads in source control?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DAE969C-67CE-4F4D-8668-330FF58C3FC9}"/>
              </a:ext>
            </a:extLst>
          </p:cNvPr>
          <p:cNvSpPr/>
          <p:nvPr/>
        </p:nvSpPr>
        <p:spPr>
          <a:xfrm>
            <a:off x="6731000" y="3517900"/>
            <a:ext cx="406400" cy="177800"/>
          </a:xfrm>
          <a:prstGeom prst="roundRect">
            <a:avLst/>
          </a:prstGeom>
          <a:solidFill>
            <a:srgbClr val="C854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E33A2B8-98C4-4CB4-8BF5-E46D649E66A2}"/>
              </a:ext>
            </a:extLst>
          </p:cNvPr>
          <p:cNvSpPr/>
          <p:nvPr/>
        </p:nvSpPr>
        <p:spPr>
          <a:xfrm>
            <a:off x="7226300" y="3517900"/>
            <a:ext cx="406400" cy="177800"/>
          </a:xfrm>
          <a:prstGeom prst="roundRect">
            <a:avLst/>
          </a:prstGeom>
          <a:solidFill>
            <a:srgbClr val="C854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E5A6F54-B2EA-4E50-BCF7-0B0C5B4DEB92}"/>
              </a:ext>
            </a:extLst>
          </p:cNvPr>
          <p:cNvSpPr/>
          <p:nvPr/>
        </p:nvSpPr>
        <p:spPr>
          <a:xfrm>
            <a:off x="7721600" y="35179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5289F9D-9337-4EF7-97F2-882C1C0283D2}"/>
              </a:ext>
            </a:extLst>
          </p:cNvPr>
          <p:cNvSpPr/>
          <p:nvPr/>
        </p:nvSpPr>
        <p:spPr>
          <a:xfrm>
            <a:off x="8216900" y="35179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1725CC5-F873-4BF2-992E-51D595CB3972}"/>
              </a:ext>
            </a:extLst>
          </p:cNvPr>
          <p:cNvSpPr/>
          <p:nvPr/>
        </p:nvSpPr>
        <p:spPr>
          <a:xfrm>
            <a:off x="8712200" y="35179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108A0B-EC34-4880-B338-B8EFB42FEAD9}"/>
              </a:ext>
            </a:extLst>
          </p:cNvPr>
          <p:cNvSpPr txBox="1"/>
          <p:nvPr/>
        </p:nvSpPr>
        <p:spPr>
          <a:xfrm>
            <a:off x="9525000" y="3492500"/>
            <a:ext cx="2286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C8541E"/>
                </a:solidFill>
                <a:latin typeface="Open Sans"/>
                <a:ea typeface="Open Sans"/>
                <a:cs typeface="Open Sans"/>
              </a:rPr>
              <a:t>Even fewer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6CE18C-666A-47CF-B5EE-22D2F743E8E5}"/>
              </a:ext>
            </a:extLst>
          </p:cNvPr>
          <p:cNvSpPr txBox="1"/>
          <p:nvPr/>
        </p:nvSpPr>
        <p:spPr>
          <a:xfrm>
            <a:off x="508000" y="4140200"/>
            <a:ext cx="5842000" cy="304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B74817"/>
                </a:solidFill>
                <a:latin typeface="Open Sans"/>
                <a:ea typeface="Open Sans"/>
                <a:cs typeface="Open Sans"/>
              </a:rPr>
              <a:t>Master/operational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D64C4A-F396-4E37-A835-BA2739046C7F}"/>
              </a:ext>
            </a:extLst>
          </p:cNvPr>
          <p:cNvSpPr txBox="1"/>
          <p:nvPr/>
        </p:nvSpPr>
        <p:spPr>
          <a:xfrm>
            <a:off x="508000" y="4470400"/>
            <a:ext cx="5842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0E2841"/>
                </a:solidFill>
                <a:latin typeface="Open Sans"/>
                <a:ea typeface="Open Sans"/>
                <a:cs typeface="Open Sans"/>
              </a:rPr>
              <a:t>Refresh process documented and automated?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ABAD28F-658B-4B0C-8C41-CB45FD85DF0D}"/>
              </a:ext>
            </a:extLst>
          </p:cNvPr>
          <p:cNvSpPr/>
          <p:nvPr/>
        </p:nvSpPr>
        <p:spPr>
          <a:xfrm>
            <a:off x="6731000" y="4381500"/>
            <a:ext cx="406400" cy="177800"/>
          </a:xfrm>
          <a:prstGeom prst="roundRect">
            <a:avLst/>
          </a:prstGeom>
          <a:solidFill>
            <a:srgbClr val="B748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9564296-F761-4C8F-B9E6-7CAD84950DE2}"/>
              </a:ext>
            </a:extLst>
          </p:cNvPr>
          <p:cNvSpPr/>
          <p:nvPr/>
        </p:nvSpPr>
        <p:spPr>
          <a:xfrm>
            <a:off x="7226300" y="4381500"/>
            <a:ext cx="406400" cy="177800"/>
          </a:xfrm>
          <a:prstGeom prst="roundRect">
            <a:avLst/>
          </a:prstGeom>
          <a:solidFill>
            <a:srgbClr val="B748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27EE74B-E023-4E70-848B-06733C2CF6FC}"/>
              </a:ext>
            </a:extLst>
          </p:cNvPr>
          <p:cNvSpPr/>
          <p:nvPr/>
        </p:nvSpPr>
        <p:spPr>
          <a:xfrm>
            <a:off x="7721600" y="43815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081F566-54B6-4409-8858-889FC467C852}"/>
              </a:ext>
            </a:extLst>
          </p:cNvPr>
          <p:cNvSpPr/>
          <p:nvPr/>
        </p:nvSpPr>
        <p:spPr>
          <a:xfrm>
            <a:off x="8216900" y="43815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91A8726-AA54-4B5A-A680-90A6C865DDDF}"/>
              </a:ext>
            </a:extLst>
          </p:cNvPr>
          <p:cNvSpPr/>
          <p:nvPr/>
        </p:nvSpPr>
        <p:spPr>
          <a:xfrm>
            <a:off x="8712200" y="43815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1F0A0E-F1F9-42F3-B663-B6821A30FFF0}"/>
              </a:ext>
            </a:extLst>
          </p:cNvPr>
          <p:cNvSpPr txBox="1"/>
          <p:nvPr/>
        </p:nvSpPr>
        <p:spPr>
          <a:xfrm>
            <a:off x="9525000" y="4356100"/>
            <a:ext cx="2286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B74817"/>
                </a:solidFill>
                <a:latin typeface="Open Sans"/>
                <a:ea typeface="Open Sans"/>
                <a:cs typeface="Open Sans"/>
              </a:rPr>
              <a:t>Mixed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E454E8-2507-4AB8-88DF-E845A7A51FA7}"/>
              </a:ext>
            </a:extLst>
          </p:cNvPr>
          <p:cNvSpPr txBox="1"/>
          <p:nvPr/>
        </p:nvSpPr>
        <p:spPr>
          <a:xfrm>
            <a:off x="508000" y="5003800"/>
            <a:ext cx="5842000" cy="304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A63D10"/>
                </a:solidFill>
                <a:latin typeface="Open Sans"/>
                <a:ea typeface="Open Sans"/>
                <a:cs typeface="Open Sans"/>
              </a:rPr>
              <a:t>Environment state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9452E9-C2F2-4BDE-A6DB-FAD30FD9192F}"/>
              </a:ext>
            </a:extLst>
          </p:cNvPr>
          <p:cNvSpPr txBox="1"/>
          <p:nvPr/>
        </p:nvSpPr>
        <p:spPr>
          <a:xfrm>
            <a:off x="508000" y="5334000"/>
            <a:ext cx="5842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0E2841"/>
                </a:solidFill>
                <a:latin typeface="Open Sans"/>
                <a:ea typeface="Open Sans"/>
                <a:cs typeface="Open Sans"/>
              </a:rPr>
              <a:t>Inventory of toggles, batch jobs, endpoints?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B1E88FC-5025-4CB3-914B-7AD4E6731B47}"/>
              </a:ext>
            </a:extLst>
          </p:cNvPr>
          <p:cNvSpPr/>
          <p:nvPr/>
        </p:nvSpPr>
        <p:spPr>
          <a:xfrm>
            <a:off x="6731000" y="5245100"/>
            <a:ext cx="406400" cy="177800"/>
          </a:xfrm>
          <a:prstGeom prst="roundRect">
            <a:avLst/>
          </a:prstGeom>
          <a:solidFill>
            <a:srgbClr val="A63D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7C682BA-3C60-4D97-A21E-E0B1B908DD32}"/>
              </a:ext>
            </a:extLst>
          </p:cNvPr>
          <p:cNvSpPr/>
          <p:nvPr/>
        </p:nvSpPr>
        <p:spPr>
          <a:xfrm>
            <a:off x="7226300" y="52451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A06E09B-F4B5-468F-A169-8D29AF881B64}"/>
              </a:ext>
            </a:extLst>
          </p:cNvPr>
          <p:cNvSpPr/>
          <p:nvPr/>
        </p:nvSpPr>
        <p:spPr>
          <a:xfrm>
            <a:off x="7721600" y="52451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DF65DD2-61C9-4E88-B8D2-4C2FD705C3E8}"/>
              </a:ext>
            </a:extLst>
          </p:cNvPr>
          <p:cNvSpPr/>
          <p:nvPr/>
        </p:nvSpPr>
        <p:spPr>
          <a:xfrm>
            <a:off x="8216900" y="52451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54975F5-5948-4503-B745-916BC9985B2E}"/>
              </a:ext>
            </a:extLst>
          </p:cNvPr>
          <p:cNvSpPr/>
          <p:nvPr/>
        </p:nvSpPr>
        <p:spPr>
          <a:xfrm>
            <a:off x="8712200" y="5245100"/>
            <a:ext cx="406400" cy="177800"/>
          </a:xfrm>
          <a:prstGeom prst="roundRect">
            <a:avLst/>
          </a:prstGeom>
          <a:solidFill>
            <a:srgbClr val="E0D8C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517F4C-44C8-4405-BB77-3D4C295EF7DF}"/>
              </a:ext>
            </a:extLst>
          </p:cNvPr>
          <p:cNvSpPr txBox="1"/>
          <p:nvPr/>
        </p:nvSpPr>
        <p:spPr>
          <a:xfrm>
            <a:off x="9525000" y="5219700"/>
            <a:ext cx="2286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A63D10"/>
                </a:solidFill>
                <a:latin typeface="Open Sans"/>
                <a:ea typeface="Open Sans"/>
                <a:cs typeface="Open Sans"/>
              </a:rPr>
              <a:t>Maybe one or two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0A2379-C4A0-4CAB-AEFF-9B9159F4EB9F}"/>
              </a:ext>
            </a:extLst>
          </p:cNvPr>
          <p:cNvSpPr txBox="1"/>
          <p:nvPr/>
        </p:nvSpPr>
        <p:spPr>
          <a:xfrm>
            <a:off x="6731000" y="1244600"/>
            <a:ext cx="2540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6B6056"/>
                </a:solidFill>
                <a:latin typeface="Open Sans"/>
                <a:ea typeface="Open Sans"/>
                <a:cs typeface="Open Sans"/>
              </a:rPr>
              <a:t>HANDS UP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65D392-D29C-446E-99B2-17DD99D5E4F4}"/>
              </a:ext>
            </a:extLst>
          </p:cNvPr>
          <p:cNvSpPr txBox="1"/>
          <p:nvPr/>
        </p:nvSpPr>
        <p:spPr>
          <a:xfrm>
            <a:off x="508000" y="1244600"/>
            <a:ext cx="5842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6B6056"/>
                </a:solidFill>
                <a:latin typeface="Open Sans"/>
                <a:ea typeface="Open Sans"/>
                <a:cs typeface="Open Sans"/>
              </a:rPr>
              <a:t>ARE YOU DOING THIS?</a:t>
            </a:r>
          </a:p>
        </p:txBody>
      </p:sp>
      <p:pic>
        <p:nvPicPr>
          <p:cNvPr id="46" name="Picture 4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C3F1E084-8290-B82B-4037-A30E74BE4A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8"/>
          <a:stretch>
            <a:fillRect/>
          </a:stretch>
        </p:blipFill>
        <p:spPr>
          <a:xfrm>
            <a:off x="10770317" y="359030"/>
            <a:ext cx="950657" cy="88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75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FF8B-55DB-4D46-D224-43529D59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“We version our solution”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76583-FC0B-09FE-0162-8F72AEAA1F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IT SOUNDS LIKE</a:t>
            </a:r>
          </a:p>
          <a:p>
            <a:pPr>
              <a:buNone/>
            </a:pPr>
            <a:endParaRPr lang="en-US" sz="300"/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Reproducibility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Rollback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Traceability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At the solution level</a:t>
            </a:r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400" i="1" dirty="0"/>
              <a:t>Partial versioning is not safety. It is the appearance of safety.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09453-E01E-C345-F3C6-42EB8E8323B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IT USUALLY MEANS</a:t>
            </a:r>
          </a:p>
          <a:p>
            <a:pPr>
              <a:buNone/>
            </a:pPr>
            <a:endParaRPr lang="en-US" sz="300"/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We tagged the X++ repo on release day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That's it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A fraction of one layer</a:t>
            </a:r>
          </a:p>
        </p:txBody>
      </p:sp>
      <p:pic>
        <p:nvPicPr>
          <p:cNvPr id="7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1536A84C-3FB9-94B7-9679-DAFBFAE09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39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AEB79C-5496-600C-D64D-C5D34AAAD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i="1" dirty="0"/>
              <a:t>Same code. Different environments. Different behavior.</a:t>
            </a:r>
          </a:p>
          <a:p>
            <a:pPr>
              <a:buNone/>
            </a:pPr>
            <a:endParaRPr lang="en-US" sz="5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DEV  </a:t>
            </a:r>
            <a:r>
              <a:rPr lang="en-US" sz="1500" b="1" dirty="0"/>
              <a:t>Tier-1 cloud-hosted developer box</a:t>
            </a:r>
          </a:p>
          <a:p>
            <a:pPr marL="0" indent="0">
              <a:buNone/>
            </a:pPr>
            <a:r>
              <a:rPr lang="en-US" sz="1400" dirty="0"/>
              <a:t>Different sizing · Mixed local + service settings · Personal feature toggles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UAT  </a:t>
            </a:r>
            <a:r>
              <a:rPr lang="en-US" sz="1500" b="1" dirty="0"/>
              <a:t>Tier-2 sandbox</a:t>
            </a:r>
          </a:p>
          <a:p>
            <a:pPr marL="0" indent="0">
              <a:buNone/>
            </a:pPr>
            <a:r>
              <a:rPr lang="en-US" sz="1400" dirty="0"/>
              <a:t>Test integrations · Refreshed periodically from PROD · Selective feature toggles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PROD  </a:t>
            </a:r>
            <a:r>
              <a:rPr lang="en-US" sz="1500" b="1" dirty="0"/>
              <a:t>Production</a:t>
            </a:r>
          </a:p>
          <a:p>
            <a:pPr marL="0" indent="0">
              <a:buNone/>
            </a:pPr>
            <a:r>
              <a:rPr lang="en-US" sz="1400" dirty="0"/>
              <a:t>Live integrations · Microsoft release-wave toggles · Real batch volume</a:t>
            </a:r>
          </a:p>
          <a:p>
            <a:pPr>
              <a:buNone/>
            </a:pPr>
            <a:endParaRPr lang="en-US" sz="500"/>
          </a:p>
          <a:p>
            <a:pPr>
              <a:buNone/>
            </a:pPr>
            <a:r>
              <a:rPr lang="en-US" sz="1400" i="1" dirty="0"/>
              <a:t>If you've ever had a defect that reproduced in UAT but not DEV — that's this gap in your defect log.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55CBFA-E0C4-A7DD-DF94-AA967111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 ≠ UAT ≠ PROD</a:t>
            </a:r>
          </a:p>
        </p:txBody>
      </p:sp>
      <p:pic>
        <p:nvPicPr>
          <p:cNvPr id="5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CF3421B9-A27A-7D47-2142-22D2DD6EC7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59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9E9A-D8A1-0BB8-A80D-8C5B5BFD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2800" b="1" dirty="0"/>
              <a:t>Tribal knowledge is a dependency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38561-0209-9B31-D1EA-0D30F55CB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500" i="1" dirty="0"/>
              <a:t>“Sarah will know how that's configured.”  ·  “We need to ask Mike before we change that.”  ·  “Whatever Anita set up at go-live is still there.”</a:t>
            </a:r>
          </a:p>
          <a:p>
            <a:pPr>
              <a:buNone/>
            </a:pPr>
            <a:endParaRPr lang="en-US" sz="400"/>
          </a:p>
          <a:p>
            <a:pPr algn="ctr">
              <a:buNone/>
            </a:pPr>
            <a:r>
              <a:rPr lang="en-US" sz="1500" b="1" dirty="0"/>
              <a:t>Names are a brittle storage format. Heroes scale badly. Systems scale well.</a:t>
            </a:r>
          </a:p>
        </p:txBody>
      </p:sp>
      <p:pic>
        <p:nvPicPr>
          <p:cNvPr id="5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25FF4DCC-B90B-85CE-D853-2D295A49AB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29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A718CC-A9E3-3E5D-F2C5-449B6785C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Hotfix that never flows back</a:t>
            </a:r>
            <a:r>
              <a:rPr lang="en-US" sz="1400" dirty="0"/>
              <a:t>  —  Lower environments quietly become non-representative.</a:t>
            </a:r>
          </a:p>
          <a:p>
            <a:pPr>
              <a:buNone/>
            </a:pPr>
            <a:endParaRPr lang="en-US" sz="30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Configuration documented in Word</a:t>
            </a:r>
            <a:r>
              <a:rPr lang="en-US" sz="1400" dirty="0"/>
              <a:t>  —  Documents do not deploy. Documents do not detect drift.</a:t>
            </a:r>
          </a:p>
          <a:p>
            <a:pPr>
              <a:buNone/>
            </a:pPr>
            <a:endParaRPr lang="en-US" sz="30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Reference data seeded once</a:t>
            </a:r>
            <a:r>
              <a:rPr lang="en-US" sz="1400" dirty="0"/>
              <a:t>  —  Updated by hand thereafter. Drift is silent and permanent.</a:t>
            </a:r>
          </a:p>
          <a:p>
            <a:pPr>
              <a:buNone/>
            </a:pPr>
            <a:endParaRPr lang="en-US" sz="30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Toggles flipped per environment</a:t>
            </a:r>
            <a:r>
              <a:rPr lang="en-US" sz="1400" dirty="0"/>
              <a:t>  —  No central inventory. Every toggle is a behavioral fork.</a:t>
            </a:r>
          </a:p>
          <a:p>
            <a:pPr>
              <a:buNone/>
            </a:pPr>
            <a:endParaRPr lang="en-US" sz="30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Batch job tuning lives in PROD</a:t>
            </a:r>
            <a:r>
              <a:rPr lang="en-US" sz="1400" dirty="0"/>
              <a:t>  —  Schedules and parameters captured nowhere.</a:t>
            </a:r>
          </a:p>
          <a:p>
            <a:pPr>
              <a:buNone/>
            </a:pPr>
            <a:endParaRPr lang="en-US" sz="30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Workflow approvers as data</a:t>
            </a:r>
            <a:r>
              <a:rPr lang="en-US" sz="1400" dirty="0"/>
              <a:t>  —  Treated as configuration only when something breaks.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00C3D6-431B-E05F-D6FC-C0E2DCF1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Six failure modes worth saying out loud</a:t>
            </a:r>
          </a:p>
        </p:txBody>
      </p:sp>
      <p:pic>
        <p:nvPicPr>
          <p:cNvPr id="5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CBDA0EF8-42FB-3928-F0E4-08C9145FE9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9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93DBC8-E710-825A-26E8-DFBFF3144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i="1" dirty="0"/>
              <a:t>From diagnosis to prescription</a:t>
            </a:r>
          </a:p>
          <a:p>
            <a:pPr>
              <a:buNone/>
            </a:pPr>
            <a:endParaRPr lang="en-US" sz="5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01  </a:t>
            </a:r>
            <a:r>
              <a:rPr lang="en-US" sz="1700" b="1" dirty="0"/>
              <a:t>Configuration as code</a:t>
            </a:r>
            <a:r>
              <a:rPr lang="en-US" sz="1500" dirty="0"/>
              <a:t>  —  Source-control your Configuration Data Project exports.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02  </a:t>
            </a:r>
            <a:r>
              <a:rPr lang="en-US" sz="1700" b="1" dirty="0"/>
              <a:t>Reference data as code</a:t>
            </a:r>
            <a:r>
              <a:rPr lang="en-US" sz="1500" dirty="0"/>
              <a:t>  —  Idempotent, environment-aware loads.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03  </a:t>
            </a:r>
            <a:r>
              <a:rPr lang="en-US" sz="1700" b="1" dirty="0"/>
              <a:t>Declarative environments</a:t>
            </a:r>
            <a:r>
              <a:rPr lang="en-US" sz="1500" dirty="0"/>
              <a:t>  —  Rebuild from a manifest, on demand.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04  </a:t>
            </a:r>
            <a:r>
              <a:rPr lang="en-US" sz="1700" b="1" dirty="0"/>
              <a:t>Journal every PROD edit</a:t>
            </a:r>
            <a:r>
              <a:rPr lang="en-US" sz="1500" dirty="0"/>
              <a:t>  —  Capture intent, not just the change.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05  </a:t>
            </a:r>
            <a:r>
              <a:rPr lang="en-US" sz="1700" b="1" dirty="0"/>
              <a:t>The manifest of truth</a:t>
            </a:r>
            <a:r>
              <a:rPr lang="en-US" sz="1500" dirty="0"/>
              <a:t>  —  One artifact, five jobs.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A5EC4F-2D2E-2FE4-3CE2-F2D8A25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Five principles for versioning everything</a:t>
            </a:r>
          </a:p>
        </p:txBody>
      </p:sp>
      <p:pic>
        <p:nvPicPr>
          <p:cNvPr id="5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FF03E724-988B-3FD1-7507-3B6BB6B5AE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793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C68E-C6F9-C91D-0570-580A9769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Principle 1: Configuration as 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74FC0-FB71-08E2-BC3E-C080E744DA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i="1" dirty="0"/>
              <a:t>Export your Configuration Data Project. Source-control it. Schedule it.</a:t>
            </a:r>
          </a:p>
          <a:p>
            <a:pPr>
              <a:buNone/>
            </a:pPr>
            <a:endParaRPr lang="en-US" sz="400"/>
          </a:p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IT WORKS</a:t>
            </a:r>
          </a:p>
          <a:p>
            <a:pPr>
              <a:buNone/>
            </a:pPr>
            <a:endParaRPr lang="en-US" sz="300"/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Run the Configuration Data Project export against a known-good environment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Commit the export to source control — daily is better than weekly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Use the same artifact to seed UAT, replay PROD, and diff drift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B03EC-5161-B552-840D-D48E3F7E47B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IT MATTERS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dirty="0"/>
              <a:t>Once configuration lives in source control, you get every tool source control gives you for code: history, blame, diffs, and automatic detection of “somebody changed something.”</a:t>
            </a:r>
          </a:p>
        </p:txBody>
      </p:sp>
    </p:spTree>
    <p:extLst>
      <p:ext uri="{BB962C8B-B14F-4D97-AF65-F5344CB8AC3E}">
        <p14:creationId xmlns:p14="http://schemas.microsoft.com/office/powerpoint/2010/main" val="1660553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3878-EC9B-4CC3-9944-C34A9F47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Principle 2: Reference data as 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B5466-0BBC-0CD9-5F6B-7DD6EE02EF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i="1" dirty="0"/>
              <a:t>Files in the repo. Idempotent loads. Environment-aware.</a:t>
            </a:r>
          </a:p>
          <a:p>
            <a:pPr>
              <a:buNone/>
            </a:pPr>
            <a:endParaRPr lang="en-US" sz="400"/>
          </a:p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IT WORKS</a:t>
            </a:r>
          </a:p>
          <a:p>
            <a:pPr>
              <a:buNone/>
            </a:pPr>
            <a:endParaRPr lang="en-US" sz="300"/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Reference data lives in the repo as structured files (CSV, package, or DMF project)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Loads are idempotent — safe to re-run on a partially-loaded environment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Loaders accept an environment target so DEV/UAT/PROD seed correctly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9324B-379B-8510-4A6A-0CF6019C7F1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IT MATTERS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dirty="0"/>
              <a:t>‘Idempotent’ is what makes reference-data-as-code actually safe. You can converge on the desired state from any starting state — same job seeds new environments and reconciles drift in old ones.</a:t>
            </a:r>
          </a:p>
        </p:txBody>
      </p:sp>
    </p:spTree>
    <p:extLst>
      <p:ext uri="{BB962C8B-B14F-4D97-AF65-F5344CB8AC3E}">
        <p14:creationId xmlns:p14="http://schemas.microsoft.com/office/powerpoint/2010/main" val="4185237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5C997-0F32-BD01-AEFC-4FA8CF45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Principle 3: Declarative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1E657-E841-849A-3DAA-96999B6288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i="1" dirty="0"/>
              <a:t>If you cannot rebuild it from a manifest, you do not own it.</a:t>
            </a:r>
          </a:p>
          <a:p>
            <a:pPr>
              <a:buNone/>
            </a:pPr>
            <a:endParaRPr lang="en-US" sz="400"/>
          </a:p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IT WORKS</a:t>
            </a:r>
          </a:p>
          <a:p>
            <a:pPr>
              <a:buNone/>
            </a:pPr>
            <a:endParaRPr lang="en-US" sz="300"/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Each environment has a description in the repo: code version, config version, reference data set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The manifest also names: feature toggles, batch jobs, integration endpoints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Rebuild process consumes the manifest and produces a like-for-like environment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77D2D-28E6-A2AE-72C5-FA1E2E9074B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IT MATTERS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dirty="0"/>
              <a:t>The manifest is the input to two automated jobs: the rebuild, and the drift check. If both are wired up, you have a real versioning system. If neither is, you have a wiki page.</a:t>
            </a:r>
          </a:p>
        </p:txBody>
      </p:sp>
    </p:spTree>
    <p:extLst>
      <p:ext uri="{BB962C8B-B14F-4D97-AF65-F5344CB8AC3E}">
        <p14:creationId xmlns:p14="http://schemas.microsoft.com/office/powerpoint/2010/main" val="3739404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803F-2D3B-679A-4C8A-273BF3B4C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Principle 4: Journal every PROD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BA1DE-B5CD-C14D-B0DB-A5928E530A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400" i="1" dirty="0"/>
              <a:t>If you must edit PROD, journal it. Every. Single. Time.</a:t>
            </a:r>
          </a:p>
          <a:p>
            <a:pPr>
              <a:buNone/>
            </a:pPr>
            <a:endParaRPr lang="en-US" sz="400"/>
          </a:p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IT WORKS</a:t>
            </a:r>
          </a:p>
          <a:p>
            <a:pPr>
              <a:buNone/>
            </a:pPr>
            <a:endParaRPr lang="en-US" sz="300"/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 row per change: timestamp, user, what changed, why, and rollback path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Even a shared OneNote works — perfect tooling is not the goal, capture is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The platform audit log catches the change. The journal captures the intent.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73141-DE6E-9F4E-2BC6-01A0B31E729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IT MATTERS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dirty="0"/>
              <a:t>The journal lets you start measuring how often you edit PROD outside a release. That measurement is the first step to editing it less.</a:t>
            </a:r>
          </a:p>
        </p:txBody>
      </p:sp>
    </p:spTree>
    <p:extLst>
      <p:ext uri="{BB962C8B-B14F-4D97-AF65-F5344CB8AC3E}">
        <p14:creationId xmlns:p14="http://schemas.microsoft.com/office/powerpoint/2010/main" val="1353082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CDD4E8-A619-794D-745B-BB46BBF5D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MANIFEST of truth</a:t>
            </a:r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700" b="1" dirty="0"/>
              <a:t>Rebuild</a:t>
            </a:r>
            <a:r>
              <a:rPr lang="en-US" sz="1500" dirty="0"/>
              <a:t>  —  Recreate the environment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/>
              <a:t>Drift check</a:t>
            </a:r>
            <a:r>
              <a:rPr lang="en-US" sz="1500" dirty="0"/>
              <a:t>  —  Detect what changed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/>
              <a:t>Audit</a:t>
            </a:r>
            <a:r>
              <a:rPr lang="en-US" sz="1500" dirty="0"/>
              <a:t>  —  Answer the auditor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/>
              <a:t>Onboarding</a:t>
            </a:r>
            <a:r>
              <a:rPr lang="en-US" sz="1500" dirty="0"/>
              <a:t>  —  Brief a new team member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/>
              <a:t>Honest release notes</a:t>
            </a:r>
            <a:r>
              <a:rPr lang="en-US" sz="1500" dirty="0"/>
              <a:t>  —  Not fiction, fact</a:t>
            </a:r>
          </a:p>
          <a:p>
            <a:pPr>
              <a:buNone/>
            </a:pPr>
            <a:endParaRPr lang="en-US" sz="700"/>
          </a:p>
          <a:p>
            <a:pPr algn="ctr">
              <a:buNone/>
            </a:pPr>
            <a:r>
              <a:rPr lang="en-US" sz="1500" b="1" i="1" dirty="0"/>
              <a:t>One artifact. Five jobs. Stays current because everyone needs it to.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4DF238-7919-BE54-3381-9E14595C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 5: The manifest of truth</a:t>
            </a:r>
          </a:p>
        </p:txBody>
      </p:sp>
    </p:spTree>
    <p:extLst>
      <p:ext uri="{BB962C8B-B14F-4D97-AF65-F5344CB8AC3E}">
        <p14:creationId xmlns:p14="http://schemas.microsoft.com/office/powerpoint/2010/main" val="40267020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B23DA0-2F30-0834-191C-5147045DA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i="1" dirty="0"/>
              <a:t>Find your team</a:t>
            </a:r>
          </a:p>
          <a:p>
            <a:pPr>
              <a:buNone/>
            </a:pPr>
            <a:endParaRPr lang="en-US" sz="5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L0  </a:t>
            </a:r>
            <a:r>
              <a:rPr lang="en-US" sz="1500" b="1" dirty="0"/>
              <a:t>Code repo tagged</a:t>
            </a:r>
            <a:r>
              <a:rPr lang="en-US" sz="1400" dirty="0"/>
              <a:t>  —  Nothing else captured. Most teams when honest.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L1  </a:t>
            </a:r>
            <a:r>
              <a:rPr lang="en-US" sz="1500" b="1" dirty="0"/>
              <a:t>Plus occasional config exports</a:t>
            </a:r>
            <a:r>
              <a:rPr lang="en-US" sz="1400" dirty="0"/>
              <a:t>  —  Better than nothing. Not yet a system.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L2  </a:t>
            </a:r>
            <a:r>
              <a:rPr lang="en-US" sz="1500" b="1" dirty="0"/>
              <a:t>Plus automated config + reference data</a:t>
            </a:r>
            <a:r>
              <a:rPr lang="en-US" sz="1400" dirty="0"/>
              <a:t>  —  Source-controlled. Realistic target for most projects.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L3  </a:t>
            </a:r>
            <a:r>
              <a:rPr lang="en-US" sz="1500" b="1" dirty="0"/>
              <a:t>Declarative environments</a:t>
            </a:r>
            <a:r>
              <a:rPr lang="en-US" sz="1400" dirty="0"/>
              <a:t>  —  Rebuild from manifest is rehearsed, not theoretical.</a:t>
            </a:r>
          </a:p>
          <a:p>
            <a:pPr>
              <a:buNone/>
            </a:pPr>
            <a:endParaRPr lang="en-US" sz="40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L4  </a:t>
            </a:r>
            <a:r>
              <a:rPr lang="en-US" sz="1500" b="1" dirty="0"/>
              <a:t>Continuous reconciliation</a:t>
            </a:r>
            <a:r>
              <a:rPr lang="en-US" sz="1400" dirty="0"/>
              <a:t>  —  Drift detected automatically, not discovered.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AAB837-39D3-6AA4-BEA5-F0A9078E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maturity ladder</a:t>
            </a:r>
          </a:p>
        </p:txBody>
      </p:sp>
      <p:pic>
        <p:nvPicPr>
          <p:cNvPr id="5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F99FE463-F810-4541-B7E6-DE27FB271F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59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0B37AB-9F9A-E9AC-FA7E-CF81B7A96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L0  →  L1  →  L2  →  L3  →  L4</a:t>
            </a:r>
          </a:p>
          <a:p>
            <a:pPr>
              <a:buNone/>
            </a:pPr>
            <a:endParaRPr lang="en-US" sz="400"/>
          </a:p>
          <a:p>
            <a:pPr algn="ctr">
              <a:buNone/>
            </a:pPr>
            <a:r>
              <a:rPr lang="en-US" sz="1500" dirty="0"/>
              <a:t>Code only  ·  Code + occasional  ·  Code + automated config + ref data  ·  Declarative  ·  Continuous</a:t>
            </a:r>
          </a:p>
          <a:p>
            <a:pPr>
              <a:buNone/>
            </a:pPr>
            <a:endParaRPr lang="en-US" sz="1000"/>
          </a:p>
          <a:p>
            <a:pPr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The meaningful jump</a:t>
            </a:r>
          </a:p>
          <a:p>
            <a:pPr>
              <a:buNone/>
            </a:pPr>
            <a:endParaRPr lang="en-US" sz="500"/>
          </a:p>
          <a:p>
            <a:pPr algn="ctr">
              <a:buNone/>
            </a:pPr>
            <a:r>
              <a:rPr lang="en-US" sz="1800" b="1" dirty="0"/>
              <a:t>Everything above L2 is refinement.</a:t>
            </a:r>
          </a:p>
          <a:p>
            <a:pPr algn="ctr">
              <a:buNone/>
            </a:pPr>
            <a:r>
              <a:rPr lang="en-US" sz="1800" b="1" dirty="0"/>
              <a:t>Everything below L2 is exposure.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5319B7-DA52-259F-165E-205979D5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L0 → L2 is the highest-leverage move</a:t>
            </a:r>
          </a:p>
        </p:txBody>
      </p:sp>
      <p:pic>
        <p:nvPicPr>
          <p:cNvPr id="4" name="Copied Picture 4" descr="A green sign with a star and arrow&#10;&#10;AI-generated content may be incorrect.">
            <a:extLst>
              <a:ext uri="{FF2B5EF4-FFF2-40B4-BE49-F238E27FC236}">
                <a16:creationId xmlns:a16="http://schemas.microsoft.com/office/drawing/2014/main" id="{03297768-02EB-19B7-911A-A7CCE8F8C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4445000"/>
            <a:ext cx="2032000" cy="2222500"/>
          </a:xfrm>
          <a:prstGeom prst="rect">
            <a:avLst/>
          </a:prstGeom>
        </p:spPr>
      </p:pic>
      <p:pic>
        <p:nvPicPr>
          <p:cNvPr id="6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8B074609-2C95-C4B1-39F5-4F4BCCDDB4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062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5003-4E01-D704-E1F5-C3B3C81E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3200" b="1" dirty="0"/>
              <a:t>Partial versioning is fake safety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16004-0EE8-EE13-1B74-99BA526B2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dirty="0"/>
              <a:t>The word ‘version’ implies reproducibility, rollback, and traceability. If only one of your five layers is versioned, you have none of those properties at the solution level.</a:t>
            </a:r>
          </a:p>
          <a:p>
            <a:pPr>
              <a:buNone/>
            </a:pPr>
            <a:endParaRPr lang="en-US" sz="500"/>
          </a:p>
          <a:p>
            <a:pPr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rest is hope. And hope is not a release strategy.</a:t>
            </a:r>
          </a:p>
        </p:txBody>
      </p:sp>
      <p:pic>
        <p:nvPicPr>
          <p:cNvPr id="5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9425B9BD-783F-CC04-7887-131A30E983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18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logo with palm trees&#10;&#10;AI-generated content may be incorrect.">
            <a:extLst>
              <a:ext uri="{FF2B5EF4-FFF2-40B4-BE49-F238E27FC236}">
                <a16:creationId xmlns:a16="http://schemas.microsoft.com/office/drawing/2014/main" id="{3F257177-A59C-35A6-C8EF-21000B914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306" y="2932099"/>
            <a:ext cx="3657600" cy="316611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1956CE-F8C8-5110-5118-113F88B26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  </a:t>
            </a:r>
            <a:r>
              <a:rPr lang="en-US" sz="1800" b="1" dirty="0"/>
              <a:t>Inventory your layers</a:t>
            </a:r>
          </a:p>
          <a:p>
            <a:pPr marL="0" indent="0">
              <a:buNone/>
            </a:pPr>
            <a:r>
              <a:rPr lang="en-US" sz="1500" dirty="0"/>
              <a:t>Spend an hour writing down what isn't in your repo. Five layers. List the gaps. That list is your roadmap.</a:t>
            </a:r>
          </a:p>
          <a:p>
            <a:pPr>
              <a:buNone/>
            </a:pPr>
            <a:endParaRPr lang="en-US" sz="50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  </a:t>
            </a:r>
            <a:r>
              <a:rPr lang="en-US" sz="1800" b="1" dirty="0"/>
              <a:t>Close one drift surface</a:t>
            </a:r>
          </a:p>
          <a:p>
            <a:pPr marL="0" indent="0">
              <a:buNone/>
            </a:pPr>
            <a:r>
              <a:rPr lang="en-US" sz="1500" dirty="0"/>
              <a:t>Pick the highest-leverage one — usually automating Configuration Data Project export. Just one. This week.</a:t>
            </a:r>
          </a:p>
          <a:p>
            <a:pPr>
              <a:buNone/>
            </a:pPr>
            <a:endParaRPr lang="en-US" sz="50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  </a:t>
            </a:r>
            <a:r>
              <a:rPr lang="en-US" sz="1800" b="1" dirty="0"/>
              <a:t>Stop the bleeding in PROD</a:t>
            </a:r>
          </a:p>
          <a:p>
            <a:pPr marL="0" indent="0">
              <a:buNone/>
            </a:pPr>
            <a:r>
              <a:rPr lang="en-US" sz="1500" dirty="0"/>
              <a:t>Establish a rule and a journal for any PROD change outside a release. OneNote is fine. Capture intent.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4E17A2-1483-A099-0CA7-1DBC1281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things to do Monday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040445-6810-BE63-95B8-524537CBF018}"/>
              </a:ext>
            </a:extLst>
          </p:cNvPr>
          <p:cNvGrpSpPr/>
          <p:nvPr/>
        </p:nvGrpSpPr>
        <p:grpSpPr>
          <a:xfrm>
            <a:off x="0" y="5612400"/>
            <a:ext cx="12071096" cy="2060448"/>
            <a:chOff x="-635000" y="4889500"/>
            <a:chExt cx="14418732" cy="2698750"/>
          </a:xfrm>
        </p:grpSpPr>
        <p:pic>
          <p:nvPicPr>
            <p:cNvPr id="4" name="Copied Picture 4" descr="A group of palm trees&#10;&#10;AI-generated content may be incorrect.">
              <a:extLst>
                <a:ext uri="{FF2B5EF4-FFF2-40B4-BE49-F238E27FC236}">
                  <a16:creationId xmlns:a16="http://schemas.microsoft.com/office/drawing/2014/main" id="{6DB8AE76-B117-FD2A-7C8A-479C721F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81001" y="4889500"/>
              <a:ext cx="3615267" cy="1162050"/>
            </a:xfrm>
            <a:prstGeom prst="rect">
              <a:avLst/>
            </a:prstGeom>
          </p:spPr>
        </p:pic>
        <p:pic>
          <p:nvPicPr>
            <p:cNvPr id="5" name="Copied Picture 5" descr="A group of palm trees&#10;&#10;AI-generated content may be incorrect.">
              <a:extLst>
                <a:ext uri="{FF2B5EF4-FFF2-40B4-BE49-F238E27FC236}">
                  <a16:creationId xmlns:a16="http://schemas.microsoft.com/office/drawing/2014/main" id="{6DB8AE76-B117-FD2A-7C8A-479C721F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99" y="4953000"/>
              <a:ext cx="3486151" cy="1097492"/>
            </a:xfrm>
            <a:prstGeom prst="rect">
              <a:avLst/>
            </a:prstGeom>
          </p:spPr>
        </p:pic>
        <p:pic>
          <p:nvPicPr>
            <p:cNvPr id="6" name="Copied Picture 6" descr="A group of palm trees&#10;&#10;AI-generated content may be incorrect.">
              <a:extLst>
                <a:ext uri="{FF2B5EF4-FFF2-40B4-BE49-F238E27FC236}">
                  <a16:creationId xmlns:a16="http://schemas.microsoft.com/office/drawing/2014/main" id="{6DB8AE76-B117-FD2A-7C8A-479C721F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0" y="4889500"/>
              <a:ext cx="3744382" cy="1226608"/>
            </a:xfrm>
            <a:prstGeom prst="rect">
              <a:avLst/>
            </a:prstGeom>
          </p:spPr>
        </p:pic>
        <p:pic>
          <p:nvPicPr>
            <p:cNvPr id="7" name="Copied Picture 7" descr="A group of palm trees&#10;&#10;AI-generated content may be incorrect.">
              <a:extLst>
                <a:ext uri="{FF2B5EF4-FFF2-40B4-BE49-F238E27FC236}">
                  <a16:creationId xmlns:a16="http://schemas.microsoft.com/office/drawing/2014/main" id="{6DB8AE76-B117-FD2A-7C8A-479C721F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7000" y="4952999"/>
              <a:ext cx="3615268" cy="1136227"/>
            </a:xfrm>
            <a:prstGeom prst="rect">
              <a:avLst/>
            </a:prstGeom>
          </p:spPr>
        </p:pic>
        <p:pic>
          <p:nvPicPr>
            <p:cNvPr id="8" name="Copied Picture 8" descr="A green palm tree on a black background&#10;&#10;AI-generated content may be incorrect.">
              <a:extLst>
                <a:ext uri="{FF2B5EF4-FFF2-40B4-BE49-F238E27FC236}">
                  <a16:creationId xmlns:a16="http://schemas.microsoft.com/office/drawing/2014/main" id="{8935AC9B-189F-D166-056A-650419C7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5999" y="5207000"/>
              <a:ext cx="1678517" cy="1484842"/>
            </a:xfrm>
            <a:prstGeom prst="rect">
              <a:avLst/>
            </a:prstGeom>
          </p:spPr>
        </p:pic>
        <p:pic>
          <p:nvPicPr>
            <p:cNvPr id="9" name="Copied Picture 9" descr="A green palm tree on a black background&#10;&#10;AI-generated content may be incorrect.">
              <a:extLst>
                <a:ext uri="{FF2B5EF4-FFF2-40B4-BE49-F238E27FC236}">
                  <a16:creationId xmlns:a16="http://schemas.microsoft.com/office/drawing/2014/main" id="{8935AC9B-189F-D166-056A-650419C7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0" y="5270499"/>
              <a:ext cx="1613958" cy="1420283"/>
            </a:xfrm>
            <a:prstGeom prst="rect">
              <a:avLst/>
            </a:prstGeom>
          </p:spPr>
        </p:pic>
        <p:pic>
          <p:nvPicPr>
            <p:cNvPr id="10" name="Copied Picture 10" descr="A green palm tree on a black background&#10;&#10;AI-generated content may be incorrect.">
              <a:extLst>
                <a:ext uri="{FF2B5EF4-FFF2-40B4-BE49-F238E27FC236}">
                  <a16:creationId xmlns:a16="http://schemas.microsoft.com/office/drawing/2014/main" id="{8935AC9B-189F-D166-056A-650419C7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8999" y="5232399"/>
              <a:ext cx="1743075" cy="1523577"/>
            </a:xfrm>
            <a:prstGeom prst="rect">
              <a:avLst/>
            </a:prstGeom>
          </p:spPr>
        </p:pic>
        <p:pic>
          <p:nvPicPr>
            <p:cNvPr id="11" name="Copied Picture 11" descr="A group of palm trees&#10;&#10;AI-generated content may be incorrect.">
              <a:extLst>
                <a:ext uri="{FF2B5EF4-FFF2-40B4-BE49-F238E27FC236}">
                  <a16:creationId xmlns:a16="http://schemas.microsoft.com/office/drawing/2014/main" id="{6DB8AE76-B117-FD2A-7C8A-479C721F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000" y="5207000"/>
              <a:ext cx="4389966" cy="1613958"/>
            </a:xfrm>
            <a:prstGeom prst="rect">
              <a:avLst/>
            </a:prstGeom>
          </p:spPr>
        </p:pic>
        <p:pic>
          <p:nvPicPr>
            <p:cNvPr id="12" name="Copied Picture 12" descr="A group of palm trees&#10;&#10;AI-generated content may be incorrect.">
              <a:extLst>
                <a:ext uri="{FF2B5EF4-FFF2-40B4-BE49-F238E27FC236}">
                  <a16:creationId xmlns:a16="http://schemas.microsoft.com/office/drawing/2014/main" id="{6DB8AE76-B117-FD2A-7C8A-479C721F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1000" y="5270500"/>
              <a:ext cx="4389966" cy="1613958"/>
            </a:xfrm>
            <a:prstGeom prst="rect">
              <a:avLst/>
            </a:prstGeom>
          </p:spPr>
        </p:pic>
        <p:pic>
          <p:nvPicPr>
            <p:cNvPr id="13" name="Copied Picture 13" descr="A group of palm trees&#10;&#10;AI-generated content may be incorrect.">
              <a:extLst>
                <a:ext uri="{FF2B5EF4-FFF2-40B4-BE49-F238E27FC236}">
                  <a16:creationId xmlns:a16="http://schemas.microsoft.com/office/drawing/2014/main" id="{6DB8AE76-B117-FD2A-7C8A-479C721F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7000" y="5206999"/>
              <a:ext cx="4519084" cy="1678517"/>
            </a:xfrm>
            <a:prstGeom prst="rect">
              <a:avLst/>
            </a:prstGeom>
          </p:spPr>
        </p:pic>
        <p:pic>
          <p:nvPicPr>
            <p:cNvPr id="14" name="Copied Picture 14" descr="A group of palm trees&#10;&#10;AI-generated content may be incorrect.">
              <a:extLst>
                <a:ext uri="{FF2B5EF4-FFF2-40B4-BE49-F238E27FC236}">
                  <a16:creationId xmlns:a16="http://schemas.microsoft.com/office/drawing/2014/main" id="{6DB8AE76-B117-FD2A-7C8A-479C721F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1999" y="5308600"/>
              <a:ext cx="4131733" cy="1549400"/>
            </a:xfrm>
            <a:prstGeom prst="rect">
              <a:avLst/>
            </a:prstGeom>
          </p:spPr>
        </p:pic>
        <p:pic>
          <p:nvPicPr>
            <p:cNvPr id="15" name="Copied Picture 15" descr="A green palm tree on a black background&#10;&#10;AI-generated content may be incorrect.">
              <a:extLst>
                <a:ext uri="{FF2B5EF4-FFF2-40B4-BE49-F238E27FC236}">
                  <a16:creationId xmlns:a16="http://schemas.microsoft.com/office/drawing/2014/main" id="{8935AC9B-189F-D166-056A-650419C7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000" y="5587999"/>
              <a:ext cx="2065866" cy="1807633"/>
            </a:xfrm>
            <a:prstGeom prst="rect">
              <a:avLst/>
            </a:prstGeom>
          </p:spPr>
        </p:pic>
        <p:pic>
          <p:nvPicPr>
            <p:cNvPr id="16" name="Copied Picture 16" descr="A green palm tree on a black background&#10;&#10;AI-generated content may be incorrect.">
              <a:extLst>
                <a:ext uri="{FF2B5EF4-FFF2-40B4-BE49-F238E27FC236}">
                  <a16:creationId xmlns:a16="http://schemas.microsoft.com/office/drawing/2014/main" id="{8935AC9B-189F-D166-056A-650419C7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5000" y="5715000"/>
              <a:ext cx="2194984" cy="1872192"/>
            </a:xfrm>
            <a:prstGeom prst="rect">
              <a:avLst/>
            </a:prstGeom>
          </p:spPr>
        </p:pic>
        <p:pic>
          <p:nvPicPr>
            <p:cNvPr id="17" name="Copied Picture 17" descr="A green palm tree on a black background&#10;&#10;AI-generated content may be incorrect.">
              <a:extLst>
                <a:ext uri="{FF2B5EF4-FFF2-40B4-BE49-F238E27FC236}">
                  <a16:creationId xmlns:a16="http://schemas.microsoft.com/office/drawing/2014/main" id="{8935AC9B-189F-D166-056A-650419C7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6000" y="5651500"/>
              <a:ext cx="2259542" cy="1936750"/>
            </a:xfrm>
            <a:prstGeom prst="rect">
              <a:avLst/>
            </a:prstGeom>
          </p:spPr>
        </p:pic>
      </p:grpSp>
      <p:pic>
        <p:nvPicPr>
          <p:cNvPr id="20" name="Picture 19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8B3D5B0E-91B2-45D5-26E2-9632136CF9E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368"/>
          <a:stretch>
            <a:fillRect/>
          </a:stretch>
        </p:blipFill>
        <p:spPr>
          <a:xfrm>
            <a:off x="10770317" y="359030"/>
            <a:ext cx="950657" cy="88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42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87F26D-F2B6-7654-778D-8B35B02A7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https://github.com/NathanClouseAX/PPACEnvironmentPrototyper</a:t>
            </a:r>
            <a:endParaRPr lang="en-US" dirty="0"/>
          </a:p>
          <a:p>
            <a:pPr lvl="1"/>
            <a:r>
              <a:rPr lang="en-US" dirty="0"/>
              <a:t>Create environments in PPAC, build a plan, execute the plan, call out differences against the plan</a:t>
            </a:r>
          </a:p>
          <a:p>
            <a:r>
              <a:rPr lang="en-US" dirty="0">
                <a:hlinkClick r:id="rId3"/>
              </a:rPr>
              <a:t>https://github.com/NathanClouseAX/EnvironmentDataLoader</a:t>
            </a:r>
            <a:endParaRPr lang="en-US" dirty="0"/>
          </a:p>
          <a:p>
            <a:pPr lvl="1"/>
            <a:r>
              <a:rPr lang="en-US" dirty="0"/>
              <a:t>Build DMF pipeline automations for PowerShell to get data in, out, add workflows around data,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833421-08F9-0630-8F24-8E237292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Shameless Plugs</a:t>
            </a:r>
          </a:p>
        </p:txBody>
      </p:sp>
      <p:pic>
        <p:nvPicPr>
          <p:cNvPr id="5" name="Copied Picture 5" descr="A pink and white chip with yellow letters&#10;&#10;AI-generated content may be incorrect.">
            <a:extLst>
              <a:ext uri="{FF2B5EF4-FFF2-40B4-BE49-F238E27FC236}">
                <a16:creationId xmlns:a16="http://schemas.microsoft.com/office/drawing/2014/main" id="{B32872FD-63E2-D673-C5DD-6080C172C6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0" y="317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45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F806-A01F-E970-D464-C5F6B24B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4E216-2B7F-9417-7059-7A6FA667D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b="1" dirty="0"/>
              <a:t>Pushback welcome.</a:t>
            </a:r>
          </a:p>
          <a:p>
            <a:pPr algn="ctr">
              <a:buNone/>
            </a:pPr>
            <a:r>
              <a:rPr lang="en-US" sz="2000" b="1" dirty="0"/>
              <a:t>War stories more so.</a:t>
            </a:r>
          </a:p>
          <a:p>
            <a:pPr>
              <a:buNone/>
            </a:pPr>
            <a:endParaRPr lang="en-US" sz="600"/>
          </a:p>
          <a:p>
            <a:pPr algn="ctr">
              <a:buNone/>
            </a:pPr>
            <a:r>
              <a:rPr lang="en-US" sz="1600" i="1" dirty="0">
                <a:solidFill>
                  <a:schemeClr val="accent1"/>
                </a:solidFill>
              </a:rPr>
              <a:t>Thank you.</a:t>
            </a:r>
          </a:p>
        </p:txBody>
      </p:sp>
      <p:pic>
        <p:nvPicPr>
          <p:cNvPr id="4" name="Copied Picture 4" descr="A cartoon of a bird wearing a coat and sunglasses&#10;&#10;AI-generated content may be incorrect.">
            <a:extLst>
              <a:ext uri="{FF2B5EF4-FFF2-40B4-BE49-F238E27FC236}">
                <a16:creationId xmlns:a16="http://schemas.microsoft.com/office/drawing/2014/main" id="{D3B6371E-8AD9-7A5E-8328-93BE712DAC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440" y="4320032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99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0F13-1D91-599D-19C5-64DACAB6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/ Questionnaires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B5B3A-B2C2-E542-7111-5EB467CF9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60EF58-3517-43E8-BA2E-C6EF186E148A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3f79295f-79d7-42f3-87b5-16f5c56b688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A75DAF83DD3048B0119C871633221C" ma:contentTypeVersion="12" ma:contentTypeDescription="Create a new document." ma:contentTypeScope="" ma:versionID="fcd10c647554057a0b8234d361ec565b">
  <xsd:schema xmlns:xsd="http://www.w3.org/2001/XMLSchema" xmlns:xs="http://www.w3.org/2001/XMLSchema" xmlns:p="http://schemas.microsoft.com/office/2006/metadata/properties" xmlns:ns2="81f9c791-4e7e-42f3-b110-f2d048dfe1f4" xmlns:ns3="c32e8f56-b4af-4143-8a45-c6aec7ec7059" targetNamespace="http://schemas.microsoft.com/office/2006/metadata/properties" ma:root="true" ma:fieldsID="3960bc64e417d993bc4a09c03bfc92cd" ns2:_="" ns3:_="">
    <xsd:import namespace="81f9c791-4e7e-42f3-b110-f2d048dfe1f4"/>
    <xsd:import namespace="c32e8f56-b4af-4143-8a45-c6aec7ec70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9c791-4e7e-42f3-b110-f2d048dfe1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3fc197d-f5e7-4c43-938a-9929e93577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2e8f56-b4af-4143-8a45-c6aec7ec70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b5e555c1-6094-442e-ab48-ec10f99c704e}" ma:internalName="TaxCatchAll" ma:showField="CatchAllData" ma:web="c32e8f56-b4af-4143-8a45-c6aec7ec70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f9c791-4e7e-42f3-b110-f2d048dfe1f4">
      <Terms xmlns="http://schemas.microsoft.com/office/infopath/2007/PartnerControls"/>
    </lcf76f155ced4ddcb4097134ff3c332f>
    <TaxCatchAll xmlns="c32e8f56-b4af-4143-8a45-c6aec7ec705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11BBF5-6E98-46CF-904B-CF7FC7B43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f9c791-4e7e-42f3-b110-f2d048dfe1f4"/>
    <ds:schemaRef ds:uri="c32e8f56-b4af-4143-8a45-c6aec7ec70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7B75BE-6E85-4BC9-B65E-BA5D0420B3C8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1f9c791-4e7e-42f3-b110-f2d048dfe1f4"/>
    <ds:schemaRef ds:uri="http://schemas.microsoft.com/office/2006/documentManagement/types"/>
    <ds:schemaRef ds:uri="http://purl.org/dc/elements/1.1/"/>
    <ds:schemaRef ds:uri="http://purl.org/dc/terms/"/>
    <ds:schemaRef ds:uri="c32e8f56-b4af-4143-8a45-c6aec7ec7059"/>
  </ds:schemaRefs>
</ds:datastoreItem>
</file>

<file path=customXml/itemProps3.xml><?xml version="1.0" encoding="utf-8"?>
<ds:datastoreItem xmlns:ds="http://schemas.openxmlformats.org/officeDocument/2006/customXml" ds:itemID="{CCCC9168-1AF7-4F22-A7E1-AA5CA9871E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1940</Words>
  <Application>Microsoft Office PowerPoint</Application>
  <PresentationFormat>Widescreen</PresentationFormat>
  <Paragraphs>305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Aptos Display</vt:lpstr>
      <vt:lpstr>Arial</vt:lpstr>
      <vt:lpstr>Open Sans</vt:lpstr>
      <vt:lpstr>Open Sans ExtraBold</vt:lpstr>
      <vt:lpstr>Open Sans Light</vt:lpstr>
      <vt:lpstr>Open Sans SemiBold</vt:lpstr>
      <vt:lpstr>Office Theme</vt:lpstr>
      <vt:lpstr>PowerPoint Presentation</vt:lpstr>
      <vt:lpstr>Versioning Everything</vt:lpstr>
      <vt:lpstr>Who is talking to you right now? </vt:lpstr>
      <vt:lpstr>What is running in this environment, exactly, right now?</vt:lpstr>
      <vt:lpstr>Why F&amp;O is different</vt:lpstr>
      <vt:lpstr>Five layers of truth</vt:lpstr>
      <vt:lpstr>Layer 1 of 5: Code</vt:lpstr>
      <vt:lpstr>Git</vt:lpstr>
      <vt:lpstr>TFVC</vt:lpstr>
      <vt:lpstr>Layer 2 of 5: Configuration</vt:lpstr>
      <vt:lpstr>PowerPoint Presentation</vt:lpstr>
      <vt:lpstr>Open-Source Example</vt:lpstr>
      <vt:lpstr>PowerPoint Presentation</vt:lpstr>
      <vt:lpstr>Layer 3 of 5: Reference data</vt:lpstr>
      <vt:lpstr>PowerPoint Presentation</vt:lpstr>
      <vt:lpstr>Layer 4 of 5: Master &amp; operational data</vt:lpstr>
      <vt:lpstr>PowerPoint Presentation</vt:lpstr>
      <vt:lpstr>Layer 5 of 5: Environment state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Score yourself</vt:lpstr>
      <vt:lpstr>“We version our solution”</vt:lpstr>
      <vt:lpstr>DEV ≠ UAT ≠ PROD</vt:lpstr>
      <vt:lpstr>Tribal knowledge is a dependency</vt:lpstr>
      <vt:lpstr>Six failure modes worth saying out loud</vt:lpstr>
      <vt:lpstr>Five principles for versioning everything</vt:lpstr>
      <vt:lpstr>Principle 1: Configuration as code</vt:lpstr>
      <vt:lpstr>Principle 2: Reference data as code</vt:lpstr>
      <vt:lpstr>Principle 3: Declarative environments</vt:lpstr>
      <vt:lpstr>Principle 4: Journal every PROD edit</vt:lpstr>
      <vt:lpstr>Principle 5: The manifest of truth</vt:lpstr>
      <vt:lpstr>The maturity ladder</vt:lpstr>
      <vt:lpstr>L0 → L2 is the highest-leverage move</vt:lpstr>
      <vt:lpstr>Partial versioning is fake safety</vt:lpstr>
      <vt:lpstr>Three things to do Monday</vt:lpstr>
      <vt:lpstr>Shameless Plugs</vt:lpstr>
      <vt:lpstr>Questions</vt:lpstr>
      <vt:lpstr>Feedback / Questionnaires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Bishop</dc:creator>
  <cp:lastModifiedBy>Nathan Clouse</cp:lastModifiedBy>
  <cp:revision>37</cp:revision>
  <dcterms:created xsi:type="dcterms:W3CDTF">2025-01-23T18:40:19Z</dcterms:created>
  <dcterms:modified xsi:type="dcterms:W3CDTF">2026-05-13T16:44:31Z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0x010100BBA75DAF83DD3048B0119C871633221C</vt:lpwstr>
  </property>
  <property fmtid="{D5CDD505-2E9C-101B-9397-08002B2CF9AE}" pid="3" name="MediaServiceImageTags">
    <vt:lpwstr/>
  </property>
</Properties>
</file>