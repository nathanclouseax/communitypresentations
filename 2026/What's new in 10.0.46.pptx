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42"/>
  </p:notesMasterIdLst>
  <p:sldIdLst>
    <p:sldId id="256" r:id="rId5"/>
    <p:sldId id="257" r:id="rId6"/>
    <p:sldId id="300" r:id="rId7"/>
    <p:sldId id="259" r:id="rId8"/>
    <p:sldId id="294" r:id="rId9"/>
    <p:sldId id="295" r:id="rId10"/>
    <p:sldId id="296" r:id="rId11"/>
    <p:sldId id="279" r:id="rId12"/>
    <p:sldId id="292" r:id="rId13"/>
    <p:sldId id="293" r:id="rId14"/>
    <p:sldId id="298" r:id="rId15"/>
    <p:sldId id="297" r:id="rId16"/>
    <p:sldId id="280" r:id="rId17"/>
    <p:sldId id="281" r:id="rId18"/>
    <p:sldId id="282" r:id="rId19"/>
    <p:sldId id="285" r:id="rId20"/>
    <p:sldId id="286" r:id="rId21"/>
    <p:sldId id="283" r:id="rId22"/>
    <p:sldId id="287" r:id="rId23"/>
    <p:sldId id="289" r:id="rId24"/>
    <p:sldId id="288" r:id="rId25"/>
    <p:sldId id="284" r:id="rId26"/>
    <p:sldId id="299" r:id="rId27"/>
    <p:sldId id="290" r:id="rId28"/>
    <p:sldId id="291" r:id="rId29"/>
    <p:sldId id="301" r:id="rId30"/>
    <p:sldId id="303" r:id="rId31"/>
    <p:sldId id="260" r:id="rId32"/>
    <p:sldId id="305" r:id="rId33"/>
    <p:sldId id="261" r:id="rId34"/>
    <p:sldId id="262" r:id="rId35"/>
    <p:sldId id="263" r:id="rId36"/>
    <p:sldId id="264" r:id="rId37"/>
    <p:sldId id="265" r:id="rId38"/>
    <p:sldId id="266" r:id="rId39"/>
    <p:sldId id="306" r:id="rId40"/>
    <p:sldId id="278" r:id="rId4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227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C615E9C-25FB-41CB-BC01-DBCFE6F94ADF}" v="76" dt="2026-01-13T19:56:19.23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0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notesMaster" Target="notesMasters/notesMaster1.xml"/><Relationship Id="rId47" Type="http://schemas.microsoft.com/office/2015/10/relationships/revisionInfo" Target="revisionInfo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presProps" Target="pres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tableStyles" Target="tableStyles.xml"/><Relationship Id="rId20" Type="http://schemas.openxmlformats.org/officeDocument/2006/relationships/slide" Target="slides/slide16.xml"/><Relationship Id="rId41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9FF512-CC74-4814-879D-07447F965A27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7A48D6-2D1A-41D8-AE71-38C25AF6BC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2355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https://www.youtube.com/watch?v=-7QJcmazXyc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7A48D6-2D1A-41D8-AE71-38C25AF6BC33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54023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Think of MCP as the “USB-C” for AI and ERP systems — a universal connector that eliminates custom code and brittle API integrations.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7A48D6-2D1A-41D8-AE71-38C25AF6BC33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2070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5AC4A1-879A-98A4-F2E0-CDC13734B7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E86C50-0A80-F38F-7406-315741B2F8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46E817-CE0B-FF83-E6EE-A7896A2C37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Think of MCP as the “USB-C” for AI and ERP systems — a universal connector that eliminates custom code and brittle API integrations.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052F1E-BD89-FAC5-3002-483BD43100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7A48D6-2D1A-41D8-AE71-38C25AF6BC33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975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 gives agents the same ERP capabilities a human user has — with context and security — but in automated form.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7A48D6-2D1A-41D8-AE71-38C25AF6BC33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1014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>
            <a:extLst>
              <a:ext uri="{FF2B5EF4-FFF2-40B4-BE49-F238E27FC236}">
                <a16:creationId xmlns:a16="http://schemas.microsoft.com/office/drawing/2014/main" id="{A4E192DF-61D5-5ED3-08A0-555C4DEBCB19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536"/>
          <a:stretch/>
        </p:blipFill>
        <p:spPr bwMode="auto">
          <a:xfrm>
            <a:off x="-2" y="-12559"/>
            <a:ext cx="12192002" cy="6870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0CB11F88-6FCB-6643-4869-55AFF613A6C2}"/>
              </a:ext>
            </a:extLst>
          </p:cNvPr>
          <p:cNvSpPr/>
          <p:nvPr userDrawn="1"/>
        </p:nvSpPr>
        <p:spPr>
          <a:xfrm>
            <a:off x="2" y="1223025"/>
            <a:ext cx="12191998" cy="5634975"/>
          </a:xfrm>
          <a:prstGeom prst="rect">
            <a:avLst/>
          </a:prstGeom>
          <a:solidFill>
            <a:srgbClr val="92278E">
              <a:alpha val="4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7817CE7-F702-FD52-7505-6C435322CBB1}"/>
              </a:ext>
            </a:extLst>
          </p:cNvPr>
          <p:cNvSpPr/>
          <p:nvPr userDrawn="1"/>
        </p:nvSpPr>
        <p:spPr>
          <a:xfrm>
            <a:off x="-2" y="-12559"/>
            <a:ext cx="12192001" cy="16226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A34C77B-D0CF-F6ED-A32C-494CF8B15713}"/>
              </a:ext>
            </a:extLst>
          </p:cNvPr>
          <p:cNvSpPr txBox="1"/>
          <p:nvPr userDrawn="1"/>
        </p:nvSpPr>
        <p:spPr>
          <a:xfrm>
            <a:off x="7209182" y="578615"/>
            <a:ext cx="47253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spc="-150"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SOUTHEAST REGIONAL</a:t>
            </a:r>
          </a:p>
        </p:txBody>
      </p:sp>
      <p:pic>
        <p:nvPicPr>
          <p:cNvPr id="19" name="Picture 18" descr="A yellow and blue logo&#10;&#10;Description automatically generated">
            <a:extLst>
              <a:ext uri="{FF2B5EF4-FFF2-40B4-BE49-F238E27FC236}">
                <a16:creationId xmlns:a16="http://schemas.microsoft.com/office/drawing/2014/main" id="{44C1BBE9-0B68-CE14-15D8-E5CC18251F0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81864" y="479580"/>
            <a:ext cx="683810" cy="683810"/>
          </a:xfrm>
          <a:prstGeom prst="rect">
            <a:avLst/>
          </a:prstGeom>
        </p:spPr>
      </p:pic>
      <p:pic>
        <p:nvPicPr>
          <p:cNvPr id="24" name="Picture 23" descr="A logo with yellow letters and a pink circle&#10;&#10;Description automatically generated">
            <a:extLst>
              <a:ext uri="{FF2B5EF4-FFF2-40B4-BE49-F238E27FC236}">
                <a16:creationId xmlns:a16="http://schemas.microsoft.com/office/drawing/2014/main" id="{C2E5AFFD-E5B1-85E6-9836-B7CC86F097C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27247" y="479580"/>
            <a:ext cx="683177" cy="683810"/>
          </a:xfrm>
          <a:prstGeom prst="rect">
            <a:avLst/>
          </a:prstGeom>
        </p:spPr>
      </p:pic>
      <p:pic>
        <p:nvPicPr>
          <p:cNvPr id="3" name="Picture 2" descr="A yellow and black logo&#10;&#10;Description automatically generated">
            <a:extLst>
              <a:ext uri="{FF2B5EF4-FFF2-40B4-BE49-F238E27FC236}">
                <a16:creationId xmlns:a16="http://schemas.microsoft.com/office/drawing/2014/main" id="{D0518553-3010-E39F-26B0-4579A86E2CE2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014475" y="479580"/>
            <a:ext cx="683177" cy="683810"/>
          </a:xfrm>
          <a:prstGeom prst="rect">
            <a:avLst/>
          </a:prstGeom>
        </p:spPr>
      </p:pic>
      <p:pic>
        <p:nvPicPr>
          <p:cNvPr id="4" name="Picture 3" descr="A yellow lightning bolt in a purple circle&#10;&#10;Description automatically generated">
            <a:extLst>
              <a:ext uri="{FF2B5EF4-FFF2-40B4-BE49-F238E27FC236}">
                <a16:creationId xmlns:a16="http://schemas.microsoft.com/office/drawing/2014/main" id="{03EF6AC7-D264-9D23-FD93-4A49C65FA941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2904878" y="479580"/>
            <a:ext cx="683177" cy="683810"/>
          </a:xfrm>
          <a:prstGeom prst="rect">
            <a:avLst/>
          </a:prstGeom>
        </p:spPr>
      </p:pic>
      <p:pic>
        <p:nvPicPr>
          <p:cNvPr id="5" name="Picture 4" descr="A logo with text on it&#10;&#10;AI-generated content may be incorrect.">
            <a:extLst>
              <a:ext uri="{FF2B5EF4-FFF2-40B4-BE49-F238E27FC236}">
                <a16:creationId xmlns:a16="http://schemas.microsoft.com/office/drawing/2014/main" id="{E6B3CEB9-CF4F-C9C5-4FDE-F7C3C99B3A38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4826960" y="66347"/>
            <a:ext cx="2538079" cy="2538079"/>
          </a:xfrm>
          <a:prstGeom prst="rect">
            <a:avLst/>
          </a:prstGeom>
        </p:spPr>
      </p:pic>
      <p:pic>
        <p:nvPicPr>
          <p:cNvPr id="7" name="Picture 6" descr="A blue circle with yellow letters&#10;&#10;AI-generated content may be incorrect.">
            <a:extLst>
              <a:ext uri="{FF2B5EF4-FFF2-40B4-BE49-F238E27FC236}">
                <a16:creationId xmlns:a16="http://schemas.microsoft.com/office/drawing/2014/main" id="{F0D97EBE-30B3-4503-9512-5955D2F5434E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3837514" y="479580"/>
            <a:ext cx="683810" cy="683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98031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>
            <a:extLst>
              <a:ext uri="{FF2B5EF4-FFF2-40B4-BE49-F238E27FC236}">
                <a16:creationId xmlns:a16="http://schemas.microsoft.com/office/drawing/2014/main" id="{0726E1C3-E4B3-8DFD-6ED3-A65AE0E26552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536"/>
          <a:stretch/>
        </p:blipFill>
        <p:spPr bwMode="auto">
          <a:xfrm>
            <a:off x="-2" y="-12559"/>
            <a:ext cx="12192002" cy="6870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104B697-D55A-3D26-5F95-0ABAC3981847}"/>
              </a:ext>
            </a:extLst>
          </p:cNvPr>
          <p:cNvSpPr/>
          <p:nvPr userDrawn="1"/>
        </p:nvSpPr>
        <p:spPr>
          <a:xfrm>
            <a:off x="-3" y="-12559"/>
            <a:ext cx="12191998" cy="6870559"/>
          </a:xfrm>
          <a:prstGeom prst="rect">
            <a:avLst/>
          </a:prstGeom>
          <a:solidFill>
            <a:srgbClr val="92278E">
              <a:alpha val="4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Pentagon 5">
            <a:extLst>
              <a:ext uri="{FF2B5EF4-FFF2-40B4-BE49-F238E27FC236}">
                <a16:creationId xmlns:a16="http://schemas.microsoft.com/office/drawing/2014/main" id="{B08C33F8-2AFF-CCA6-E9D6-F874CEB6748D}"/>
              </a:ext>
            </a:extLst>
          </p:cNvPr>
          <p:cNvSpPr/>
          <p:nvPr userDrawn="1"/>
        </p:nvSpPr>
        <p:spPr>
          <a:xfrm>
            <a:off x="-10888" y="4158940"/>
            <a:ext cx="10638455" cy="1105671"/>
          </a:xfrm>
          <a:prstGeom prst="homePlat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Pentagon 6">
            <a:extLst>
              <a:ext uri="{FF2B5EF4-FFF2-40B4-BE49-F238E27FC236}">
                <a16:creationId xmlns:a16="http://schemas.microsoft.com/office/drawing/2014/main" id="{FC8399F6-723D-757C-D785-EED1713D673D}"/>
              </a:ext>
            </a:extLst>
          </p:cNvPr>
          <p:cNvSpPr/>
          <p:nvPr userDrawn="1"/>
        </p:nvSpPr>
        <p:spPr>
          <a:xfrm rot="10800000">
            <a:off x="7598228" y="806776"/>
            <a:ext cx="4611240" cy="695119"/>
          </a:xfrm>
          <a:prstGeom prst="homePlat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D90DE1-A6CC-8367-B748-D0A5ADDFCB3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772273" y="4336578"/>
            <a:ext cx="7072132" cy="750393"/>
          </a:xfrm>
          <a:prstGeom prst="rect">
            <a:avLst/>
          </a:prstGeom>
        </p:spPr>
        <p:txBody>
          <a:bodyPr anchor="b"/>
          <a:lstStyle>
            <a:lvl1pPr algn="ctr">
              <a:defRPr sz="3200" b="1" i="0">
                <a:solidFill>
                  <a:srgbClr val="92278F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/>
              <a:t>INTRO / TITLE / MAIN HEADER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36C936-8CD2-757F-DA90-A4E0320CC9D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858074" y="1005323"/>
            <a:ext cx="4340507" cy="37229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rgbClr val="92278F"/>
                </a:solidFill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SUBTITLE / NAME(S)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D165081-A226-0977-ECDD-630D03AFC9DC}"/>
              </a:ext>
            </a:extLst>
          </p:cNvPr>
          <p:cNvSpPr txBox="1"/>
          <p:nvPr userDrawn="1"/>
        </p:nvSpPr>
        <p:spPr>
          <a:xfrm>
            <a:off x="-217773" y="17837"/>
            <a:ext cx="3555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SOUTHEAST REGIONAL</a:t>
            </a:r>
          </a:p>
        </p:txBody>
      </p:sp>
      <p:pic>
        <p:nvPicPr>
          <p:cNvPr id="7" name="Picture 6" descr="A logo with text on it&#10;&#10;AI-generated content may be incorrect.">
            <a:extLst>
              <a:ext uri="{FF2B5EF4-FFF2-40B4-BE49-F238E27FC236}">
                <a16:creationId xmlns:a16="http://schemas.microsoft.com/office/drawing/2014/main" id="{4686A1DC-7289-7570-8D22-45064E80BE4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924115" y="5910774"/>
            <a:ext cx="855139" cy="855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6511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9362FD6-1D77-DC09-28C3-1267FDDB28F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4000">
                <a:schemeClr val="accent4">
                  <a:lumMod val="0"/>
                  <a:lumOff val="100000"/>
                </a:schemeClr>
              </a:gs>
              <a:gs pos="55000">
                <a:srgbClr val="9C3C9A"/>
              </a:gs>
              <a:gs pos="43000">
                <a:srgbClr val="9C3C9A"/>
              </a:gs>
              <a:gs pos="95000">
                <a:schemeClr val="bg1"/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3AE0900-BF21-AF02-85BB-E334C3E8D2DE}"/>
              </a:ext>
            </a:extLst>
          </p:cNvPr>
          <p:cNvSpPr/>
          <p:nvPr userDrawn="1"/>
        </p:nvSpPr>
        <p:spPr>
          <a:xfrm>
            <a:off x="376191" y="406153"/>
            <a:ext cx="11439618" cy="6045694"/>
          </a:xfrm>
          <a:prstGeom prst="rect">
            <a:avLst/>
          </a:prstGeom>
          <a:solidFill>
            <a:schemeClr val="bg1">
              <a:alpha val="8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8" name="Picture 27" descr="A colorful star logo with black background&#10;&#10;Description automatically generated">
            <a:extLst>
              <a:ext uri="{FF2B5EF4-FFF2-40B4-BE49-F238E27FC236}">
                <a16:creationId xmlns:a16="http://schemas.microsoft.com/office/drawing/2014/main" id="{04B7725C-702B-1313-87C6-5F20E6D85F4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22502" r="22624" b="43530"/>
          <a:stretch/>
        </p:blipFill>
        <p:spPr>
          <a:xfrm>
            <a:off x="11433542" y="105999"/>
            <a:ext cx="626710" cy="600307"/>
          </a:xfrm>
          <a:prstGeom prst="rect">
            <a:avLst/>
          </a:prstGeom>
          <a:effectLst>
            <a:glow rad="88900">
              <a:schemeClr val="bg1"/>
            </a:glow>
          </a:effectLst>
        </p:spPr>
      </p:pic>
      <p:sp>
        <p:nvSpPr>
          <p:cNvPr id="31" name="Title 30">
            <a:extLst>
              <a:ext uri="{FF2B5EF4-FFF2-40B4-BE49-F238E27FC236}">
                <a16:creationId xmlns:a16="http://schemas.microsoft.com/office/drawing/2014/main" id="{9759B8C1-559D-DF2C-611F-D0EA94C3D5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2024023"/>
            <a:ext cx="10515600" cy="1325563"/>
          </a:xfrm>
        </p:spPr>
        <p:txBody>
          <a:bodyPr>
            <a:noAutofit/>
          </a:bodyPr>
          <a:lstStyle>
            <a:lvl1pPr algn="ctr">
              <a:defRPr sz="7200" b="1" i="0">
                <a:solidFill>
                  <a:srgbClr val="9C3C9A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3" name="Text Placeholder 2">
            <a:extLst>
              <a:ext uri="{FF2B5EF4-FFF2-40B4-BE49-F238E27FC236}">
                <a16:creationId xmlns:a16="http://schemas.microsoft.com/office/drawing/2014/main" id="{471E23B4-573A-EC8E-4D69-9D8C243A716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3508415"/>
            <a:ext cx="10515600" cy="1500187"/>
          </a:xfrm>
        </p:spPr>
        <p:txBody>
          <a:bodyPr>
            <a:normAutofit/>
          </a:bodyPr>
          <a:lstStyle>
            <a:lvl1pPr marL="0" indent="0" algn="ctr">
              <a:buNone/>
              <a:defRPr sz="3200" b="1" i="0">
                <a:solidFill>
                  <a:schemeClr val="tx1"/>
                </a:solidFill>
                <a:latin typeface="Open Sans SemiBold" pitchFamily="2" charset="0"/>
                <a:ea typeface="Open Sans SemiBold" pitchFamily="2" charset="0"/>
                <a:cs typeface="Open Sans SemiBold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D622BA-1820-CBF3-2486-E1D6D6F52F4B}"/>
              </a:ext>
            </a:extLst>
          </p:cNvPr>
          <p:cNvSpPr txBox="1"/>
          <p:nvPr userDrawn="1"/>
        </p:nvSpPr>
        <p:spPr>
          <a:xfrm>
            <a:off x="-217773" y="17837"/>
            <a:ext cx="3555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SOUTHEAST REGIONAL</a:t>
            </a:r>
          </a:p>
        </p:txBody>
      </p:sp>
      <p:pic>
        <p:nvPicPr>
          <p:cNvPr id="4" name="Picture 3" descr="A logo with text on it&#10;&#10;AI-generated content may be incorrect.">
            <a:extLst>
              <a:ext uri="{FF2B5EF4-FFF2-40B4-BE49-F238E27FC236}">
                <a16:creationId xmlns:a16="http://schemas.microsoft.com/office/drawing/2014/main" id="{C6FF28D6-E846-378D-C409-7CB1A3959FE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31748" y="5910774"/>
            <a:ext cx="855139" cy="855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17497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46515E0-800C-CF04-2D44-D693CBE7EFE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4000">
                <a:schemeClr val="accent4">
                  <a:lumMod val="0"/>
                  <a:lumOff val="100000"/>
                </a:schemeClr>
              </a:gs>
              <a:gs pos="55000">
                <a:srgbClr val="9C3C9A"/>
              </a:gs>
              <a:gs pos="43000">
                <a:srgbClr val="9C3C9A"/>
              </a:gs>
              <a:gs pos="95000">
                <a:schemeClr val="bg1"/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7BEB76-834E-D6F2-3AE3-5469EB877951}"/>
              </a:ext>
            </a:extLst>
          </p:cNvPr>
          <p:cNvSpPr/>
          <p:nvPr userDrawn="1"/>
        </p:nvSpPr>
        <p:spPr>
          <a:xfrm>
            <a:off x="376191" y="406153"/>
            <a:ext cx="11439618" cy="6045694"/>
          </a:xfrm>
          <a:prstGeom prst="rect">
            <a:avLst/>
          </a:prstGeom>
          <a:solidFill>
            <a:schemeClr val="bg1">
              <a:alpha val="8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1B4654-3391-DEB6-F905-49151B363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10004"/>
            <a:ext cx="10515600" cy="1325563"/>
          </a:xfrm>
        </p:spPr>
        <p:txBody>
          <a:bodyPr>
            <a:noAutofit/>
          </a:bodyPr>
          <a:lstStyle>
            <a:lvl1pPr>
              <a:defRPr sz="5400" b="1" i="0">
                <a:solidFill>
                  <a:srgbClr val="9C3C9A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C8CA38-EEAD-E583-739F-2BF4BCC3BDA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939417"/>
            <a:ext cx="10515600" cy="4351338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pPr lvl="0"/>
            <a:r>
              <a:rPr lang="en-US"/>
              <a:t>Click to add content</a:t>
            </a:r>
          </a:p>
        </p:txBody>
      </p:sp>
      <p:pic>
        <p:nvPicPr>
          <p:cNvPr id="9" name="Picture 8" descr="A colorful star logo with black background&#10;&#10;Description automatically generated">
            <a:extLst>
              <a:ext uri="{FF2B5EF4-FFF2-40B4-BE49-F238E27FC236}">
                <a16:creationId xmlns:a16="http://schemas.microsoft.com/office/drawing/2014/main" id="{D3CABB2E-E743-3B28-1D24-7E9ABC7CF35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22502" r="22624" b="43530"/>
          <a:stretch/>
        </p:blipFill>
        <p:spPr>
          <a:xfrm>
            <a:off x="11433542" y="105999"/>
            <a:ext cx="626710" cy="600307"/>
          </a:xfrm>
          <a:prstGeom prst="rect">
            <a:avLst/>
          </a:prstGeom>
          <a:effectLst>
            <a:glow rad="88900">
              <a:schemeClr val="bg1"/>
            </a:glo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CED4347-19EA-D109-E4D4-A1B891BD3BFE}"/>
              </a:ext>
            </a:extLst>
          </p:cNvPr>
          <p:cNvSpPr txBox="1"/>
          <p:nvPr userDrawn="1"/>
        </p:nvSpPr>
        <p:spPr>
          <a:xfrm>
            <a:off x="-217773" y="17837"/>
            <a:ext cx="3555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SOUTHEAST REGIONAL</a:t>
            </a:r>
          </a:p>
        </p:txBody>
      </p:sp>
      <p:pic>
        <p:nvPicPr>
          <p:cNvPr id="5" name="Picture 4" descr="A logo with text on it&#10;&#10;AI-generated content may be incorrect.">
            <a:extLst>
              <a:ext uri="{FF2B5EF4-FFF2-40B4-BE49-F238E27FC236}">
                <a16:creationId xmlns:a16="http://schemas.microsoft.com/office/drawing/2014/main" id="{B81FDE06-01AA-38BA-0990-D9EE695F17A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31748" y="5910774"/>
            <a:ext cx="855139" cy="855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75937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C67A081-BFD4-8AE4-A231-04094009BD2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4000">
                <a:schemeClr val="accent4">
                  <a:lumMod val="0"/>
                  <a:lumOff val="100000"/>
                </a:schemeClr>
              </a:gs>
              <a:gs pos="55000">
                <a:srgbClr val="9C3C9A"/>
              </a:gs>
              <a:gs pos="43000">
                <a:srgbClr val="9C3C9A"/>
              </a:gs>
              <a:gs pos="95000">
                <a:schemeClr val="bg1"/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A3D546E-7177-89ED-E302-29148E78A481}"/>
              </a:ext>
            </a:extLst>
          </p:cNvPr>
          <p:cNvSpPr/>
          <p:nvPr userDrawn="1"/>
        </p:nvSpPr>
        <p:spPr>
          <a:xfrm>
            <a:off x="376191" y="406153"/>
            <a:ext cx="11439618" cy="6045694"/>
          </a:xfrm>
          <a:prstGeom prst="rect">
            <a:avLst/>
          </a:prstGeom>
          <a:solidFill>
            <a:schemeClr val="bg1">
              <a:alpha val="8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colorful star logo with black background&#10;&#10;Description automatically generated">
            <a:extLst>
              <a:ext uri="{FF2B5EF4-FFF2-40B4-BE49-F238E27FC236}">
                <a16:creationId xmlns:a16="http://schemas.microsoft.com/office/drawing/2014/main" id="{227ADD0A-FF1F-AC1E-3686-D490665FCD5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22502" r="22624" b="43530"/>
          <a:stretch/>
        </p:blipFill>
        <p:spPr>
          <a:xfrm>
            <a:off x="11433542" y="105999"/>
            <a:ext cx="626710" cy="600307"/>
          </a:xfrm>
          <a:prstGeom prst="rect">
            <a:avLst/>
          </a:prstGeom>
          <a:effectLst>
            <a:glow rad="88900">
              <a:schemeClr val="bg1"/>
            </a:glo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160829C-43E8-B7D1-8467-27C6D5CBEB8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481666"/>
            <a:ext cx="10515600" cy="1325563"/>
          </a:xfrm>
        </p:spPr>
        <p:txBody>
          <a:bodyPr>
            <a:normAutofit/>
          </a:bodyPr>
          <a:lstStyle>
            <a:lvl1pPr>
              <a:defRPr sz="5400" b="1" i="0">
                <a:solidFill>
                  <a:srgbClr val="9C3C9A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3BF957-903A-6983-952D-1004CE72693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199" y="1888379"/>
            <a:ext cx="6790765" cy="4351338"/>
          </a:xfrm>
        </p:spPr>
        <p:txBody>
          <a:bodyPr>
            <a:normAutofit/>
          </a:bodyPr>
          <a:lstStyle>
            <a:lvl1pPr>
              <a:defRPr sz="2800" b="0" i="0">
                <a:latin typeface="+mn-lt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F1B377CC-1298-2CDD-1506-C2B50B5CC29A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7873407" y="1897344"/>
            <a:ext cx="3484875" cy="4351338"/>
          </a:xfrm>
        </p:spPr>
        <p:txBody>
          <a:bodyPr>
            <a:normAutofit/>
          </a:bodyPr>
          <a:lstStyle>
            <a:lvl1pPr>
              <a:defRPr sz="2800" b="0" i="0">
                <a:latin typeface="+mn-lt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/>
              <a:t>Click to add image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B12392-F2FA-761E-0E14-574677DBB6C5}"/>
              </a:ext>
            </a:extLst>
          </p:cNvPr>
          <p:cNvSpPr txBox="1"/>
          <p:nvPr userDrawn="1"/>
        </p:nvSpPr>
        <p:spPr>
          <a:xfrm>
            <a:off x="-217773" y="17837"/>
            <a:ext cx="3555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SOUTHEAST REGIONAL</a:t>
            </a:r>
          </a:p>
        </p:txBody>
      </p:sp>
      <p:pic>
        <p:nvPicPr>
          <p:cNvPr id="4" name="Picture 3" descr="A logo with text on it&#10;&#10;AI-generated content may be incorrect.">
            <a:extLst>
              <a:ext uri="{FF2B5EF4-FFF2-40B4-BE49-F238E27FC236}">
                <a16:creationId xmlns:a16="http://schemas.microsoft.com/office/drawing/2014/main" id="{7A3F29FF-216A-A80C-73C0-AECE0EF8374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31748" y="5910774"/>
            <a:ext cx="855139" cy="855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42193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lt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2A19DBC-8D7B-5A43-E24C-9C284481CC5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4000">
                <a:schemeClr val="accent4">
                  <a:lumMod val="0"/>
                  <a:lumOff val="100000"/>
                </a:schemeClr>
              </a:gs>
              <a:gs pos="55000">
                <a:srgbClr val="9C3C9A"/>
              </a:gs>
              <a:gs pos="43000">
                <a:srgbClr val="9C3C9A"/>
              </a:gs>
              <a:gs pos="95000">
                <a:schemeClr val="bg1"/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A3D546E-7177-89ED-E302-29148E78A481}"/>
              </a:ext>
            </a:extLst>
          </p:cNvPr>
          <p:cNvSpPr/>
          <p:nvPr userDrawn="1"/>
        </p:nvSpPr>
        <p:spPr>
          <a:xfrm>
            <a:off x="376191" y="406153"/>
            <a:ext cx="11439618" cy="6045694"/>
          </a:xfrm>
          <a:prstGeom prst="rect">
            <a:avLst/>
          </a:prstGeom>
          <a:solidFill>
            <a:schemeClr val="bg1">
              <a:alpha val="8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colorful star logo with black background&#10;&#10;Description automatically generated">
            <a:extLst>
              <a:ext uri="{FF2B5EF4-FFF2-40B4-BE49-F238E27FC236}">
                <a16:creationId xmlns:a16="http://schemas.microsoft.com/office/drawing/2014/main" id="{227ADD0A-FF1F-AC1E-3686-D490665FCD5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22502" r="22624" b="43530"/>
          <a:stretch/>
        </p:blipFill>
        <p:spPr>
          <a:xfrm>
            <a:off x="11433542" y="105999"/>
            <a:ext cx="626710" cy="600307"/>
          </a:xfrm>
          <a:prstGeom prst="rect">
            <a:avLst/>
          </a:prstGeom>
          <a:effectLst>
            <a:glow rad="88900">
              <a:schemeClr val="bg1"/>
            </a:glo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160829C-43E8-B7D1-8467-27C6D5CBEB8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481666"/>
            <a:ext cx="10515600" cy="1325563"/>
          </a:xfrm>
        </p:spPr>
        <p:txBody>
          <a:bodyPr>
            <a:normAutofit/>
          </a:bodyPr>
          <a:lstStyle>
            <a:lvl1pPr>
              <a:defRPr sz="5400" b="1" i="0">
                <a:solidFill>
                  <a:srgbClr val="9C3C9A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3BF957-903A-6983-952D-1004CE72693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567517" y="1888379"/>
            <a:ext cx="6790765" cy="4351338"/>
          </a:xfrm>
        </p:spPr>
        <p:txBody>
          <a:bodyPr>
            <a:normAutofit/>
          </a:bodyPr>
          <a:lstStyle>
            <a:lvl1pPr>
              <a:defRPr sz="2800" b="0" i="0">
                <a:latin typeface="+mn-lt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F1B377CC-1298-2CDD-1506-C2B50B5CC29A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838199" y="1897344"/>
            <a:ext cx="3484875" cy="4351338"/>
          </a:xfrm>
        </p:spPr>
        <p:txBody>
          <a:bodyPr>
            <a:normAutofit/>
          </a:bodyPr>
          <a:lstStyle>
            <a:lvl1pPr>
              <a:defRPr sz="2800" b="0" i="0">
                <a:latin typeface="+mn-lt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/>
              <a:t>Click to add image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B760575-4F45-42B5-0485-93055EB5499E}"/>
              </a:ext>
            </a:extLst>
          </p:cNvPr>
          <p:cNvSpPr txBox="1"/>
          <p:nvPr userDrawn="1"/>
        </p:nvSpPr>
        <p:spPr>
          <a:xfrm>
            <a:off x="-217773" y="17837"/>
            <a:ext cx="3555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SOUTHEAST REGIONAL</a:t>
            </a:r>
          </a:p>
        </p:txBody>
      </p:sp>
      <p:pic>
        <p:nvPicPr>
          <p:cNvPr id="6" name="Picture 5" descr="A logo with text on it&#10;&#10;AI-generated content may be incorrect.">
            <a:extLst>
              <a:ext uri="{FF2B5EF4-FFF2-40B4-BE49-F238E27FC236}">
                <a16:creationId xmlns:a16="http://schemas.microsoft.com/office/drawing/2014/main" id="{79CD111B-2A70-6BC8-AE0E-BCBC2DF01D0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31748" y="5910774"/>
            <a:ext cx="855139" cy="855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38738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3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7D2A709-7DDD-B12F-58C7-CCC75FFE2F7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4000">
                <a:schemeClr val="accent4">
                  <a:lumMod val="0"/>
                  <a:lumOff val="100000"/>
                </a:schemeClr>
              </a:gs>
              <a:gs pos="55000">
                <a:srgbClr val="9C3C9A"/>
              </a:gs>
              <a:gs pos="43000">
                <a:srgbClr val="9C3C9A"/>
              </a:gs>
              <a:gs pos="95000">
                <a:schemeClr val="bg1"/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D0F31A5-5900-05F9-B2E1-A8D46FBD361E}"/>
              </a:ext>
            </a:extLst>
          </p:cNvPr>
          <p:cNvSpPr/>
          <p:nvPr userDrawn="1"/>
        </p:nvSpPr>
        <p:spPr>
          <a:xfrm>
            <a:off x="376191" y="406153"/>
            <a:ext cx="11439618" cy="6045694"/>
          </a:xfrm>
          <a:prstGeom prst="rect">
            <a:avLst/>
          </a:prstGeom>
          <a:solidFill>
            <a:schemeClr val="bg1">
              <a:alpha val="8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 descr="A colorful star logo with black background&#10;&#10;Description automatically generated">
            <a:extLst>
              <a:ext uri="{FF2B5EF4-FFF2-40B4-BE49-F238E27FC236}">
                <a16:creationId xmlns:a16="http://schemas.microsoft.com/office/drawing/2014/main" id="{33F615C5-7AC5-8356-5838-13C4621CDF1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22502" r="22624" b="43530"/>
          <a:stretch/>
        </p:blipFill>
        <p:spPr>
          <a:xfrm>
            <a:off x="11433542" y="105999"/>
            <a:ext cx="626710" cy="600307"/>
          </a:xfrm>
          <a:prstGeom prst="rect">
            <a:avLst/>
          </a:prstGeom>
          <a:effectLst>
            <a:glow rad="88900">
              <a:schemeClr val="bg1"/>
            </a:glow>
          </a:effectLst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8A4ECDE-A321-424B-E06C-2AC5ED113F28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838200" y="4498210"/>
            <a:ext cx="10515600" cy="1759156"/>
          </a:xfrm>
        </p:spPr>
        <p:txBody>
          <a:bodyPr/>
          <a:lstStyle/>
          <a:p>
            <a:pPr lvl="0"/>
            <a:r>
              <a:rPr lang="en-US"/>
              <a:t>Click to edit 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3BF957-903A-6983-952D-1004CE72693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1882741"/>
            <a:ext cx="4871991" cy="2518929"/>
          </a:xfrm>
        </p:spPr>
        <p:txBody>
          <a:bodyPr/>
          <a:lstStyle/>
          <a:p>
            <a:pPr lvl="0"/>
            <a:r>
              <a:rPr lang="en-US"/>
              <a:t>Click to add image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DE8D28-1635-A4F8-1AAF-DF77268D0220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72200" y="1882741"/>
            <a:ext cx="5181600" cy="2518929"/>
          </a:xfrm>
        </p:spPr>
        <p:txBody>
          <a:bodyPr/>
          <a:lstStyle/>
          <a:p>
            <a:pPr lvl="0"/>
            <a:r>
              <a:rPr lang="en-US"/>
              <a:t>Click to add image</a:t>
            </a: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51CEA2A0-D792-7A8B-96C4-11F62B54DF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481666"/>
            <a:ext cx="10515600" cy="1325563"/>
          </a:xfrm>
        </p:spPr>
        <p:txBody>
          <a:bodyPr>
            <a:normAutofit/>
          </a:bodyPr>
          <a:lstStyle>
            <a:lvl1pPr>
              <a:defRPr sz="5400" b="1" i="0">
                <a:solidFill>
                  <a:srgbClr val="9C3C9A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6CA8C5-8D34-9596-DD96-880EF6B5F3EA}"/>
              </a:ext>
            </a:extLst>
          </p:cNvPr>
          <p:cNvSpPr txBox="1"/>
          <p:nvPr userDrawn="1"/>
        </p:nvSpPr>
        <p:spPr>
          <a:xfrm>
            <a:off x="-217773" y="17837"/>
            <a:ext cx="3555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SOUTHEAST REGIONAL</a:t>
            </a:r>
          </a:p>
        </p:txBody>
      </p:sp>
      <p:pic>
        <p:nvPicPr>
          <p:cNvPr id="6" name="Picture 5" descr="A logo with text on it&#10;&#10;AI-generated content may be incorrect.">
            <a:extLst>
              <a:ext uri="{FF2B5EF4-FFF2-40B4-BE49-F238E27FC236}">
                <a16:creationId xmlns:a16="http://schemas.microsoft.com/office/drawing/2014/main" id="{21BBF571-11C3-BE9C-90A5-C73DBB59722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31748" y="5910774"/>
            <a:ext cx="855139" cy="855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70470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lt 3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E0805F0-CB02-595B-4581-AA305BD630D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4000">
                <a:schemeClr val="accent4">
                  <a:lumMod val="0"/>
                  <a:lumOff val="100000"/>
                </a:schemeClr>
              </a:gs>
              <a:gs pos="55000">
                <a:srgbClr val="9C3C9A"/>
              </a:gs>
              <a:gs pos="43000">
                <a:srgbClr val="9C3C9A"/>
              </a:gs>
              <a:gs pos="95000">
                <a:schemeClr val="bg1"/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D0F31A5-5900-05F9-B2E1-A8D46FBD361E}"/>
              </a:ext>
            </a:extLst>
          </p:cNvPr>
          <p:cNvSpPr/>
          <p:nvPr userDrawn="1"/>
        </p:nvSpPr>
        <p:spPr>
          <a:xfrm>
            <a:off x="376191" y="406153"/>
            <a:ext cx="11439618" cy="6045694"/>
          </a:xfrm>
          <a:prstGeom prst="rect">
            <a:avLst/>
          </a:prstGeom>
          <a:solidFill>
            <a:schemeClr val="bg1">
              <a:alpha val="8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 descr="A colorful star logo with black background&#10;&#10;Description automatically generated">
            <a:extLst>
              <a:ext uri="{FF2B5EF4-FFF2-40B4-BE49-F238E27FC236}">
                <a16:creationId xmlns:a16="http://schemas.microsoft.com/office/drawing/2014/main" id="{33F615C5-7AC5-8356-5838-13C4621CDF1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22502" r="22624" b="43530"/>
          <a:stretch/>
        </p:blipFill>
        <p:spPr>
          <a:xfrm>
            <a:off x="11433542" y="105999"/>
            <a:ext cx="626710" cy="600307"/>
          </a:xfrm>
          <a:prstGeom prst="rect">
            <a:avLst/>
          </a:prstGeom>
          <a:effectLst>
            <a:glow rad="88900">
              <a:schemeClr val="bg1"/>
            </a:glow>
          </a:effectLst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8A4ECDE-A321-424B-E06C-2AC5ED113F28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838200" y="1882741"/>
            <a:ext cx="10515600" cy="1759156"/>
          </a:xfrm>
        </p:spPr>
        <p:txBody>
          <a:bodyPr/>
          <a:lstStyle/>
          <a:p>
            <a:pPr lvl="0"/>
            <a:r>
              <a:rPr lang="en-US"/>
              <a:t>Click to edit 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3BF957-903A-6983-952D-1004CE72693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3787407"/>
            <a:ext cx="4871991" cy="2518929"/>
          </a:xfrm>
        </p:spPr>
        <p:txBody>
          <a:bodyPr/>
          <a:lstStyle/>
          <a:p>
            <a:pPr lvl="0"/>
            <a:r>
              <a:rPr lang="en-US"/>
              <a:t>Click to add image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DE8D28-1635-A4F8-1AAF-DF77268D0220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72200" y="3787407"/>
            <a:ext cx="5181600" cy="2518929"/>
          </a:xfrm>
        </p:spPr>
        <p:txBody>
          <a:bodyPr/>
          <a:lstStyle/>
          <a:p>
            <a:pPr lvl="0"/>
            <a:r>
              <a:rPr lang="en-US"/>
              <a:t>Click to add image</a:t>
            </a: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51CEA2A0-D792-7A8B-96C4-11F62B54DF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481666"/>
            <a:ext cx="10515600" cy="1325563"/>
          </a:xfrm>
        </p:spPr>
        <p:txBody>
          <a:bodyPr>
            <a:normAutofit/>
          </a:bodyPr>
          <a:lstStyle>
            <a:lvl1pPr>
              <a:defRPr sz="5400" b="1" i="0">
                <a:solidFill>
                  <a:srgbClr val="9C3C9A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71D3EB-F0E6-8BAD-6A12-ED450913A277}"/>
              </a:ext>
            </a:extLst>
          </p:cNvPr>
          <p:cNvSpPr txBox="1"/>
          <p:nvPr userDrawn="1"/>
        </p:nvSpPr>
        <p:spPr>
          <a:xfrm>
            <a:off x="-217773" y="17837"/>
            <a:ext cx="3555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SOUTHEAST REGIONAL</a:t>
            </a:r>
          </a:p>
        </p:txBody>
      </p:sp>
      <p:pic>
        <p:nvPicPr>
          <p:cNvPr id="6" name="Picture 5" descr="A logo with text on it&#10;&#10;AI-generated content may be incorrect.">
            <a:extLst>
              <a:ext uri="{FF2B5EF4-FFF2-40B4-BE49-F238E27FC236}">
                <a16:creationId xmlns:a16="http://schemas.microsoft.com/office/drawing/2014/main" id="{1F187060-C089-3CBC-E6C9-9F3C99F3302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31748" y="5910774"/>
            <a:ext cx="855139" cy="855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52910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A706480-2151-0A3E-E111-E8E3560D07A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4000">
                <a:schemeClr val="accent4">
                  <a:lumMod val="0"/>
                  <a:lumOff val="100000"/>
                </a:schemeClr>
              </a:gs>
              <a:gs pos="55000">
                <a:srgbClr val="9C3C9A"/>
              </a:gs>
              <a:gs pos="43000">
                <a:srgbClr val="9C3C9A"/>
              </a:gs>
              <a:gs pos="95000">
                <a:schemeClr val="bg1"/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D0F31A5-5900-05F9-B2E1-A8D46FBD361E}"/>
              </a:ext>
            </a:extLst>
          </p:cNvPr>
          <p:cNvSpPr/>
          <p:nvPr userDrawn="1"/>
        </p:nvSpPr>
        <p:spPr>
          <a:xfrm>
            <a:off x="376191" y="406153"/>
            <a:ext cx="11439618" cy="6045694"/>
          </a:xfrm>
          <a:prstGeom prst="rect">
            <a:avLst/>
          </a:prstGeom>
          <a:solidFill>
            <a:schemeClr val="bg1">
              <a:alpha val="8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 descr="A colorful star logo with black background&#10;&#10;Description automatically generated">
            <a:extLst>
              <a:ext uri="{FF2B5EF4-FFF2-40B4-BE49-F238E27FC236}">
                <a16:creationId xmlns:a16="http://schemas.microsoft.com/office/drawing/2014/main" id="{33F615C5-7AC5-8356-5838-13C4621CDF1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22502" r="22624" b="43530"/>
          <a:stretch/>
        </p:blipFill>
        <p:spPr>
          <a:xfrm>
            <a:off x="11433542" y="105999"/>
            <a:ext cx="626710" cy="600307"/>
          </a:xfrm>
          <a:prstGeom prst="rect">
            <a:avLst/>
          </a:prstGeom>
          <a:effectLst>
            <a:glow rad="88900">
              <a:schemeClr val="bg1"/>
            </a:glow>
          </a:effectLst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8A4ECDE-A321-424B-E06C-2AC5ED113F28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838200" y="4495112"/>
            <a:ext cx="10515600" cy="1759156"/>
          </a:xfrm>
        </p:spPr>
        <p:txBody>
          <a:bodyPr/>
          <a:lstStyle/>
          <a:p>
            <a:pPr lvl="0"/>
            <a:r>
              <a:rPr lang="en-US"/>
              <a:t>Click to edit 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3BF957-903A-6983-952D-1004CE72693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1882741"/>
            <a:ext cx="3276600" cy="2518929"/>
          </a:xfrm>
        </p:spPr>
        <p:txBody>
          <a:bodyPr/>
          <a:lstStyle/>
          <a:p>
            <a:pPr lvl="0"/>
            <a:r>
              <a:rPr lang="en-US"/>
              <a:t>Click to add image</a:t>
            </a: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51CEA2A0-D792-7A8B-96C4-11F62B54DF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481666"/>
            <a:ext cx="10515600" cy="1325563"/>
          </a:xfrm>
        </p:spPr>
        <p:txBody>
          <a:bodyPr>
            <a:normAutofit/>
          </a:bodyPr>
          <a:lstStyle>
            <a:lvl1pPr>
              <a:defRPr sz="5400" b="1" i="0">
                <a:solidFill>
                  <a:srgbClr val="9C3C9A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A41EBA4F-8F72-54E5-2B09-EA908F62E363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4457700" y="1891706"/>
            <a:ext cx="3276600" cy="2518929"/>
          </a:xfrm>
        </p:spPr>
        <p:txBody>
          <a:bodyPr/>
          <a:lstStyle/>
          <a:p>
            <a:pPr lvl="0"/>
            <a:r>
              <a:rPr lang="en-US"/>
              <a:t>Click to add image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3954507-0802-5324-53E2-350830C17D5A}"/>
              </a:ext>
            </a:extLst>
          </p:cNvPr>
          <p:cNvSpPr>
            <a:spLocks noGrp="1"/>
          </p:cNvSpPr>
          <p:nvPr>
            <p:ph sz="half" idx="12" hasCustomPrompt="1"/>
          </p:nvPr>
        </p:nvSpPr>
        <p:spPr>
          <a:xfrm>
            <a:off x="8072719" y="1891706"/>
            <a:ext cx="3276600" cy="2518929"/>
          </a:xfrm>
        </p:spPr>
        <p:txBody>
          <a:bodyPr/>
          <a:lstStyle/>
          <a:p>
            <a:pPr lvl="0"/>
            <a:r>
              <a:rPr lang="en-US"/>
              <a:t>Click to add image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6B02793-CED1-84FD-AE15-F62CA0533BDC}"/>
              </a:ext>
            </a:extLst>
          </p:cNvPr>
          <p:cNvSpPr txBox="1"/>
          <p:nvPr userDrawn="1"/>
        </p:nvSpPr>
        <p:spPr>
          <a:xfrm>
            <a:off x="-217773" y="17837"/>
            <a:ext cx="3555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SOUTHEAST REGIONAL</a:t>
            </a:r>
          </a:p>
        </p:txBody>
      </p:sp>
      <p:pic>
        <p:nvPicPr>
          <p:cNvPr id="7" name="Picture 6" descr="A logo with text on it&#10;&#10;AI-generated content may be incorrect.">
            <a:extLst>
              <a:ext uri="{FF2B5EF4-FFF2-40B4-BE49-F238E27FC236}">
                <a16:creationId xmlns:a16="http://schemas.microsoft.com/office/drawing/2014/main" id="{A816879B-327A-0A42-0EE1-B18894646D5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31748" y="5910774"/>
            <a:ext cx="855139" cy="855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92890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lt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FE3C654-8EE9-233C-8D36-58A1FD47408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4000">
                <a:schemeClr val="accent4">
                  <a:lumMod val="0"/>
                  <a:lumOff val="100000"/>
                </a:schemeClr>
              </a:gs>
              <a:gs pos="55000">
                <a:srgbClr val="9C3C9A"/>
              </a:gs>
              <a:gs pos="43000">
                <a:srgbClr val="9C3C9A"/>
              </a:gs>
              <a:gs pos="95000">
                <a:schemeClr val="bg1"/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D0F31A5-5900-05F9-B2E1-A8D46FBD361E}"/>
              </a:ext>
            </a:extLst>
          </p:cNvPr>
          <p:cNvSpPr/>
          <p:nvPr userDrawn="1"/>
        </p:nvSpPr>
        <p:spPr>
          <a:xfrm>
            <a:off x="376191" y="406153"/>
            <a:ext cx="11439618" cy="6045694"/>
          </a:xfrm>
          <a:prstGeom prst="rect">
            <a:avLst/>
          </a:prstGeom>
          <a:solidFill>
            <a:schemeClr val="bg1">
              <a:alpha val="8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 descr="A colorful star logo with black background&#10;&#10;Description automatically generated">
            <a:extLst>
              <a:ext uri="{FF2B5EF4-FFF2-40B4-BE49-F238E27FC236}">
                <a16:creationId xmlns:a16="http://schemas.microsoft.com/office/drawing/2014/main" id="{33F615C5-7AC5-8356-5838-13C4621CDF1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22502" r="22624" b="43530"/>
          <a:stretch/>
        </p:blipFill>
        <p:spPr>
          <a:xfrm>
            <a:off x="11433542" y="105999"/>
            <a:ext cx="626710" cy="600307"/>
          </a:xfrm>
          <a:prstGeom prst="rect">
            <a:avLst/>
          </a:prstGeom>
          <a:effectLst>
            <a:glow rad="88900">
              <a:schemeClr val="bg1"/>
            </a:glow>
          </a:effectLst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8A4ECDE-A321-424B-E06C-2AC5ED113F28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838200" y="1882741"/>
            <a:ext cx="10515600" cy="1759156"/>
          </a:xfrm>
        </p:spPr>
        <p:txBody>
          <a:bodyPr/>
          <a:lstStyle/>
          <a:p>
            <a:pPr lvl="0"/>
            <a:r>
              <a:rPr lang="en-US"/>
              <a:t>Click to edit 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3BF957-903A-6983-952D-1004CE72693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3787407"/>
            <a:ext cx="3276600" cy="2518929"/>
          </a:xfrm>
        </p:spPr>
        <p:txBody>
          <a:bodyPr/>
          <a:lstStyle/>
          <a:p>
            <a:pPr lvl="0"/>
            <a:r>
              <a:rPr lang="en-US"/>
              <a:t>Click to add image</a:t>
            </a: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51CEA2A0-D792-7A8B-96C4-11F62B54DF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481666"/>
            <a:ext cx="10515600" cy="1325563"/>
          </a:xfrm>
        </p:spPr>
        <p:txBody>
          <a:bodyPr>
            <a:normAutofit/>
          </a:bodyPr>
          <a:lstStyle>
            <a:lvl1pPr>
              <a:defRPr sz="5400" b="1" i="0">
                <a:solidFill>
                  <a:srgbClr val="9C3C9A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A41EBA4F-8F72-54E5-2B09-EA908F62E363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4457700" y="3796372"/>
            <a:ext cx="3276600" cy="2518929"/>
          </a:xfrm>
        </p:spPr>
        <p:txBody>
          <a:bodyPr/>
          <a:lstStyle/>
          <a:p>
            <a:pPr lvl="0"/>
            <a:r>
              <a:rPr lang="en-US"/>
              <a:t>Click to add image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3954507-0802-5324-53E2-350830C17D5A}"/>
              </a:ext>
            </a:extLst>
          </p:cNvPr>
          <p:cNvSpPr>
            <a:spLocks noGrp="1"/>
          </p:cNvSpPr>
          <p:nvPr>
            <p:ph sz="half" idx="12" hasCustomPrompt="1"/>
          </p:nvPr>
        </p:nvSpPr>
        <p:spPr>
          <a:xfrm>
            <a:off x="8072719" y="3796372"/>
            <a:ext cx="3276600" cy="2518929"/>
          </a:xfrm>
        </p:spPr>
        <p:txBody>
          <a:bodyPr/>
          <a:lstStyle/>
          <a:p>
            <a:pPr lvl="0"/>
            <a:r>
              <a:rPr lang="en-US"/>
              <a:t>Click to add image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CC0476-202A-138E-4300-B2E1A0BB76E8}"/>
              </a:ext>
            </a:extLst>
          </p:cNvPr>
          <p:cNvSpPr txBox="1"/>
          <p:nvPr userDrawn="1"/>
        </p:nvSpPr>
        <p:spPr>
          <a:xfrm>
            <a:off x="-217773" y="17837"/>
            <a:ext cx="3555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SOUTHEAST REGIONAL</a:t>
            </a:r>
          </a:p>
        </p:txBody>
      </p:sp>
      <p:pic>
        <p:nvPicPr>
          <p:cNvPr id="7" name="Picture 6" descr="A logo with text on it&#10;&#10;AI-generated content may be incorrect.">
            <a:extLst>
              <a:ext uri="{FF2B5EF4-FFF2-40B4-BE49-F238E27FC236}">
                <a16:creationId xmlns:a16="http://schemas.microsoft.com/office/drawing/2014/main" id="{5D04F5A4-93F2-18CC-0ECA-00DEAE9695E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31748" y="5910774"/>
            <a:ext cx="855139" cy="855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49866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5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2077418-C275-7FA5-D026-9B5CDB9A4DD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4000">
                <a:schemeClr val="accent4">
                  <a:lumMod val="0"/>
                  <a:lumOff val="100000"/>
                </a:schemeClr>
              </a:gs>
              <a:gs pos="55000">
                <a:srgbClr val="9C3C9A"/>
              </a:gs>
              <a:gs pos="43000">
                <a:srgbClr val="9C3C9A"/>
              </a:gs>
              <a:gs pos="95000">
                <a:schemeClr val="bg1"/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6244ABF-B236-9273-293B-7CF99CAD6F18}"/>
              </a:ext>
            </a:extLst>
          </p:cNvPr>
          <p:cNvSpPr/>
          <p:nvPr userDrawn="1"/>
        </p:nvSpPr>
        <p:spPr>
          <a:xfrm>
            <a:off x="376191" y="406153"/>
            <a:ext cx="11439618" cy="6045694"/>
          </a:xfrm>
          <a:prstGeom prst="rect">
            <a:avLst/>
          </a:prstGeom>
          <a:solidFill>
            <a:schemeClr val="bg1">
              <a:alpha val="8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colorful star logo with black background&#10;&#10;Description automatically generated">
            <a:extLst>
              <a:ext uri="{FF2B5EF4-FFF2-40B4-BE49-F238E27FC236}">
                <a16:creationId xmlns:a16="http://schemas.microsoft.com/office/drawing/2014/main" id="{BD0F15A2-3D4C-5C40-1658-9801E3A6BFB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22502" r="22624" b="43530"/>
          <a:stretch/>
        </p:blipFill>
        <p:spPr>
          <a:xfrm>
            <a:off x="11433542" y="105999"/>
            <a:ext cx="626710" cy="600307"/>
          </a:xfrm>
          <a:prstGeom prst="rect">
            <a:avLst/>
          </a:prstGeom>
          <a:effectLst>
            <a:glow rad="88900">
              <a:schemeClr val="bg1"/>
            </a:glo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160829C-43E8-B7D1-8467-27C6D5CBEB8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03278"/>
            <a:ext cx="10515600" cy="1325563"/>
          </a:xfrm>
        </p:spPr>
        <p:txBody>
          <a:bodyPr>
            <a:normAutofit/>
          </a:bodyPr>
          <a:lstStyle>
            <a:lvl1pPr>
              <a:defRPr sz="5400" b="1" i="0">
                <a:solidFill>
                  <a:srgbClr val="9C3C9A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3BF957-903A-6983-952D-1004CE72693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3505200" y="1925966"/>
            <a:ext cx="5181600" cy="4367257"/>
          </a:xfrm>
        </p:spPr>
        <p:txBody>
          <a:bodyPr/>
          <a:lstStyle/>
          <a:p>
            <a:pPr lvl="0"/>
            <a:r>
              <a:rPr lang="en-US"/>
              <a:t>Click to edit text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742ADE3-BD95-9FBD-C4AA-398B29EDE8CE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838200" y="1925967"/>
            <a:ext cx="2570148" cy="2136341"/>
          </a:xfrm>
        </p:spPr>
        <p:txBody>
          <a:bodyPr/>
          <a:lstStyle/>
          <a:p>
            <a:pPr lvl="0"/>
            <a:r>
              <a:rPr lang="en-US"/>
              <a:t>Click to add image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349FDC43-AF17-73FD-3372-89B0479FC899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838200" y="4156883"/>
            <a:ext cx="2570148" cy="2136341"/>
          </a:xfrm>
        </p:spPr>
        <p:txBody>
          <a:bodyPr/>
          <a:lstStyle/>
          <a:p>
            <a:pPr lvl="0"/>
            <a:r>
              <a:rPr lang="en-US"/>
              <a:t>Click to add image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8F39427C-BDDB-910D-15D2-A20CE3DE1C74}"/>
              </a:ext>
            </a:extLst>
          </p:cNvPr>
          <p:cNvSpPr>
            <a:spLocks noGrp="1"/>
          </p:cNvSpPr>
          <p:nvPr>
            <p:ph sz="half" idx="12" hasCustomPrompt="1"/>
          </p:nvPr>
        </p:nvSpPr>
        <p:spPr>
          <a:xfrm>
            <a:off x="8780928" y="1925967"/>
            <a:ext cx="2570148" cy="2136341"/>
          </a:xfrm>
        </p:spPr>
        <p:txBody>
          <a:bodyPr/>
          <a:lstStyle/>
          <a:p>
            <a:pPr lvl="0"/>
            <a:r>
              <a:rPr lang="en-US"/>
              <a:t>Click to add image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B80EDAD4-5E86-1867-1B20-092B2F7776C0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8780928" y="4156883"/>
            <a:ext cx="2570148" cy="2136341"/>
          </a:xfrm>
        </p:spPr>
        <p:txBody>
          <a:bodyPr/>
          <a:lstStyle/>
          <a:p>
            <a:pPr lvl="0"/>
            <a:r>
              <a:rPr lang="en-US"/>
              <a:t>Click to add image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116EBA-0309-77B7-FC66-7175AA3BE5E8}"/>
              </a:ext>
            </a:extLst>
          </p:cNvPr>
          <p:cNvSpPr txBox="1"/>
          <p:nvPr userDrawn="1"/>
        </p:nvSpPr>
        <p:spPr>
          <a:xfrm>
            <a:off x="-217773" y="17837"/>
            <a:ext cx="3555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SOUTHEAST REGIONAL</a:t>
            </a:r>
          </a:p>
        </p:txBody>
      </p:sp>
      <p:pic>
        <p:nvPicPr>
          <p:cNvPr id="7" name="Picture 6" descr="A logo with text on it&#10;&#10;AI-generated content may be incorrect.">
            <a:extLst>
              <a:ext uri="{FF2B5EF4-FFF2-40B4-BE49-F238E27FC236}">
                <a16:creationId xmlns:a16="http://schemas.microsoft.com/office/drawing/2014/main" id="{EC6DB40A-1B9D-8601-575B-91BF60F2A0B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31748" y="5910774"/>
            <a:ext cx="855139" cy="855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82812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2x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1BE69CD-892F-254B-61DD-F1B727794F6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4000">
                <a:schemeClr val="accent4">
                  <a:lumMod val="0"/>
                  <a:lumOff val="100000"/>
                </a:schemeClr>
              </a:gs>
              <a:gs pos="55000">
                <a:srgbClr val="9C3C9A"/>
              </a:gs>
              <a:gs pos="43000">
                <a:srgbClr val="9C3C9A"/>
              </a:gs>
              <a:gs pos="95000">
                <a:schemeClr val="bg1"/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3974EB4-CFDE-1A7C-C73F-77D490F68C23}"/>
              </a:ext>
            </a:extLst>
          </p:cNvPr>
          <p:cNvSpPr/>
          <p:nvPr userDrawn="1"/>
        </p:nvSpPr>
        <p:spPr>
          <a:xfrm>
            <a:off x="376191" y="406153"/>
            <a:ext cx="11439618" cy="6045694"/>
          </a:xfrm>
          <a:prstGeom prst="rect">
            <a:avLst/>
          </a:prstGeom>
          <a:solidFill>
            <a:schemeClr val="bg1">
              <a:alpha val="8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colorful star logo with black background&#10;&#10;Description automatically generated">
            <a:extLst>
              <a:ext uri="{FF2B5EF4-FFF2-40B4-BE49-F238E27FC236}">
                <a16:creationId xmlns:a16="http://schemas.microsoft.com/office/drawing/2014/main" id="{BD0F15A2-3D4C-5C40-1658-9801E3A6BFB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22502" r="22624" b="43530"/>
          <a:stretch/>
        </p:blipFill>
        <p:spPr>
          <a:xfrm>
            <a:off x="11433542" y="105999"/>
            <a:ext cx="626710" cy="600307"/>
          </a:xfrm>
          <a:prstGeom prst="rect">
            <a:avLst/>
          </a:prstGeom>
          <a:effectLst>
            <a:glow rad="88900">
              <a:schemeClr val="bg1"/>
            </a:glo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160829C-43E8-B7D1-8467-27C6D5CBEB8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03278"/>
            <a:ext cx="10515600" cy="1325563"/>
          </a:xfrm>
        </p:spPr>
        <p:txBody>
          <a:bodyPr>
            <a:normAutofit/>
          </a:bodyPr>
          <a:lstStyle>
            <a:lvl1pPr>
              <a:defRPr sz="5400" b="1" i="0">
                <a:solidFill>
                  <a:srgbClr val="9C3C9A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742ADE3-BD95-9FBD-C4AA-398B29EDE8CE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810926" y="1925967"/>
            <a:ext cx="2570148" cy="2136341"/>
          </a:xfrm>
        </p:spPr>
        <p:txBody>
          <a:bodyPr/>
          <a:lstStyle/>
          <a:p>
            <a:pPr lvl="0"/>
            <a:r>
              <a:rPr lang="en-US"/>
              <a:t>Click to add image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349FDC43-AF17-73FD-3372-89B0479FC899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4810926" y="4156883"/>
            <a:ext cx="2570148" cy="2136341"/>
          </a:xfrm>
        </p:spPr>
        <p:txBody>
          <a:bodyPr/>
          <a:lstStyle/>
          <a:p>
            <a:pPr lvl="0"/>
            <a:r>
              <a:rPr lang="en-US"/>
              <a:t>Click to add image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D9C8F19-5607-4444-B661-DCA403F0D17B}"/>
              </a:ext>
            </a:extLst>
          </p:cNvPr>
          <p:cNvSpPr>
            <a:spLocks noGrp="1"/>
          </p:cNvSpPr>
          <p:nvPr>
            <p:ph sz="half" idx="12" hasCustomPrompt="1"/>
          </p:nvPr>
        </p:nvSpPr>
        <p:spPr>
          <a:xfrm>
            <a:off x="839957" y="1925966"/>
            <a:ext cx="3785831" cy="4367257"/>
          </a:xfrm>
        </p:spPr>
        <p:txBody>
          <a:bodyPr/>
          <a:lstStyle/>
          <a:p>
            <a:pPr lvl="0"/>
            <a:r>
              <a:rPr lang="en-US"/>
              <a:t>Click to edit text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867A41B-FBE9-AB25-80B8-B8EE5D5259ED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7566213" y="1908037"/>
            <a:ext cx="3787278" cy="4367257"/>
          </a:xfrm>
        </p:spPr>
        <p:txBody>
          <a:bodyPr/>
          <a:lstStyle/>
          <a:p>
            <a:pPr lvl="0"/>
            <a:r>
              <a:rPr lang="en-US"/>
              <a:t>Click to edit text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04FB502-ADB6-A26F-6B35-B3DF2F7137CE}"/>
              </a:ext>
            </a:extLst>
          </p:cNvPr>
          <p:cNvSpPr txBox="1"/>
          <p:nvPr userDrawn="1"/>
        </p:nvSpPr>
        <p:spPr>
          <a:xfrm>
            <a:off x="-217773" y="17837"/>
            <a:ext cx="3555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SOUTHEAST REGIONAL</a:t>
            </a:r>
          </a:p>
        </p:txBody>
      </p:sp>
      <p:pic>
        <p:nvPicPr>
          <p:cNvPr id="8" name="Picture 7" descr="A logo with text on it&#10;&#10;AI-generated content may be incorrect.">
            <a:extLst>
              <a:ext uri="{FF2B5EF4-FFF2-40B4-BE49-F238E27FC236}">
                <a16:creationId xmlns:a16="http://schemas.microsoft.com/office/drawing/2014/main" id="{2849D10E-D6ED-809C-9F2C-ECB64F8BEC0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31748" y="5910774"/>
            <a:ext cx="855139" cy="855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5688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4">
            <a:extLst>
              <a:ext uri="{FF2B5EF4-FFF2-40B4-BE49-F238E27FC236}">
                <a16:creationId xmlns:a16="http://schemas.microsoft.com/office/drawing/2014/main" id="{EEF76CBC-C974-F6E1-9B35-58D3C1F56EC7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536"/>
          <a:stretch/>
        </p:blipFill>
        <p:spPr bwMode="auto">
          <a:xfrm>
            <a:off x="-2" y="-12559"/>
            <a:ext cx="12192002" cy="6870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33AE0900-BF21-AF02-85BB-E334C3E8D2DE}"/>
              </a:ext>
            </a:extLst>
          </p:cNvPr>
          <p:cNvSpPr/>
          <p:nvPr userDrawn="1"/>
        </p:nvSpPr>
        <p:spPr>
          <a:xfrm>
            <a:off x="376191" y="406153"/>
            <a:ext cx="11439618" cy="6045694"/>
          </a:xfrm>
          <a:prstGeom prst="rect">
            <a:avLst/>
          </a:prstGeom>
          <a:solidFill>
            <a:schemeClr val="bg1">
              <a:alpha val="9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8" name="Picture 27" descr="A colorful star logo with black background&#10;&#10;Description automatically generated">
            <a:extLst>
              <a:ext uri="{FF2B5EF4-FFF2-40B4-BE49-F238E27FC236}">
                <a16:creationId xmlns:a16="http://schemas.microsoft.com/office/drawing/2014/main" id="{04B7725C-702B-1313-87C6-5F20E6D85F4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2502" r="22624" b="43530"/>
          <a:stretch/>
        </p:blipFill>
        <p:spPr>
          <a:xfrm>
            <a:off x="11433542" y="105999"/>
            <a:ext cx="626710" cy="600307"/>
          </a:xfrm>
          <a:prstGeom prst="rect">
            <a:avLst/>
          </a:prstGeom>
          <a:effectLst>
            <a:glow rad="88900">
              <a:schemeClr val="bg1"/>
            </a:glow>
          </a:effectLst>
        </p:spPr>
      </p:pic>
      <p:sp>
        <p:nvSpPr>
          <p:cNvPr id="31" name="Title 30">
            <a:extLst>
              <a:ext uri="{FF2B5EF4-FFF2-40B4-BE49-F238E27FC236}">
                <a16:creationId xmlns:a16="http://schemas.microsoft.com/office/drawing/2014/main" id="{9759B8C1-559D-DF2C-611F-D0EA94C3D5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2024023"/>
            <a:ext cx="10515600" cy="1325563"/>
          </a:xfrm>
        </p:spPr>
        <p:txBody>
          <a:bodyPr>
            <a:noAutofit/>
          </a:bodyPr>
          <a:lstStyle>
            <a:lvl1pPr algn="ctr">
              <a:defRPr sz="7200" b="1" i="0"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3" name="Text Placeholder 2">
            <a:extLst>
              <a:ext uri="{FF2B5EF4-FFF2-40B4-BE49-F238E27FC236}">
                <a16:creationId xmlns:a16="http://schemas.microsoft.com/office/drawing/2014/main" id="{471E23B4-573A-EC8E-4D69-9D8C243A716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3508415"/>
            <a:ext cx="10515600" cy="1500187"/>
          </a:xfrm>
        </p:spPr>
        <p:txBody>
          <a:bodyPr>
            <a:normAutofit/>
          </a:bodyPr>
          <a:lstStyle>
            <a:lvl1pPr marL="0" indent="0" algn="ctr">
              <a:buNone/>
              <a:defRPr sz="3200" b="1" i="0">
                <a:solidFill>
                  <a:schemeClr val="tx1"/>
                </a:solidFill>
                <a:latin typeface="Open Sans SemiBold" pitchFamily="2" charset="0"/>
                <a:ea typeface="Open Sans SemiBold" pitchFamily="2" charset="0"/>
                <a:cs typeface="Open Sans SemiBold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049FB08-02D6-4AF2-996A-5116FAA9A4A2}"/>
              </a:ext>
            </a:extLst>
          </p:cNvPr>
          <p:cNvSpPr txBox="1"/>
          <p:nvPr userDrawn="1"/>
        </p:nvSpPr>
        <p:spPr>
          <a:xfrm>
            <a:off x="-217773" y="17837"/>
            <a:ext cx="3555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SOUTHEAST REGIONAL</a:t>
            </a:r>
          </a:p>
        </p:txBody>
      </p:sp>
      <p:pic>
        <p:nvPicPr>
          <p:cNvPr id="4" name="Picture 3" descr="A logo with text on it&#10;&#10;AI-generated content may be incorrect.">
            <a:extLst>
              <a:ext uri="{FF2B5EF4-FFF2-40B4-BE49-F238E27FC236}">
                <a16:creationId xmlns:a16="http://schemas.microsoft.com/office/drawing/2014/main" id="{6AFD5816-760B-5643-56D0-28955072776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31748" y="5910774"/>
            <a:ext cx="855139" cy="855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57526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5317DE5-4F99-3AE7-AE3E-34328BE60821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536"/>
          <a:stretch/>
        </p:blipFill>
        <p:spPr bwMode="auto">
          <a:xfrm>
            <a:off x="-2" y="-12559"/>
            <a:ext cx="12192002" cy="6870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1B9BD75-9C22-FAB6-62FE-26686C6BC2BE}"/>
              </a:ext>
            </a:extLst>
          </p:cNvPr>
          <p:cNvSpPr/>
          <p:nvPr userDrawn="1"/>
        </p:nvSpPr>
        <p:spPr>
          <a:xfrm>
            <a:off x="376191" y="406153"/>
            <a:ext cx="11439618" cy="6045694"/>
          </a:xfrm>
          <a:prstGeom prst="rect">
            <a:avLst/>
          </a:prstGeom>
          <a:solidFill>
            <a:schemeClr val="bg1">
              <a:alpha val="9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A colorful star logo with black background&#10;&#10;Description automatically generated">
            <a:extLst>
              <a:ext uri="{FF2B5EF4-FFF2-40B4-BE49-F238E27FC236}">
                <a16:creationId xmlns:a16="http://schemas.microsoft.com/office/drawing/2014/main" id="{D3CABB2E-E743-3B28-1D24-7E9ABC7CF35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2502" r="22624" b="43530"/>
          <a:stretch/>
        </p:blipFill>
        <p:spPr>
          <a:xfrm>
            <a:off x="11433542" y="105999"/>
            <a:ext cx="626710" cy="600307"/>
          </a:xfrm>
          <a:prstGeom prst="rect">
            <a:avLst/>
          </a:prstGeom>
          <a:effectLst>
            <a:glow rad="88900">
              <a:schemeClr val="bg1"/>
            </a:glo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81B4654-3391-DEB6-F905-49151B363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10004"/>
            <a:ext cx="10515600" cy="1325563"/>
          </a:xfrm>
        </p:spPr>
        <p:txBody>
          <a:bodyPr>
            <a:noAutofit/>
          </a:bodyPr>
          <a:lstStyle>
            <a:lvl1pPr>
              <a:defRPr sz="5400" b="1" i="0"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C8CA38-EEAD-E583-739F-2BF4BCC3BDA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939417"/>
            <a:ext cx="10515600" cy="4351338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pPr lvl="0"/>
            <a:r>
              <a:rPr lang="en-US"/>
              <a:t>Click to add content</a:t>
            </a:r>
          </a:p>
        </p:txBody>
      </p:sp>
      <p:pic>
        <p:nvPicPr>
          <p:cNvPr id="20" name="Picture 19" descr="A colorful star logo with black background&#10;&#10;Description automatically generated">
            <a:extLst>
              <a:ext uri="{FF2B5EF4-FFF2-40B4-BE49-F238E27FC236}">
                <a16:creationId xmlns:a16="http://schemas.microsoft.com/office/drawing/2014/main" id="{08E24767-CEC5-1075-B15B-31A78966B5E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2502" r="22624" b="43530"/>
          <a:stretch/>
        </p:blipFill>
        <p:spPr>
          <a:xfrm>
            <a:off x="11432927" y="105999"/>
            <a:ext cx="626710" cy="600307"/>
          </a:xfrm>
          <a:prstGeom prst="rect">
            <a:avLst/>
          </a:prstGeom>
          <a:effectLst>
            <a:glow rad="88900">
              <a:schemeClr val="bg1"/>
            </a:glow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919D86B-4A4F-52CB-5F33-E83C12DF7206}"/>
              </a:ext>
            </a:extLst>
          </p:cNvPr>
          <p:cNvSpPr txBox="1"/>
          <p:nvPr userDrawn="1"/>
        </p:nvSpPr>
        <p:spPr>
          <a:xfrm>
            <a:off x="-217773" y="17837"/>
            <a:ext cx="3555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SOUTHEAST REGIONAL</a:t>
            </a:r>
          </a:p>
        </p:txBody>
      </p:sp>
      <p:pic>
        <p:nvPicPr>
          <p:cNvPr id="7" name="Picture 6" descr="A logo with text on it&#10;&#10;AI-generated content may be incorrect.">
            <a:extLst>
              <a:ext uri="{FF2B5EF4-FFF2-40B4-BE49-F238E27FC236}">
                <a16:creationId xmlns:a16="http://schemas.microsoft.com/office/drawing/2014/main" id="{410CCB86-A456-3B3B-6D54-7DCD1A6ABAB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31748" y="5910774"/>
            <a:ext cx="855139" cy="855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637344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>
            <a:extLst>
              <a:ext uri="{FF2B5EF4-FFF2-40B4-BE49-F238E27FC236}">
                <a16:creationId xmlns:a16="http://schemas.microsoft.com/office/drawing/2014/main" id="{16D23600-2A13-77D2-9DB3-54EB47966508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536"/>
          <a:stretch/>
        </p:blipFill>
        <p:spPr bwMode="auto">
          <a:xfrm>
            <a:off x="-2" y="-12559"/>
            <a:ext cx="12192002" cy="6870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4D876762-9118-D7FD-1BFF-F072A01D4DCE}"/>
              </a:ext>
            </a:extLst>
          </p:cNvPr>
          <p:cNvSpPr/>
          <p:nvPr userDrawn="1"/>
        </p:nvSpPr>
        <p:spPr>
          <a:xfrm>
            <a:off x="376191" y="406153"/>
            <a:ext cx="11439618" cy="6045694"/>
          </a:xfrm>
          <a:prstGeom prst="rect">
            <a:avLst/>
          </a:prstGeom>
          <a:solidFill>
            <a:schemeClr val="bg1">
              <a:alpha val="9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colorful star logo with black background&#10;&#10;Description automatically generated">
            <a:extLst>
              <a:ext uri="{FF2B5EF4-FFF2-40B4-BE49-F238E27FC236}">
                <a16:creationId xmlns:a16="http://schemas.microsoft.com/office/drawing/2014/main" id="{227ADD0A-FF1F-AC1E-3686-D490665FCD5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2502" r="22624" b="43530"/>
          <a:stretch/>
        </p:blipFill>
        <p:spPr>
          <a:xfrm>
            <a:off x="11433542" y="105999"/>
            <a:ext cx="626710" cy="600307"/>
          </a:xfrm>
          <a:prstGeom prst="rect">
            <a:avLst/>
          </a:prstGeom>
          <a:effectLst>
            <a:glow rad="88900">
              <a:schemeClr val="bg1"/>
            </a:glo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160829C-43E8-B7D1-8467-27C6D5CBEB8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481666"/>
            <a:ext cx="10515600" cy="1325563"/>
          </a:xfrm>
        </p:spPr>
        <p:txBody>
          <a:bodyPr>
            <a:normAutofit/>
          </a:bodyPr>
          <a:lstStyle>
            <a:lvl1pPr>
              <a:defRPr sz="5400" b="1" i="0"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3BF957-903A-6983-952D-1004CE72693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199" y="1888379"/>
            <a:ext cx="6790765" cy="4351338"/>
          </a:xfrm>
        </p:spPr>
        <p:txBody>
          <a:bodyPr>
            <a:normAutofit/>
          </a:bodyPr>
          <a:lstStyle>
            <a:lvl1pPr>
              <a:defRPr sz="2800" b="0" i="0">
                <a:latin typeface="+mn-lt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F1B377CC-1298-2CDD-1506-C2B50B5CC29A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7873407" y="1897344"/>
            <a:ext cx="3484875" cy="4351338"/>
          </a:xfrm>
        </p:spPr>
        <p:txBody>
          <a:bodyPr>
            <a:normAutofit/>
          </a:bodyPr>
          <a:lstStyle>
            <a:lvl1pPr>
              <a:defRPr sz="2800" b="0" i="0">
                <a:latin typeface="+mn-lt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/>
              <a:t>Click to add image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5C0306C-2F0A-BCE7-E1B7-D509FF6445AC}"/>
              </a:ext>
            </a:extLst>
          </p:cNvPr>
          <p:cNvSpPr txBox="1"/>
          <p:nvPr userDrawn="1"/>
        </p:nvSpPr>
        <p:spPr>
          <a:xfrm>
            <a:off x="-217773" y="17837"/>
            <a:ext cx="3555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SOUTHEAST REGIONAL</a:t>
            </a:r>
          </a:p>
        </p:txBody>
      </p:sp>
      <p:pic>
        <p:nvPicPr>
          <p:cNvPr id="4" name="Picture 3" descr="A logo with text on it&#10;&#10;AI-generated content may be incorrect.">
            <a:extLst>
              <a:ext uri="{FF2B5EF4-FFF2-40B4-BE49-F238E27FC236}">
                <a16:creationId xmlns:a16="http://schemas.microsoft.com/office/drawing/2014/main" id="{90E3279A-0556-C819-55AB-0CB31F33690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31748" y="5910774"/>
            <a:ext cx="855139" cy="855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905059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lt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>
            <a:extLst>
              <a:ext uri="{FF2B5EF4-FFF2-40B4-BE49-F238E27FC236}">
                <a16:creationId xmlns:a16="http://schemas.microsoft.com/office/drawing/2014/main" id="{812DCE66-0B31-5FD4-20AE-9DFAFFB5718D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536"/>
          <a:stretch/>
        </p:blipFill>
        <p:spPr bwMode="auto">
          <a:xfrm>
            <a:off x="-2" y="-12559"/>
            <a:ext cx="12192002" cy="6870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2564610-7C2B-6F85-CED0-5C669D7C9E50}"/>
              </a:ext>
            </a:extLst>
          </p:cNvPr>
          <p:cNvSpPr/>
          <p:nvPr userDrawn="1"/>
        </p:nvSpPr>
        <p:spPr>
          <a:xfrm>
            <a:off x="376191" y="406153"/>
            <a:ext cx="11439618" cy="6045694"/>
          </a:xfrm>
          <a:prstGeom prst="rect">
            <a:avLst/>
          </a:prstGeom>
          <a:solidFill>
            <a:schemeClr val="bg1">
              <a:alpha val="9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colorful star logo with black background&#10;&#10;Description automatically generated">
            <a:extLst>
              <a:ext uri="{FF2B5EF4-FFF2-40B4-BE49-F238E27FC236}">
                <a16:creationId xmlns:a16="http://schemas.microsoft.com/office/drawing/2014/main" id="{227ADD0A-FF1F-AC1E-3686-D490665FCD5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2502" r="22624" b="43530"/>
          <a:stretch/>
        </p:blipFill>
        <p:spPr>
          <a:xfrm>
            <a:off x="11433542" y="105999"/>
            <a:ext cx="626710" cy="600307"/>
          </a:xfrm>
          <a:prstGeom prst="rect">
            <a:avLst/>
          </a:prstGeom>
          <a:effectLst>
            <a:glow rad="88900">
              <a:schemeClr val="bg1"/>
            </a:glo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160829C-43E8-B7D1-8467-27C6D5CBEB8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481666"/>
            <a:ext cx="10515600" cy="1325563"/>
          </a:xfrm>
        </p:spPr>
        <p:txBody>
          <a:bodyPr>
            <a:normAutofit/>
          </a:bodyPr>
          <a:lstStyle>
            <a:lvl1pPr>
              <a:defRPr sz="5400" b="1" i="0"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3BF957-903A-6983-952D-1004CE72693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567517" y="1888379"/>
            <a:ext cx="6790765" cy="4351338"/>
          </a:xfrm>
        </p:spPr>
        <p:txBody>
          <a:bodyPr>
            <a:normAutofit/>
          </a:bodyPr>
          <a:lstStyle>
            <a:lvl1pPr>
              <a:defRPr sz="2800" b="0" i="0">
                <a:latin typeface="+mn-lt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F1B377CC-1298-2CDD-1506-C2B50B5CC29A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838199" y="1897344"/>
            <a:ext cx="3484875" cy="4351338"/>
          </a:xfrm>
        </p:spPr>
        <p:txBody>
          <a:bodyPr>
            <a:normAutofit/>
          </a:bodyPr>
          <a:lstStyle>
            <a:lvl1pPr>
              <a:defRPr sz="2800" b="0" i="0">
                <a:latin typeface="+mn-lt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/>
              <a:t>Click to add image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8565D0-4C08-EBAF-5420-4848274BAFF9}"/>
              </a:ext>
            </a:extLst>
          </p:cNvPr>
          <p:cNvSpPr txBox="1"/>
          <p:nvPr userDrawn="1"/>
        </p:nvSpPr>
        <p:spPr>
          <a:xfrm>
            <a:off x="-217773" y="17837"/>
            <a:ext cx="3555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SOUTHEAST REGIONAL</a:t>
            </a:r>
          </a:p>
        </p:txBody>
      </p:sp>
      <p:pic>
        <p:nvPicPr>
          <p:cNvPr id="4" name="Picture 3" descr="A logo with text on it&#10;&#10;AI-generated content may be incorrect.">
            <a:extLst>
              <a:ext uri="{FF2B5EF4-FFF2-40B4-BE49-F238E27FC236}">
                <a16:creationId xmlns:a16="http://schemas.microsoft.com/office/drawing/2014/main" id="{00DF7C25-472B-4A91-421B-BD25602C9E0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31748" y="5910774"/>
            <a:ext cx="855139" cy="855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541866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4">
            <a:extLst>
              <a:ext uri="{FF2B5EF4-FFF2-40B4-BE49-F238E27FC236}">
                <a16:creationId xmlns:a16="http://schemas.microsoft.com/office/drawing/2014/main" id="{6E36B591-64B8-3FFA-3164-DECF25BDA30B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536"/>
          <a:stretch/>
        </p:blipFill>
        <p:spPr bwMode="auto">
          <a:xfrm>
            <a:off x="-2" y="-12559"/>
            <a:ext cx="12192002" cy="6870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B5D1934-776B-7288-32D9-4A035348EFE4}"/>
              </a:ext>
            </a:extLst>
          </p:cNvPr>
          <p:cNvSpPr/>
          <p:nvPr userDrawn="1"/>
        </p:nvSpPr>
        <p:spPr>
          <a:xfrm>
            <a:off x="376191" y="406153"/>
            <a:ext cx="11439618" cy="6045694"/>
          </a:xfrm>
          <a:prstGeom prst="rect">
            <a:avLst/>
          </a:prstGeom>
          <a:solidFill>
            <a:schemeClr val="bg1">
              <a:alpha val="9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 descr="A colorful star logo with black background&#10;&#10;Description automatically generated">
            <a:extLst>
              <a:ext uri="{FF2B5EF4-FFF2-40B4-BE49-F238E27FC236}">
                <a16:creationId xmlns:a16="http://schemas.microsoft.com/office/drawing/2014/main" id="{33F615C5-7AC5-8356-5838-13C4621CDF1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2502" r="22624" b="43530"/>
          <a:stretch/>
        </p:blipFill>
        <p:spPr>
          <a:xfrm>
            <a:off x="11433542" y="105999"/>
            <a:ext cx="626710" cy="600307"/>
          </a:xfrm>
          <a:prstGeom prst="rect">
            <a:avLst/>
          </a:prstGeom>
          <a:effectLst>
            <a:glow rad="88900">
              <a:schemeClr val="bg1"/>
            </a:glow>
          </a:effectLst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8A4ECDE-A321-424B-E06C-2AC5ED113F28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838200" y="4498210"/>
            <a:ext cx="10515600" cy="1759156"/>
          </a:xfrm>
        </p:spPr>
        <p:txBody>
          <a:bodyPr/>
          <a:lstStyle/>
          <a:p>
            <a:pPr lvl="0"/>
            <a:r>
              <a:rPr lang="en-US"/>
              <a:t>Click to edit 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3BF957-903A-6983-952D-1004CE72693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1882741"/>
            <a:ext cx="4871991" cy="2518929"/>
          </a:xfrm>
        </p:spPr>
        <p:txBody>
          <a:bodyPr/>
          <a:lstStyle/>
          <a:p>
            <a:pPr lvl="0"/>
            <a:r>
              <a:rPr lang="en-US"/>
              <a:t>Click to add image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DE8D28-1635-A4F8-1AAF-DF77268D0220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72200" y="1882741"/>
            <a:ext cx="5181600" cy="2518929"/>
          </a:xfrm>
        </p:spPr>
        <p:txBody>
          <a:bodyPr/>
          <a:lstStyle/>
          <a:p>
            <a:pPr lvl="0"/>
            <a:r>
              <a:rPr lang="en-US"/>
              <a:t>Click to add image</a:t>
            </a: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51CEA2A0-D792-7A8B-96C4-11F62B54DF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481666"/>
            <a:ext cx="10515600" cy="1325563"/>
          </a:xfrm>
        </p:spPr>
        <p:txBody>
          <a:bodyPr>
            <a:normAutofit/>
          </a:bodyPr>
          <a:lstStyle>
            <a:lvl1pPr>
              <a:defRPr sz="5400" b="1" i="0"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7D78840-8026-F769-172B-C36C2CC2726E}"/>
              </a:ext>
            </a:extLst>
          </p:cNvPr>
          <p:cNvSpPr txBox="1"/>
          <p:nvPr userDrawn="1"/>
        </p:nvSpPr>
        <p:spPr>
          <a:xfrm>
            <a:off x="-217773" y="17837"/>
            <a:ext cx="3555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SOUTHEAST REGIONAL</a:t>
            </a:r>
          </a:p>
        </p:txBody>
      </p:sp>
      <p:pic>
        <p:nvPicPr>
          <p:cNvPr id="7" name="Picture 6" descr="A logo with text on it&#10;&#10;AI-generated content may be incorrect.">
            <a:extLst>
              <a:ext uri="{FF2B5EF4-FFF2-40B4-BE49-F238E27FC236}">
                <a16:creationId xmlns:a16="http://schemas.microsoft.com/office/drawing/2014/main" id="{0081A7E9-7C71-A372-13AC-2B0D8722AFB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31748" y="5910774"/>
            <a:ext cx="855139" cy="855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740134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lt 3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4">
            <a:extLst>
              <a:ext uri="{FF2B5EF4-FFF2-40B4-BE49-F238E27FC236}">
                <a16:creationId xmlns:a16="http://schemas.microsoft.com/office/drawing/2014/main" id="{8D65DEFB-4951-FD0A-A2DC-FB874FADCC53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536"/>
          <a:stretch/>
        </p:blipFill>
        <p:spPr bwMode="auto">
          <a:xfrm>
            <a:off x="-2" y="-12559"/>
            <a:ext cx="12192002" cy="6870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DE2170B-109C-2DC5-8DC3-F41ADF108E03}"/>
              </a:ext>
            </a:extLst>
          </p:cNvPr>
          <p:cNvSpPr/>
          <p:nvPr userDrawn="1"/>
        </p:nvSpPr>
        <p:spPr>
          <a:xfrm>
            <a:off x="376191" y="406153"/>
            <a:ext cx="11439618" cy="6045694"/>
          </a:xfrm>
          <a:prstGeom prst="rect">
            <a:avLst/>
          </a:prstGeom>
          <a:solidFill>
            <a:schemeClr val="bg1">
              <a:alpha val="9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 descr="A colorful star logo with black background&#10;&#10;Description automatically generated">
            <a:extLst>
              <a:ext uri="{FF2B5EF4-FFF2-40B4-BE49-F238E27FC236}">
                <a16:creationId xmlns:a16="http://schemas.microsoft.com/office/drawing/2014/main" id="{33F615C5-7AC5-8356-5838-13C4621CDF1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2502" r="22624" b="43530"/>
          <a:stretch/>
        </p:blipFill>
        <p:spPr>
          <a:xfrm>
            <a:off x="11433542" y="105999"/>
            <a:ext cx="626710" cy="600307"/>
          </a:xfrm>
          <a:prstGeom prst="rect">
            <a:avLst/>
          </a:prstGeom>
          <a:effectLst>
            <a:glow rad="88900">
              <a:schemeClr val="bg1"/>
            </a:glow>
          </a:effectLst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8A4ECDE-A321-424B-E06C-2AC5ED113F28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838200" y="1882741"/>
            <a:ext cx="10515600" cy="1759156"/>
          </a:xfrm>
        </p:spPr>
        <p:txBody>
          <a:bodyPr/>
          <a:lstStyle/>
          <a:p>
            <a:pPr lvl="0"/>
            <a:r>
              <a:rPr lang="en-US"/>
              <a:t>Click to edit 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3BF957-903A-6983-952D-1004CE72693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3787407"/>
            <a:ext cx="4871991" cy="2518929"/>
          </a:xfrm>
        </p:spPr>
        <p:txBody>
          <a:bodyPr/>
          <a:lstStyle/>
          <a:p>
            <a:pPr lvl="0"/>
            <a:r>
              <a:rPr lang="en-US"/>
              <a:t>Click to add image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DE8D28-1635-A4F8-1AAF-DF77268D0220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72200" y="3787407"/>
            <a:ext cx="5181600" cy="2518929"/>
          </a:xfrm>
        </p:spPr>
        <p:txBody>
          <a:bodyPr/>
          <a:lstStyle/>
          <a:p>
            <a:pPr lvl="0"/>
            <a:r>
              <a:rPr lang="en-US"/>
              <a:t>Click to add image</a:t>
            </a: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51CEA2A0-D792-7A8B-96C4-11F62B54DF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481666"/>
            <a:ext cx="10515600" cy="1325563"/>
          </a:xfrm>
        </p:spPr>
        <p:txBody>
          <a:bodyPr>
            <a:normAutofit/>
          </a:bodyPr>
          <a:lstStyle>
            <a:lvl1pPr>
              <a:defRPr sz="5400" b="1" i="0"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3B0BAD9-A48A-7BA8-08AB-8461C51FD0D6}"/>
              </a:ext>
            </a:extLst>
          </p:cNvPr>
          <p:cNvSpPr txBox="1"/>
          <p:nvPr userDrawn="1"/>
        </p:nvSpPr>
        <p:spPr>
          <a:xfrm>
            <a:off x="-217773" y="17837"/>
            <a:ext cx="3555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SOUTHEAST REGIONAL</a:t>
            </a:r>
          </a:p>
        </p:txBody>
      </p:sp>
      <p:pic>
        <p:nvPicPr>
          <p:cNvPr id="7" name="Picture 6" descr="A logo with text on it&#10;&#10;AI-generated content may be incorrect.">
            <a:extLst>
              <a:ext uri="{FF2B5EF4-FFF2-40B4-BE49-F238E27FC236}">
                <a16:creationId xmlns:a16="http://schemas.microsoft.com/office/drawing/2014/main" id="{64875913-9AB1-1A16-8AF8-B969E348DD2E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31748" y="5910774"/>
            <a:ext cx="855139" cy="855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437973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>
            <a:extLst>
              <a:ext uri="{FF2B5EF4-FFF2-40B4-BE49-F238E27FC236}">
                <a16:creationId xmlns:a16="http://schemas.microsoft.com/office/drawing/2014/main" id="{7BE0D93D-9C3C-659A-5ECF-E5645B1FD4F2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536"/>
          <a:stretch/>
        </p:blipFill>
        <p:spPr bwMode="auto">
          <a:xfrm>
            <a:off x="-2" y="-12559"/>
            <a:ext cx="12192002" cy="6870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3C2F402-65A6-2F3F-7F8F-7FEC2336E9C6}"/>
              </a:ext>
            </a:extLst>
          </p:cNvPr>
          <p:cNvSpPr/>
          <p:nvPr userDrawn="1"/>
        </p:nvSpPr>
        <p:spPr>
          <a:xfrm>
            <a:off x="376191" y="406153"/>
            <a:ext cx="11439618" cy="6045694"/>
          </a:xfrm>
          <a:prstGeom prst="rect">
            <a:avLst/>
          </a:prstGeom>
          <a:solidFill>
            <a:schemeClr val="bg1">
              <a:alpha val="9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 descr="A colorful star logo with black background&#10;&#10;Description automatically generated">
            <a:extLst>
              <a:ext uri="{FF2B5EF4-FFF2-40B4-BE49-F238E27FC236}">
                <a16:creationId xmlns:a16="http://schemas.microsoft.com/office/drawing/2014/main" id="{33F615C5-7AC5-8356-5838-13C4621CDF1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2502" r="22624" b="43530"/>
          <a:stretch/>
        </p:blipFill>
        <p:spPr>
          <a:xfrm>
            <a:off x="11433542" y="105999"/>
            <a:ext cx="626710" cy="600307"/>
          </a:xfrm>
          <a:prstGeom prst="rect">
            <a:avLst/>
          </a:prstGeom>
          <a:effectLst>
            <a:glow rad="88900">
              <a:schemeClr val="bg1"/>
            </a:glow>
          </a:effectLst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8A4ECDE-A321-424B-E06C-2AC5ED113F28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838200" y="4495112"/>
            <a:ext cx="10515600" cy="1759156"/>
          </a:xfrm>
        </p:spPr>
        <p:txBody>
          <a:bodyPr/>
          <a:lstStyle/>
          <a:p>
            <a:pPr lvl="0"/>
            <a:r>
              <a:rPr lang="en-US"/>
              <a:t>Click to edit 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3BF957-903A-6983-952D-1004CE72693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1882741"/>
            <a:ext cx="3276600" cy="2518929"/>
          </a:xfrm>
        </p:spPr>
        <p:txBody>
          <a:bodyPr/>
          <a:lstStyle/>
          <a:p>
            <a:pPr lvl="0"/>
            <a:r>
              <a:rPr lang="en-US"/>
              <a:t>Click to add image</a:t>
            </a: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51CEA2A0-D792-7A8B-96C4-11F62B54DF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481666"/>
            <a:ext cx="10515600" cy="1325563"/>
          </a:xfrm>
        </p:spPr>
        <p:txBody>
          <a:bodyPr>
            <a:normAutofit/>
          </a:bodyPr>
          <a:lstStyle>
            <a:lvl1pPr>
              <a:defRPr sz="5400" b="1" i="0"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A41EBA4F-8F72-54E5-2B09-EA908F62E363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4457700" y="1891706"/>
            <a:ext cx="3276600" cy="2518929"/>
          </a:xfrm>
        </p:spPr>
        <p:txBody>
          <a:bodyPr/>
          <a:lstStyle/>
          <a:p>
            <a:pPr lvl="0"/>
            <a:r>
              <a:rPr lang="en-US"/>
              <a:t>Click to add image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3954507-0802-5324-53E2-350830C17D5A}"/>
              </a:ext>
            </a:extLst>
          </p:cNvPr>
          <p:cNvSpPr>
            <a:spLocks noGrp="1"/>
          </p:cNvSpPr>
          <p:nvPr>
            <p:ph sz="half" idx="12" hasCustomPrompt="1"/>
          </p:nvPr>
        </p:nvSpPr>
        <p:spPr>
          <a:xfrm>
            <a:off x="8072719" y="1891706"/>
            <a:ext cx="3276600" cy="2518929"/>
          </a:xfrm>
        </p:spPr>
        <p:txBody>
          <a:bodyPr/>
          <a:lstStyle/>
          <a:p>
            <a:pPr lvl="0"/>
            <a:r>
              <a:rPr lang="en-US"/>
              <a:t>Click to add image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55C75A-7AF9-3C68-4510-7A89B5FC6DD8}"/>
              </a:ext>
            </a:extLst>
          </p:cNvPr>
          <p:cNvSpPr txBox="1"/>
          <p:nvPr userDrawn="1"/>
        </p:nvSpPr>
        <p:spPr>
          <a:xfrm>
            <a:off x="-217773" y="17837"/>
            <a:ext cx="3555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SOUTHEAST REGIONAL</a:t>
            </a:r>
          </a:p>
        </p:txBody>
      </p:sp>
      <p:pic>
        <p:nvPicPr>
          <p:cNvPr id="9" name="Picture 8" descr="A logo with text on it&#10;&#10;AI-generated content may be incorrect.">
            <a:extLst>
              <a:ext uri="{FF2B5EF4-FFF2-40B4-BE49-F238E27FC236}">
                <a16:creationId xmlns:a16="http://schemas.microsoft.com/office/drawing/2014/main" id="{54DF8649-BA30-74F6-D208-8D63E20261B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31748" y="5910774"/>
            <a:ext cx="855139" cy="855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712983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lt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>
            <a:extLst>
              <a:ext uri="{FF2B5EF4-FFF2-40B4-BE49-F238E27FC236}">
                <a16:creationId xmlns:a16="http://schemas.microsoft.com/office/drawing/2014/main" id="{11858358-CE7C-9D48-AC69-ADCD3572BFF6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536"/>
          <a:stretch/>
        </p:blipFill>
        <p:spPr bwMode="auto">
          <a:xfrm>
            <a:off x="-2" y="-12559"/>
            <a:ext cx="12192002" cy="6870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8014463-06C5-05A8-CDC8-7282F06A0D6A}"/>
              </a:ext>
            </a:extLst>
          </p:cNvPr>
          <p:cNvSpPr/>
          <p:nvPr userDrawn="1"/>
        </p:nvSpPr>
        <p:spPr>
          <a:xfrm>
            <a:off x="376191" y="406153"/>
            <a:ext cx="11439618" cy="6045694"/>
          </a:xfrm>
          <a:prstGeom prst="rect">
            <a:avLst/>
          </a:prstGeom>
          <a:solidFill>
            <a:schemeClr val="bg1">
              <a:alpha val="9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 descr="A colorful star logo with black background&#10;&#10;Description automatically generated">
            <a:extLst>
              <a:ext uri="{FF2B5EF4-FFF2-40B4-BE49-F238E27FC236}">
                <a16:creationId xmlns:a16="http://schemas.microsoft.com/office/drawing/2014/main" id="{33F615C5-7AC5-8356-5838-13C4621CDF1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2502" r="22624" b="43530"/>
          <a:stretch/>
        </p:blipFill>
        <p:spPr>
          <a:xfrm>
            <a:off x="11433542" y="105999"/>
            <a:ext cx="626710" cy="600307"/>
          </a:xfrm>
          <a:prstGeom prst="rect">
            <a:avLst/>
          </a:prstGeom>
          <a:effectLst>
            <a:glow rad="88900">
              <a:schemeClr val="bg1"/>
            </a:glow>
          </a:effectLst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8A4ECDE-A321-424B-E06C-2AC5ED113F28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838200" y="1882741"/>
            <a:ext cx="10515600" cy="1759156"/>
          </a:xfrm>
        </p:spPr>
        <p:txBody>
          <a:bodyPr/>
          <a:lstStyle/>
          <a:p>
            <a:pPr lvl="0"/>
            <a:r>
              <a:rPr lang="en-US"/>
              <a:t>Click to edit 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3BF957-903A-6983-952D-1004CE72693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3787407"/>
            <a:ext cx="3276600" cy="2518929"/>
          </a:xfrm>
        </p:spPr>
        <p:txBody>
          <a:bodyPr/>
          <a:lstStyle/>
          <a:p>
            <a:pPr lvl="0"/>
            <a:r>
              <a:rPr lang="en-US"/>
              <a:t>Click to add image</a:t>
            </a: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51CEA2A0-D792-7A8B-96C4-11F62B54DF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481666"/>
            <a:ext cx="10515600" cy="1325563"/>
          </a:xfrm>
        </p:spPr>
        <p:txBody>
          <a:bodyPr>
            <a:normAutofit/>
          </a:bodyPr>
          <a:lstStyle>
            <a:lvl1pPr>
              <a:defRPr sz="5400" b="1" i="0"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A41EBA4F-8F72-54E5-2B09-EA908F62E363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4457700" y="3796372"/>
            <a:ext cx="3276600" cy="2518929"/>
          </a:xfrm>
        </p:spPr>
        <p:txBody>
          <a:bodyPr/>
          <a:lstStyle/>
          <a:p>
            <a:pPr lvl="0"/>
            <a:r>
              <a:rPr lang="en-US"/>
              <a:t>Click to add image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3954507-0802-5324-53E2-350830C17D5A}"/>
              </a:ext>
            </a:extLst>
          </p:cNvPr>
          <p:cNvSpPr>
            <a:spLocks noGrp="1"/>
          </p:cNvSpPr>
          <p:nvPr>
            <p:ph sz="half" idx="12" hasCustomPrompt="1"/>
          </p:nvPr>
        </p:nvSpPr>
        <p:spPr>
          <a:xfrm>
            <a:off x="8072719" y="3796372"/>
            <a:ext cx="3276600" cy="2518929"/>
          </a:xfrm>
        </p:spPr>
        <p:txBody>
          <a:bodyPr/>
          <a:lstStyle/>
          <a:p>
            <a:pPr lvl="0"/>
            <a:r>
              <a:rPr lang="en-US"/>
              <a:t>Click to add image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B12FF5-F6DE-AAC5-5BAF-A3B2EB371369}"/>
              </a:ext>
            </a:extLst>
          </p:cNvPr>
          <p:cNvSpPr txBox="1"/>
          <p:nvPr userDrawn="1"/>
        </p:nvSpPr>
        <p:spPr>
          <a:xfrm>
            <a:off x="-217773" y="17837"/>
            <a:ext cx="3555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SOUTHEAST REGIONAL</a:t>
            </a:r>
          </a:p>
        </p:txBody>
      </p:sp>
      <p:pic>
        <p:nvPicPr>
          <p:cNvPr id="9" name="Picture 8" descr="A logo with text on it&#10;&#10;AI-generated content may be incorrect.">
            <a:extLst>
              <a:ext uri="{FF2B5EF4-FFF2-40B4-BE49-F238E27FC236}">
                <a16:creationId xmlns:a16="http://schemas.microsoft.com/office/drawing/2014/main" id="{0DCFE6F9-982A-2603-8F3D-8432135FEC9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31748" y="5910774"/>
            <a:ext cx="855139" cy="855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556687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4">
            <a:extLst>
              <a:ext uri="{FF2B5EF4-FFF2-40B4-BE49-F238E27FC236}">
                <a16:creationId xmlns:a16="http://schemas.microsoft.com/office/drawing/2014/main" id="{298A7034-503C-8981-1FFA-D32623EA81BE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536"/>
          <a:stretch/>
        </p:blipFill>
        <p:spPr bwMode="auto">
          <a:xfrm>
            <a:off x="-2" y="-12559"/>
            <a:ext cx="12192002" cy="6870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88BB3B2-6CFE-455E-9EC4-81A5573E776D}"/>
              </a:ext>
            </a:extLst>
          </p:cNvPr>
          <p:cNvSpPr/>
          <p:nvPr userDrawn="1"/>
        </p:nvSpPr>
        <p:spPr>
          <a:xfrm>
            <a:off x="376191" y="406153"/>
            <a:ext cx="11439618" cy="6045694"/>
          </a:xfrm>
          <a:prstGeom prst="rect">
            <a:avLst/>
          </a:prstGeom>
          <a:solidFill>
            <a:schemeClr val="bg1">
              <a:alpha val="9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colorful star logo with black background&#10;&#10;Description automatically generated">
            <a:extLst>
              <a:ext uri="{FF2B5EF4-FFF2-40B4-BE49-F238E27FC236}">
                <a16:creationId xmlns:a16="http://schemas.microsoft.com/office/drawing/2014/main" id="{BD0F15A2-3D4C-5C40-1658-9801E3A6BFB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2502" r="22624" b="43530"/>
          <a:stretch/>
        </p:blipFill>
        <p:spPr>
          <a:xfrm>
            <a:off x="11433542" y="105999"/>
            <a:ext cx="626710" cy="600307"/>
          </a:xfrm>
          <a:prstGeom prst="rect">
            <a:avLst/>
          </a:prstGeom>
          <a:effectLst>
            <a:glow rad="88900">
              <a:schemeClr val="bg1"/>
            </a:glo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160829C-43E8-B7D1-8467-27C6D5CBEB8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03278"/>
            <a:ext cx="10515600" cy="1325563"/>
          </a:xfrm>
        </p:spPr>
        <p:txBody>
          <a:bodyPr>
            <a:normAutofit/>
          </a:bodyPr>
          <a:lstStyle>
            <a:lvl1pPr>
              <a:defRPr sz="5400" b="1" i="0"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3BF957-903A-6983-952D-1004CE72693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3505200" y="1925966"/>
            <a:ext cx="5181600" cy="4367257"/>
          </a:xfrm>
        </p:spPr>
        <p:txBody>
          <a:bodyPr/>
          <a:lstStyle/>
          <a:p>
            <a:pPr lvl="0"/>
            <a:r>
              <a:rPr lang="en-US"/>
              <a:t>Click to edit text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742ADE3-BD95-9FBD-C4AA-398B29EDE8CE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838200" y="1925967"/>
            <a:ext cx="2570148" cy="2136341"/>
          </a:xfrm>
        </p:spPr>
        <p:txBody>
          <a:bodyPr/>
          <a:lstStyle/>
          <a:p>
            <a:pPr lvl="0"/>
            <a:r>
              <a:rPr lang="en-US"/>
              <a:t>Click to add image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349FDC43-AF17-73FD-3372-89B0479FC899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838200" y="4156883"/>
            <a:ext cx="2570148" cy="2136341"/>
          </a:xfrm>
        </p:spPr>
        <p:txBody>
          <a:bodyPr/>
          <a:lstStyle/>
          <a:p>
            <a:pPr lvl="0"/>
            <a:r>
              <a:rPr lang="en-US"/>
              <a:t>Click to add image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8F39427C-BDDB-910D-15D2-A20CE3DE1C74}"/>
              </a:ext>
            </a:extLst>
          </p:cNvPr>
          <p:cNvSpPr>
            <a:spLocks noGrp="1"/>
          </p:cNvSpPr>
          <p:nvPr>
            <p:ph sz="half" idx="12" hasCustomPrompt="1"/>
          </p:nvPr>
        </p:nvSpPr>
        <p:spPr>
          <a:xfrm>
            <a:off x="8780928" y="1925967"/>
            <a:ext cx="2570148" cy="2136341"/>
          </a:xfrm>
        </p:spPr>
        <p:txBody>
          <a:bodyPr/>
          <a:lstStyle/>
          <a:p>
            <a:pPr lvl="0"/>
            <a:r>
              <a:rPr lang="en-US"/>
              <a:t>Click to add image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B80EDAD4-5E86-1867-1B20-092B2F7776C0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8780928" y="4156883"/>
            <a:ext cx="2570148" cy="2136341"/>
          </a:xfrm>
        </p:spPr>
        <p:txBody>
          <a:bodyPr/>
          <a:lstStyle/>
          <a:p>
            <a:pPr lvl="0"/>
            <a:r>
              <a:rPr lang="en-US"/>
              <a:t>Click to add image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86F8AE-7F4E-2D3F-3B4E-D021A3496774}"/>
              </a:ext>
            </a:extLst>
          </p:cNvPr>
          <p:cNvSpPr txBox="1"/>
          <p:nvPr userDrawn="1"/>
        </p:nvSpPr>
        <p:spPr>
          <a:xfrm>
            <a:off x="-217773" y="17837"/>
            <a:ext cx="3555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SOUTHEAST REGIONAL</a:t>
            </a:r>
          </a:p>
        </p:txBody>
      </p:sp>
      <p:pic>
        <p:nvPicPr>
          <p:cNvPr id="7" name="Picture 6" descr="A logo with text on it&#10;&#10;AI-generated content may be incorrect.">
            <a:extLst>
              <a:ext uri="{FF2B5EF4-FFF2-40B4-BE49-F238E27FC236}">
                <a16:creationId xmlns:a16="http://schemas.microsoft.com/office/drawing/2014/main" id="{89256E0E-7411-ADD2-5C8A-61C3F45D41D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31748" y="5910774"/>
            <a:ext cx="855139" cy="855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652595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x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>
            <a:extLst>
              <a:ext uri="{FF2B5EF4-FFF2-40B4-BE49-F238E27FC236}">
                <a16:creationId xmlns:a16="http://schemas.microsoft.com/office/drawing/2014/main" id="{06DED427-0DEA-FEE1-107C-1495B1D9E828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536"/>
          <a:stretch/>
        </p:blipFill>
        <p:spPr bwMode="auto">
          <a:xfrm>
            <a:off x="-2" y="-12559"/>
            <a:ext cx="12192002" cy="6870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21C1588-76BC-4446-154A-59321B4FA8C7}"/>
              </a:ext>
            </a:extLst>
          </p:cNvPr>
          <p:cNvSpPr/>
          <p:nvPr userDrawn="1"/>
        </p:nvSpPr>
        <p:spPr>
          <a:xfrm>
            <a:off x="376191" y="406153"/>
            <a:ext cx="11439618" cy="6045694"/>
          </a:xfrm>
          <a:prstGeom prst="rect">
            <a:avLst/>
          </a:prstGeom>
          <a:solidFill>
            <a:schemeClr val="bg1">
              <a:alpha val="9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colorful star logo with black background&#10;&#10;Description automatically generated">
            <a:extLst>
              <a:ext uri="{FF2B5EF4-FFF2-40B4-BE49-F238E27FC236}">
                <a16:creationId xmlns:a16="http://schemas.microsoft.com/office/drawing/2014/main" id="{BD0F15A2-3D4C-5C40-1658-9801E3A6BFB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2502" r="22624" b="43530"/>
          <a:stretch/>
        </p:blipFill>
        <p:spPr>
          <a:xfrm>
            <a:off x="11433542" y="105999"/>
            <a:ext cx="626710" cy="600307"/>
          </a:xfrm>
          <a:prstGeom prst="rect">
            <a:avLst/>
          </a:prstGeom>
          <a:effectLst>
            <a:glow rad="88900">
              <a:schemeClr val="bg1"/>
            </a:glo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160829C-43E8-B7D1-8467-27C6D5CBEB8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03278"/>
            <a:ext cx="10515600" cy="1325563"/>
          </a:xfrm>
        </p:spPr>
        <p:txBody>
          <a:bodyPr>
            <a:normAutofit/>
          </a:bodyPr>
          <a:lstStyle>
            <a:lvl1pPr>
              <a:defRPr sz="5400" b="1" i="0"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742ADE3-BD95-9FBD-C4AA-398B29EDE8CE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810926" y="1925967"/>
            <a:ext cx="2570148" cy="2136341"/>
          </a:xfrm>
        </p:spPr>
        <p:txBody>
          <a:bodyPr/>
          <a:lstStyle/>
          <a:p>
            <a:pPr lvl="0"/>
            <a:r>
              <a:rPr lang="en-US"/>
              <a:t>Click to add image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349FDC43-AF17-73FD-3372-89B0479FC899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4810926" y="4156883"/>
            <a:ext cx="2570148" cy="2136341"/>
          </a:xfrm>
        </p:spPr>
        <p:txBody>
          <a:bodyPr/>
          <a:lstStyle/>
          <a:p>
            <a:pPr lvl="0"/>
            <a:r>
              <a:rPr lang="en-US"/>
              <a:t>Click to add image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D9C8F19-5607-4444-B661-DCA403F0D17B}"/>
              </a:ext>
            </a:extLst>
          </p:cNvPr>
          <p:cNvSpPr>
            <a:spLocks noGrp="1"/>
          </p:cNvSpPr>
          <p:nvPr>
            <p:ph sz="half" idx="12" hasCustomPrompt="1"/>
          </p:nvPr>
        </p:nvSpPr>
        <p:spPr>
          <a:xfrm>
            <a:off x="839957" y="1925966"/>
            <a:ext cx="3785831" cy="4367257"/>
          </a:xfrm>
        </p:spPr>
        <p:txBody>
          <a:bodyPr/>
          <a:lstStyle/>
          <a:p>
            <a:pPr lvl="0"/>
            <a:r>
              <a:rPr lang="en-US"/>
              <a:t>Click to edit text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867A41B-FBE9-AB25-80B8-B8EE5D5259ED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7566213" y="1908037"/>
            <a:ext cx="3787278" cy="4367257"/>
          </a:xfrm>
        </p:spPr>
        <p:txBody>
          <a:bodyPr/>
          <a:lstStyle/>
          <a:p>
            <a:pPr lvl="0"/>
            <a:r>
              <a:rPr lang="en-US"/>
              <a:t>Click to edit text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7B72870-0799-B10E-BF4A-78B125B0152B}"/>
              </a:ext>
            </a:extLst>
          </p:cNvPr>
          <p:cNvSpPr txBox="1"/>
          <p:nvPr userDrawn="1"/>
        </p:nvSpPr>
        <p:spPr>
          <a:xfrm>
            <a:off x="-217773" y="17837"/>
            <a:ext cx="3555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SOUTHEAST REGIONAL</a:t>
            </a:r>
          </a:p>
        </p:txBody>
      </p:sp>
      <p:pic>
        <p:nvPicPr>
          <p:cNvPr id="8" name="Picture 7" descr="A logo with text on it&#10;&#10;AI-generated content may be incorrect.">
            <a:extLst>
              <a:ext uri="{FF2B5EF4-FFF2-40B4-BE49-F238E27FC236}">
                <a16:creationId xmlns:a16="http://schemas.microsoft.com/office/drawing/2014/main" id="{33910DE5-4825-E12D-91AE-C0B5C8DCFB5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31748" y="5910774"/>
            <a:ext cx="855139" cy="855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792330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FEB9AFB-2843-D17B-CA64-F83DF1EE874B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536"/>
          <a:stretch/>
        </p:blipFill>
        <p:spPr bwMode="auto">
          <a:xfrm>
            <a:off x="-2" y="-12559"/>
            <a:ext cx="12192002" cy="6870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36018CCA-D009-1FB9-1BF6-71D5B8B65F49}"/>
              </a:ext>
            </a:extLst>
          </p:cNvPr>
          <p:cNvSpPr/>
          <p:nvPr userDrawn="1"/>
        </p:nvSpPr>
        <p:spPr>
          <a:xfrm>
            <a:off x="-3" y="-12559"/>
            <a:ext cx="12191998" cy="6870559"/>
          </a:xfrm>
          <a:prstGeom prst="rect">
            <a:avLst/>
          </a:prstGeom>
          <a:solidFill>
            <a:srgbClr val="92278E">
              <a:alpha val="4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Pentagon 6">
            <a:extLst>
              <a:ext uri="{FF2B5EF4-FFF2-40B4-BE49-F238E27FC236}">
                <a16:creationId xmlns:a16="http://schemas.microsoft.com/office/drawing/2014/main" id="{FC8399F6-723D-757C-D785-EED1713D673D}"/>
              </a:ext>
            </a:extLst>
          </p:cNvPr>
          <p:cNvSpPr/>
          <p:nvPr userDrawn="1"/>
        </p:nvSpPr>
        <p:spPr>
          <a:xfrm rot="10800000">
            <a:off x="7589493" y="544330"/>
            <a:ext cx="4611240" cy="1596301"/>
          </a:xfrm>
          <a:prstGeom prst="homePlat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36C936-8CD2-757F-DA90-A4E0320CC9D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41708" y="620716"/>
            <a:ext cx="3867760" cy="37229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rgbClr val="92278F"/>
                </a:solidFill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Links/Resources/Etc.</a:t>
            </a:r>
          </a:p>
        </p:txBody>
      </p:sp>
      <p:sp>
        <p:nvSpPr>
          <p:cNvPr id="11" name="Pentagon 5">
            <a:extLst>
              <a:ext uri="{FF2B5EF4-FFF2-40B4-BE49-F238E27FC236}">
                <a16:creationId xmlns:a16="http://schemas.microsoft.com/office/drawing/2014/main" id="{B8D7680E-B16A-6B29-6E0F-CF9BEC2B17F7}"/>
              </a:ext>
            </a:extLst>
          </p:cNvPr>
          <p:cNvSpPr/>
          <p:nvPr userDrawn="1"/>
        </p:nvSpPr>
        <p:spPr>
          <a:xfrm>
            <a:off x="-10888" y="4911917"/>
            <a:ext cx="10638455" cy="1105671"/>
          </a:xfrm>
          <a:prstGeom prst="homePlat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2EEE443A-0A4C-AEE3-474B-B3CAFF8EBFA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772273" y="5089555"/>
            <a:ext cx="7072132" cy="750393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4400" b="1" i="0">
                <a:solidFill>
                  <a:srgbClr val="92278F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/>
              <a:t>THANK YOU!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CA56E8-2FC1-924A-3BE9-BB57E08216C6}"/>
              </a:ext>
            </a:extLst>
          </p:cNvPr>
          <p:cNvSpPr txBox="1"/>
          <p:nvPr userDrawn="1"/>
        </p:nvSpPr>
        <p:spPr>
          <a:xfrm>
            <a:off x="-217773" y="17837"/>
            <a:ext cx="3555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SOUTHEAST REGIONAL</a:t>
            </a:r>
          </a:p>
        </p:txBody>
      </p:sp>
      <p:pic>
        <p:nvPicPr>
          <p:cNvPr id="6" name="Picture 5" descr="A logo with text on it&#10;&#10;AI-generated content may be incorrect.">
            <a:extLst>
              <a:ext uri="{FF2B5EF4-FFF2-40B4-BE49-F238E27FC236}">
                <a16:creationId xmlns:a16="http://schemas.microsoft.com/office/drawing/2014/main" id="{DF5B4136-9B0B-4EFD-07D3-1D7A30E4B16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874168" y="217891"/>
            <a:ext cx="3104925" cy="3104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5853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71D600-8DC0-DE40-8B4F-D2E5F50464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9A9705-9AEC-499B-AC4B-EA8636567F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7CCEE6-AC30-BD8F-7534-618D90520A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15BC6-5FF4-C84C-BCFC-13CA2EA53C76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C7C82D-5E4F-E3A6-8BA5-7F9528CCEB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9AAF32-A87D-7136-2407-4CE5C88EC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16EFA-BF40-2146-A2F7-B25AE8F1C9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896834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6DA77-0F68-FE51-76F9-EF0AA25775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8A1141-7F4A-514D-C37C-4725860111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152ED3-CBB5-EFBF-F472-B5F8D782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15BC6-5FF4-C84C-BCFC-13CA2EA53C76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569665-90CA-ACFE-DB76-15E43709C9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D41278-3F73-8513-01BA-59AEEE077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16EFA-BF40-2146-A2F7-B25AE8F1C9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6245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1EE22-F3FC-8F48-6289-FE4926FCB2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836AE4-373B-A14F-3573-B72CBD7F44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411699-A51A-446F-DD1F-1F18EB255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15BC6-5FF4-C84C-BCFC-13CA2EA53C76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94D55B-195E-6666-EB70-F6591A7D58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07DE2E-4EEB-42B5-7922-F07BFF14C0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16EFA-BF40-2146-A2F7-B25AE8F1C9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26199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F6FCBC-47EB-B439-EA88-FE8BA4CE3F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A3A651-09CD-530F-9EB5-669502A5BA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4D55FD-53C3-F023-886F-94AB4AA91C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F34E4E-8AE7-C2DA-0F6E-261B7E3E8E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15BC6-5FF4-C84C-BCFC-13CA2EA53C76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8D24F5-F56B-82D0-9FA6-E36ECEA588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2D22A2-C416-87DA-C4A3-E6B5DBD40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16EFA-BF40-2146-A2F7-B25AE8F1C9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153315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3C9747-B3EA-B876-1D5F-F09A7CDA05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42DCA3-77FD-AAA9-C875-F6CB59DEB1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3BF9D0-ABA5-6B91-259F-87A4E4B155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21900F0-0E76-77A9-4DD4-8C88376593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919A9CC-898F-0569-1A78-A886468118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8873998-6A8C-54F3-2B80-A857772FE1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15BC6-5FF4-C84C-BCFC-13CA2EA53C76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D7DFE7-1075-B981-120B-01E79098D2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CEDE830-EA12-112C-FEB5-54C931CC3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16EFA-BF40-2146-A2F7-B25AE8F1C9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390475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27644A-700D-7751-AE51-2CEB538E2A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BA78D1-90F7-FDA1-B26C-8BF765057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15BC6-5FF4-C84C-BCFC-13CA2EA53C76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7EA2C9-0555-B34F-5B5D-C2F7FCDCBE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43C048-1F96-CC74-047C-A77FDF0EA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16EFA-BF40-2146-A2F7-B25AE8F1C9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07626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52F0EC8-D649-C495-0E7F-C5A67425D7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15BC6-5FF4-C84C-BCFC-13CA2EA53C76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560F982-BA95-E4AD-1A9B-DEA6C7C86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0526A6-1852-AFCD-D31C-59EF4BDD3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16EFA-BF40-2146-A2F7-B25AE8F1C9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490867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C60039-E787-3DA2-54E1-367D1A54DC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8D2605-790F-5887-EA5A-FFD6E71F39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76FED0-E95F-5189-E4E6-A2CF6F76FF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D4A4B7-13BA-4BF9-1878-CA6374455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15BC6-5FF4-C84C-BCFC-13CA2EA53C76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9A8714-03FB-8433-491A-ABA998DCF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42E852-F329-340F-34E2-B37B12E61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16EFA-BF40-2146-A2F7-B25AE8F1C9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86658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009F4A-FAB9-C435-0C5D-CB2A93C631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961E23-292A-7021-FD6C-6017CB89EA3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10F158-D3B2-7732-864E-9B0774BC40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31AD3C-DAF9-D5E6-CF2E-63CCDDB09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15BC6-5FF4-C84C-BCFC-13CA2EA53C76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9CA29D-6C43-A4E2-4BCF-F7D11BC541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6A5715-CA3F-531F-6F21-86EB99878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16EFA-BF40-2146-A2F7-B25AE8F1C9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104198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1FB36D-1A03-E38B-13AB-E6BB32446F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8C1A0A-2DA5-69C2-0CC4-326F4F494A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FB5BF9-BCA7-E1BC-728D-9DE5942830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15BC6-5FF4-C84C-BCFC-13CA2EA53C76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503EC2-393B-5E4A-6E8B-4A6D64BD86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AD71FF-EF28-568C-F559-2ED5FE509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16EFA-BF40-2146-A2F7-B25AE8F1C9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17201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AFCCA0-845F-9B3F-AA29-D786EC14BC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3EB43D-A706-44A0-6385-2F65FA1F6D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C37FC2-ED6F-3132-50F7-81B500E8A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15BC6-5FF4-C84C-BCFC-13CA2EA53C76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4DE06A-97FF-238E-DFD0-D7FD24003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47B3CC-3372-08F4-E1DD-01A7570F30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16EFA-BF40-2146-A2F7-B25AE8F1C9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75341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theme" Target="../theme/theme1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F81449-9507-EF11-28E5-D6442D4FA4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40F540-66E9-A2CD-C77C-17813A94D1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CF9B29-0BD7-AF5C-9CB9-8FC835FEA0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015BC6-5FF4-C84C-BCFC-13CA2EA53C76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F80BD6-F9B7-5042-51B7-F7B4FBB6CF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87E83E-058F-FB12-E907-3285A02A3B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116EFA-BF40-2146-A2F7-B25AE8F1C9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447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4" r:id="rId15"/>
    <p:sldLayoutId id="2147483675" r:id="rId16"/>
    <p:sldLayoutId id="2147483676" r:id="rId17"/>
    <p:sldLayoutId id="2147483677" r:id="rId18"/>
    <p:sldLayoutId id="2147483678" r:id="rId19"/>
    <p:sldLayoutId id="2147483679" r:id="rId20"/>
    <p:sldLayoutId id="2147483680" r:id="rId21"/>
    <p:sldLayoutId id="2147483681" r:id="rId22"/>
    <p:sldLayoutId id="2147483682" r:id="rId23"/>
    <p:sldLayoutId id="2147483649" r:id="rId24"/>
    <p:sldLayoutId id="2147483650" r:id="rId25"/>
    <p:sldLayoutId id="2147483651" r:id="rId26"/>
    <p:sldLayoutId id="2147483652" r:id="rId27"/>
    <p:sldLayoutId id="2147483653" r:id="rId28"/>
    <p:sldLayoutId id="2147483654" r:id="rId29"/>
    <p:sldLayoutId id="2147483655" r:id="rId30"/>
    <p:sldLayoutId id="2147483656" r:id="rId31"/>
    <p:sldLayoutId id="2147483657" r:id="rId32"/>
    <p:sldLayoutId id="2147483658" r:id="rId33"/>
    <p:sldLayoutId id="2147483659" r:id="rId3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mailto:nathan.clouse@gmail.com" TargetMode="External"/><Relationship Id="rId2" Type="http://schemas.openxmlformats.org/officeDocument/2006/relationships/hyperlink" Target="mailto:nclouse@hso.com" TargetMode="Externa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9.jfif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hyperlink" Target="https://learn.microsoft.com/en-us/dynamics365/supply-chain/inventory/advanced-quality-management-overview" TargetMode="Externa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0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0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0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mailto:nathan.clouse@gmail.com" TargetMode="External"/><Relationship Id="rId2" Type="http://schemas.openxmlformats.org/officeDocument/2006/relationships/hyperlink" Target="mailto:nclouse@hso.com" TargetMode="Externa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9.jfif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4510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8EA20-580F-015B-9BCE-9E153DECC1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3750" y="4336578"/>
            <a:ext cx="9010650" cy="750393"/>
          </a:xfrm>
        </p:spPr>
        <p:txBody>
          <a:bodyPr>
            <a:normAutofit/>
          </a:bodyPr>
          <a:lstStyle/>
          <a:p>
            <a:r>
              <a:rPr lang="en-US" dirty="0"/>
              <a:t>What’s new in 10.0.46 ( Plus MCP 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F0DB72-3B37-3F08-12E2-2A5B154393A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Nathan Clouse</a:t>
            </a:r>
          </a:p>
        </p:txBody>
      </p:sp>
    </p:spTree>
    <p:extLst>
      <p:ext uri="{BB962C8B-B14F-4D97-AF65-F5344CB8AC3E}">
        <p14:creationId xmlns:p14="http://schemas.microsoft.com/office/powerpoint/2010/main" val="20288363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EC1A69E-7E50-A410-03DB-A6F6909B0E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Nathan Clouse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90A4A17-E6E5-A3D5-E16F-AC36BA54DCB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Sr. Technical Architect @ HSO</a:t>
            </a:r>
          </a:p>
          <a:p>
            <a:r>
              <a:rPr lang="en-US" dirty="0"/>
              <a:t>Based out of Detroit, MI</a:t>
            </a:r>
          </a:p>
          <a:p>
            <a:r>
              <a:rPr lang="en-US" dirty="0"/>
              <a:t>Worked with AX / F&amp;O for 18 years</a:t>
            </a:r>
          </a:p>
          <a:p>
            <a:r>
              <a:rPr lang="en-US" dirty="0"/>
              <a:t>Microsoft Business Applications MVP 6X</a:t>
            </a:r>
          </a:p>
          <a:p>
            <a:r>
              <a:rPr lang="en-US" dirty="0"/>
              <a:t>www.atomicax.com</a:t>
            </a:r>
          </a:p>
          <a:p>
            <a:r>
              <a:rPr lang="en-US" dirty="0"/>
              <a:t>www.dynamics.fo</a:t>
            </a:r>
          </a:p>
          <a:p>
            <a:r>
              <a:rPr lang="en-US" dirty="0" err="1"/>
              <a:t>NathanClouseAX</a:t>
            </a:r>
            <a:r>
              <a:rPr lang="en-US" dirty="0"/>
              <a:t> on LinkedIn</a:t>
            </a:r>
          </a:p>
          <a:p>
            <a:r>
              <a:rPr lang="en-US" dirty="0">
                <a:hlinkClick r:id="rId2"/>
              </a:rPr>
              <a:t>nclouse@hso.com</a:t>
            </a:r>
            <a:r>
              <a:rPr lang="en-US" dirty="0"/>
              <a:t> </a:t>
            </a:r>
            <a:r>
              <a:rPr lang="en-US" dirty="0">
                <a:hlinkClick r:id="rId3"/>
              </a:rPr>
              <a:t>nathan.clouse@gmail.com</a:t>
            </a:r>
            <a:endParaRPr lang="en-US" dirty="0"/>
          </a:p>
          <a:p>
            <a:endParaRPr lang="en-US" dirty="0"/>
          </a:p>
        </p:txBody>
      </p:sp>
      <p:pic>
        <p:nvPicPr>
          <p:cNvPr id="7" name="Content Placeholder 9" descr="A person wearing glasses smiling&#10;&#10;Description automatically generated">
            <a:extLst>
              <a:ext uri="{FF2B5EF4-FFF2-40B4-BE49-F238E27FC236}">
                <a16:creationId xmlns:a16="http://schemas.microsoft.com/office/drawing/2014/main" id="{795AB556-FAE2-63E5-0EA5-4688C614B7D2}"/>
              </a:ext>
            </a:extLst>
          </p:cNvPr>
          <p:cNvPicPr>
            <a:picLocks noGrp="1" noChangeAspect="1"/>
          </p:cNvPicPr>
          <p:nvPr>
            <p:ph sz="half" idx="10"/>
          </p:nvPr>
        </p:nvPicPr>
        <p:blipFill>
          <a:blip r:embed="rId4"/>
          <a:stretch>
            <a:fillRect/>
          </a:stretch>
        </p:blipFill>
        <p:spPr>
          <a:xfrm>
            <a:off x="8663781" y="3120231"/>
            <a:ext cx="1905000" cy="1905000"/>
          </a:xfrm>
        </p:spPr>
      </p:pic>
    </p:spTree>
    <p:extLst>
      <p:ext uri="{BB962C8B-B14F-4D97-AF65-F5344CB8AC3E}">
        <p14:creationId xmlns:p14="http://schemas.microsoft.com/office/powerpoint/2010/main" val="34830686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58FFF-BF4B-A819-73CE-0DB008BB47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 of Preview in .46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498ECE-CC85-DC62-A143-42F5F464BB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Acceptance sampling</a:t>
            </a:r>
          </a:p>
          <a:p>
            <a:r>
              <a:rPr lang="en-US" dirty="0"/>
              <a:t>Advanced quality management</a:t>
            </a:r>
          </a:p>
          <a:p>
            <a:r>
              <a:rPr lang="en-US" dirty="0"/>
              <a:t>Approved customer list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8582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E6B7F0-5422-F146-A0BA-CF77D7EE62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Acceptance sampling</a:t>
            </a:r>
            <a:br>
              <a:rPr lang="en-US" dirty="0"/>
            </a:b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57727F9-3A1A-AAA8-7C0C-A1F4253BF6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39110" y="1939925"/>
            <a:ext cx="951378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41064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177CC0-9801-78EB-40C7-DDD268BD7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Advanced quality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E18033-CCA5-AAA8-9D08-8BD9E2B3B3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https://learn.microsoft.com/en-us/dynamics365/supply-chain/inventory/advanced-quality-management-overview</a:t>
            </a:r>
            <a:endParaRPr lang="en-US" dirty="0"/>
          </a:p>
          <a:p>
            <a:endParaRPr lang="en-US" dirty="0"/>
          </a:p>
        </p:txBody>
      </p:sp>
      <p:pic>
        <p:nvPicPr>
          <p:cNvPr id="1026" name="Picture 2" descr="Diagram that provides an overview of advanced quality management features, organized into continuous improvement, optimized testing, digitized manufacturing, regulatory compliance, and user productivity areas.">
            <a:extLst>
              <a:ext uri="{FF2B5EF4-FFF2-40B4-BE49-F238E27FC236}">
                <a16:creationId xmlns:a16="http://schemas.microsoft.com/office/drawing/2014/main" id="{27EE44AD-9F37-82A5-6CA2-FEA21D04EC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3546" y="2908526"/>
            <a:ext cx="6394028" cy="35125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210196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8C3601-B94D-D09C-97CA-60B2DEFA82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Approved customer list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1F7D52D-40D8-04E9-E7B6-6967D834BF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39110" y="1939925"/>
            <a:ext cx="951378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6922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79553B-D687-4202-D2E9-42B566ED3F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Honorable Mentions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CB2BCA-5515-1EE0-97BF-48E2F27FBE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(Production Ready Preview) Account reconciliation agent</a:t>
            </a:r>
          </a:p>
          <a:p>
            <a:r>
              <a:rPr lang="en-US" dirty="0"/>
              <a:t>(Production Ready Preview) Agent management</a:t>
            </a:r>
          </a:p>
          <a:p>
            <a:r>
              <a:rPr lang="en-US" dirty="0"/>
              <a:t>(Production Ready Preview) Immersive Home</a:t>
            </a:r>
          </a:p>
          <a:p>
            <a:r>
              <a:rPr lang="en-US" dirty="0"/>
              <a:t>(Production Ready Preview) Send follow-up emails to vendors with Supplier Communications Agent - automatically sending emails</a:t>
            </a:r>
          </a:p>
          <a:p>
            <a:r>
              <a:rPr lang="en-US" dirty="0"/>
              <a:t>(Production Ready Preview) Supplier Communications Agent</a:t>
            </a:r>
          </a:p>
        </p:txBody>
      </p:sp>
    </p:spTree>
    <p:extLst>
      <p:ext uri="{BB962C8B-B14F-4D97-AF65-F5344CB8AC3E}">
        <p14:creationId xmlns:p14="http://schemas.microsoft.com/office/powerpoint/2010/main" val="5845550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ADBD23-5B88-E8DF-FAC6-E4AB7D2588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 Preview in .46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4C5783-558B-A86F-7873-A3D50E3A15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(Preview) Ability to expire jobs and job titles</a:t>
            </a:r>
          </a:p>
          <a:p>
            <a:r>
              <a:rPr lang="en-US" dirty="0"/>
              <a:t>(Preview) Optional linking of test instruments to maintainable assets</a:t>
            </a:r>
          </a:p>
          <a:p>
            <a:r>
              <a:rPr lang="en-US" dirty="0"/>
              <a:t>(Preview) Sample management</a:t>
            </a:r>
          </a:p>
          <a:p>
            <a:r>
              <a:rPr lang="en-US" dirty="0"/>
              <a:t>(Preview) Record test results from the production floor execution interface</a:t>
            </a:r>
          </a:p>
        </p:txBody>
      </p:sp>
    </p:spTree>
    <p:extLst>
      <p:ext uri="{BB962C8B-B14F-4D97-AF65-F5344CB8AC3E}">
        <p14:creationId xmlns:p14="http://schemas.microsoft.com/office/powerpoint/2010/main" val="1217790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C5294-B652-F077-0EF2-304BA12358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(Preview) Ability to expire jobs and job titles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0C83808-EFC2-E052-CEF6-B4FFBC2377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39110" y="1939925"/>
            <a:ext cx="951378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83733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88E1E6-7047-39EE-FC92-7E6F4821CA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(Preview) Sample management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0462E3E-401A-14F1-9D41-A084F22788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39110" y="1939925"/>
            <a:ext cx="951378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51133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219C2A-B174-CC11-2679-24AB0E7A3F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Record test results from the production floor execution interface</a:t>
            </a:r>
          </a:p>
        </p:txBody>
      </p:sp>
      <p:pic>
        <p:nvPicPr>
          <p:cNvPr id="8" name="Content Placeholder 4">
            <a:extLst>
              <a:ext uri="{FF2B5EF4-FFF2-40B4-BE49-F238E27FC236}">
                <a16:creationId xmlns:a16="http://schemas.microsoft.com/office/drawing/2014/main" id="{57AB113E-ADEC-558D-D212-7B750F99B5D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042619" y="1835567"/>
            <a:ext cx="7921237" cy="4455696"/>
          </a:xfrm>
        </p:spPr>
      </p:pic>
    </p:spTree>
    <p:extLst>
      <p:ext uri="{BB962C8B-B14F-4D97-AF65-F5344CB8AC3E}">
        <p14:creationId xmlns:p14="http://schemas.microsoft.com/office/powerpoint/2010/main" val="41533496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86A82-2F9D-EE59-F57A-9733D7B9CD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Operations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1CF978-4CF6-DF43-7094-A4D10E2A5B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Preview</a:t>
            </a:r>
          </a:p>
          <a:p>
            <a:r>
              <a:rPr lang="en-US" dirty="0"/>
              <a:t>Enable beginning balances in Project Operations Integrated with ERP</a:t>
            </a:r>
          </a:p>
          <a:p>
            <a:r>
              <a:rPr lang="en-US" dirty="0"/>
              <a:t>Enable line discounts and additional fee for Project Operations integrated with ERP based scenarios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08253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3B07FD-ECE8-75AB-3DF2-284AEE776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Globalization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020629-95FC-D98E-A4FA-8369282B0C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(Poland) JPK Audit File for Fixed Assets Reporting</a:t>
            </a:r>
          </a:p>
          <a:p>
            <a:r>
              <a:rPr lang="en-US" dirty="0"/>
              <a:t>(Preview) [Italy] Fiscal Journal modernization in Electronic Reporting</a:t>
            </a:r>
          </a:p>
          <a:p>
            <a:r>
              <a:rPr lang="en-US" dirty="0"/>
              <a:t>(Preview) [Sweden] Standard Import and Export (SIE) modernization in Electronic Reporting</a:t>
            </a:r>
          </a:p>
          <a:p>
            <a:r>
              <a:rPr lang="en-US" dirty="0"/>
              <a:t>(Preview) Meet requirements of Tax reform in Brazil in 2026</a:t>
            </a:r>
          </a:p>
        </p:txBody>
      </p:sp>
    </p:spTree>
    <p:extLst>
      <p:ext uri="{BB962C8B-B14F-4D97-AF65-F5344CB8AC3E}">
        <p14:creationId xmlns:p14="http://schemas.microsoft.com/office/powerpoint/2010/main" val="34808619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A1A503-76D8-157E-C9D3-86FCB3A81D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Performance Improvements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B67C36-AC59-4AB7-796A-E6A96C04A6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Unified pricing management pricing rule performance enhancement</a:t>
            </a:r>
          </a:p>
          <a:p>
            <a:r>
              <a:rPr lang="en-US" dirty="0"/>
              <a:t>(Preview) Performance Improvements for Deferral Recognition Batch</a:t>
            </a:r>
          </a:p>
          <a:p>
            <a:r>
              <a:rPr lang="en-US" dirty="0"/>
              <a:t>Customer interest note creation – top picking optimization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55857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ADDBF-D93B-BABC-16AF-114B2A3643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Fixed Assets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6DF985-00FF-55AF-B338-62B8BD5733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Actual Acquisition Date for migrated fixed assets</a:t>
            </a:r>
          </a:p>
          <a:p>
            <a:r>
              <a:rPr lang="en-US" dirty="0"/>
              <a:t>Inventory sold on the invoice line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60281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2083A6-EAF7-B8C6-5DDB-B746B279BB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 Ledger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C18AEA-A705-9575-3156-9EA97EC262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Enable additional validation of data for documents using the source document accounting framework</a:t>
            </a:r>
          </a:p>
          <a:p>
            <a:r>
              <a:rPr lang="en-US" dirty="0"/>
              <a:t>Ships “Mandatory”</a:t>
            </a:r>
          </a:p>
        </p:txBody>
      </p:sp>
    </p:spTree>
    <p:extLst>
      <p:ext uri="{BB962C8B-B14F-4D97-AF65-F5344CB8AC3E}">
        <p14:creationId xmlns:p14="http://schemas.microsoft.com/office/powerpoint/2010/main" val="18657246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62A2C-8E63-E99F-0838-6683C88925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Administration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10AD21-6C10-F98A-8BEE-82D80B9719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(Preview) Dynamics 365 ERP Model Context Protocol server</a:t>
            </a:r>
          </a:p>
          <a:p>
            <a:r>
              <a:rPr lang="en-US" dirty="0"/>
              <a:t>Unified Application User Feature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25268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8A06C-2865-414D-202B-71EEDE9026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Issues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41C4D0-87CF-8FD4-3F07-FB3343D279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Issue: 1078359</a:t>
            </a:r>
          </a:p>
          <a:p>
            <a:r>
              <a:rPr lang="en-US" dirty="0"/>
              <a:t>Issue: 1063678</a:t>
            </a:r>
          </a:p>
        </p:txBody>
      </p:sp>
    </p:spTree>
    <p:extLst>
      <p:ext uri="{BB962C8B-B14F-4D97-AF65-F5344CB8AC3E}">
        <p14:creationId xmlns:p14="http://schemas.microsoft.com/office/powerpoint/2010/main" val="31632890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27D3D9-D457-9D42-844D-576E720559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Issues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E9E2847-0B7B-9E41-E212-0401D34E98F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52855" y="1939925"/>
            <a:ext cx="708628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86452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96C7AF-986A-D372-68EF-48582E8DB5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Issues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0349666-53FF-DE29-1B9C-CD226074D2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52855" y="1939925"/>
            <a:ext cx="708628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66474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45163E-5992-47A3-2857-E8BCF8C01F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(Preview) Dynamic work classification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85A6C4A-E09D-934E-9367-2C34E29E0F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28144" y="1939925"/>
            <a:ext cx="7735712" cy="4351338"/>
          </a:xfrm>
        </p:spPr>
      </p:pic>
    </p:spTree>
    <p:extLst>
      <p:ext uri="{BB962C8B-B14F-4D97-AF65-F5344CB8AC3E}">
        <p14:creationId xmlns:p14="http://schemas.microsoft.com/office/powerpoint/2010/main" val="3446648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BE15F8-27EA-E7F6-146A-5DEF31FD79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7FCF177-EEEF-977E-D2EE-D1946612CAA6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/>
          <a:stretch>
            <a:fillRect/>
          </a:stretch>
        </p:blipFill>
        <p:spPr>
          <a:xfrm>
            <a:off x="-101237" y="-58209"/>
            <a:ext cx="12293238" cy="6916209"/>
          </a:xfrm>
        </p:spPr>
      </p:pic>
    </p:spTree>
    <p:extLst>
      <p:ext uri="{BB962C8B-B14F-4D97-AF65-F5344CB8AC3E}">
        <p14:creationId xmlns:p14="http://schemas.microsoft.com/office/powerpoint/2010/main" val="36931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CF4E1C-B044-735E-690A-ED110B3AF9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Enable foreign trade parameters for all countries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C53440-2945-5C8F-B1C2-2A6FACE86D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747334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2025F-0190-72FB-9639-44C12ECA24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Cross-company data sharing for products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E38618-5D87-5D95-4295-8DD4CFCA4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“This feature cannot be turned off once it has been enabled.”</a:t>
            </a:r>
          </a:p>
          <a:p>
            <a:r>
              <a:rPr lang="en-US" dirty="0"/>
              <a:t>Requires “Master company data sharing”</a:t>
            </a:r>
          </a:p>
          <a:p>
            <a:r>
              <a:rPr lang="en-US" dirty="0"/>
              <a:t>Master company data sharing requires a flight, have to contact support</a:t>
            </a:r>
          </a:p>
        </p:txBody>
      </p:sp>
    </p:spTree>
    <p:extLst>
      <p:ext uri="{BB962C8B-B14F-4D97-AF65-F5344CB8AC3E}">
        <p14:creationId xmlns:p14="http://schemas.microsoft.com/office/powerpoint/2010/main" val="421142645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BD98F1D-1BD3-FE3C-E026-C532E5564F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(Preview) Dynamics 365 ERP Model Context Protocol server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EA9CB3-1D95-FAAB-8742-575E7FFA42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61008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5C18E1B-D4B5-4F13-7365-0660C3B1D58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5746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575550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2FEC78-E733-31F1-C241-8AC26EC292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What Is Model Context Protocol (MCP)?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C5EC3D-6BAC-DB1B-1BEE-96E03E40DFA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MCP is an open standard that defines a common language for how AI agents and tools connect to applications and data sources such as Dynamics 365.</a:t>
            </a:r>
          </a:p>
          <a:p>
            <a:r>
              <a:rPr lang="en-US" dirty="0"/>
              <a:t>It standardizes how context is provided to large language models and AI agents.</a:t>
            </a:r>
          </a:p>
          <a:p>
            <a:endParaRPr lang="en-US" dirty="0"/>
          </a:p>
        </p:txBody>
      </p:sp>
      <p:pic>
        <p:nvPicPr>
          <p:cNvPr id="1026" name="Picture 2" descr="What Is the Model Context Protocol (MCP) and How It Works">
            <a:extLst>
              <a:ext uri="{FF2B5EF4-FFF2-40B4-BE49-F238E27FC236}">
                <a16:creationId xmlns:a16="http://schemas.microsoft.com/office/drawing/2014/main" id="{AF09ED69-8E0C-B1CF-A925-D2865347D55C}"/>
              </a:ext>
            </a:extLst>
          </p:cNvPr>
          <p:cNvPicPr>
            <a:picLocks noGrp="1" noChangeAspect="1" noChangeArrowheads="1"/>
          </p:cNvPicPr>
          <p:nvPr>
            <p:ph sz="half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74000" y="3092698"/>
            <a:ext cx="3484563" cy="19600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8426711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F5555F-5FF0-8528-D1AF-523A6680D3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What Is the Model Context Protocol (MCP) and How It Works">
            <a:extLst>
              <a:ext uri="{FF2B5EF4-FFF2-40B4-BE49-F238E27FC236}">
                <a16:creationId xmlns:a16="http://schemas.microsoft.com/office/drawing/2014/main" id="{13DB69B2-1F1F-2844-5F61-35D910C6667F}"/>
              </a:ext>
            </a:extLst>
          </p:cNvPr>
          <p:cNvPicPr>
            <a:picLocks noGrp="1" noChangeAspect="1" noChangeArrowheads="1"/>
          </p:cNvPicPr>
          <p:nvPr>
            <p:ph sz="half"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407" y="134956"/>
            <a:ext cx="11709185" cy="65880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2657675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F1A9CA-5245-CF76-767A-1ABBC04F2C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It 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7B17B2-7B64-04AE-5CD2-845A4C9F138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A dynamic framework that enables AI agents to interact with ERP data and business logic in Dynamics 365 Finance and Operations apps.</a:t>
            </a:r>
          </a:p>
          <a:p>
            <a:r>
              <a:rPr lang="en-US" dirty="0"/>
              <a:t>Agents can perform tasks without needing custom code, connectors, or bespoke APIs.</a:t>
            </a:r>
          </a:p>
        </p:txBody>
      </p:sp>
      <p:pic>
        <p:nvPicPr>
          <p:cNvPr id="2050" name="Picture 2" descr="Model Context Protocol (MCP): a guide to unlock seamless AI experiences |  by Guodong (Troy) Zhao | Bootcamp | Medium">
            <a:extLst>
              <a:ext uri="{FF2B5EF4-FFF2-40B4-BE49-F238E27FC236}">
                <a16:creationId xmlns:a16="http://schemas.microsoft.com/office/drawing/2014/main" id="{6B807C83-F206-BAEA-A235-92C9FA2F8E6D}"/>
              </a:ext>
            </a:extLst>
          </p:cNvPr>
          <p:cNvPicPr>
            <a:picLocks noGrp="1" noChangeAspect="1" noChangeArrowheads="1"/>
          </p:cNvPicPr>
          <p:nvPr>
            <p:ph sz="half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960160"/>
            <a:ext cx="3484563" cy="22251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3473628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79501E1C-64BA-72B5-EB5A-D213854D9F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MCP Tools</a:t>
            </a:r>
          </a:p>
        </p:txBody>
      </p:sp>
      <p:graphicFrame>
        <p:nvGraphicFramePr>
          <p:cNvPr id="11" name="Content Placeholder 10">
            <a:extLst>
              <a:ext uri="{FF2B5EF4-FFF2-40B4-BE49-F238E27FC236}">
                <a16:creationId xmlns:a16="http://schemas.microsoft.com/office/drawing/2014/main" id="{6DDC6065-41CD-B135-81B0-2AC413DD68B4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215034702"/>
              </p:ext>
            </p:extLst>
          </p:nvPr>
        </p:nvGraphicFramePr>
        <p:xfrm>
          <a:off x="1435447" y="1889128"/>
          <a:ext cx="5596830" cy="4351331"/>
        </p:xfrm>
        <a:graphic>
          <a:graphicData uri="http://schemas.openxmlformats.org/drawingml/2006/table">
            <a:tbl>
              <a:tblPr>
                <a:tableStyleId>{793D81CF-94F2-401A-BA57-92F5A7B2D0C5}</a:tableStyleId>
              </a:tblPr>
              <a:tblGrid>
                <a:gridCol w="2798415">
                  <a:extLst>
                    <a:ext uri="{9D8B030D-6E8A-4147-A177-3AD203B41FA5}">
                      <a16:colId xmlns:a16="http://schemas.microsoft.com/office/drawing/2014/main" val="3022724653"/>
                    </a:ext>
                  </a:extLst>
                </a:gridCol>
                <a:gridCol w="2798415">
                  <a:extLst>
                    <a:ext uri="{9D8B030D-6E8A-4147-A177-3AD203B41FA5}">
                      <a16:colId xmlns:a16="http://schemas.microsoft.com/office/drawing/2014/main" val="3576762341"/>
                    </a:ext>
                  </a:extLst>
                </a:gridCol>
              </a:tblGrid>
              <a:tr h="252251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200" dirty="0">
                          <a:effectLst/>
                        </a:rPr>
                        <a:t>Tool name</a:t>
                      </a:r>
                    </a:p>
                  </a:txBody>
                  <a:tcPr marL="63063" marR="63063" marT="31531" marB="31531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200">
                          <a:effectLst/>
                        </a:rPr>
                        <a:t>Description</a:t>
                      </a:r>
                    </a:p>
                  </a:txBody>
                  <a:tcPr marL="63063" marR="63063" marT="31531" marB="31531"/>
                </a:tc>
                <a:extLst>
                  <a:ext uri="{0D108BD9-81ED-4DB2-BD59-A6C34878D82A}">
                    <a16:rowId xmlns:a16="http://schemas.microsoft.com/office/drawing/2014/main" val="365399240"/>
                  </a:ext>
                </a:extLst>
              </a:tr>
              <a:tr h="819817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200" dirty="0" err="1">
                          <a:effectLst/>
                        </a:rPr>
                        <a:t>click_control</a:t>
                      </a:r>
                      <a:endParaRPr lang="en-US" sz="1200" dirty="0">
                        <a:effectLst/>
                      </a:endParaRPr>
                    </a:p>
                  </a:txBody>
                  <a:tcPr marL="63063" marR="63063" marT="31531" marB="31531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200" dirty="0">
                          <a:effectLst/>
                        </a:rPr>
                        <a:t>Select a control or a </a:t>
                      </a:r>
                      <a:r>
                        <a:rPr lang="en-US" sz="1200" dirty="0" err="1">
                          <a:effectLst/>
                        </a:rPr>
                        <a:t>subelement</a:t>
                      </a:r>
                      <a:r>
                        <a:rPr lang="en-US" sz="1200" dirty="0">
                          <a:effectLst/>
                        </a:rPr>
                        <a:t> of a control on the form. Clicking on a </a:t>
                      </a:r>
                      <a:r>
                        <a:rPr lang="en-US" sz="1200" dirty="0" err="1">
                          <a:effectLst/>
                        </a:rPr>
                        <a:t>subelement</a:t>
                      </a:r>
                      <a:r>
                        <a:rPr lang="en-US" sz="1200" dirty="0">
                          <a:effectLst/>
                        </a:rPr>
                        <a:t> of a control is done through the </a:t>
                      </a:r>
                      <a:r>
                        <a:rPr lang="en-US" sz="1200" dirty="0" err="1">
                          <a:effectLst/>
                        </a:rPr>
                        <a:t>actionId</a:t>
                      </a:r>
                      <a:r>
                        <a:rPr lang="en-US" sz="1200" dirty="0">
                          <a:effectLst/>
                        </a:rPr>
                        <a:t> parameter.</a:t>
                      </a:r>
                    </a:p>
                  </a:txBody>
                  <a:tcPr marL="63063" marR="63063" marT="31531" marB="31531"/>
                </a:tc>
                <a:extLst>
                  <a:ext uri="{0D108BD9-81ED-4DB2-BD59-A6C34878D82A}">
                    <a16:rowId xmlns:a16="http://schemas.microsoft.com/office/drawing/2014/main" val="2052623879"/>
                  </a:ext>
                </a:extLst>
              </a:tr>
              <a:tr h="252251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200">
                          <a:effectLst/>
                        </a:rPr>
                        <a:t>close_form</a:t>
                      </a:r>
                    </a:p>
                  </a:txBody>
                  <a:tcPr marL="63063" marR="63063" marT="31531" marB="31531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200">
                          <a:effectLst/>
                        </a:rPr>
                        <a:t>Close form</a:t>
                      </a:r>
                    </a:p>
                  </a:txBody>
                  <a:tcPr marL="63063" marR="63063" marT="31531" marB="31531"/>
                </a:tc>
                <a:extLst>
                  <a:ext uri="{0D108BD9-81ED-4DB2-BD59-A6C34878D82A}">
                    <a16:rowId xmlns:a16="http://schemas.microsoft.com/office/drawing/2014/main" val="837896233"/>
                  </a:ext>
                </a:extLst>
              </a:tr>
              <a:tr h="252251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200">
                          <a:effectLst/>
                        </a:rPr>
                        <a:t>filter_form</a:t>
                      </a:r>
                    </a:p>
                  </a:txBody>
                  <a:tcPr marL="63063" marR="63063" marT="31531" marB="31531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200">
                          <a:effectLst/>
                        </a:rPr>
                        <a:t>Applies a filter on the form</a:t>
                      </a:r>
                    </a:p>
                  </a:txBody>
                  <a:tcPr marL="63063" marR="63063" marT="31531" marB="31531"/>
                </a:tc>
                <a:extLst>
                  <a:ext uri="{0D108BD9-81ED-4DB2-BD59-A6C34878D82A}">
                    <a16:rowId xmlns:a16="http://schemas.microsoft.com/office/drawing/2014/main" val="699558219"/>
                  </a:ext>
                </a:extLst>
              </a:tr>
              <a:tr h="252251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200">
                          <a:effectLst/>
                        </a:rPr>
                        <a:t>filter_grid</a:t>
                      </a:r>
                    </a:p>
                  </a:txBody>
                  <a:tcPr marL="63063" marR="63063" marT="31531" marB="31531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200">
                          <a:effectLst/>
                        </a:rPr>
                        <a:t>Filter on a grid</a:t>
                      </a:r>
                    </a:p>
                  </a:txBody>
                  <a:tcPr marL="63063" marR="63063" marT="31531" marB="31531"/>
                </a:tc>
                <a:extLst>
                  <a:ext uri="{0D108BD9-81ED-4DB2-BD59-A6C34878D82A}">
                    <a16:rowId xmlns:a16="http://schemas.microsoft.com/office/drawing/2014/main" val="1205195634"/>
                  </a:ext>
                </a:extLst>
              </a:tr>
              <a:tr h="252251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200">
                          <a:effectLst/>
                        </a:rPr>
                        <a:t>find_menu_item</a:t>
                      </a:r>
                    </a:p>
                  </a:txBody>
                  <a:tcPr marL="63063" marR="63063" marT="31531" marB="31531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200">
                          <a:effectLst/>
                        </a:rPr>
                        <a:t>Find a menu item</a:t>
                      </a:r>
                    </a:p>
                  </a:txBody>
                  <a:tcPr marL="63063" marR="63063" marT="31531" marB="31531"/>
                </a:tc>
                <a:extLst>
                  <a:ext uri="{0D108BD9-81ED-4DB2-BD59-A6C34878D82A}">
                    <a16:rowId xmlns:a16="http://schemas.microsoft.com/office/drawing/2014/main" val="1336928940"/>
                  </a:ext>
                </a:extLst>
              </a:tr>
              <a:tr h="252251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200">
                          <a:effectLst/>
                        </a:rPr>
                        <a:t>find_actions</a:t>
                      </a:r>
                    </a:p>
                  </a:txBody>
                  <a:tcPr marL="63063" marR="63063" marT="31531" marB="31531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200">
                          <a:effectLst/>
                        </a:rPr>
                        <a:t>Finds actions available to invoke</a:t>
                      </a:r>
                    </a:p>
                  </a:txBody>
                  <a:tcPr marL="63063" marR="63063" marT="31531" marB="31531"/>
                </a:tc>
                <a:extLst>
                  <a:ext uri="{0D108BD9-81ED-4DB2-BD59-A6C34878D82A}">
                    <a16:rowId xmlns:a16="http://schemas.microsoft.com/office/drawing/2014/main" val="39874467"/>
                  </a:ext>
                </a:extLst>
              </a:tr>
              <a:tr h="252251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200">
                          <a:effectLst/>
                        </a:rPr>
                        <a:t>invoke_action</a:t>
                      </a:r>
                    </a:p>
                  </a:txBody>
                  <a:tcPr marL="63063" marR="63063" marT="31531" marB="31531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200">
                          <a:effectLst/>
                        </a:rPr>
                        <a:t>Invokes an action</a:t>
                      </a:r>
                    </a:p>
                  </a:txBody>
                  <a:tcPr marL="63063" marR="63063" marT="31531" marB="31531"/>
                </a:tc>
                <a:extLst>
                  <a:ext uri="{0D108BD9-81ED-4DB2-BD59-A6C34878D82A}">
                    <a16:rowId xmlns:a16="http://schemas.microsoft.com/office/drawing/2014/main" val="2143428336"/>
                  </a:ext>
                </a:extLst>
              </a:tr>
              <a:tr h="252251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200">
                          <a:effectLst/>
                        </a:rPr>
                        <a:t>open_lookup</a:t>
                      </a:r>
                    </a:p>
                  </a:txBody>
                  <a:tcPr marL="63063" marR="63063" marT="31531" marB="31531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200">
                          <a:effectLst/>
                        </a:rPr>
                        <a:t>Open a lookup control on the form</a:t>
                      </a:r>
                    </a:p>
                  </a:txBody>
                  <a:tcPr marL="63063" marR="63063" marT="31531" marB="31531"/>
                </a:tc>
                <a:extLst>
                  <a:ext uri="{0D108BD9-81ED-4DB2-BD59-A6C34878D82A}">
                    <a16:rowId xmlns:a16="http://schemas.microsoft.com/office/drawing/2014/main" val="2263603762"/>
                  </a:ext>
                </a:extLst>
              </a:tr>
              <a:tr h="252251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200">
                          <a:effectLst/>
                        </a:rPr>
                        <a:t>open_menu_item</a:t>
                      </a:r>
                    </a:p>
                  </a:txBody>
                  <a:tcPr marL="63063" marR="63063" marT="31531" marB="31531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200">
                          <a:effectLst/>
                        </a:rPr>
                        <a:t>Opens menu item</a:t>
                      </a:r>
                    </a:p>
                  </a:txBody>
                  <a:tcPr marL="63063" marR="63063" marT="31531" marB="31531"/>
                </a:tc>
                <a:extLst>
                  <a:ext uri="{0D108BD9-81ED-4DB2-BD59-A6C34878D82A}">
                    <a16:rowId xmlns:a16="http://schemas.microsoft.com/office/drawing/2014/main" val="650570306"/>
                  </a:ext>
                </a:extLst>
              </a:tr>
              <a:tr h="252251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200">
                          <a:effectLst/>
                        </a:rPr>
                        <a:t>open_or_close_tab</a:t>
                      </a:r>
                    </a:p>
                  </a:txBody>
                  <a:tcPr marL="63063" marR="63063" marT="31531" marB="31531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200">
                          <a:effectLst/>
                        </a:rPr>
                        <a:t>Open or close a tab on the form</a:t>
                      </a:r>
                    </a:p>
                  </a:txBody>
                  <a:tcPr marL="63063" marR="63063" marT="31531" marB="31531"/>
                </a:tc>
                <a:extLst>
                  <a:ext uri="{0D108BD9-81ED-4DB2-BD59-A6C34878D82A}">
                    <a16:rowId xmlns:a16="http://schemas.microsoft.com/office/drawing/2014/main" val="2733427562"/>
                  </a:ext>
                </a:extLst>
              </a:tr>
              <a:tr h="252251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200">
                          <a:effectLst/>
                        </a:rPr>
                        <a:t>save_form</a:t>
                      </a:r>
                    </a:p>
                  </a:txBody>
                  <a:tcPr marL="63063" marR="63063" marT="31531" marB="31531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200">
                          <a:effectLst/>
                        </a:rPr>
                        <a:t>Saves form</a:t>
                      </a:r>
                    </a:p>
                  </a:txBody>
                  <a:tcPr marL="63063" marR="63063" marT="31531" marB="31531"/>
                </a:tc>
                <a:extLst>
                  <a:ext uri="{0D108BD9-81ED-4DB2-BD59-A6C34878D82A}">
                    <a16:rowId xmlns:a16="http://schemas.microsoft.com/office/drawing/2014/main" val="1818590956"/>
                  </a:ext>
                </a:extLst>
              </a:tr>
              <a:tr h="252251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200">
                          <a:effectLst/>
                        </a:rPr>
                        <a:t>select_grid_row</a:t>
                      </a:r>
                    </a:p>
                  </a:txBody>
                  <a:tcPr marL="63063" marR="63063" marT="31531" marB="31531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200">
                          <a:effectLst/>
                        </a:rPr>
                        <a:t>Select a row in a grid</a:t>
                      </a:r>
                    </a:p>
                  </a:txBody>
                  <a:tcPr marL="63063" marR="63063" marT="31531" marB="31531"/>
                </a:tc>
                <a:extLst>
                  <a:ext uri="{0D108BD9-81ED-4DB2-BD59-A6C34878D82A}">
                    <a16:rowId xmlns:a16="http://schemas.microsoft.com/office/drawing/2014/main" val="4019558259"/>
                  </a:ext>
                </a:extLst>
              </a:tr>
              <a:tr h="252251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200">
                          <a:effectLst/>
                        </a:rPr>
                        <a:t>set_control_value</a:t>
                      </a:r>
                    </a:p>
                  </a:txBody>
                  <a:tcPr marL="63063" marR="63063" marT="31531" marB="31531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200">
                          <a:effectLst/>
                        </a:rPr>
                        <a:t>Set the value of a field</a:t>
                      </a:r>
                    </a:p>
                  </a:txBody>
                  <a:tcPr marL="63063" marR="63063" marT="31531" marB="31531"/>
                </a:tc>
                <a:extLst>
                  <a:ext uri="{0D108BD9-81ED-4DB2-BD59-A6C34878D82A}">
                    <a16:rowId xmlns:a16="http://schemas.microsoft.com/office/drawing/2014/main" val="904957318"/>
                  </a:ext>
                </a:extLst>
              </a:tr>
              <a:tr h="252251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200">
                          <a:effectLst/>
                        </a:rPr>
                        <a:t>sort_grid_column</a:t>
                      </a:r>
                    </a:p>
                  </a:txBody>
                  <a:tcPr marL="63063" marR="63063" marT="31531" marB="31531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200" dirty="0">
                          <a:effectLst/>
                        </a:rPr>
                        <a:t>Sort a grid by a grid column</a:t>
                      </a:r>
                    </a:p>
                  </a:txBody>
                  <a:tcPr marL="63063" marR="63063" marT="31531" marB="31531"/>
                </a:tc>
                <a:extLst>
                  <a:ext uri="{0D108BD9-81ED-4DB2-BD59-A6C34878D82A}">
                    <a16:rowId xmlns:a16="http://schemas.microsoft.com/office/drawing/2014/main" val="3963712664"/>
                  </a:ext>
                </a:extLst>
              </a:tr>
            </a:tbl>
          </a:graphicData>
        </a:graphic>
      </p:graphicFrame>
      <p:pic>
        <p:nvPicPr>
          <p:cNvPr id="3074" name="Picture 2" descr="Tool | DIY, Construction &amp; Repair | Britannica">
            <a:extLst>
              <a:ext uri="{FF2B5EF4-FFF2-40B4-BE49-F238E27FC236}">
                <a16:creationId xmlns:a16="http://schemas.microsoft.com/office/drawing/2014/main" id="{27FBDF8C-4616-877A-ED9E-AD974929A9D4}"/>
              </a:ext>
            </a:extLst>
          </p:cNvPr>
          <p:cNvPicPr>
            <a:picLocks noGrp="1" noChangeAspect="1" noChangeArrowheads="1"/>
          </p:cNvPicPr>
          <p:nvPr>
            <p:ph sz="half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74000" y="2798688"/>
            <a:ext cx="3484563" cy="25480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1637299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856B25DD-2EA5-55DD-4896-DA55B24A1D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It Enables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C8208F4-4721-1B39-29DB-E6C0AF8B22D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Agents can orchestrate ERP workflows across multiple systems using a single protocol.</a:t>
            </a:r>
          </a:p>
          <a:p>
            <a:r>
              <a:rPr lang="en-US" dirty="0"/>
              <a:t>You no longer need custom connectors per system.</a:t>
            </a:r>
          </a:p>
          <a:p>
            <a:r>
              <a:rPr lang="en-US" dirty="0"/>
              <a:t>Real-world capability examples:</a:t>
            </a:r>
          </a:p>
          <a:p>
            <a:pPr lvl="1"/>
            <a:r>
              <a:rPr lang="en-US" dirty="0"/>
              <a:t>Query inventory</a:t>
            </a:r>
          </a:p>
          <a:p>
            <a:pPr lvl="1"/>
            <a:r>
              <a:rPr lang="en-US" dirty="0"/>
              <a:t>Validate vendor data</a:t>
            </a:r>
          </a:p>
          <a:p>
            <a:pPr lvl="1"/>
            <a:r>
              <a:rPr lang="en-US" dirty="0"/>
              <a:t>Automate purchase requisitions</a:t>
            </a:r>
          </a:p>
        </p:txBody>
      </p:sp>
      <p:pic>
        <p:nvPicPr>
          <p:cNvPr id="4098" name="Picture 2" descr="Terminator Genisys: An AI expert's view">
            <a:extLst>
              <a:ext uri="{FF2B5EF4-FFF2-40B4-BE49-F238E27FC236}">
                <a16:creationId xmlns:a16="http://schemas.microsoft.com/office/drawing/2014/main" id="{D3D5AC77-4D4B-2BED-5E1D-C12AADA0055F}"/>
              </a:ext>
            </a:extLst>
          </p:cNvPr>
          <p:cNvPicPr>
            <a:picLocks noGrp="1" noChangeAspect="1" noChangeArrowheads="1"/>
          </p:cNvPicPr>
          <p:nvPr>
            <p:ph sz="half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74000" y="3092698"/>
            <a:ext cx="3484563" cy="19600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9746945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906B248-537F-81D9-7816-62AB65B01C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Requirements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098B0A8-92BB-543F-B5E3-CFCB245ED2D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Dynamics 365 Finance and Operations environment version must be current (10.0.2428.15+)</a:t>
            </a:r>
          </a:p>
          <a:p>
            <a:r>
              <a:rPr lang="en-US" dirty="0"/>
              <a:t>Enable Dynamics 365 ERP Model Context Protocol Server in Feature Management</a:t>
            </a:r>
          </a:p>
          <a:p>
            <a:r>
              <a:rPr lang="en-US" dirty="0"/>
              <a:t>Agent platforms must be allowed via the Allowed MCP Clients form</a:t>
            </a:r>
          </a:p>
          <a:p>
            <a:r>
              <a:rPr lang="en-US" dirty="0"/>
              <a:t>Environment must be Tier 2+ or Unified Developer Environment (not CHE)</a:t>
            </a:r>
          </a:p>
        </p:txBody>
      </p:sp>
      <p:pic>
        <p:nvPicPr>
          <p:cNvPr id="5122" name="Picture 2" descr="Writing Requirements Documents Easily with a Requirements Management Tool |  Xebrio">
            <a:extLst>
              <a:ext uri="{FF2B5EF4-FFF2-40B4-BE49-F238E27FC236}">
                <a16:creationId xmlns:a16="http://schemas.microsoft.com/office/drawing/2014/main" id="{786E0DC0-B721-393A-D34C-73100A2A8CDD}"/>
              </a:ext>
            </a:extLst>
          </p:cNvPr>
          <p:cNvPicPr>
            <a:picLocks noGrp="1" noChangeAspect="1" noChangeArrowheads="1"/>
          </p:cNvPicPr>
          <p:nvPr>
            <p:ph sz="half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3160592"/>
            <a:ext cx="3484563" cy="18242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8006265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2B27769-0BC6-73D2-52BE-4CE7D1D107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Limitations &amp; Considerations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7419C21-F833-B89C-53E4-220EC464F66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Currently preview feature — not for production use yet.</a:t>
            </a:r>
          </a:p>
          <a:p>
            <a:r>
              <a:rPr lang="en-US" dirty="0"/>
              <a:t>Only US English supported in MCP responses.</a:t>
            </a:r>
          </a:p>
          <a:p>
            <a:r>
              <a:rPr lang="en-US" dirty="0"/>
              <a:t>Dates and </a:t>
            </a:r>
            <a:r>
              <a:rPr lang="en-US" dirty="0" err="1"/>
              <a:t>numerics</a:t>
            </a:r>
            <a:r>
              <a:rPr lang="en-US" dirty="0"/>
              <a:t> use ISO format</a:t>
            </a:r>
          </a:p>
        </p:txBody>
      </p:sp>
      <p:pic>
        <p:nvPicPr>
          <p:cNvPr id="6146" name="Picture 2" descr="Contract Negotiation 101: The Importance of Limitations of Liability - KO">
            <a:extLst>
              <a:ext uri="{FF2B5EF4-FFF2-40B4-BE49-F238E27FC236}">
                <a16:creationId xmlns:a16="http://schemas.microsoft.com/office/drawing/2014/main" id="{E4939296-0AF2-EAE9-E9FA-8CEC76C09490}"/>
              </a:ext>
            </a:extLst>
          </p:cNvPr>
          <p:cNvPicPr>
            <a:picLocks noGrp="1" noChangeAspect="1" noChangeArrowheads="1"/>
          </p:cNvPicPr>
          <p:nvPr>
            <p:ph sz="half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74000" y="3053497"/>
            <a:ext cx="3484563" cy="20384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0824372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4DFA15-E1A3-AADE-B755-C19C627468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Questions?</a:t>
            </a:r>
          </a:p>
        </p:txBody>
      </p:sp>
      <p:pic>
        <p:nvPicPr>
          <p:cNvPr id="7170" name="Picture 2" descr="The Art of Asking Questions">
            <a:extLst>
              <a:ext uri="{FF2B5EF4-FFF2-40B4-BE49-F238E27FC236}">
                <a16:creationId xmlns:a16="http://schemas.microsoft.com/office/drawing/2014/main" id="{183AD08D-A363-86C1-BEA6-CB46B955019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0167" y="1939925"/>
            <a:ext cx="7451666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8126251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0BE673-E443-6652-3304-B83E8D3684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B3460A7-3ECA-F1FF-CC6E-49F775A81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Nathan Clouse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3851A26-022A-C79F-C8C4-82378E679E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88379"/>
            <a:ext cx="10374087" cy="4351338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Sr. Technical Architect @ HSO</a:t>
            </a:r>
          </a:p>
          <a:p>
            <a:r>
              <a:rPr lang="en-US" dirty="0"/>
              <a:t>Based out of Detroit, MI</a:t>
            </a:r>
          </a:p>
          <a:p>
            <a:r>
              <a:rPr lang="en-US" dirty="0"/>
              <a:t>Worked with AX / F&amp;O for 18 years</a:t>
            </a:r>
          </a:p>
          <a:p>
            <a:r>
              <a:rPr lang="en-US" dirty="0"/>
              <a:t>Microsoft Business Applications MVP 6X</a:t>
            </a:r>
          </a:p>
          <a:p>
            <a:r>
              <a:rPr lang="en-US" dirty="0"/>
              <a:t>www.atomicax.com</a:t>
            </a:r>
          </a:p>
          <a:p>
            <a:r>
              <a:rPr lang="en-US" dirty="0"/>
              <a:t>www.dynamics.fo</a:t>
            </a:r>
          </a:p>
          <a:p>
            <a:r>
              <a:rPr lang="en-US" dirty="0" err="1"/>
              <a:t>NathanClouseAX</a:t>
            </a:r>
            <a:r>
              <a:rPr lang="en-US" dirty="0"/>
              <a:t> on LinkedIn</a:t>
            </a:r>
          </a:p>
          <a:p>
            <a:r>
              <a:rPr lang="en-US" dirty="0">
                <a:hlinkClick r:id="rId2"/>
              </a:rPr>
              <a:t>nclouse@hso.com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>
                <a:hlinkClick r:id="rId3"/>
              </a:rPr>
              <a:t>nathan.clouse@gmail.com</a:t>
            </a:r>
            <a:br>
              <a:rPr lang="en-US" dirty="0"/>
            </a:br>
            <a:r>
              <a:rPr lang="en-US" dirty="0"/>
              <a:t>https://github.com/NathanClouseAX/CommunityPresentations</a:t>
            </a:r>
          </a:p>
          <a:p>
            <a:endParaRPr lang="en-US" dirty="0"/>
          </a:p>
        </p:txBody>
      </p:sp>
      <p:pic>
        <p:nvPicPr>
          <p:cNvPr id="7" name="Content Placeholder 9" descr="A person wearing glasses smiling&#10;&#10;Description automatically generated">
            <a:extLst>
              <a:ext uri="{FF2B5EF4-FFF2-40B4-BE49-F238E27FC236}">
                <a16:creationId xmlns:a16="http://schemas.microsoft.com/office/drawing/2014/main" id="{47C2DCAC-0F97-883D-3FFD-0E85AA3AFB58}"/>
              </a:ext>
            </a:extLst>
          </p:cNvPr>
          <p:cNvPicPr>
            <a:picLocks noGrp="1" noChangeAspect="1"/>
          </p:cNvPicPr>
          <p:nvPr>
            <p:ph sz="half" idx="10"/>
          </p:nvPr>
        </p:nvPicPr>
        <p:blipFill>
          <a:blip r:embed="rId4"/>
          <a:stretch>
            <a:fillRect/>
          </a:stretch>
        </p:blipFill>
        <p:spPr>
          <a:xfrm>
            <a:off x="8663781" y="3120231"/>
            <a:ext cx="1905000" cy="1905000"/>
          </a:xfrm>
        </p:spPr>
      </p:pic>
    </p:spTree>
    <p:extLst>
      <p:ext uri="{BB962C8B-B14F-4D97-AF65-F5344CB8AC3E}">
        <p14:creationId xmlns:p14="http://schemas.microsoft.com/office/powerpoint/2010/main" val="252005528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AB6937-5B62-96C3-1933-45555D2559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18485" y="5131484"/>
            <a:ext cx="7072132" cy="75039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036013-171D-E327-C12B-9F686BB0169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20600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1dd3a3b-9603-41fd-b81c-c11876865134">
      <Terms xmlns="http://schemas.microsoft.com/office/infopath/2007/PartnerControls"/>
    </lcf76f155ced4ddcb4097134ff3c332f>
    <TaxCatchAll xmlns="1697ee21-6294-4ec0-a023-ecdc12fb217d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893DCFD68B6564B8CAC449AA517FD5F" ma:contentTypeVersion="18" ma:contentTypeDescription="Create a new document." ma:contentTypeScope="" ma:versionID="5db0653e7be4eec80c4641c8137205d6">
  <xsd:schema xmlns:xsd="http://www.w3.org/2001/XMLSchema" xmlns:xs="http://www.w3.org/2001/XMLSchema" xmlns:p="http://schemas.microsoft.com/office/2006/metadata/properties" xmlns:ns2="11dd3a3b-9603-41fd-b81c-c11876865134" xmlns:ns3="1697ee21-6294-4ec0-a023-ecdc12fb217d" targetNamespace="http://schemas.microsoft.com/office/2006/metadata/properties" ma:root="true" ma:fieldsID="ee8164ffdc44ff411682d5927f175a59" ns2:_="" ns3:_="">
    <xsd:import namespace="11dd3a3b-9603-41fd-b81c-c11876865134"/>
    <xsd:import namespace="1697ee21-6294-4ec0-a023-ecdc12fb217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1dd3a3b-9603-41fd-b81c-c1187686513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d37c3b37-2320-48ce-b319-ec387555f39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3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97ee21-6294-4ec0-a023-ecdc12fb217d" elementFormDefault="qualified">
    <xsd:import namespace="http://schemas.microsoft.com/office/2006/documentManagement/types"/>
    <xsd:import namespace="http://schemas.microsoft.com/office/infopath/2007/PartnerControls"/>
    <xsd:element name="TaxCatchAll" ma:index="20" nillable="true" ma:displayName="Taxonomy Catch All Column" ma:hidden="true" ma:list="{adf3bbfb-2c47-42c1-b95a-4fc3f6e518d3}" ma:internalName="TaxCatchAll" ma:showField="CatchAllData" ma:web="1697ee21-6294-4ec0-a023-ecdc12fb217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E86E45C-D60A-4A37-AE6C-CA7098E1E3B8}">
  <ds:schemaRefs>
    <ds:schemaRef ds:uri="http://purl.org/dc/terms/"/>
    <ds:schemaRef ds:uri="http://schemas.microsoft.com/office/infopath/2007/PartnerControls"/>
    <ds:schemaRef ds:uri="http://purl.org/dc/dcmitype/"/>
    <ds:schemaRef ds:uri="http://www.w3.org/XML/1998/namespace"/>
    <ds:schemaRef ds:uri="http://purl.org/dc/elements/1.1/"/>
    <ds:schemaRef ds:uri="http://schemas.microsoft.com/office/2006/documentManagement/types"/>
    <ds:schemaRef ds:uri="http://schemas.openxmlformats.org/package/2006/metadata/core-properties"/>
    <ds:schemaRef ds:uri="1697ee21-6294-4ec0-a023-ecdc12fb217d"/>
    <ds:schemaRef ds:uri="11dd3a3b-9603-41fd-b81c-c11876865134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B5EC1DF8-F5BA-4A6B-A4EB-EF040B7F8F2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9AD50D7-ACD7-4F5F-9133-9BB09DB26A54}">
  <ds:schemaRefs>
    <ds:schemaRef ds:uri="11dd3a3b-9603-41fd-b81c-c11876865134"/>
    <ds:schemaRef ds:uri="1697ee21-6294-4ec0-a023-ecdc12fb217d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286</TotalTime>
  <Words>956</Words>
  <Application>Microsoft Office PowerPoint</Application>
  <PresentationFormat>Widescreen</PresentationFormat>
  <Paragraphs>138</Paragraphs>
  <Slides>37</Slides>
  <Notes>4</Notes>
  <HiddenSlides>1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4" baseType="lpstr">
      <vt:lpstr>Aptos</vt:lpstr>
      <vt:lpstr>Arial</vt:lpstr>
      <vt:lpstr>Calibri</vt:lpstr>
      <vt:lpstr>Calibri Light</vt:lpstr>
      <vt:lpstr>Open Sans ExtraBold</vt:lpstr>
      <vt:lpstr>Open Sans SemiBold</vt:lpstr>
      <vt:lpstr>Office Theme</vt:lpstr>
      <vt:lpstr>PowerPoint Presentation</vt:lpstr>
      <vt:lpstr>What’s new in 10.0.46 ( Plus MCP )</vt:lpstr>
      <vt:lpstr>Nathan Clouse</vt:lpstr>
      <vt:lpstr>Out of Preview in .46</vt:lpstr>
      <vt:lpstr>Acceptance sampling </vt:lpstr>
      <vt:lpstr>Advanced quality management</vt:lpstr>
      <vt:lpstr>Approved customer list</vt:lpstr>
      <vt:lpstr>Honorable Mentions</vt:lpstr>
      <vt:lpstr>In Preview in .46</vt:lpstr>
      <vt:lpstr>(Preview) Ability to expire jobs and job titles</vt:lpstr>
      <vt:lpstr>(Preview) Sample management</vt:lpstr>
      <vt:lpstr>Record test results from the production floor execution interface</vt:lpstr>
      <vt:lpstr>Project Operations</vt:lpstr>
      <vt:lpstr>Globalization</vt:lpstr>
      <vt:lpstr>Performance Improvements</vt:lpstr>
      <vt:lpstr>Fixed Assets</vt:lpstr>
      <vt:lpstr>General Ledger</vt:lpstr>
      <vt:lpstr>Administration</vt:lpstr>
      <vt:lpstr>Issues</vt:lpstr>
      <vt:lpstr>Issues</vt:lpstr>
      <vt:lpstr>Issues</vt:lpstr>
      <vt:lpstr>(Preview) Dynamic work classification</vt:lpstr>
      <vt:lpstr>PowerPoint Presentation</vt:lpstr>
      <vt:lpstr>Enable foreign trade parameters for all countries</vt:lpstr>
      <vt:lpstr>Cross-company data sharing for products</vt:lpstr>
      <vt:lpstr>(Preview) Dynamics 365 ERP Model Context Protocol server</vt:lpstr>
      <vt:lpstr>PowerPoint Presentation</vt:lpstr>
      <vt:lpstr>What Is Model Context Protocol (MCP)?</vt:lpstr>
      <vt:lpstr>PowerPoint Presentation</vt:lpstr>
      <vt:lpstr>How It Works</vt:lpstr>
      <vt:lpstr>MCP Tools</vt:lpstr>
      <vt:lpstr>What It Enables</vt:lpstr>
      <vt:lpstr>Requirements</vt:lpstr>
      <vt:lpstr>Limitations &amp; Considerations</vt:lpstr>
      <vt:lpstr>Questions?</vt:lpstr>
      <vt:lpstr>Nathan Clouse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Lauren Bishop</dc:creator>
  <cp:lastModifiedBy>Nathan Clouse</cp:lastModifiedBy>
  <cp:revision>4</cp:revision>
  <dcterms:created xsi:type="dcterms:W3CDTF">2023-10-12T14:41:54Z</dcterms:created>
  <dcterms:modified xsi:type="dcterms:W3CDTF">2026-01-14T00:48:13Z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0x0101008893DCFD68B6564B8CAC449AA517FD5F</vt:lpwstr>
  </property>
</Properties>
</file>